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6" r:id="rId2"/>
    <p:sldId id="277" r:id="rId3"/>
    <p:sldId id="256" r:id="rId4"/>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85" r:id="rId19"/>
    <p:sldId id="272"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AC9499-8A35-F6D2-D572-3F1145759FFD}" v="8" dt="2026-09-07T07:31:00.949"/>
    <p1510:client id="{6DD26EF2-D576-1E51-F6EB-BBF807B363F0}" v="1" dt="2026-09-07T07:54:22.4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Garg - AP-SOET" userId="S::deepika.garg@krmangalam.edu.in::8653e6d2-d3e5-415e-a61f-eaf95b6d1630" providerId="AD" clId="Web-{27AC9499-8A35-F6D2-D572-3F1145759FFD}"/>
    <pc:docChg chg="modSld">
      <pc:chgData name="Deepika  Garg - AP-SOET" userId="S::deepika.garg@krmangalam.edu.in::8653e6d2-d3e5-415e-a61f-eaf95b6d1630" providerId="AD" clId="Web-{27AC9499-8A35-F6D2-D572-3F1145759FFD}" dt="2026-09-07T07:31:00.949" v="7"/>
      <pc:docMkLst>
        <pc:docMk/>
      </pc:docMkLst>
      <pc:sldChg chg="addSp delSp modSp">
        <pc:chgData name="Deepika  Garg - AP-SOET" userId="S::deepika.garg@krmangalam.edu.in::8653e6d2-d3e5-415e-a61f-eaf95b6d1630" providerId="AD" clId="Web-{27AC9499-8A35-F6D2-D572-3F1145759FFD}" dt="2026-09-07T07:31:00.949" v="7"/>
        <pc:sldMkLst>
          <pc:docMk/>
          <pc:sldMk cId="0" sldId="261"/>
        </pc:sldMkLst>
        <pc:graphicFrameChg chg="add del">
          <ac:chgData name="Deepika  Garg - AP-SOET" userId="S::deepika.garg@krmangalam.edu.in::8653e6d2-d3e5-415e-a61f-eaf95b6d1630" providerId="AD" clId="Web-{27AC9499-8A35-F6D2-D572-3F1145759FFD}" dt="2026-09-07T07:29:49.415" v="1"/>
          <ac:graphicFrameMkLst>
            <pc:docMk/>
            <pc:sldMk cId="0" sldId="261"/>
            <ac:graphicFrameMk id="14" creationId="{D6D769C3-BBE1-1F98-5369-646E68B73A31}"/>
          </ac:graphicFrameMkLst>
        </pc:graphicFrameChg>
        <pc:graphicFrameChg chg="add del mod modGraphic">
          <ac:chgData name="Deepika  Garg - AP-SOET" userId="S::deepika.garg@krmangalam.edu.in::8653e6d2-d3e5-415e-a61f-eaf95b6d1630" providerId="AD" clId="Web-{27AC9499-8A35-F6D2-D572-3F1145759FFD}" dt="2026-09-07T07:31:00.949" v="7"/>
          <ac:graphicFrameMkLst>
            <pc:docMk/>
            <pc:sldMk cId="0" sldId="261"/>
            <ac:graphicFrameMk id="15" creationId="{424E177F-5C80-6261-72A1-5182AC63A0BB}"/>
          </ac:graphicFrameMkLst>
        </pc:graphicFrameChg>
      </pc:sldChg>
    </pc:docChg>
  </pc:docChgLst>
  <pc:docChgLst>
    <pc:chgData name="Deepika  Garg - AP-SOET" userId="S::deepika.garg@krmangalam.edu.in::8653e6d2-d3e5-415e-a61f-eaf95b6d1630" providerId="AD" clId="Web-{6DD26EF2-D576-1E51-F6EB-BBF807B363F0}"/>
    <pc:docChg chg="delSld">
      <pc:chgData name="Deepika  Garg - AP-SOET" userId="S::deepika.garg@krmangalam.edu.in::8653e6d2-d3e5-415e-a61f-eaf95b6d1630" providerId="AD" clId="Web-{6DD26EF2-D576-1E51-F6EB-BBF807B363F0}" dt="2026-09-07T07:54:22.429" v="0"/>
      <pc:docMkLst>
        <pc:docMk/>
      </pc:docMkLst>
      <pc:sldChg chg="del">
        <pc:chgData name="Deepika  Garg - AP-SOET" userId="S::deepika.garg@krmangalam.edu.in::8653e6d2-d3e5-415e-a61f-eaf95b6d1630" providerId="AD" clId="Web-{6DD26EF2-D576-1E51-F6EB-BBF807B363F0}" dt="2026-09-07T07:54:22.429" v="0"/>
        <pc:sldMkLst>
          <pc:docMk/>
          <pc:sldMk cId="0"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75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Expected: yes, it satisfies 3NF because Course is part of a candidate key, so the exemption for prime attributes applies. What repeats is each instructor's course, once per student they teach. The culprit is Instructor, a determinant that is not a superkey. Do not resolve it fully — BCNF is the answer and it arrives on slide five.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CO3 — applying normalization to produce redundancy-free schemas. Bloom's Level 3 (Apply): students must carry out decompositions, not merely state the definitions. Session 12 then drills the whole 1NF-to-5NF ladder as problem solving.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3NF exempts prime attributes, so a determinant that is not a superkey can survive it; production OLTP schemas are normally taken to BCNF. (2) An FD gives one value of Y per X; an MVD gives a whole set of Y values per X, independent of the other attributes — different objects, different notation. (3) Splitting a ternary relation into three pairs is only correct when the business rule really is pairwise; otherwise the join invents rows that were never true.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three anomalies students met before 3NF — the point is that 3NF does not eliminate them. Use the instructor-course table from slide one for all three. Gartner's often-quoted figure puts the average cost of poor data quality near thirteen million dollars a year per organisation, and duplicated disagreeing records are a large share of it. That is why banks and payment systems keep core OLTP tables in BCNF rather than stopping at 3NF.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rule precisely: for every non-trivial functional dependency X to Y, X must be a superkey. Contrast with 3NF, which lets the dependency through when Y is a prime attribute. The industry intuition is microservice ownership — only the service that owns a key may control its data; if a non-key column owns facts, redundancy and conflict follow. The decomposition is mechanical: split into (X union Y) and R minus (Y minus 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routine aloud: the key is (Student, Instructor); the FDs are given; Instructor is a determinant that is not a superkey, so BCNF fails. Decompose into (X union Y) = (Instructor, Course) and R minus (Y minus X) = (Student, Instructor). Check losslessness — the common attribute Instructor is a key of R1, which is exactly the condition. Note the trade-off: (Student, Instructor) to Course is no longer enforced by a single table, so this split is not dependency-preserving.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this order. The commonest exam mistake is decomposing before stating the candidate keys, which makes the violation impossible to justify. Step five matters most: a decomposition can itself contain a new violation, so each resulting relation must be retested until all are in BCNF. At MNCs this same sequence runs as a schema review plus automated dbt or CI tests before every migration.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MVD is not an FD: X to Y gives one value, X double-arrow Y gives a set, and crucially that set is independent of the remaining attributes. Because the two lists are independent, one table must store every combination — a Cartesian product. Streaming platforms hit this daily: a profile's registered devices and its subtitle languages are chosen independently, so keeping them in one table multiplies rows into junk. Note that every 4NF relation is already in BCNF.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arithmetic explicit — the single table grows multiplicatively while the real facts grow additively. At a million users that is a hundred million rows of noise. Ask for the insert anomaly: adding one new language should not require a row for every hobby. Ask for the delete anomaly too: removing a hobby must not silently remove a language.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join dependency says R equals the join of several projections. 5NF, also called project-join normal form, requires every such dependency to follow from the candidate keys. The practical test is whether joining the pieces reconstructs the original exactly, with zero invented rows. Stress the caution: if any business rule exists beyond the three pairwise facts, the ternary relation must be kept. 5NF cases are genuinely rare and cluster in scheduling, territory and sourcing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rule is the whole argument: a supplier supplies a part to a project precisely when the supplier-part, supplier-project and part-project facts all hold. Only under that rule is the three-way split lossless. Demonstrate on the board that joining any two of the projections produces rows that were never in R — this is why the decomposition is into three relations rather than two. If the rule does not hold, keep the ternary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comparison students should be able to reproduce from memory. Drill it both ways: name a form and ask for the dependency type, then read a signal and ask for the form. Emphasise the containment — every 4NF relation is in BCNF, and every 5NF relation is in 4NF — so the forms are checked in order, not independently.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rules to practice. Payment and ledger tables sit in BCNF because a single disagreeing row is a financial error. Streaming platforms split independent lists because the cross product is enormous at their scale. Schema review is a formal gate at most engineering organisations and works through exactly the routine on slide seven. Close with the caveat: analytics warehouses deliberately denormalise into star schemas, but only after the normalised model exists.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them to: the rule is that a triple is valid exactly when all three pairwise facts hold. Without it, joining the three projections produces rows that were never true — the split stops being lossless and the database starts asserting falsehoods. Good follow-up: ask for a concrete counterexample where a supplier supplies a part, works on a project and the part is used on that project, yet that supplier does not supply that part to that project.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TRUE — BCNF is strictly stronger, so it implies 3NF; the reverse does not hold, as slide one showed. (2) FALSE — an MVD yields a set of values independent of the other attributes and carries no single-value rule; the notations differ for that reason. (3) FALSE — the split is only correct when the business rule is genuinely pairwise; otherwise the join invents rows. Take hands before revealing each answer, then link answer 1 back to the misconceptions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three minutes and close the loop on the three opening questions. Next session drills the full ladder from 1NF to 5NF as timed problem solving. Reading: Silberschatz Chapter 7, or Elmasri Chapters 14 and 15. Remind students to finish the hands-on task before the next class if they did not complete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a slip. Answer 1 should read close to 'every determinant must be a superkey'. Answer 2 should mention two independent multivalued lists on one key, or rows multiplying as a cross product. Read the slips before Session 12 and spend the first two minutes there on the most common gap.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prescribed texts in their current editions. Silberschatz 7th edition covers BCNF, 4NF and 5NF in Chapter 7; db-book.com carries free slides, lab material and errata. Elmasri 7th edition treats the topic across Chapters 14 and 15 and has the most worked examples. Ramakrishnan remains the standard reference for the algorithmic side. Re-check edition numbers against the library catalogue each semester before the deck is issued.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book is the single best treatment of normalization specifically, and it is the recommended read for anyone unconvinced by BCNF, 4NF or 5NF today; it replaces his older Introduction to Database Systems for this topic. Garcia-Molina covers the design theory with full proofs of the lossless-join and dependency-preservation conditions. The NPTEL course is free and maps closely to this syllabus.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db-book.com"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pages.cs.wisc.edu/~dbbook/" TargetMode="External"/><Relationship Id="rId4" Type="http://schemas.openxmlformats.org/officeDocument/2006/relationships/hyperlink" Target="https://www.pearson.com/en-us/subject-catalog/p/fundamentals-of-database-systems/P200000003546"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link.springer.com/book/10.1007/978-1-4842-5540-7"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nptel.ac.in/courses/106105175" TargetMode="External"/><Relationship Id="rId4" Type="http://schemas.openxmlformats.org/officeDocument/2006/relationships/hyperlink" Target="http://infolab.stanford.edu/~ullman/dscb.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krmu_bg.png"/>
          <p:cNvPicPr>
            <a:picLocks noChangeAspect="1"/>
          </p:cNvPicPr>
          <p:nvPr/>
        </p:nvPicPr>
        <p:blipFill>
          <a:blip r:embed="rId3"/>
          <a:stretch>
            <a:fillRect/>
          </a:stretch>
        </p:blipFill>
        <p:spPr>
          <a:xfrm>
            <a:off x="1524305" y="0"/>
            <a:ext cx="9144000" cy="6858000"/>
          </a:xfrm>
          <a:prstGeom prst="rect">
            <a:avLst/>
          </a:prstGeom>
        </p:spPr>
      </p:pic>
      <p:pic>
        <p:nvPicPr>
          <p:cNvPr id="3" name="Image 1" descr="krmu_logo.png"/>
          <p:cNvPicPr>
            <a:picLocks noChangeAspect="1"/>
          </p:cNvPicPr>
          <p:nvPr/>
        </p:nvPicPr>
        <p:blipFill>
          <a:blip r:embed="rId4"/>
          <a:stretch>
            <a:fillRect/>
          </a:stretch>
        </p:blipFill>
        <p:spPr>
          <a:xfrm>
            <a:off x="2893162" y="149962"/>
            <a:ext cx="6397142" cy="920801"/>
          </a:xfrm>
          <a:prstGeom prst="rect">
            <a:avLst/>
          </a:prstGeom>
        </p:spPr>
      </p:pic>
      <p:sp>
        <p:nvSpPr>
          <p:cNvPr id="4" name="Text 0"/>
          <p:cNvSpPr/>
          <p:nvPr/>
        </p:nvSpPr>
        <p:spPr>
          <a:xfrm>
            <a:off x="1783994" y="1600200"/>
            <a:ext cx="8494776" cy="594360"/>
          </a:xfrm>
          <a:prstGeom prst="rect">
            <a:avLst/>
          </a:prstGeom>
          <a:noFill/>
          <a:ln/>
        </p:spPr>
        <p:txBody>
          <a:bodyPr wrap="square" lIns="0" tIns="0" rIns="0" bIns="0" rtlCol="0" anchor="ctr"/>
          <a:lstStyle/>
          <a:p>
            <a:pPr marL="0" indent="0" algn="ctr">
              <a:buNone/>
            </a:pPr>
            <a:r>
              <a:rPr lang="en-US" sz="3200" b="1" dirty="0">
                <a:solidFill>
                  <a:srgbClr val="E31E24"/>
                </a:solidFill>
                <a:latin typeface="Times New Roman" pitchFamily="34" charset="0"/>
                <a:ea typeface="Times New Roman" pitchFamily="34" charset="-122"/>
                <a:cs typeface="Times New Roman" pitchFamily="34" charset="-120"/>
              </a:rPr>
              <a:t>Database Management Systems</a:t>
            </a:r>
            <a:endParaRPr lang="en-US" sz="3200" dirty="0"/>
          </a:p>
        </p:txBody>
      </p:sp>
      <p:sp>
        <p:nvSpPr>
          <p:cNvPr id="5" name="Text 1"/>
          <p:cNvSpPr/>
          <p:nvPr/>
        </p:nvSpPr>
        <p:spPr>
          <a:xfrm>
            <a:off x="1097280" y="2697480"/>
            <a:ext cx="9966960" cy="914400"/>
          </a:xfrm>
          <a:prstGeom prst="rect">
            <a:avLst/>
          </a:prstGeom>
          <a:noFill/>
          <a:ln/>
        </p:spPr>
        <p:txBody>
          <a:bodyPr wrap="square" lIns="0" tIns="0" rIns="0" bIns="0" rtlCol="0" anchor="ctr"/>
          <a:lstStyle/>
          <a:p>
            <a:pPr marL="0" indent="0" algn="ctr">
              <a:buNone/>
            </a:pPr>
            <a:r>
              <a:rPr lang="en-US" sz="2200" b="1" dirty="0">
                <a:solidFill>
                  <a:srgbClr val="E31E24"/>
                </a:solidFill>
                <a:latin typeface="Times New Roman" pitchFamily="34" charset="0"/>
                <a:ea typeface="Times New Roman" pitchFamily="34" charset="-122"/>
                <a:cs typeface="Times New Roman" pitchFamily="34" charset="-120"/>
              </a:rPr>
              <a:t>Ms. Mansi, Dr. Rishika, Ms. Megha Sharma, Dr. Reenu, Dr. Swati,</a:t>
            </a:r>
            <a:endParaRPr lang="en-US" sz="2200" dirty="0"/>
          </a:p>
          <a:p>
            <a:pPr marL="0" indent="0" algn="ctr">
              <a:buNone/>
            </a:pPr>
            <a:r>
              <a:rPr lang="en-US" sz="2200" b="1" dirty="0">
                <a:solidFill>
                  <a:srgbClr val="E31E24"/>
                </a:solidFill>
                <a:latin typeface="Times New Roman" pitchFamily="34" charset="0"/>
                <a:ea typeface="Times New Roman" pitchFamily="34" charset="-122"/>
                <a:cs typeface="Times New Roman" pitchFamily="34" charset="-120"/>
              </a:rPr>
              <a:t>Dr. Surabhi, Dr. Neha Kaushik</a:t>
            </a:r>
            <a:endParaRPr lang="en-US" sz="2200" dirty="0"/>
          </a:p>
        </p:txBody>
      </p:sp>
      <p:sp>
        <p:nvSpPr>
          <p:cNvPr id="6" name="Text 2"/>
          <p:cNvSpPr/>
          <p:nvPr/>
        </p:nvSpPr>
        <p:spPr>
          <a:xfrm>
            <a:off x="1819656" y="4251960"/>
            <a:ext cx="8494776" cy="960120"/>
          </a:xfrm>
          <a:prstGeom prst="rect">
            <a:avLst/>
          </a:prstGeom>
          <a:noFill/>
          <a:ln/>
        </p:spPr>
        <p:txBody>
          <a:bodyPr wrap="square" lIns="0" tIns="0" rIns="0" bIns="0" rtlCol="0" anchor="ctr"/>
          <a:lstStyle/>
          <a:p>
            <a:pPr marL="0" indent="0" algn="ctr">
              <a:buNone/>
            </a:pPr>
            <a:r>
              <a:rPr lang="en-US" sz="1300" b="1" dirty="0">
                <a:solidFill>
                  <a:srgbClr val="1F3864"/>
                </a:solidFill>
                <a:latin typeface="Verdana" pitchFamily="34" charset="0"/>
                <a:ea typeface="Verdana" pitchFamily="34" charset="-122"/>
                <a:cs typeface="Verdana" pitchFamily="34" charset="-120"/>
              </a:rPr>
              <a:t>Faculty</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School of Engineering &amp; Technology (SOET)</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K. R. Mangalam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5687568" y="777240"/>
            <a:ext cx="822960" cy="822960"/>
          </a:xfrm>
          <a:prstGeom prst="ellipse">
            <a:avLst/>
          </a:prstGeom>
          <a:solidFill>
            <a:srgbClr val="2E75B6"/>
          </a:solidFill>
          <a:ln/>
        </p:spPr>
      </p:sp>
      <p:pic>
        <p:nvPicPr>
          <p:cNvPr id="5" name="Image 0" descr="icons/database.png"/>
          <p:cNvPicPr>
            <a:picLocks noChangeAspect="1"/>
          </p:cNvPicPr>
          <p:nvPr/>
        </p:nvPicPr>
        <p:blipFill>
          <a:blip r:embed="rId3"/>
          <a:stretch>
            <a:fillRect/>
          </a:stretch>
        </p:blipFill>
        <p:spPr>
          <a:xfrm>
            <a:off x="5917997" y="1007669"/>
            <a:ext cx="362102" cy="362102"/>
          </a:xfrm>
          <a:prstGeom prst="rect">
            <a:avLst/>
          </a:prstGeom>
        </p:spPr>
      </p:pic>
      <p:sp>
        <p:nvSpPr>
          <p:cNvPr id="6" name="Shape 3"/>
          <p:cNvSpPr/>
          <p:nvPr/>
        </p:nvSpPr>
        <p:spPr>
          <a:xfrm>
            <a:off x="5138928" y="1828800"/>
            <a:ext cx="1920240" cy="384048"/>
          </a:xfrm>
          <a:prstGeom prst="roundRect">
            <a:avLst>
              <a:gd name="adj" fmla="val 50000"/>
            </a:avLst>
          </a:prstGeom>
          <a:solidFill>
            <a:srgbClr val="F0A32E"/>
          </a:solidFill>
          <a:ln/>
        </p:spPr>
      </p:sp>
      <p:sp>
        <p:nvSpPr>
          <p:cNvPr id="7" name="Text 4"/>
          <p:cNvSpPr/>
          <p:nvPr/>
        </p:nvSpPr>
        <p:spPr>
          <a:xfrm>
            <a:off x="5138928" y="1810512"/>
            <a:ext cx="1920240" cy="384048"/>
          </a:xfrm>
          <a:prstGeom prst="rect">
            <a:avLst/>
          </a:prstGeom>
          <a:noFill/>
          <a:ln/>
        </p:spPr>
        <p:txBody>
          <a:bodyPr wrap="square" lIns="0" tIns="0" rIns="0" bIns="0" rtlCol="0" anchor="ctr"/>
          <a:lstStyle/>
          <a:p>
            <a:pPr marL="0" indent="0" algn="ctr">
              <a:buNone/>
            </a:pPr>
            <a:r>
              <a:rPr lang="en-US" sz="1300" b="1" dirty="0">
                <a:solidFill>
                  <a:srgbClr val="1F4E79"/>
                </a:solidFill>
                <a:latin typeface="Calibri" pitchFamily="34" charset="0"/>
                <a:ea typeface="Calibri" pitchFamily="34" charset="-122"/>
                <a:cs typeface="Calibri" pitchFamily="34" charset="-120"/>
              </a:rPr>
              <a:t>SESSION 11</a:t>
            </a:r>
            <a:endParaRPr lang="en-US" sz="1300" dirty="0"/>
          </a:p>
        </p:txBody>
      </p:sp>
      <p:sp>
        <p:nvSpPr>
          <p:cNvPr id="8" name="Text 5"/>
          <p:cNvSpPr/>
          <p:nvPr/>
        </p:nvSpPr>
        <p:spPr>
          <a:xfrm>
            <a:off x="640080" y="2377440"/>
            <a:ext cx="10908792" cy="777240"/>
          </a:xfrm>
          <a:prstGeom prst="rect">
            <a:avLst/>
          </a:prstGeom>
          <a:noFill/>
          <a:ln/>
        </p:spPr>
        <p:txBody>
          <a:bodyPr wrap="square" lIns="0" tIns="0" rIns="0" bIns="0" rtlCol="0" anchor="ctr"/>
          <a:lstStyle/>
          <a:p>
            <a:pPr marL="0" indent="0" algn="ctr">
              <a:buNone/>
            </a:pPr>
            <a:r>
              <a:rPr lang="en-US" sz="4000" b="1" dirty="0">
                <a:latin typeface="Calibri" pitchFamily="34" charset="0"/>
                <a:ea typeface="Calibri" pitchFamily="34" charset="-122"/>
                <a:cs typeface="Calibri" pitchFamily="34" charset="-120"/>
              </a:rPr>
              <a:t>Normalization: BCNF, 4NF &amp; 5NF</a:t>
            </a:r>
            <a:endParaRPr lang="en-US" sz="4000" dirty="0"/>
          </a:p>
        </p:txBody>
      </p:sp>
      <p:sp>
        <p:nvSpPr>
          <p:cNvPr id="9" name="Text 6"/>
          <p:cNvSpPr/>
          <p:nvPr/>
        </p:nvSpPr>
        <p:spPr>
          <a:xfrm>
            <a:off x="640080" y="3200400"/>
            <a:ext cx="10908792" cy="457200"/>
          </a:xfrm>
          <a:prstGeom prst="rect">
            <a:avLst/>
          </a:prstGeom>
          <a:noFill/>
          <a:ln/>
        </p:spPr>
        <p:txBody>
          <a:bodyPr wrap="square" lIns="0" tIns="0" rIns="0" bIns="0" rtlCol="0" anchor="ctr"/>
          <a:lstStyle/>
          <a:p>
            <a:pPr marL="0" indent="0" algn="ctr">
              <a:buNone/>
            </a:pPr>
            <a:r>
              <a:rPr lang="en-US" sz="2000" dirty="0">
                <a:latin typeface="Calibri" pitchFamily="34" charset="0"/>
                <a:ea typeface="Calibri" pitchFamily="34" charset="-122"/>
                <a:cs typeface="Calibri" pitchFamily="34" charset="-120"/>
              </a:rPr>
              <a:t>Problem Solving Beyond 3NF</a:t>
            </a:r>
            <a:endParaRPr lang="en-US" sz="2000" dirty="0"/>
          </a:p>
        </p:txBody>
      </p:sp>
      <p:sp>
        <p:nvSpPr>
          <p:cNvPr id="10" name="Text 7"/>
          <p:cNvSpPr/>
          <p:nvPr/>
        </p:nvSpPr>
        <p:spPr>
          <a:xfrm>
            <a:off x="1557223" y="3974084"/>
            <a:ext cx="9445752" cy="411480"/>
          </a:xfrm>
          <a:prstGeom prst="rect">
            <a:avLst/>
          </a:prstGeom>
          <a:noFill/>
          <a:ln/>
        </p:spPr>
        <p:txBody>
          <a:bodyPr wrap="square" lIns="0" tIns="0" rIns="0" bIns="0" rtlCol="0" anchor="ctr"/>
          <a:lstStyle/>
          <a:p>
            <a:pPr marL="0" indent="0" algn="ctr">
              <a:buNone/>
            </a:pPr>
            <a:r>
              <a:rPr lang="en-US" i="1" dirty="0">
                <a:latin typeface="Calibri" pitchFamily="34" charset="0"/>
                <a:ea typeface="Calibri" pitchFamily="34" charset="-122"/>
                <a:cs typeface="Calibri" pitchFamily="34" charset="-120"/>
              </a:rPr>
              <a:t>How Netflix, Uber &amp; Amazon keep petabytes of data clean, consistent &amp; query-ready</a:t>
            </a:r>
            <a:endParaRPr lang="en-US" dirty="0"/>
          </a:p>
        </p:txBody>
      </p:sp>
      <p:sp>
        <p:nvSpPr>
          <p:cNvPr id="11" name="Shape 8"/>
          <p:cNvSpPr/>
          <p:nvPr/>
        </p:nvSpPr>
        <p:spPr>
          <a:xfrm>
            <a:off x="1409548" y="4800600"/>
            <a:ext cx="1691640" cy="402336"/>
          </a:xfrm>
          <a:prstGeom prst="roundRect">
            <a:avLst>
              <a:gd name="adj" fmla="val 50000"/>
            </a:avLst>
          </a:prstGeom>
          <a:solidFill>
            <a:srgbClr val="1F4E79"/>
          </a:solidFill>
          <a:ln w="12700">
            <a:solidFill>
              <a:srgbClr val="CADCFC"/>
            </a:solidFill>
            <a:prstDash val="solid"/>
          </a:ln>
        </p:spPr>
      </p:sp>
      <p:sp>
        <p:nvSpPr>
          <p:cNvPr id="12" name="Text 9"/>
          <p:cNvSpPr/>
          <p:nvPr/>
        </p:nvSpPr>
        <p:spPr>
          <a:xfrm>
            <a:off x="1409548" y="4782312"/>
            <a:ext cx="1691640" cy="402336"/>
          </a:xfrm>
          <a:prstGeom prst="rect">
            <a:avLst/>
          </a:prstGeom>
          <a:noFill/>
          <a:ln/>
        </p:spPr>
        <p:txBody>
          <a:bodyPr wrap="square" lIns="0" tIns="0" rIns="0" bIns="0" rtlCol="0" anchor="ctr"/>
          <a:lstStyle/>
          <a:p>
            <a:pPr marL="0" indent="0" algn="ctr">
              <a:buNone/>
            </a:pPr>
            <a:r>
              <a:rPr lang="en-US" dirty="0">
                <a:solidFill>
                  <a:schemeClr val="bg1"/>
                </a:solidFill>
                <a:latin typeface="Calibri" pitchFamily="34" charset="0"/>
                <a:ea typeface="Calibri" pitchFamily="34" charset="-122"/>
                <a:cs typeface="Calibri" pitchFamily="34" charset="-120"/>
              </a:rPr>
              <a:t>PostgreSQL</a:t>
            </a:r>
            <a:endParaRPr lang="en-US" dirty="0">
              <a:solidFill>
                <a:schemeClr val="bg1"/>
              </a:solidFill>
            </a:endParaRPr>
          </a:p>
        </p:txBody>
      </p:sp>
      <p:sp>
        <p:nvSpPr>
          <p:cNvPr id="13" name="Shape 10"/>
          <p:cNvSpPr/>
          <p:nvPr/>
        </p:nvSpPr>
        <p:spPr>
          <a:xfrm>
            <a:off x="3329788" y="4800600"/>
            <a:ext cx="1691640" cy="402336"/>
          </a:xfrm>
          <a:prstGeom prst="roundRect">
            <a:avLst>
              <a:gd name="adj" fmla="val 50000"/>
            </a:avLst>
          </a:prstGeom>
          <a:solidFill>
            <a:srgbClr val="1F4E79"/>
          </a:solidFill>
          <a:ln w="12700">
            <a:solidFill>
              <a:srgbClr val="CADCFC"/>
            </a:solidFill>
            <a:prstDash val="solid"/>
          </a:ln>
        </p:spPr>
      </p:sp>
      <p:sp>
        <p:nvSpPr>
          <p:cNvPr id="14" name="Text 11"/>
          <p:cNvSpPr/>
          <p:nvPr/>
        </p:nvSpPr>
        <p:spPr>
          <a:xfrm>
            <a:off x="3329788" y="4782312"/>
            <a:ext cx="1691640" cy="402336"/>
          </a:xfrm>
          <a:prstGeom prst="rect">
            <a:avLst/>
          </a:prstGeom>
          <a:noFill/>
          <a:ln/>
        </p:spPr>
        <p:txBody>
          <a:bodyPr wrap="square" lIns="0" tIns="0" rIns="0" bIns="0" rtlCol="0" anchor="ctr"/>
          <a:lstStyle/>
          <a:p>
            <a:pPr marL="0" indent="0" algn="ctr">
              <a:buNone/>
            </a:pPr>
            <a:r>
              <a:rPr lang="en-US" dirty="0">
                <a:solidFill>
                  <a:schemeClr val="bg1"/>
                </a:solidFill>
                <a:latin typeface="Calibri" pitchFamily="34" charset="0"/>
                <a:ea typeface="Calibri" pitchFamily="34" charset="-122"/>
                <a:cs typeface="Calibri" pitchFamily="34" charset="-120"/>
              </a:rPr>
              <a:t>Google Spanner</a:t>
            </a:r>
            <a:endParaRPr lang="en-US" dirty="0">
              <a:solidFill>
                <a:schemeClr val="bg1"/>
              </a:solidFill>
            </a:endParaRPr>
          </a:p>
        </p:txBody>
      </p:sp>
      <p:sp>
        <p:nvSpPr>
          <p:cNvPr id="15" name="Shape 12"/>
          <p:cNvSpPr/>
          <p:nvPr/>
        </p:nvSpPr>
        <p:spPr>
          <a:xfrm>
            <a:off x="5250028" y="4800600"/>
            <a:ext cx="1691640" cy="402336"/>
          </a:xfrm>
          <a:prstGeom prst="roundRect">
            <a:avLst>
              <a:gd name="adj" fmla="val 50000"/>
            </a:avLst>
          </a:prstGeom>
          <a:solidFill>
            <a:srgbClr val="1F4E79"/>
          </a:solidFill>
          <a:ln w="12700">
            <a:solidFill>
              <a:srgbClr val="CADCFC"/>
            </a:solidFill>
            <a:prstDash val="solid"/>
          </a:ln>
        </p:spPr>
      </p:sp>
      <p:sp>
        <p:nvSpPr>
          <p:cNvPr id="16" name="Text 13"/>
          <p:cNvSpPr/>
          <p:nvPr/>
        </p:nvSpPr>
        <p:spPr>
          <a:xfrm>
            <a:off x="5250028" y="4782312"/>
            <a:ext cx="1691640" cy="402336"/>
          </a:xfrm>
          <a:prstGeom prst="rect">
            <a:avLst/>
          </a:prstGeom>
          <a:noFill/>
          <a:ln/>
        </p:spPr>
        <p:txBody>
          <a:bodyPr wrap="square" lIns="0" tIns="0" rIns="0" bIns="0" rtlCol="0" anchor="ctr"/>
          <a:lstStyle/>
          <a:p>
            <a:pPr marL="0" indent="0" algn="ctr">
              <a:buNone/>
            </a:pPr>
            <a:r>
              <a:rPr lang="en-US" dirty="0">
                <a:solidFill>
                  <a:schemeClr val="bg1"/>
                </a:solidFill>
                <a:latin typeface="Calibri" pitchFamily="34" charset="0"/>
                <a:ea typeface="Calibri" pitchFamily="34" charset="-122"/>
                <a:cs typeface="Calibri" pitchFamily="34" charset="-120"/>
              </a:rPr>
              <a:t>Amazon Aurora</a:t>
            </a:r>
            <a:endParaRPr lang="en-US" dirty="0">
              <a:solidFill>
                <a:schemeClr val="bg1"/>
              </a:solidFill>
            </a:endParaRPr>
          </a:p>
        </p:txBody>
      </p:sp>
      <p:sp>
        <p:nvSpPr>
          <p:cNvPr id="17" name="Shape 14"/>
          <p:cNvSpPr/>
          <p:nvPr/>
        </p:nvSpPr>
        <p:spPr>
          <a:xfrm>
            <a:off x="7170268" y="4800600"/>
            <a:ext cx="1691640" cy="402336"/>
          </a:xfrm>
          <a:prstGeom prst="roundRect">
            <a:avLst>
              <a:gd name="adj" fmla="val 50000"/>
            </a:avLst>
          </a:prstGeom>
          <a:solidFill>
            <a:srgbClr val="1F4E79"/>
          </a:solidFill>
          <a:ln w="12700">
            <a:solidFill>
              <a:srgbClr val="CADCFC"/>
            </a:solidFill>
            <a:prstDash val="solid"/>
          </a:ln>
        </p:spPr>
      </p:sp>
      <p:sp>
        <p:nvSpPr>
          <p:cNvPr id="18" name="Text 15"/>
          <p:cNvSpPr/>
          <p:nvPr/>
        </p:nvSpPr>
        <p:spPr>
          <a:xfrm>
            <a:off x="7170268" y="4782312"/>
            <a:ext cx="1691640" cy="402336"/>
          </a:xfrm>
          <a:prstGeom prst="rect">
            <a:avLst/>
          </a:prstGeom>
          <a:noFill/>
          <a:ln/>
        </p:spPr>
        <p:txBody>
          <a:bodyPr wrap="square" lIns="0" tIns="0" rIns="0" bIns="0" rtlCol="0" anchor="ctr"/>
          <a:lstStyle/>
          <a:p>
            <a:pPr marL="0" indent="0" algn="ctr">
              <a:buNone/>
            </a:pPr>
            <a:r>
              <a:rPr lang="en-US" dirty="0">
                <a:solidFill>
                  <a:schemeClr val="bg1"/>
                </a:solidFill>
                <a:latin typeface="Calibri" pitchFamily="34" charset="0"/>
                <a:ea typeface="Calibri" pitchFamily="34" charset="-122"/>
                <a:cs typeface="Calibri" pitchFamily="34" charset="-120"/>
              </a:rPr>
              <a:t>DynamoDB</a:t>
            </a:r>
            <a:endParaRPr lang="en-US" dirty="0">
              <a:solidFill>
                <a:schemeClr val="bg1"/>
              </a:solidFill>
            </a:endParaRPr>
          </a:p>
        </p:txBody>
      </p:sp>
      <p:sp>
        <p:nvSpPr>
          <p:cNvPr id="19" name="Shape 16"/>
          <p:cNvSpPr/>
          <p:nvPr/>
        </p:nvSpPr>
        <p:spPr>
          <a:xfrm>
            <a:off x="9090508" y="4800600"/>
            <a:ext cx="1691640" cy="402336"/>
          </a:xfrm>
          <a:prstGeom prst="roundRect">
            <a:avLst>
              <a:gd name="adj" fmla="val 50000"/>
            </a:avLst>
          </a:prstGeom>
          <a:solidFill>
            <a:srgbClr val="1F4E79"/>
          </a:solidFill>
          <a:ln w="12700">
            <a:solidFill>
              <a:srgbClr val="CADCFC"/>
            </a:solidFill>
            <a:prstDash val="solid"/>
          </a:ln>
        </p:spPr>
      </p:sp>
      <p:sp>
        <p:nvSpPr>
          <p:cNvPr id="20" name="Text 17"/>
          <p:cNvSpPr/>
          <p:nvPr/>
        </p:nvSpPr>
        <p:spPr>
          <a:xfrm>
            <a:off x="9090508" y="4782312"/>
            <a:ext cx="1691640" cy="402336"/>
          </a:xfrm>
          <a:prstGeom prst="rect">
            <a:avLst/>
          </a:prstGeom>
          <a:noFill/>
          <a:ln/>
        </p:spPr>
        <p:txBody>
          <a:bodyPr wrap="square" lIns="0" tIns="0" rIns="0" bIns="0" rtlCol="0" anchor="ctr"/>
          <a:lstStyle/>
          <a:p>
            <a:pPr marL="0" indent="0" algn="ctr">
              <a:buNone/>
            </a:pPr>
            <a:r>
              <a:rPr lang="en-US" dirty="0">
                <a:solidFill>
                  <a:schemeClr val="bg1"/>
                </a:solidFill>
                <a:latin typeface="Calibri" pitchFamily="34" charset="0"/>
                <a:ea typeface="Calibri" pitchFamily="34" charset="-122"/>
                <a:cs typeface="Calibri" pitchFamily="34" charset="-120"/>
              </a:rPr>
              <a:t>Snowflake</a:t>
            </a:r>
            <a:endParaRPr lang="en-US" dirty="0">
              <a:solidFill>
                <a:schemeClr val="bg1"/>
              </a:solidFill>
            </a:endParaRPr>
          </a:p>
        </p:txBody>
      </p:sp>
      <p:sp>
        <p:nvSpPr>
          <p:cNvPr id="21" name="Text 18"/>
          <p:cNvSpPr/>
          <p:nvPr/>
        </p:nvSpPr>
        <p:spPr>
          <a:xfrm>
            <a:off x="502920" y="6510528"/>
            <a:ext cx="8686800" cy="27432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Normalization: BCNF, 4NF &amp; 5NF  |  Database Management Systems  |  K.R. Mangalam University</a:t>
            </a:r>
            <a:endParaRPr lang="en-US" sz="900" dirty="0"/>
          </a:p>
        </p:txBody>
      </p:sp>
      <p:sp>
        <p:nvSpPr>
          <p:cNvPr id="22" name="Text 19"/>
          <p:cNvSpPr/>
          <p:nvPr/>
        </p:nvSpPr>
        <p:spPr>
          <a:xfrm>
            <a:off x="11292840" y="6510528"/>
            <a:ext cx="411480"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Prior Knowledge Activation</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Last session you normalised this to 3NF:</a:t>
            </a:r>
            <a:endParaRPr lang="en-US" sz="2400" dirty="0"/>
          </a:p>
        </p:txBody>
      </p:sp>
      <p:sp>
        <p:nvSpPr>
          <p:cNvPr id="4" name="Shape 2"/>
          <p:cNvSpPr/>
          <p:nvPr/>
        </p:nvSpPr>
        <p:spPr>
          <a:xfrm>
            <a:off x="2121408" y="2240280"/>
            <a:ext cx="7955280" cy="1600200"/>
          </a:xfrm>
          <a:prstGeom prst="roundRect">
            <a:avLst>
              <a:gd name="adj" fmla="val 3429"/>
            </a:avLst>
          </a:prstGeom>
          <a:solidFill>
            <a:srgbClr val="1E3040"/>
          </a:solidFill>
          <a:ln w="12700">
            <a:solidFill>
              <a:srgbClr val="333333"/>
            </a:solidFill>
            <a:prstDash val="solid"/>
          </a:ln>
        </p:spPr>
      </p:sp>
      <p:sp>
        <p:nvSpPr>
          <p:cNvPr id="5" name="Text 3"/>
          <p:cNvSpPr/>
          <p:nvPr/>
        </p:nvSpPr>
        <p:spPr>
          <a:xfrm>
            <a:off x="2377440" y="2423160"/>
            <a:ext cx="7443216" cy="1234440"/>
          </a:xfrm>
          <a:prstGeom prst="rect">
            <a:avLst/>
          </a:prstGeom>
          <a:noFill/>
          <a:ln/>
        </p:spPr>
        <p:txBody>
          <a:bodyPr wrap="square" lIns="0" tIns="0" rIns="0" bIns="0" rtlCol="0" anchor="ctr"/>
          <a:lstStyle/>
          <a:p>
            <a:pPr marL="0" indent="0">
              <a:lnSpc>
                <a:spcPct val="118000"/>
              </a:lnSpc>
              <a:buNone/>
            </a:pPr>
            <a:r>
              <a:rPr lang="en-US" sz="1900" dirty="0">
                <a:solidFill>
                  <a:srgbClr val="E8F2F8"/>
                </a:solidFill>
                <a:latin typeface="Consolas" pitchFamily="34" charset="0"/>
                <a:ea typeface="Consolas" pitchFamily="34" charset="-122"/>
                <a:cs typeface="Consolas" pitchFamily="34" charset="-120"/>
              </a:rPr>
              <a:t>R (Student, Instructor, Course)</a:t>
            </a:r>
            <a:endParaRPr lang="en-US" sz="1900" dirty="0"/>
          </a:p>
          <a:p>
            <a:pPr marL="0" indent="0">
              <a:lnSpc>
                <a:spcPct val="118000"/>
              </a:lnSpc>
              <a:buNone/>
            </a:pPr>
            <a:r>
              <a:rPr lang="en-US" sz="1900" dirty="0">
                <a:solidFill>
                  <a:srgbClr val="E8F2F8"/>
                </a:solidFill>
                <a:latin typeface="Consolas" pitchFamily="34" charset="0"/>
                <a:ea typeface="Consolas" pitchFamily="34" charset="-122"/>
                <a:cs typeface="Consolas" pitchFamily="34" charset="-120"/>
              </a:rPr>
              <a:t> </a:t>
            </a:r>
            <a:endParaRPr lang="en-US" sz="1900" dirty="0"/>
          </a:p>
          <a:p>
            <a:pPr marL="0" indent="0">
              <a:lnSpc>
                <a:spcPct val="118000"/>
              </a:lnSpc>
              <a:buNone/>
            </a:pPr>
            <a:r>
              <a:rPr lang="en-US" sz="1900" dirty="0">
                <a:solidFill>
                  <a:srgbClr val="E8F2F8"/>
                </a:solidFill>
                <a:latin typeface="Consolas" pitchFamily="34" charset="0"/>
                <a:ea typeface="Consolas" pitchFamily="34" charset="-122"/>
                <a:cs typeface="Consolas" pitchFamily="34" charset="-120"/>
              </a:rPr>
              <a:t>(Student, Instructor) -&gt; Course</a:t>
            </a:r>
            <a:endParaRPr lang="en-US" sz="1900" dirty="0"/>
          </a:p>
          <a:p>
            <a:pPr marL="0" indent="0">
              <a:lnSpc>
                <a:spcPct val="118000"/>
              </a:lnSpc>
              <a:buNone/>
            </a:pPr>
            <a:r>
              <a:rPr lang="en-US" sz="1900" dirty="0">
                <a:solidFill>
                  <a:srgbClr val="E8F2F8"/>
                </a:solidFill>
                <a:latin typeface="Consolas" pitchFamily="34" charset="0"/>
                <a:ea typeface="Consolas" pitchFamily="34" charset="-122"/>
                <a:cs typeface="Consolas" pitchFamily="34" charset="-120"/>
              </a:rPr>
              <a:t>Instructor -&gt; Course</a:t>
            </a:r>
            <a:endParaRPr lang="en-US" sz="1900" dirty="0"/>
          </a:p>
        </p:txBody>
      </p:sp>
      <p:sp>
        <p:nvSpPr>
          <p:cNvPr id="6" name="Shape 4"/>
          <p:cNvSpPr/>
          <p:nvPr/>
        </p:nvSpPr>
        <p:spPr>
          <a:xfrm>
            <a:off x="841248" y="4206240"/>
            <a:ext cx="3264408" cy="960120"/>
          </a:xfrm>
          <a:prstGeom prst="roundRect">
            <a:avLst>
              <a:gd name="adj" fmla="val 5714"/>
            </a:avLst>
          </a:prstGeom>
          <a:solidFill>
            <a:srgbClr val="F2F6FA"/>
          </a:solidFill>
          <a:ln w="12700">
            <a:solidFill>
              <a:srgbClr val="F2F6FA"/>
            </a:solidFill>
            <a:prstDash val="solid"/>
          </a:ln>
        </p:spPr>
      </p:sp>
      <p:sp>
        <p:nvSpPr>
          <p:cNvPr id="7" name="Shape 5"/>
          <p:cNvSpPr/>
          <p:nvPr/>
        </p:nvSpPr>
        <p:spPr>
          <a:xfrm>
            <a:off x="841248" y="4206240"/>
            <a:ext cx="91440" cy="960120"/>
          </a:xfrm>
          <a:prstGeom prst="rect">
            <a:avLst/>
          </a:prstGeom>
          <a:solidFill>
            <a:srgbClr val="156082"/>
          </a:solidFill>
          <a:ln w="12700">
            <a:solidFill>
              <a:srgbClr val="333333"/>
            </a:solidFill>
            <a:prstDash val="solid"/>
          </a:ln>
        </p:spPr>
      </p:sp>
      <p:sp>
        <p:nvSpPr>
          <p:cNvPr id="8" name="Text 6"/>
          <p:cNvSpPr/>
          <p:nvPr/>
        </p:nvSpPr>
        <p:spPr>
          <a:xfrm>
            <a:off x="1097280" y="4206240"/>
            <a:ext cx="2807208" cy="960120"/>
          </a:xfrm>
          <a:prstGeom prst="rect">
            <a:avLst/>
          </a:prstGeom>
          <a:noFill/>
          <a:ln/>
        </p:spPr>
        <p:txBody>
          <a:bodyPr wrap="square" lIns="0" tIns="0" rIns="0" bIns="0" rtlCol="0" anchor="ctr"/>
          <a:lstStyle/>
          <a:p>
            <a:pPr marL="0" indent="0">
              <a:buNone/>
            </a:pPr>
            <a:r>
              <a:rPr lang="en-US" sz="2000" dirty="0">
                <a:solidFill>
                  <a:srgbClr val="0E2841"/>
                </a:solidFill>
                <a:latin typeface="Times New Roman" pitchFamily="34" charset="0"/>
                <a:ea typeface="Times New Roman" pitchFamily="34" charset="-122"/>
                <a:cs typeface="Times New Roman" pitchFamily="34" charset="-120"/>
              </a:rPr>
              <a:t>Is this really in 3NF?</a:t>
            </a:r>
            <a:endParaRPr lang="en-US" sz="2000" dirty="0"/>
          </a:p>
        </p:txBody>
      </p:sp>
      <p:sp>
        <p:nvSpPr>
          <p:cNvPr id="9" name="Shape 7"/>
          <p:cNvSpPr/>
          <p:nvPr/>
        </p:nvSpPr>
        <p:spPr>
          <a:xfrm>
            <a:off x="4471416" y="4206240"/>
            <a:ext cx="3264408" cy="960120"/>
          </a:xfrm>
          <a:prstGeom prst="roundRect">
            <a:avLst>
              <a:gd name="adj" fmla="val 5714"/>
            </a:avLst>
          </a:prstGeom>
          <a:solidFill>
            <a:srgbClr val="F2F6FA"/>
          </a:solidFill>
          <a:ln w="12700">
            <a:solidFill>
              <a:srgbClr val="F2F6FA"/>
            </a:solidFill>
            <a:prstDash val="solid"/>
          </a:ln>
        </p:spPr>
      </p:sp>
      <p:sp>
        <p:nvSpPr>
          <p:cNvPr id="10" name="Shape 8"/>
          <p:cNvSpPr/>
          <p:nvPr/>
        </p:nvSpPr>
        <p:spPr>
          <a:xfrm>
            <a:off x="4471416" y="4206240"/>
            <a:ext cx="91440" cy="960120"/>
          </a:xfrm>
          <a:prstGeom prst="rect">
            <a:avLst/>
          </a:prstGeom>
          <a:solidFill>
            <a:srgbClr val="E97132"/>
          </a:solidFill>
          <a:ln w="12700">
            <a:solidFill>
              <a:srgbClr val="333333"/>
            </a:solidFill>
            <a:prstDash val="solid"/>
          </a:ln>
        </p:spPr>
      </p:sp>
      <p:sp>
        <p:nvSpPr>
          <p:cNvPr id="11" name="Text 9"/>
          <p:cNvSpPr/>
          <p:nvPr/>
        </p:nvSpPr>
        <p:spPr>
          <a:xfrm>
            <a:off x="4727448" y="4206240"/>
            <a:ext cx="2807208" cy="960120"/>
          </a:xfrm>
          <a:prstGeom prst="rect">
            <a:avLst/>
          </a:prstGeom>
          <a:noFill/>
          <a:ln/>
        </p:spPr>
        <p:txBody>
          <a:bodyPr wrap="square" lIns="0" tIns="0" rIns="0" bIns="0" rtlCol="0" anchor="ctr"/>
          <a:lstStyle/>
          <a:p>
            <a:pPr marL="0" indent="0">
              <a:buNone/>
            </a:pPr>
            <a:r>
              <a:rPr lang="en-US" sz="2000" dirty="0">
                <a:solidFill>
                  <a:srgbClr val="0E2841"/>
                </a:solidFill>
                <a:latin typeface="Times New Roman" pitchFamily="34" charset="0"/>
                <a:ea typeface="Times New Roman" pitchFamily="34" charset="-122"/>
                <a:cs typeface="Times New Roman" pitchFamily="34" charset="-120"/>
              </a:rPr>
              <a:t>What still repeats?</a:t>
            </a:r>
            <a:endParaRPr lang="en-US" sz="2000" dirty="0"/>
          </a:p>
        </p:txBody>
      </p:sp>
      <p:sp>
        <p:nvSpPr>
          <p:cNvPr id="12" name="Shape 10"/>
          <p:cNvSpPr/>
          <p:nvPr/>
        </p:nvSpPr>
        <p:spPr>
          <a:xfrm>
            <a:off x="8101584" y="4206240"/>
            <a:ext cx="3264408" cy="960120"/>
          </a:xfrm>
          <a:prstGeom prst="roundRect">
            <a:avLst>
              <a:gd name="adj" fmla="val 5714"/>
            </a:avLst>
          </a:prstGeom>
          <a:solidFill>
            <a:srgbClr val="F2F6FA"/>
          </a:solidFill>
          <a:ln w="12700">
            <a:solidFill>
              <a:srgbClr val="F2F6FA"/>
            </a:solidFill>
            <a:prstDash val="solid"/>
          </a:ln>
        </p:spPr>
      </p:sp>
      <p:sp>
        <p:nvSpPr>
          <p:cNvPr id="13" name="Shape 11"/>
          <p:cNvSpPr/>
          <p:nvPr/>
        </p:nvSpPr>
        <p:spPr>
          <a:xfrm>
            <a:off x="8101584" y="4206240"/>
            <a:ext cx="91440" cy="960120"/>
          </a:xfrm>
          <a:prstGeom prst="rect">
            <a:avLst/>
          </a:prstGeom>
          <a:solidFill>
            <a:srgbClr val="A02B93"/>
          </a:solidFill>
          <a:ln w="12700">
            <a:solidFill>
              <a:srgbClr val="333333"/>
            </a:solidFill>
            <a:prstDash val="solid"/>
          </a:ln>
        </p:spPr>
      </p:sp>
      <p:sp>
        <p:nvSpPr>
          <p:cNvPr id="14" name="Text 12"/>
          <p:cNvSpPr/>
          <p:nvPr/>
        </p:nvSpPr>
        <p:spPr>
          <a:xfrm>
            <a:off x="8357616" y="4206240"/>
            <a:ext cx="2807208" cy="960120"/>
          </a:xfrm>
          <a:prstGeom prst="rect">
            <a:avLst/>
          </a:prstGeom>
          <a:noFill/>
          <a:ln/>
        </p:spPr>
        <p:txBody>
          <a:bodyPr wrap="square" lIns="0" tIns="0" rIns="0" bIns="0" rtlCol="0" anchor="ctr"/>
          <a:lstStyle/>
          <a:p>
            <a:pPr marL="0" indent="0">
              <a:buNone/>
            </a:pPr>
            <a:r>
              <a:rPr lang="en-US" sz="2000" dirty="0">
                <a:solidFill>
                  <a:srgbClr val="0E2841"/>
                </a:solidFill>
                <a:latin typeface="Times New Roman" pitchFamily="34" charset="0"/>
                <a:ea typeface="Times New Roman" pitchFamily="34" charset="-122"/>
                <a:cs typeface="Times New Roman" pitchFamily="34" charset="-120"/>
              </a:rPr>
              <a:t>Which column is to blame?</a:t>
            </a:r>
            <a:endParaRPr lang="en-US" sz="2000" dirty="0"/>
          </a:p>
        </p:txBody>
      </p:sp>
      <p:sp>
        <p:nvSpPr>
          <p:cNvPr id="15" name="Shape 13"/>
          <p:cNvSpPr/>
          <p:nvPr/>
        </p:nvSpPr>
        <p:spPr>
          <a:xfrm>
            <a:off x="841248" y="5440680"/>
            <a:ext cx="10515600" cy="548640"/>
          </a:xfrm>
          <a:prstGeom prst="roundRect">
            <a:avLst>
              <a:gd name="adj" fmla="val 13333"/>
            </a:avLst>
          </a:prstGeom>
          <a:solidFill>
            <a:srgbClr val="E8EFF4"/>
          </a:solidFill>
          <a:ln w="12700">
            <a:solidFill>
              <a:srgbClr val="333333"/>
            </a:solidFill>
            <a:prstDash val="solid"/>
          </a:ln>
        </p:spPr>
      </p:sp>
      <p:sp>
        <p:nvSpPr>
          <p:cNvPr id="16" name="Text 14"/>
          <p:cNvSpPr/>
          <p:nvPr/>
        </p:nvSpPr>
        <p:spPr>
          <a:xfrm>
            <a:off x="841248" y="544068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It passes 3NF and still repeats facts — that gap is today's session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Session Outcomes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You will be able to:</a:t>
            </a:r>
            <a:endParaRPr lang="en-US" sz="2400" dirty="0"/>
          </a:p>
        </p:txBody>
      </p:sp>
      <p:sp>
        <p:nvSpPr>
          <p:cNvPr id="4" name="Shape 2"/>
          <p:cNvSpPr/>
          <p:nvPr/>
        </p:nvSpPr>
        <p:spPr>
          <a:xfrm>
            <a:off x="841248" y="2286000"/>
            <a:ext cx="10515600" cy="960120"/>
          </a:xfrm>
          <a:prstGeom prst="roundRect">
            <a:avLst>
              <a:gd name="adj" fmla="val 5714"/>
            </a:avLst>
          </a:prstGeom>
          <a:solidFill>
            <a:srgbClr val="F2F6FA"/>
          </a:solidFill>
          <a:ln w="12700">
            <a:solidFill>
              <a:srgbClr val="F2F6FA"/>
            </a:solidFill>
            <a:prstDash val="solid"/>
          </a:ln>
        </p:spPr>
      </p:sp>
      <p:sp>
        <p:nvSpPr>
          <p:cNvPr id="5" name="Shape 3"/>
          <p:cNvSpPr/>
          <p:nvPr/>
        </p:nvSpPr>
        <p:spPr>
          <a:xfrm>
            <a:off x="1069848" y="2468880"/>
            <a:ext cx="603504" cy="603504"/>
          </a:xfrm>
          <a:prstGeom prst="roundRect">
            <a:avLst>
              <a:gd name="adj" fmla="val 15152"/>
            </a:avLst>
          </a:prstGeom>
          <a:solidFill>
            <a:srgbClr val="156082"/>
          </a:solidFill>
          <a:ln w="12700">
            <a:solidFill>
              <a:srgbClr val="333333"/>
            </a:solidFill>
            <a:prstDash val="solid"/>
          </a:ln>
        </p:spPr>
      </p:sp>
      <p:sp>
        <p:nvSpPr>
          <p:cNvPr id="6" name="Text 4"/>
          <p:cNvSpPr/>
          <p:nvPr/>
        </p:nvSpPr>
        <p:spPr>
          <a:xfrm>
            <a:off x="1069848" y="246888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938528" y="2286000"/>
            <a:ext cx="8229600" cy="960120"/>
          </a:xfrm>
          <a:prstGeom prst="rect">
            <a:avLst/>
          </a:prstGeom>
          <a:noFill/>
          <a:ln/>
        </p:spPr>
        <p:txBody>
          <a:bodyPr wrap="square" lIns="0" tIns="0" rIns="0" bIns="0" rtlCol="0" anchor="ctr"/>
          <a:lstStyle/>
          <a:p>
            <a:pPr marL="0" indent="0">
              <a:buNone/>
            </a:pPr>
            <a:r>
              <a:rPr lang="en-US" sz="2200" dirty="0">
                <a:solidFill>
                  <a:srgbClr val="2B2B2B"/>
                </a:solidFill>
                <a:latin typeface="Times New Roman" pitchFamily="34" charset="0"/>
                <a:ea typeface="Times New Roman" pitchFamily="34" charset="-122"/>
                <a:cs typeface="Times New Roman" pitchFamily="34" charset="-120"/>
              </a:rPr>
              <a:t>Explain why 3NF still permits redundancy</a:t>
            </a:r>
            <a:endParaRPr lang="en-US" sz="2200" dirty="0"/>
          </a:p>
        </p:txBody>
      </p:sp>
      <p:sp>
        <p:nvSpPr>
          <p:cNvPr id="8" name="Shape 6"/>
          <p:cNvSpPr/>
          <p:nvPr/>
        </p:nvSpPr>
        <p:spPr>
          <a:xfrm>
            <a:off x="841248" y="3383280"/>
            <a:ext cx="10515600" cy="960120"/>
          </a:xfrm>
          <a:prstGeom prst="roundRect">
            <a:avLst>
              <a:gd name="adj" fmla="val 5714"/>
            </a:avLst>
          </a:prstGeom>
          <a:solidFill>
            <a:srgbClr val="F2F6FA"/>
          </a:solidFill>
          <a:ln w="12700">
            <a:solidFill>
              <a:srgbClr val="F2F6FA"/>
            </a:solidFill>
            <a:prstDash val="solid"/>
          </a:ln>
        </p:spPr>
      </p:sp>
      <p:sp>
        <p:nvSpPr>
          <p:cNvPr id="9" name="Shape 7"/>
          <p:cNvSpPr/>
          <p:nvPr/>
        </p:nvSpPr>
        <p:spPr>
          <a:xfrm>
            <a:off x="1069848" y="3566160"/>
            <a:ext cx="603504" cy="603504"/>
          </a:xfrm>
          <a:prstGeom prst="roundRect">
            <a:avLst>
              <a:gd name="adj" fmla="val 15152"/>
            </a:avLst>
          </a:prstGeom>
          <a:solidFill>
            <a:srgbClr val="E97132"/>
          </a:solidFill>
          <a:ln w="12700">
            <a:solidFill>
              <a:srgbClr val="333333"/>
            </a:solidFill>
            <a:prstDash val="solid"/>
          </a:ln>
        </p:spPr>
      </p:sp>
      <p:sp>
        <p:nvSpPr>
          <p:cNvPr id="10" name="Text 8"/>
          <p:cNvSpPr/>
          <p:nvPr/>
        </p:nvSpPr>
        <p:spPr>
          <a:xfrm>
            <a:off x="1069848" y="356616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1" name="Text 9"/>
          <p:cNvSpPr/>
          <p:nvPr/>
        </p:nvSpPr>
        <p:spPr>
          <a:xfrm>
            <a:off x="1938528" y="3383280"/>
            <a:ext cx="8229600" cy="960120"/>
          </a:xfrm>
          <a:prstGeom prst="rect">
            <a:avLst/>
          </a:prstGeom>
          <a:noFill/>
          <a:ln/>
        </p:spPr>
        <p:txBody>
          <a:bodyPr wrap="square" lIns="0" tIns="0" rIns="0" bIns="0" rtlCol="0" anchor="ctr"/>
          <a:lstStyle/>
          <a:p>
            <a:pPr marL="0" indent="0">
              <a:buNone/>
            </a:pPr>
            <a:r>
              <a:rPr lang="en-US" sz="2200" dirty="0">
                <a:solidFill>
                  <a:srgbClr val="2B2B2B"/>
                </a:solidFill>
                <a:latin typeface="Times New Roman" pitchFamily="34" charset="0"/>
                <a:ea typeface="Times New Roman" pitchFamily="34" charset="-122"/>
                <a:cs typeface="Times New Roman" pitchFamily="34" charset="-120"/>
              </a:rPr>
              <a:t>Apply the BCNF, 4NF and 5NF rules to a relation</a:t>
            </a:r>
            <a:endParaRPr lang="en-US" sz="2200" dirty="0"/>
          </a:p>
        </p:txBody>
      </p:sp>
      <p:sp>
        <p:nvSpPr>
          <p:cNvPr id="12" name="Shape 10"/>
          <p:cNvSpPr/>
          <p:nvPr/>
        </p:nvSpPr>
        <p:spPr>
          <a:xfrm>
            <a:off x="841248" y="4480560"/>
            <a:ext cx="10515600" cy="960120"/>
          </a:xfrm>
          <a:prstGeom prst="roundRect">
            <a:avLst>
              <a:gd name="adj" fmla="val 5714"/>
            </a:avLst>
          </a:prstGeom>
          <a:solidFill>
            <a:srgbClr val="F2F6FA"/>
          </a:solidFill>
          <a:ln w="12700">
            <a:solidFill>
              <a:srgbClr val="F2F6FA"/>
            </a:solidFill>
            <a:prstDash val="solid"/>
          </a:ln>
        </p:spPr>
      </p:sp>
      <p:sp>
        <p:nvSpPr>
          <p:cNvPr id="13" name="Shape 11"/>
          <p:cNvSpPr/>
          <p:nvPr/>
        </p:nvSpPr>
        <p:spPr>
          <a:xfrm>
            <a:off x="1069848" y="4663440"/>
            <a:ext cx="603504" cy="603504"/>
          </a:xfrm>
          <a:prstGeom prst="roundRect">
            <a:avLst>
              <a:gd name="adj" fmla="val 15152"/>
            </a:avLst>
          </a:prstGeom>
          <a:solidFill>
            <a:srgbClr val="196B24"/>
          </a:solidFill>
          <a:ln w="12700">
            <a:solidFill>
              <a:srgbClr val="333333"/>
            </a:solidFill>
            <a:prstDash val="solid"/>
          </a:ln>
        </p:spPr>
      </p:sp>
      <p:sp>
        <p:nvSpPr>
          <p:cNvPr id="14" name="Text 12"/>
          <p:cNvSpPr/>
          <p:nvPr/>
        </p:nvSpPr>
        <p:spPr>
          <a:xfrm>
            <a:off x="1069848" y="46634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5" name="Text 13"/>
          <p:cNvSpPr/>
          <p:nvPr/>
        </p:nvSpPr>
        <p:spPr>
          <a:xfrm>
            <a:off x="1938528" y="4480560"/>
            <a:ext cx="8229600" cy="960120"/>
          </a:xfrm>
          <a:prstGeom prst="rect">
            <a:avLst/>
          </a:prstGeom>
          <a:noFill/>
          <a:ln/>
        </p:spPr>
        <p:txBody>
          <a:bodyPr wrap="square" lIns="0" tIns="0" rIns="0" bIns="0" rtlCol="0" anchor="ctr"/>
          <a:lstStyle/>
          <a:p>
            <a:pPr marL="0" indent="0">
              <a:buNone/>
            </a:pPr>
            <a:r>
              <a:rPr lang="en-US" sz="2200" dirty="0">
                <a:solidFill>
                  <a:srgbClr val="2B2B2B"/>
                </a:solidFill>
                <a:latin typeface="Times New Roman" pitchFamily="34" charset="0"/>
                <a:ea typeface="Times New Roman" pitchFamily="34" charset="-122"/>
                <a:cs typeface="Times New Roman" pitchFamily="34" charset="-120"/>
              </a:rPr>
              <a:t>Decompose safely and verify nothing was invented</a:t>
            </a:r>
            <a:endParaRPr lang="en-US" sz="2200" dirty="0"/>
          </a:p>
        </p:txBody>
      </p:sp>
      <p:sp>
        <p:nvSpPr>
          <p:cNvPr id="16" name="Shape 14"/>
          <p:cNvSpPr/>
          <p:nvPr/>
        </p:nvSpPr>
        <p:spPr>
          <a:xfrm>
            <a:off x="8339328" y="5532120"/>
            <a:ext cx="3017520" cy="548640"/>
          </a:xfrm>
          <a:prstGeom prst="roundRect">
            <a:avLst>
              <a:gd name="adj" fmla="val 15000"/>
            </a:avLst>
          </a:prstGeom>
          <a:solidFill>
            <a:srgbClr val="0E2841"/>
          </a:solidFill>
          <a:ln w="12700">
            <a:solidFill>
              <a:srgbClr val="333333"/>
            </a:solidFill>
            <a:prstDash val="solid"/>
          </a:ln>
        </p:spPr>
      </p:sp>
      <p:sp>
        <p:nvSpPr>
          <p:cNvPr id="17" name="Text 15"/>
          <p:cNvSpPr/>
          <p:nvPr/>
        </p:nvSpPr>
        <p:spPr>
          <a:xfrm>
            <a:off x="8339328" y="5532120"/>
            <a:ext cx="3017520" cy="548640"/>
          </a:xfrm>
          <a:prstGeom prst="rect">
            <a:avLst/>
          </a:prstGeom>
          <a:noFill/>
          <a:ln/>
        </p:spPr>
        <p:txBody>
          <a:bodyPr wrap="square" lIns="0" tIns="0" rIns="0" bIns="0" rtlCol="0" anchor="ctr"/>
          <a:lstStyle/>
          <a:p>
            <a:pPr marL="0" indent="0" algn="ctr">
              <a:buNone/>
            </a:pPr>
            <a:r>
              <a:rPr lang="en-US" sz="1900" dirty="0">
                <a:solidFill>
                  <a:srgbClr val="FFFFFF"/>
                </a:solidFill>
                <a:latin typeface="Times New Roman" pitchFamily="34" charset="0"/>
                <a:ea typeface="Times New Roman" pitchFamily="34" charset="-122"/>
                <a:cs typeface="Times New Roman" pitchFamily="34" charset="-120"/>
              </a:rPr>
              <a:t>CO3   |   Bloom's L3</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Common Misconceptions</a:t>
            </a:r>
            <a:endParaRPr lang="en-US" sz="3600" dirty="0"/>
          </a:p>
        </p:txBody>
      </p:sp>
      <p:sp>
        <p:nvSpPr>
          <p:cNvPr id="3" name="Text 1"/>
          <p:cNvSpPr/>
          <p:nvPr/>
        </p:nvSpPr>
        <p:spPr>
          <a:xfrm>
            <a:off x="841248" y="1691640"/>
            <a:ext cx="4937760" cy="411480"/>
          </a:xfrm>
          <a:prstGeom prst="rect">
            <a:avLst/>
          </a:prstGeom>
          <a:noFill/>
          <a:ln/>
        </p:spPr>
        <p:txBody>
          <a:bodyPr wrap="square" lIns="0" tIns="0" rIns="0" bIns="0" rtlCol="0" anchor="ctr"/>
          <a:lstStyle/>
          <a:p>
            <a:pPr marL="0" indent="0">
              <a:buNone/>
            </a:pPr>
            <a:r>
              <a:rPr lang="en-US" sz="2400" dirty="0">
                <a:solidFill>
                  <a:srgbClr val="C03030"/>
                </a:solidFill>
                <a:latin typeface="Times New Roman" pitchFamily="34" charset="0"/>
                <a:ea typeface="Times New Roman" pitchFamily="34" charset="-122"/>
                <a:cs typeface="Times New Roman" pitchFamily="34" charset="-120"/>
              </a:rPr>
              <a:t>✗   Myth</a:t>
            </a:r>
            <a:endParaRPr lang="en-US" sz="2400" dirty="0"/>
          </a:p>
        </p:txBody>
      </p:sp>
      <p:sp>
        <p:nvSpPr>
          <p:cNvPr id="4" name="Text 2"/>
          <p:cNvSpPr/>
          <p:nvPr/>
        </p:nvSpPr>
        <p:spPr>
          <a:xfrm>
            <a:off x="6419088" y="1691640"/>
            <a:ext cx="4937760" cy="411480"/>
          </a:xfrm>
          <a:prstGeom prst="rect">
            <a:avLst/>
          </a:prstGeom>
          <a:noFill/>
          <a:ln/>
        </p:spPr>
        <p:txBody>
          <a:bodyPr wrap="square" lIns="0" tIns="0" rIns="0" bIns="0" rtlCol="0" anchor="ctr"/>
          <a:lstStyle/>
          <a:p>
            <a:pPr marL="0" indent="0">
              <a:buNone/>
            </a:pPr>
            <a:r>
              <a:rPr lang="en-US" sz="2400" dirty="0">
                <a:solidFill>
                  <a:srgbClr val="196B24"/>
                </a:solidFill>
                <a:latin typeface="Times New Roman" pitchFamily="34" charset="0"/>
                <a:ea typeface="Times New Roman" pitchFamily="34" charset="-122"/>
                <a:cs typeface="Times New Roman" pitchFamily="34" charset="-120"/>
              </a:rPr>
              <a:t>✓   Fact</a:t>
            </a:r>
            <a:endParaRPr lang="en-US" sz="2400" dirty="0"/>
          </a:p>
        </p:txBody>
      </p:sp>
      <p:sp>
        <p:nvSpPr>
          <p:cNvPr id="5" name="Shape 3"/>
          <p:cNvSpPr/>
          <p:nvPr/>
        </p:nvSpPr>
        <p:spPr>
          <a:xfrm>
            <a:off x="841248" y="2286000"/>
            <a:ext cx="4937760" cy="960120"/>
          </a:xfrm>
          <a:prstGeom prst="roundRect">
            <a:avLst>
              <a:gd name="adj" fmla="val 5714"/>
            </a:avLst>
          </a:prstGeom>
          <a:solidFill>
            <a:srgbClr val="FDF0F0"/>
          </a:solidFill>
          <a:ln w="12700">
            <a:solidFill>
              <a:srgbClr val="FDF0F0"/>
            </a:solidFill>
            <a:prstDash val="solid"/>
          </a:ln>
        </p:spPr>
      </p:sp>
      <p:sp>
        <p:nvSpPr>
          <p:cNvPr id="6" name="Text 4"/>
          <p:cNvSpPr/>
          <p:nvPr/>
        </p:nvSpPr>
        <p:spPr>
          <a:xfrm>
            <a:off x="1069848" y="2286000"/>
            <a:ext cx="4480560" cy="96012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3NF is the highest useful form</a:t>
            </a:r>
            <a:endParaRPr lang="en-US" sz="1900" dirty="0"/>
          </a:p>
        </p:txBody>
      </p:sp>
      <p:sp>
        <p:nvSpPr>
          <p:cNvPr id="7" name="Shape 5"/>
          <p:cNvSpPr/>
          <p:nvPr/>
        </p:nvSpPr>
        <p:spPr>
          <a:xfrm>
            <a:off x="5925312" y="2624328"/>
            <a:ext cx="347472" cy="274320"/>
          </a:xfrm>
          <a:prstGeom prst="rightArrow">
            <a:avLst/>
          </a:prstGeom>
          <a:solidFill>
            <a:srgbClr val="5A6472"/>
          </a:solidFill>
          <a:ln w="12700">
            <a:solidFill>
              <a:srgbClr val="333333"/>
            </a:solidFill>
            <a:prstDash val="solid"/>
          </a:ln>
        </p:spPr>
      </p:sp>
      <p:sp>
        <p:nvSpPr>
          <p:cNvPr id="8" name="Shape 6"/>
          <p:cNvSpPr/>
          <p:nvPr/>
        </p:nvSpPr>
        <p:spPr>
          <a:xfrm>
            <a:off x="6419088" y="2286000"/>
            <a:ext cx="4937760" cy="960120"/>
          </a:xfrm>
          <a:prstGeom prst="roundRect">
            <a:avLst>
              <a:gd name="adj" fmla="val 5714"/>
            </a:avLst>
          </a:prstGeom>
          <a:solidFill>
            <a:srgbClr val="EFF7EF"/>
          </a:solidFill>
          <a:ln w="12700">
            <a:solidFill>
              <a:srgbClr val="EFF7EF"/>
            </a:solidFill>
            <a:prstDash val="solid"/>
          </a:ln>
        </p:spPr>
      </p:sp>
      <p:sp>
        <p:nvSpPr>
          <p:cNvPr id="9" name="Text 7"/>
          <p:cNvSpPr/>
          <p:nvPr/>
        </p:nvSpPr>
        <p:spPr>
          <a:xfrm>
            <a:off x="6647688" y="2286000"/>
            <a:ext cx="4480560" cy="960120"/>
          </a:xfrm>
          <a:prstGeom prst="rect">
            <a:avLst/>
          </a:prstGeom>
          <a:noFill/>
          <a:ln/>
        </p:spPr>
        <p:txBody>
          <a:bodyPr wrap="square" lIns="0" tIns="0" rIns="0" bIns="0" rtlCol="0" anchor="ctr"/>
          <a:lstStyle/>
          <a:p>
            <a:pPr marL="0" indent="0">
              <a:buNone/>
            </a:pPr>
            <a:r>
              <a:rPr lang="en-US" sz="1900" dirty="0">
                <a:solidFill>
                  <a:srgbClr val="196B24"/>
                </a:solidFill>
                <a:latin typeface="Times New Roman" pitchFamily="34" charset="0"/>
                <a:ea typeface="Times New Roman" pitchFamily="34" charset="-122"/>
                <a:cs typeface="Times New Roman" pitchFamily="34" charset="-120"/>
              </a:rPr>
              <a:t>BCNF is the practical target</a:t>
            </a:r>
            <a:endParaRPr lang="en-US" sz="1900" dirty="0"/>
          </a:p>
        </p:txBody>
      </p:sp>
      <p:sp>
        <p:nvSpPr>
          <p:cNvPr id="10" name="Shape 8"/>
          <p:cNvSpPr/>
          <p:nvPr/>
        </p:nvSpPr>
        <p:spPr>
          <a:xfrm>
            <a:off x="841248" y="3401568"/>
            <a:ext cx="4937760" cy="960120"/>
          </a:xfrm>
          <a:prstGeom prst="roundRect">
            <a:avLst>
              <a:gd name="adj" fmla="val 5714"/>
            </a:avLst>
          </a:prstGeom>
          <a:solidFill>
            <a:srgbClr val="FDF0F0"/>
          </a:solidFill>
          <a:ln w="12700">
            <a:solidFill>
              <a:srgbClr val="FDF0F0"/>
            </a:solidFill>
            <a:prstDash val="solid"/>
          </a:ln>
        </p:spPr>
      </p:sp>
      <p:sp>
        <p:nvSpPr>
          <p:cNvPr id="11" name="Text 9"/>
          <p:cNvSpPr/>
          <p:nvPr/>
        </p:nvSpPr>
        <p:spPr>
          <a:xfrm>
            <a:off x="1069848" y="3401568"/>
            <a:ext cx="4480560" cy="96012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An MVD is just an FD with many values</a:t>
            </a:r>
            <a:endParaRPr lang="en-US" sz="1900" dirty="0"/>
          </a:p>
        </p:txBody>
      </p:sp>
      <p:sp>
        <p:nvSpPr>
          <p:cNvPr id="12" name="Shape 10"/>
          <p:cNvSpPr/>
          <p:nvPr/>
        </p:nvSpPr>
        <p:spPr>
          <a:xfrm>
            <a:off x="5925312" y="3739896"/>
            <a:ext cx="347472" cy="274320"/>
          </a:xfrm>
          <a:prstGeom prst="rightArrow">
            <a:avLst/>
          </a:prstGeom>
          <a:solidFill>
            <a:srgbClr val="5A6472"/>
          </a:solidFill>
          <a:ln w="12700">
            <a:solidFill>
              <a:srgbClr val="333333"/>
            </a:solidFill>
            <a:prstDash val="solid"/>
          </a:ln>
        </p:spPr>
      </p:sp>
      <p:sp>
        <p:nvSpPr>
          <p:cNvPr id="13" name="Shape 11"/>
          <p:cNvSpPr/>
          <p:nvPr/>
        </p:nvSpPr>
        <p:spPr>
          <a:xfrm>
            <a:off x="6419088" y="3401568"/>
            <a:ext cx="4937760" cy="960120"/>
          </a:xfrm>
          <a:prstGeom prst="roundRect">
            <a:avLst>
              <a:gd name="adj" fmla="val 5714"/>
            </a:avLst>
          </a:prstGeom>
          <a:solidFill>
            <a:srgbClr val="EFF7EF"/>
          </a:solidFill>
          <a:ln w="12700">
            <a:solidFill>
              <a:srgbClr val="EFF7EF"/>
            </a:solidFill>
            <a:prstDash val="solid"/>
          </a:ln>
        </p:spPr>
      </p:sp>
      <p:sp>
        <p:nvSpPr>
          <p:cNvPr id="14" name="Text 12"/>
          <p:cNvSpPr/>
          <p:nvPr/>
        </p:nvSpPr>
        <p:spPr>
          <a:xfrm>
            <a:off x="6647688" y="3401568"/>
            <a:ext cx="4480560" cy="960120"/>
          </a:xfrm>
          <a:prstGeom prst="rect">
            <a:avLst/>
          </a:prstGeom>
          <a:noFill/>
          <a:ln/>
        </p:spPr>
        <p:txBody>
          <a:bodyPr wrap="square" lIns="0" tIns="0" rIns="0" bIns="0" rtlCol="0" anchor="ctr"/>
          <a:lstStyle/>
          <a:p>
            <a:pPr marL="0" indent="0">
              <a:buNone/>
            </a:pPr>
            <a:r>
              <a:rPr lang="en-US" sz="1900" dirty="0">
                <a:solidFill>
                  <a:srgbClr val="196B24"/>
                </a:solidFill>
                <a:latin typeface="Times New Roman" pitchFamily="34" charset="0"/>
                <a:ea typeface="Times New Roman" pitchFamily="34" charset="-122"/>
                <a:cs typeface="Times New Roman" pitchFamily="34" charset="-120"/>
              </a:rPr>
              <a:t>It carries no single-value rule</a:t>
            </a:r>
            <a:endParaRPr lang="en-US" sz="1900" dirty="0"/>
          </a:p>
        </p:txBody>
      </p:sp>
      <p:sp>
        <p:nvSpPr>
          <p:cNvPr id="15" name="Shape 13"/>
          <p:cNvSpPr/>
          <p:nvPr/>
        </p:nvSpPr>
        <p:spPr>
          <a:xfrm>
            <a:off x="841248" y="4517136"/>
            <a:ext cx="4937760" cy="960120"/>
          </a:xfrm>
          <a:prstGeom prst="roundRect">
            <a:avLst>
              <a:gd name="adj" fmla="val 5714"/>
            </a:avLst>
          </a:prstGeom>
          <a:solidFill>
            <a:srgbClr val="FDF0F0"/>
          </a:solidFill>
          <a:ln w="12700">
            <a:solidFill>
              <a:srgbClr val="FDF0F0"/>
            </a:solidFill>
            <a:prstDash val="solid"/>
          </a:ln>
        </p:spPr>
      </p:sp>
      <p:sp>
        <p:nvSpPr>
          <p:cNvPr id="16" name="Text 14"/>
          <p:cNvSpPr/>
          <p:nvPr/>
        </p:nvSpPr>
        <p:spPr>
          <a:xfrm>
            <a:off x="1069848" y="4517136"/>
            <a:ext cx="4480560" cy="96012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More normalization is always safer</a:t>
            </a:r>
            <a:endParaRPr lang="en-US" sz="1900" dirty="0"/>
          </a:p>
        </p:txBody>
      </p:sp>
      <p:sp>
        <p:nvSpPr>
          <p:cNvPr id="17" name="Shape 15"/>
          <p:cNvSpPr/>
          <p:nvPr/>
        </p:nvSpPr>
        <p:spPr>
          <a:xfrm>
            <a:off x="5925312" y="4855464"/>
            <a:ext cx="347472" cy="274320"/>
          </a:xfrm>
          <a:prstGeom prst="rightArrow">
            <a:avLst/>
          </a:prstGeom>
          <a:solidFill>
            <a:srgbClr val="5A6472"/>
          </a:solidFill>
          <a:ln w="12700">
            <a:solidFill>
              <a:srgbClr val="333333"/>
            </a:solidFill>
            <a:prstDash val="solid"/>
          </a:ln>
        </p:spPr>
      </p:sp>
      <p:sp>
        <p:nvSpPr>
          <p:cNvPr id="18" name="Shape 16"/>
          <p:cNvSpPr/>
          <p:nvPr/>
        </p:nvSpPr>
        <p:spPr>
          <a:xfrm>
            <a:off x="6419088" y="4517136"/>
            <a:ext cx="4937760" cy="960120"/>
          </a:xfrm>
          <a:prstGeom prst="roundRect">
            <a:avLst>
              <a:gd name="adj" fmla="val 5714"/>
            </a:avLst>
          </a:prstGeom>
          <a:solidFill>
            <a:srgbClr val="EFF7EF"/>
          </a:solidFill>
          <a:ln w="12700">
            <a:solidFill>
              <a:srgbClr val="EFF7EF"/>
            </a:solidFill>
            <a:prstDash val="solid"/>
          </a:ln>
        </p:spPr>
      </p:sp>
      <p:sp>
        <p:nvSpPr>
          <p:cNvPr id="19" name="Text 17"/>
          <p:cNvSpPr/>
          <p:nvPr/>
        </p:nvSpPr>
        <p:spPr>
          <a:xfrm>
            <a:off x="6647688" y="4517136"/>
            <a:ext cx="4480560" cy="960120"/>
          </a:xfrm>
          <a:prstGeom prst="rect">
            <a:avLst/>
          </a:prstGeom>
          <a:noFill/>
          <a:ln/>
        </p:spPr>
        <p:txBody>
          <a:bodyPr wrap="square" lIns="0" tIns="0" rIns="0" bIns="0" rtlCol="0" anchor="ctr"/>
          <a:lstStyle/>
          <a:p>
            <a:pPr marL="0" indent="0">
              <a:buNone/>
            </a:pPr>
            <a:r>
              <a:rPr lang="en-US" sz="1900" dirty="0">
                <a:solidFill>
                  <a:srgbClr val="196B24"/>
                </a:solidFill>
                <a:latin typeface="Times New Roman" pitchFamily="34" charset="0"/>
                <a:ea typeface="Times New Roman" pitchFamily="34" charset="-122"/>
                <a:cs typeface="Times New Roman" pitchFamily="34" charset="-120"/>
              </a:rPr>
              <a:t>5NF needs a genuine pairwise rule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Why 3NF Is Not Enough</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One fact stored N times is N chances to disagree:</a:t>
            </a:r>
            <a:endParaRPr lang="en-US" sz="2400" dirty="0"/>
          </a:p>
        </p:txBody>
      </p:sp>
      <p:sp>
        <p:nvSpPr>
          <p:cNvPr id="4" name="Shape 2"/>
          <p:cNvSpPr/>
          <p:nvPr/>
        </p:nvSpPr>
        <p:spPr>
          <a:xfrm>
            <a:off x="841248" y="2240280"/>
            <a:ext cx="3291840" cy="2103120"/>
          </a:xfrm>
          <a:prstGeom prst="roundRect">
            <a:avLst>
              <a:gd name="adj" fmla="val 2609"/>
            </a:avLst>
          </a:prstGeom>
          <a:solidFill>
            <a:srgbClr val="FFFFFF"/>
          </a:solidFill>
          <a:ln w="12700">
            <a:solidFill>
              <a:srgbClr val="D2DCE6"/>
            </a:solidFill>
            <a:prstDash val="solid"/>
          </a:ln>
        </p:spPr>
      </p:sp>
      <p:sp>
        <p:nvSpPr>
          <p:cNvPr id="5" name="Shape 3"/>
          <p:cNvSpPr/>
          <p:nvPr/>
        </p:nvSpPr>
        <p:spPr>
          <a:xfrm>
            <a:off x="841248" y="2240280"/>
            <a:ext cx="3291840" cy="118872"/>
          </a:xfrm>
          <a:prstGeom prst="rect">
            <a:avLst/>
          </a:prstGeom>
          <a:solidFill>
            <a:srgbClr val="156082"/>
          </a:solidFill>
          <a:ln w="12700">
            <a:solidFill>
              <a:srgbClr val="333333"/>
            </a:solidFill>
            <a:prstDash val="solid"/>
          </a:ln>
        </p:spPr>
      </p:sp>
      <p:sp>
        <p:nvSpPr>
          <p:cNvPr id="6" name="Text 4"/>
          <p:cNvSpPr/>
          <p:nvPr/>
        </p:nvSpPr>
        <p:spPr>
          <a:xfrm>
            <a:off x="1115568" y="2514600"/>
            <a:ext cx="2743200" cy="457200"/>
          </a:xfrm>
          <a:prstGeom prst="rect">
            <a:avLst/>
          </a:prstGeom>
          <a:noFill/>
          <a:ln/>
        </p:spPr>
        <p:txBody>
          <a:bodyPr wrap="square" lIns="0" tIns="0" rIns="0" bIns="0" rtlCol="0" anchor="ctr"/>
          <a:lstStyle/>
          <a:p>
            <a:pPr marL="0" indent="0">
              <a:buNone/>
            </a:pPr>
            <a:r>
              <a:rPr lang="en-US" sz="2300" b="1" dirty="0">
                <a:solidFill>
                  <a:srgbClr val="156082"/>
                </a:solidFill>
                <a:latin typeface="Times New Roman" pitchFamily="34" charset="0"/>
                <a:ea typeface="Times New Roman" pitchFamily="34" charset="-122"/>
                <a:cs typeface="Times New Roman" pitchFamily="34" charset="-120"/>
              </a:rPr>
              <a:t>Update</a:t>
            </a:r>
            <a:endParaRPr lang="en-US" sz="2300" dirty="0"/>
          </a:p>
        </p:txBody>
      </p:sp>
      <p:sp>
        <p:nvSpPr>
          <p:cNvPr id="7" name="Text 5"/>
          <p:cNvSpPr/>
          <p:nvPr/>
        </p:nvSpPr>
        <p:spPr>
          <a:xfrm>
            <a:off x="1115568" y="3063240"/>
            <a:ext cx="2743200" cy="109728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Change one instructor's course and many rows must change together</a:t>
            </a:r>
            <a:endParaRPr lang="en-US" sz="1700" dirty="0"/>
          </a:p>
        </p:txBody>
      </p:sp>
      <p:sp>
        <p:nvSpPr>
          <p:cNvPr id="8" name="Shape 6"/>
          <p:cNvSpPr/>
          <p:nvPr/>
        </p:nvSpPr>
        <p:spPr>
          <a:xfrm>
            <a:off x="4453128" y="2240280"/>
            <a:ext cx="3291840" cy="2103120"/>
          </a:xfrm>
          <a:prstGeom prst="roundRect">
            <a:avLst>
              <a:gd name="adj" fmla="val 2609"/>
            </a:avLst>
          </a:prstGeom>
          <a:solidFill>
            <a:srgbClr val="FFFFFF"/>
          </a:solidFill>
          <a:ln w="12700">
            <a:solidFill>
              <a:srgbClr val="D2DCE6"/>
            </a:solidFill>
            <a:prstDash val="solid"/>
          </a:ln>
        </p:spPr>
      </p:sp>
      <p:sp>
        <p:nvSpPr>
          <p:cNvPr id="9" name="Shape 7"/>
          <p:cNvSpPr/>
          <p:nvPr/>
        </p:nvSpPr>
        <p:spPr>
          <a:xfrm>
            <a:off x="4453128" y="2240280"/>
            <a:ext cx="3291840" cy="118872"/>
          </a:xfrm>
          <a:prstGeom prst="rect">
            <a:avLst/>
          </a:prstGeom>
          <a:solidFill>
            <a:srgbClr val="E97132"/>
          </a:solidFill>
          <a:ln w="12700">
            <a:solidFill>
              <a:srgbClr val="333333"/>
            </a:solidFill>
            <a:prstDash val="solid"/>
          </a:ln>
        </p:spPr>
      </p:sp>
      <p:sp>
        <p:nvSpPr>
          <p:cNvPr id="10" name="Text 8"/>
          <p:cNvSpPr/>
          <p:nvPr/>
        </p:nvSpPr>
        <p:spPr>
          <a:xfrm>
            <a:off x="4727448" y="2514600"/>
            <a:ext cx="2743200" cy="457200"/>
          </a:xfrm>
          <a:prstGeom prst="rect">
            <a:avLst/>
          </a:prstGeom>
          <a:noFill/>
          <a:ln/>
        </p:spPr>
        <p:txBody>
          <a:bodyPr wrap="square" lIns="0" tIns="0" rIns="0" bIns="0" rtlCol="0" anchor="ctr"/>
          <a:lstStyle/>
          <a:p>
            <a:pPr marL="0" indent="0">
              <a:buNone/>
            </a:pPr>
            <a:r>
              <a:rPr lang="en-US" sz="2300" b="1" dirty="0">
                <a:solidFill>
                  <a:srgbClr val="E97132"/>
                </a:solidFill>
                <a:latin typeface="Times New Roman" pitchFamily="34" charset="0"/>
                <a:ea typeface="Times New Roman" pitchFamily="34" charset="-122"/>
                <a:cs typeface="Times New Roman" pitchFamily="34" charset="-120"/>
              </a:rPr>
              <a:t>Insertion</a:t>
            </a:r>
            <a:endParaRPr lang="en-US" sz="2300" dirty="0"/>
          </a:p>
        </p:txBody>
      </p:sp>
      <p:sp>
        <p:nvSpPr>
          <p:cNvPr id="11" name="Text 9"/>
          <p:cNvSpPr/>
          <p:nvPr/>
        </p:nvSpPr>
        <p:spPr>
          <a:xfrm>
            <a:off x="4727448" y="3063240"/>
            <a:ext cx="2743200" cy="109728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Cannot record a course until some student enrols on it</a:t>
            </a:r>
            <a:endParaRPr lang="en-US" sz="1700" dirty="0"/>
          </a:p>
        </p:txBody>
      </p:sp>
      <p:sp>
        <p:nvSpPr>
          <p:cNvPr id="12" name="Shape 10"/>
          <p:cNvSpPr/>
          <p:nvPr/>
        </p:nvSpPr>
        <p:spPr>
          <a:xfrm>
            <a:off x="8065008" y="2240280"/>
            <a:ext cx="3291840" cy="2103120"/>
          </a:xfrm>
          <a:prstGeom prst="roundRect">
            <a:avLst>
              <a:gd name="adj" fmla="val 2609"/>
            </a:avLst>
          </a:prstGeom>
          <a:solidFill>
            <a:srgbClr val="FFFFFF"/>
          </a:solidFill>
          <a:ln w="12700">
            <a:solidFill>
              <a:srgbClr val="D2DCE6"/>
            </a:solidFill>
            <a:prstDash val="solid"/>
          </a:ln>
        </p:spPr>
      </p:sp>
      <p:sp>
        <p:nvSpPr>
          <p:cNvPr id="13" name="Shape 11"/>
          <p:cNvSpPr/>
          <p:nvPr/>
        </p:nvSpPr>
        <p:spPr>
          <a:xfrm>
            <a:off x="8065008" y="2240280"/>
            <a:ext cx="3291840" cy="118872"/>
          </a:xfrm>
          <a:prstGeom prst="rect">
            <a:avLst/>
          </a:prstGeom>
          <a:solidFill>
            <a:srgbClr val="196B24"/>
          </a:solidFill>
          <a:ln w="12700">
            <a:solidFill>
              <a:srgbClr val="333333"/>
            </a:solidFill>
            <a:prstDash val="solid"/>
          </a:ln>
        </p:spPr>
      </p:sp>
      <p:sp>
        <p:nvSpPr>
          <p:cNvPr id="14" name="Text 12"/>
          <p:cNvSpPr/>
          <p:nvPr/>
        </p:nvSpPr>
        <p:spPr>
          <a:xfrm>
            <a:off x="8339328" y="2514600"/>
            <a:ext cx="2743200" cy="457200"/>
          </a:xfrm>
          <a:prstGeom prst="rect">
            <a:avLst/>
          </a:prstGeom>
          <a:noFill/>
          <a:ln/>
        </p:spPr>
        <p:txBody>
          <a:bodyPr wrap="square" lIns="0" tIns="0" rIns="0" bIns="0" rtlCol="0" anchor="ctr"/>
          <a:lstStyle/>
          <a:p>
            <a:pPr marL="0" indent="0">
              <a:buNone/>
            </a:pPr>
            <a:r>
              <a:rPr lang="en-US" sz="2300" b="1" dirty="0">
                <a:solidFill>
                  <a:srgbClr val="196B24"/>
                </a:solidFill>
                <a:latin typeface="Times New Roman" pitchFamily="34" charset="0"/>
                <a:ea typeface="Times New Roman" pitchFamily="34" charset="-122"/>
                <a:cs typeface="Times New Roman" pitchFamily="34" charset="-120"/>
              </a:rPr>
              <a:t>Deletion</a:t>
            </a:r>
            <a:endParaRPr lang="en-US" sz="2300" dirty="0"/>
          </a:p>
        </p:txBody>
      </p:sp>
      <p:sp>
        <p:nvSpPr>
          <p:cNvPr id="15" name="Text 13"/>
          <p:cNvSpPr/>
          <p:nvPr/>
        </p:nvSpPr>
        <p:spPr>
          <a:xfrm>
            <a:off x="8339328" y="3063240"/>
            <a:ext cx="2743200" cy="109728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The last student leaves and the course fact vanishes with them</a:t>
            </a:r>
            <a:endParaRPr lang="en-US" sz="1700" dirty="0"/>
          </a:p>
        </p:txBody>
      </p:sp>
      <p:sp>
        <p:nvSpPr>
          <p:cNvPr id="16" name="Shape 14"/>
          <p:cNvSpPr/>
          <p:nvPr/>
        </p:nvSpPr>
        <p:spPr>
          <a:xfrm>
            <a:off x="841248" y="4709160"/>
            <a:ext cx="10515600" cy="914400"/>
          </a:xfrm>
          <a:prstGeom prst="roundRect">
            <a:avLst>
              <a:gd name="adj" fmla="val 6000"/>
            </a:avLst>
          </a:prstGeom>
          <a:solidFill>
            <a:srgbClr val="F2F6FA"/>
          </a:solidFill>
          <a:ln w="12700">
            <a:solidFill>
              <a:srgbClr val="F2F6FA"/>
            </a:solidFill>
            <a:prstDash val="solid"/>
          </a:ln>
        </p:spPr>
      </p:sp>
      <p:sp>
        <p:nvSpPr>
          <p:cNvPr id="17" name="Shape 15"/>
          <p:cNvSpPr/>
          <p:nvPr/>
        </p:nvSpPr>
        <p:spPr>
          <a:xfrm>
            <a:off x="841248" y="4709160"/>
            <a:ext cx="91440" cy="914400"/>
          </a:xfrm>
          <a:prstGeom prst="rect">
            <a:avLst/>
          </a:prstGeom>
          <a:solidFill>
            <a:srgbClr val="A02B93"/>
          </a:solidFill>
          <a:ln w="12700">
            <a:solidFill>
              <a:srgbClr val="333333"/>
            </a:solidFill>
            <a:prstDash val="solid"/>
          </a:ln>
        </p:spPr>
      </p:sp>
      <p:sp>
        <p:nvSpPr>
          <p:cNvPr id="18" name="Text 16"/>
          <p:cNvSpPr/>
          <p:nvPr/>
        </p:nvSpPr>
        <p:spPr>
          <a:xfrm>
            <a:off x="1161288" y="4709160"/>
            <a:ext cx="9875520" cy="91440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BCNF closes the gap: every determinant must behave like a key.</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BCNF — The Rule</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A02B93"/>
                </a:solidFill>
                <a:latin typeface="Times New Roman" pitchFamily="34" charset="0"/>
                <a:ea typeface="Times New Roman" pitchFamily="34" charset="-122"/>
                <a:cs typeface="Times New Roman" pitchFamily="34" charset="-120"/>
              </a:rPr>
              <a:t>For every non-trivial FD  X → Y :</a:t>
            </a:r>
            <a:endParaRPr lang="en-US" sz="2400" dirty="0"/>
          </a:p>
        </p:txBody>
      </p:sp>
      <p:sp>
        <p:nvSpPr>
          <p:cNvPr id="4" name="Shape 2"/>
          <p:cNvSpPr/>
          <p:nvPr/>
        </p:nvSpPr>
        <p:spPr>
          <a:xfrm>
            <a:off x="841248" y="2240280"/>
            <a:ext cx="5257800" cy="3108960"/>
          </a:xfrm>
          <a:prstGeom prst="roundRect">
            <a:avLst>
              <a:gd name="adj" fmla="val 1765"/>
            </a:avLst>
          </a:prstGeom>
          <a:solidFill>
            <a:srgbClr val="1E3040"/>
          </a:solidFill>
          <a:ln w="12700">
            <a:solidFill>
              <a:srgbClr val="333333"/>
            </a:solidFill>
            <a:prstDash val="solid"/>
          </a:ln>
        </p:spPr>
      </p:sp>
      <p:sp>
        <p:nvSpPr>
          <p:cNvPr id="5" name="Text 3"/>
          <p:cNvSpPr/>
          <p:nvPr/>
        </p:nvSpPr>
        <p:spPr>
          <a:xfrm>
            <a:off x="1097280" y="2423160"/>
            <a:ext cx="4745736" cy="2743200"/>
          </a:xfrm>
          <a:prstGeom prst="rect">
            <a:avLst/>
          </a:prstGeom>
          <a:noFill/>
          <a:ln/>
        </p:spPr>
        <p:txBody>
          <a:bodyPr wrap="square" lIns="0" tIns="0" rIns="0" bIns="0" rtlCol="0" anchor="ctr"/>
          <a:lstStyle/>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R (A, B, C)</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X -&gt; Y   is non-trivial</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BCNF requires:</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X must be a superkey</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Otherwise -&gt; decompose</a:t>
            </a:r>
            <a:endParaRPr lang="en-US" sz="1700" dirty="0"/>
          </a:p>
        </p:txBody>
      </p:sp>
      <p:sp>
        <p:nvSpPr>
          <p:cNvPr id="6" name="Shape 4"/>
          <p:cNvSpPr/>
          <p:nvPr/>
        </p:nvSpPr>
        <p:spPr>
          <a:xfrm>
            <a:off x="6510528" y="2240280"/>
            <a:ext cx="4846320" cy="960120"/>
          </a:xfrm>
          <a:prstGeom prst="roundRect">
            <a:avLst>
              <a:gd name="adj" fmla="val 5714"/>
            </a:avLst>
          </a:prstGeom>
          <a:solidFill>
            <a:srgbClr val="F2F6FA"/>
          </a:solidFill>
          <a:ln w="12700">
            <a:solidFill>
              <a:srgbClr val="F2F6FA"/>
            </a:solidFill>
            <a:prstDash val="solid"/>
          </a:ln>
        </p:spPr>
      </p:sp>
      <p:sp>
        <p:nvSpPr>
          <p:cNvPr id="7" name="Shape 5"/>
          <p:cNvSpPr/>
          <p:nvPr/>
        </p:nvSpPr>
        <p:spPr>
          <a:xfrm>
            <a:off x="6510528" y="2240280"/>
            <a:ext cx="91440" cy="960120"/>
          </a:xfrm>
          <a:prstGeom prst="rect">
            <a:avLst/>
          </a:prstGeom>
          <a:solidFill>
            <a:srgbClr val="156082"/>
          </a:solidFill>
          <a:ln w="12700">
            <a:solidFill>
              <a:srgbClr val="333333"/>
            </a:solidFill>
            <a:prstDash val="solid"/>
          </a:ln>
        </p:spPr>
      </p:sp>
      <p:sp>
        <p:nvSpPr>
          <p:cNvPr id="8" name="Text 6"/>
          <p:cNvSpPr/>
          <p:nvPr/>
        </p:nvSpPr>
        <p:spPr>
          <a:xfrm>
            <a:off x="6803136" y="2350008"/>
            <a:ext cx="4297680" cy="365760"/>
          </a:xfrm>
          <a:prstGeom prst="rect">
            <a:avLst/>
          </a:prstGeom>
          <a:noFill/>
          <a:ln/>
        </p:spPr>
        <p:txBody>
          <a:bodyPr wrap="square" lIns="0" tIns="0" rIns="0" bIns="0" rtlCol="0" anchor="ctr"/>
          <a:lstStyle/>
          <a:p>
            <a:pPr marL="0" indent="0">
              <a:buNone/>
            </a:pPr>
            <a:r>
              <a:rPr lang="en-US" sz="1900" b="1" dirty="0">
                <a:solidFill>
                  <a:srgbClr val="156082"/>
                </a:solidFill>
                <a:latin typeface="Times New Roman" pitchFamily="34" charset="0"/>
                <a:ea typeface="Times New Roman" pitchFamily="34" charset="-122"/>
                <a:cs typeface="Times New Roman" pitchFamily="34" charset="-120"/>
              </a:rPr>
              <a:t>Determinant</a:t>
            </a:r>
            <a:endParaRPr lang="en-US" sz="1900" dirty="0"/>
          </a:p>
        </p:txBody>
      </p:sp>
      <p:sp>
        <p:nvSpPr>
          <p:cNvPr id="9" name="Text 7"/>
          <p:cNvSpPr/>
          <p:nvPr/>
        </p:nvSpPr>
        <p:spPr>
          <a:xfrm>
            <a:off x="6803136" y="274320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The left-hand side X of an FD</a:t>
            </a:r>
            <a:endParaRPr lang="en-US" sz="1600" dirty="0"/>
          </a:p>
        </p:txBody>
      </p:sp>
      <p:sp>
        <p:nvSpPr>
          <p:cNvPr id="10" name="Shape 8"/>
          <p:cNvSpPr/>
          <p:nvPr/>
        </p:nvSpPr>
        <p:spPr>
          <a:xfrm>
            <a:off x="6510528" y="3337560"/>
            <a:ext cx="4846320" cy="960120"/>
          </a:xfrm>
          <a:prstGeom prst="roundRect">
            <a:avLst>
              <a:gd name="adj" fmla="val 5714"/>
            </a:avLst>
          </a:prstGeom>
          <a:solidFill>
            <a:srgbClr val="F2F6FA"/>
          </a:solidFill>
          <a:ln w="12700">
            <a:solidFill>
              <a:srgbClr val="F2F6FA"/>
            </a:solidFill>
            <a:prstDash val="solid"/>
          </a:ln>
        </p:spPr>
      </p:sp>
      <p:sp>
        <p:nvSpPr>
          <p:cNvPr id="11" name="Shape 9"/>
          <p:cNvSpPr/>
          <p:nvPr/>
        </p:nvSpPr>
        <p:spPr>
          <a:xfrm>
            <a:off x="6510528" y="3337560"/>
            <a:ext cx="91440" cy="960120"/>
          </a:xfrm>
          <a:prstGeom prst="rect">
            <a:avLst/>
          </a:prstGeom>
          <a:solidFill>
            <a:srgbClr val="E97132"/>
          </a:solidFill>
          <a:ln w="12700">
            <a:solidFill>
              <a:srgbClr val="333333"/>
            </a:solidFill>
            <a:prstDash val="solid"/>
          </a:ln>
        </p:spPr>
      </p:sp>
      <p:sp>
        <p:nvSpPr>
          <p:cNvPr id="12" name="Text 10"/>
          <p:cNvSpPr/>
          <p:nvPr/>
        </p:nvSpPr>
        <p:spPr>
          <a:xfrm>
            <a:off x="6803136" y="3447288"/>
            <a:ext cx="4297680" cy="365760"/>
          </a:xfrm>
          <a:prstGeom prst="rect">
            <a:avLst/>
          </a:prstGeom>
          <a:noFill/>
          <a:ln/>
        </p:spPr>
        <p:txBody>
          <a:bodyPr wrap="square" lIns="0" tIns="0" rIns="0" bIns="0" rtlCol="0" anchor="ctr"/>
          <a:lstStyle/>
          <a:p>
            <a:pPr marL="0" indent="0">
              <a:buNone/>
            </a:pPr>
            <a:r>
              <a:rPr lang="en-US" sz="1900" b="1" dirty="0">
                <a:solidFill>
                  <a:srgbClr val="E97132"/>
                </a:solidFill>
                <a:latin typeface="Times New Roman" pitchFamily="34" charset="0"/>
                <a:ea typeface="Times New Roman" pitchFamily="34" charset="-122"/>
                <a:cs typeface="Times New Roman" pitchFamily="34" charset="-120"/>
              </a:rPr>
              <a:t>Superkey</a:t>
            </a:r>
            <a:endParaRPr lang="en-US" sz="1900" dirty="0"/>
          </a:p>
        </p:txBody>
      </p:sp>
      <p:sp>
        <p:nvSpPr>
          <p:cNvPr id="13" name="Text 11"/>
          <p:cNvSpPr/>
          <p:nvPr/>
        </p:nvSpPr>
        <p:spPr>
          <a:xfrm>
            <a:off x="6803136" y="384048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Any attribute set that identifies a row</a:t>
            </a:r>
            <a:endParaRPr lang="en-US" sz="1600" dirty="0"/>
          </a:p>
        </p:txBody>
      </p:sp>
      <p:sp>
        <p:nvSpPr>
          <p:cNvPr id="14" name="Shape 12"/>
          <p:cNvSpPr/>
          <p:nvPr/>
        </p:nvSpPr>
        <p:spPr>
          <a:xfrm>
            <a:off x="6510528" y="4434840"/>
            <a:ext cx="4846320" cy="960120"/>
          </a:xfrm>
          <a:prstGeom prst="roundRect">
            <a:avLst>
              <a:gd name="adj" fmla="val 5714"/>
            </a:avLst>
          </a:prstGeom>
          <a:solidFill>
            <a:srgbClr val="F2F6FA"/>
          </a:solidFill>
          <a:ln w="12700">
            <a:solidFill>
              <a:srgbClr val="F2F6FA"/>
            </a:solidFill>
            <a:prstDash val="solid"/>
          </a:ln>
        </p:spPr>
      </p:sp>
      <p:sp>
        <p:nvSpPr>
          <p:cNvPr id="15" name="Shape 13"/>
          <p:cNvSpPr/>
          <p:nvPr/>
        </p:nvSpPr>
        <p:spPr>
          <a:xfrm>
            <a:off x="6510528" y="4434840"/>
            <a:ext cx="91440" cy="960120"/>
          </a:xfrm>
          <a:prstGeom prst="rect">
            <a:avLst/>
          </a:prstGeom>
          <a:solidFill>
            <a:srgbClr val="196B24"/>
          </a:solidFill>
          <a:ln w="12700">
            <a:solidFill>
              <a:srgbClr val="333333"/>
            </a:solidFill>
            <a:prstDash val="solid"/>
          </a:ln>
        </p:spPr>
      </p:sp>
      <p:sp>
        <p:nvSpPr>
          <p:cNvPr id="16" name="Text 14"/>
          <p:cNvSpPr/>
          <p:nvPr/>
        </p:nvSpPr>
        <p:spPr>
          <a:xfrm>
            <a:off x="6803136" y="4544568"/>
            <a:ext cx="4297680" cy="365760"/>
          </a:xfrm>
          <a:prstGeom prst="rect">
            <a:avLst/>
          </a:prstGeom>
          <a:noFill/>
          <a:ln/>
        </p:spPr>
        <p:txBody>
          <a:bodyPr wrap="square" lIns="0" tIns="0" rIns="0" bIns="0" rtlCol="0" anchor="ctr"/>
          <a:lstStyle/>
          <a:p>
            <a:pPr marL="0" indent="0">
              <a:buNone/>
            </a:pPr>
            <a:r>
              <a:rPr lang="en-US" sz="1900" b="1" dirty="0">
                <a:solidFill>
                  <a:srgbClr val="196B24"/>
                </a:solidFill>
                <a:latin typeface="Times New Roman" pitchFamily="34" charset="0"/>
                <a:ea typeface="Times New Roman" pitchFamily="34" charset="-122"/>
                <a:cs typeface="Times New Roman" pitchFamily="34" charset="-120"/>
              </a:rPr>
              <a:t>Violation</a:t>
            </a:r>
            <a:endParaRPr lang="en-US" sz="1900" dirty="0"/>
          </a:p>
        </p:txBody>
      </p:sp>
      <p:sp>
        <p:nvSpPr>
          <p:cNvPr id="17" name="Text 15"/>
          <p:cNvSpPr/>
          <p:nvPr/>
        </p:nvSpPr>
        <p:spPr>
          <a:xfrm>
            <a:off x="6803136" y="493776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X decides Y but cannot identify a row</a:t>
            </a:r>
            <a:endParaRPr lang="en-US" sz="1600" dirty="0"/>
          </a:p>
        </p:txBody>
      </p:sp>
      <p:sp>
        <p:nvSpPr>
          <p:cNvPr id="18" name="Shape 16"/>
          <p:cNvSpPr/>
          <p:nvPr/>
        </p:nvSpPr>
        <p:spPr>
          <a:xfrm>
            <a:off x="841248" y="5577840"/>
            <a:ext cx="10515600" cy="548640"/>
          </a:xfrm>
          <a:prstGeom prst="roundRect">
            <a:avLst>
              <a:gd name="adj" fmla="val 13333"/>
            </a:avLst>
          </a:prstGeom>
          <a:solidFill>
            <a:srgbClr val="E8EFF4"/>
          </a:solidFill>
          <a:ln w="12700">
            <a:solidFill>
              <a:srgbClr val="333333"/>
            </a:solidFill>
            <a:prstDash val="solid"/>
          </a:ln>
        </p:spPr>
      </p:sp>
      <p:sp>
        <p:nvSpPr>
          <p:cNvPr id="19" name="Text 17"/>
          <p:cNvSpPr/>
          <p:nvPr/>
        </p:nvSpPr>
        <p:spPr>
          <a:xfrm>
            <a:off x="841248" y="557784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No non-key column may control another column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BCNF — Worked Example</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A02B93"/>
                </a:solidFill>
                <a:latin typeface="Times New Roman" pitchFamily="34" charset="0"/>
                <a:ea typeface="Times New Roman" pitchFamily="34" charset="-122"/>
                <a:cs typeface="Times New Roman" pitchFamily="34" charset="-120"/>
              </a:rPr>
              <a:t>Violation: Instructor decides Course but is not a superkey</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 (Student, Instructor, Course)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 Instructor) -&gt; Course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Instructor -&gt; Course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Key = (Student, Instructor)</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R1 (Instructor, Course)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R2 (Student, Instructor)</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Split on  Instructor -&gt; Course</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A02B93"/>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Each instructor's course is now stored exactly once. This is how ledger and payment tables are kept clean in production.</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The BCNF Routine</a:t>
            </a:r>
            <a:endParaRPr lang="en-US" sz="3600" dirty="0"/>
          </a:p>
        </p:txBody>
      </p:sp>
      <p:sp>
        <p:nvSpPr>
          <p:cNvPr id="4" name="Shape 2"/>
          <p:cNvSpPr/>
          <p:nvPr/>
        </p:nvSpPr>
        <p:spPr>
          <a:xfrm>
            <a:off x="841248" y="2240280"/>
            <a:ext cx="10515600" cy="685800"/>
          </a:xfrm>
          <a:prstGeom prst="roundRect">
            <a:avLst>
              <a:gd name="adj" fmla="val 8000"/>
            </a:avLst>
          </a:prstGeom>
          <a:solidFill>
            <a:srgbClr val="F2F6FA"/>
          </a:solidFill>
          <a:ln w="12700">
            <a:solidFill>
              <a:srgbClr val="F2F6FA"/>
            </a:solidFill>
            <a:prstDash val="solid"/>
          </a:ln>
        </p:spPr>
      </p:sp>
      <p:sp>
        <p:nvSpPr>
          <p:cNvPr id="5" name="Shape 3"/>
          <p:cNvSpPr/>
          <p:nvPr/>
        </p:nvSpPr>
        <p:spPr>
          <a:xfrm>
            <a:off x="1097280" y="2313432"/>
            <a:ext cx="530352" cy="530352"/>
          </a:xfrm>
          <a:prstGeom prst="roundRect">
            <a:avLst>
              <a:gd name="adj" fmla="val 17241"/>
            </a:avLst>
          </a:prstGeom>
          <a:solidFill>
            <a:srgbClr val="156082"/>
          </a:solidFill>
          <a:ln w="12700">
            <a:solidFill>
              <a:srgbClr val="333333"/>
            </a:solidFill>
            <a:prstDash val="solid"/>
          </a:ln>
        </p:spPr>
      </p:sp>
      <p:sp>
        <p:nvSpPr>
          <p:cNvPr id="6" name="Text 4"/>
          <p:cNvSpPr/>
          <p:nvPr/>
        </p:nvSpPr>
        <p:spPr>
          <a:xfrm>
            <a:off x="1097280" y="231343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828800" y="2240280"/>
            <a:ext cx="37490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List the FDs</a:t>
            </a:r>
            <a:endParaRPr lang="en-US" sz="2100" dirty="0"/>
          </a:p>
        </p:txBody>
      </p:sp>
      <p:sp>
        <p:nvSpPr>
          <p:cNvPr id="8" name="Text 6"/>
          <p:cNvSpPr/>
          <p:nvPr/>
        </p:nvSpPr>
        <p:spPr>
          <a:xfrm>
            <a:off x="5760720" y="2240280"/>
            <a:ext cx="5394960" cy="68580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Write every dependency you are given</a:t>
            </a:r>
            <a:endParaRPr lang="en-US" sz="1800" dirty="0"/>
          </a:p>
        </p:txBody>
      </p:sp>
      <p:sp>
        <p:nvSpPr>
          <p:cNvPr id="9" name="Shape 7"/>
          <p:cNvSpPr/>
          <p:nvPr/>
        </p:nvSpPr>
        <p:spPr>
          <a:xfrm>
            <a:off x="841248" y="3017520"/>
            <a:ext cx="10515600" cy="685800"/>
          </a:xfrm>
          <a:prstGeom prst="roundRect">
            <a:avLst>
              <a:gd name="adj" fmla="val 8000"/>
            </a:avLst>
          </a:prstGeom>
          <a:solidFill>
            <a:srgbClr val="F2F6FA"/>
          </a:solidFill>
          <a:ln w="12700">
            <a:solidFill>
              <a:srgbClr val="F2F6FA"/>
            </a:solidFill>
            <a:prstDash val="solid"/>
          </a:ln>
        </p:spPr>
      </p:sp>
      <p:sp>
        <p:nvSpPr>
          <p:cNvPr id="10" name="Shape 8"/>
          <p:cNvSpPr/>
          <p:nvPr/>
        </p:nvSpPr>
        <p:spPr>
          <a:xfrm>
            <a:off x="1097280" y="3090672"/>
            <a:ext cx="530352" cy="530352"/>
          </a:xfrm>
          <a:prstGeom prst="roundRect">
            <a:avLst>
              <a:gd name="adj" fmla="val 17241"/>
            </a:avLst>
          </a:prstGeom>
          <a:solidFill>
            <a:srgbClr val="E97132"/>
          </a:solidFill>
          <a:ln w="12700">
            <a:solidFill>
              <a:srgbClr val="333333"/>
            </a:solidFill>
            <a:prstDash val="solid"/>
          </a:ln>
        </p:spPr>
      </p:sp>
      <p:sp>
        <p:nvSpPr>
          <p:cNvPr id="11" name="Text 9"/>
          <p:cNvSpPr/>
          <p:nvPr/>
        </p:nvSpPr>
        <p:spPr>
          <a:xfrm>
            <a:off x="1097280" y="309067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2" name="Text 10"/>
          <p:cNvSpPr/>
          <p:nvPr/>
        </p:nvSpPr>
        <p:spPr>
          <a:xfrm>
            <a:off x="1828800" y="3017520"/>
            <a:ext cx="37490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Find the keys</a:t>
            </a:r>
            <a:endParaRPr lang="en-US" sz="2100" dirty="0"/>
          </a:p>
        </p:txBody>
      </p:sp>
      <p:sp>
        <p:nvSpPr>
          <p:cNvPr id="13" name="Text 11"/>
          <p:cNvSpPr/>
          <p:nvPr/>
        </p:nvSpPr>
        <p:spPr>
          <a:xfrm>
            <a:off x="5760720" y="3017520"/>
            <a:ext cx="5394960" cy="68580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Which attribute sets identify a row?</a:t>
            </a:r>
            <a:endParaRPr lang="en-US" sz="1800" dirty="0"/>
          </a:p>
        </p:txBody>
      </p:sp>
      <p:sp>
        <p:nvSpPr>
          <p:cNvPr id="14" name="Shape 12"/>
          <p:cNvSpPr/>
          <p:nvPr/>
        </p:nvSpPr>
        <p:spPr>
          <a:xfrm>
            <a:off x="841248" y="3794760"/>
            <a:ext cx="10515600" cy="685800"/>
          </a:xfrm>
          <a:prstGeom prst="roundRect">
            <a:avLst>
              <a:gd name="adj" fmla="val 8000"/>
            </a:avLst>
          </a:prstGeom>
          <a:solidFill>
            <a:srgbClr val="F2F6FA"/>
          </a:solidFill>
          <a:ln w="12700">
            <a:solidFill>
              <a:srgbClr val="F2F6FA"/>
            </a:solidFill>
            <a:prstDash val="solid"/>
          </a:ln>
        </p:spPr>
      </p:sp>
      <p:sp>
        <p:nvSpPr>
          <p:cNvPr id="15" name="Shape 13"/>
          <p:cNvSpPr/>
          <p:nvPr/>
        </p:nvSpPr>
        <p:spPr>
          <a:xfrm>
            <a:off x="1097280" y="3867912"/>
            <a:ext cx="530352" cy="530352"/>
          </a:xfrm>
          <a:prstGeom prst="roundRect">
            <a:avLst>
              <a:gd name="adj" fmla="val 17241"/>
            </a:avLst>
          </a:prstGeom>
          <a:solidFill>
            <a:srgbClr val="196B24"/>
          </a:solidFill>
          <a:ln w="12700">
            <a:solidFill>
              <a:srgbClr val="333333"/>
            </a:solidFill>
            <a:prstDash val="solid"/>
          </a:ln>
        </p:spPr>
      </p:sp>
      <p:sp>
        <p:nvSpPr>
          <p:cNvPr id="16" name="Text 14"/>
          <p:cNvSpPr/>
          <p:nvPr/>
        </p:nvSpPr>
        <p:spPr>
          <a:xfrm>
            <a:off x="1097280" y="386791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7" name="Text 15"/>
          <p:cNvSpPr/>
          <p:nvPr/>
        </p:nvSpPr>
        <p:spPr>
          <a:xfrm>
            <a:off x="1828800" y="3794760"/>
            <a:ext cx="37490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Test each determinant</a:t>
            </a:r>
            <a:endParaRPr lang="en-US" sz="2100" dirty="0"/>
          </a:p>
        </p:txBody>
      </p:sp>
      <p:sp>
        <p:nvSpPr>
          <p:cNvPr id="18" name="Text 16"/>
          <p:cNvSpPr/>
          <p:nvPr/>
        </p:nvSpPr>
        <p:spPr>
          <a:xfrm>
            <a:off x="5760720" y="3794760"/>
            <a:ext cx="5394960" cy="68580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Is the left-hand side a superkey?</a:t>
            </a:r>
            <a:endParaRPr lang="en-US" sz="1800" dirty="0"/>
          </a:p>
        </p:txBody>
      </p:sp>
      <p:sp>
        <p:nvSpPr>
          <p:cNvPr id="19" name="Shape 17"/>
          <p:cNvSpPr/>
          <p:nvPr/>
        </p:nvSpPr>
        <p:spPr>
          <a:xfrm>
            <a:off x="841248" y="4572000"/>
            <a:ext cx="10515600" cy="685800"/>
          </a:xfrm>
          <a:prstGeom prst="roundRect">
            <a:avLst>
              <a:gd name="adj" fmla="val 8000"/>
            </a:avLst>
          </a:prstGeom>
          <a:solidFill>
            <a:srgbClr val="F2F6FA"/>
          </a:solidFill>
          <a:ln w="12700">
            <a:solidFill>
              <a:srgbClr val="F2F6FA"/>
            </a:solidFill>
            <a:prstDash val="solid"/>
          </a:ln>
        </p:spPr>
      </p:sp>
      <p:sp>
        <p:nvSpPr>
          <p:cNvPr id="20" name="Shape 18"/>
          <p:cNvSpPr/>
          <p:nvPr/>
        </p:nvSpPr>
        <p:spPr>
          <a:xfrm>
            <a:off x="1097280" y="4645152"/>
            <a:ext cx="530352" cy="530352"/>
          </a:xfrm>
          <a:prstGeom prst="roundRect">
            <a:avLst>
              <a:gd name="adj" fmla="val 17241"/>
            </a:avLst>
          </a:prstGeom>
          <a:solidFill>
            <a:srgbClr val="A02B93"/>
          </a:solidFill>
          <a:ln w="12700">
            <a:solidFill>
              <a:srgbClr val="333333"/>
            </a:solidFill>
            <a:prstDash val="solid"/>
          </a:ln>
        </p:spPr>
      </p:sp>
      <p:sp>
        <p:nvSpPr>
          <p:cNvPr id="21" name="Text 19"/>
          <p:cNvSpPr/>
          <p:nvPr/>
        </p:nvSpPr>
        <p:spPr>
          <a:xfrm>
            <a:off x="1097280" y="464515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4</a:t>
            </a:r>
            <a:endParaRPr lang="en-US" sz="2100" dirty="0"/>
          </a:p>
        </p:txBody>
      </p:sp>
      <p:sp>
        <p:nvSpPr>
          <p:cNvPr id="22" name="Text 20"/>
          <p:cNvSpPr/>
          <p:nvPr/>
        </p:nvSpPr>
        <p:spPr>
          <a:xfrm>
            <a:off x="1828800" y="4572000"/>
            <a:ext cx="37490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Decompose</a:t>
            </a:r>
            <a:endParaRPr lang="en-US" sz="2100" dirty="0"/>
          </a:p>
        </p:txBody>
      </p:sp>
      <p:sp>
        <p:nvSpPr>
          <p:cNvPr id="23" name="Text 21"/>
          <p:cNvSpPr/>
          <p:nvPr/>
        </p:nvSpPr>
        <p:spPr>
          <a:xfrm>
            <a:off x="5760720" y="4572000"/>
            <a:ext cx="5394960" cy="68580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(X ∪ Y)  and  R − (Y − X)</a:t>
            </a:r>
            <a:endParaRPr lang="en-US" sz="1800" dirty="0"/>
          </a:p>
        </p:txBody>
      </p:sp>
      <p:sp>
        <p:nvSpPr>
          <p:cNvPr id="24" name="Shape 22"/>
          <p:cNvSpPr/>
          <p:nvPr/>
        </p:nvSpPr>
        <p:spPr>
          <a:xfrm>
            <a:off x="841248" y="5349240"/>
            <a:ext cx="10515600" cy="685800"/>
          </a:xfrm>
          <a:prstGeom prst="roundRect">
            <a:avLst>
              <a:gd name="adj" fmla="val 8000"/>
            </a:avLst>
          </a:prstGeom>
          <a:solidFill>
            <a:srgbClr val="F2F6FA"/>
          </a:solidFill>
          <a:ln w="12700">
            <a:solidFill>
              <a:srgbClr val="F2F6FA"/>
            </a:solidFill>
            <a:prstDash val="solid"/>
          </a:ln>
        </p:spPr>
      </p:sp>
      <p:sp>
        <p:nvSpPr>
          <p:cNvPr id="25" name="Shape 23"/>
          <p:cNvSpPr/>
          <p:nvPr/>
        </p:nvSpPr>
        <p:spPr>
          <a:xfrm>
            <a:off x="1097280" y="5422392"/>
            <a:ext cx="530352" cy="530352"/>
          </a:xfrm>
          <a:prstGeom prst="roundRect">
            <a:avLst>
              <a:gd name="adj" fmla="val 17241"/>
            </a:avLst>
          </a:prstGeom>
          <a:solidFill>
            <a:srgbClr val="156082"/>
          </a:solidFill>
          <a:ln w="12700">
            <a:solidFill>
              <a:srgbClr val="333333"/>
            </a:solidFill>
            <a:prstDash val="solid"/>
          </a:ln>
        </p:spPr>
      </p:sp>
      <p:sp>
        <p:nvSpPr>
          <p:cNvPr id="26" name="Text 24"/>
          <p:cNvSpPr/>
          <p:nvPr/>
        </p:nvSpPr>
        <p:spPr>
          <a:xfrm>
            <a:off x="1097280" y="542239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5</a:t>
            </a:r>
            <a:endParaRPr lang="en-US" sz="2100" dirty="0"/>
          </a:p>
        </p:txBody>
      </p:sp>
      <p:sp>
        <p:nvSpPr>
          <p:cNvPr id="27" name="Text 25"/>
          <p:cNvSpPr/>
          <p:nvPr/>
        </p:nvSpPr>
        <p:spPr>
          <a:xfrm>
            <a:off x="1828800" y="5349240"/>
            <a:ext cx="37490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Recheck and verify</a:t>
            </a:r>
            <a:endParaRPr lang="en-US" sz="2100" dirty="0"/>
          </a:p>
        </p:txBody>
      </p:sp>
      <p:sp>
        <p:nvSpPr>
          <p:cNvPr id="28" name="Text 26"/>
          <p:cNvSpPr/>
          <p:nvPr/>
        </p:nvSpPr>
        <p:spPr>
          <a:xfrm>
            <a:off x="5760720" y="5349240"/>
            <a:ext cx="5394960" cy="68580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Every new relation, lossless join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4NF — Multivalued Dependencies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For every non-trivial MVD  X ↠ Y :</a:t>
            </a:r>
            <a:endParaRPr lang="en-US" sz="2400" dirty="0"/>
          </a:p>
        </p:txBody>
      </p:sp>
      <p:sp>
        <p:nvSpPr>
          <p:cNvPr id="4" name="Shape 2"/>
          <p:cNvSpPr/>
          <p:nvPr/>
        </p:nvSpPr>
        <p:spPr>
          <a:xfrm>
            <a:off x="841248" y="2240280"/>
            <a:ext cx="5257800" cy="3108960"/>
          </a:xfrm>
          <a:prstGeom prst="roundRect">
            <a:avLst>
              <a:gd name="adj" fmla="val 1765"/>
            </a:avLst>
          </a:prstGeom>
          <a:solidFill>
            <a:srgbClr val="1E3040"/>
          </a:solidFill>
          <a:ln w="12700">
            <a:solidFill>
              <a:srgbClr val="333333"/>
            </a:solidFill>
            <a:prstDash val="solid"/>
          </a:ln>
        </p:spPr>
      </p:sp>
      <p:sp>
        <p:nvSpPr>
          <p:cNvPr id="5" name="Text 3"/>
          <p:cNvSpPr/>
          <p:nvPr/>
        </p:nvSpPr>
        <p:spPr>
          <a:xfrm>
            <a:off x="1097280" y="2423160"/>
            <a:ext cx="4745736" cy="2743200"/>
          </a:xfrm>
          <a:prstGeom prst="rect">
            <a:avLst/>
          </a:prstGeom>
          <a:noFill/>
          <a:ln/>
        </p:spPr>
        <p:txBody>
          <a:bodyPr wrap="square" lIns="0" tIns="0" rIns="0" bIns="0" rtlCol="0" anchor="ctr"/>
          <a:lstStyle/>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R (Student, Hobby, Language)</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Student -&gt;&gt; Hobby</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Student -&gt;&gt; Language</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4NF requires:</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X must be a superkey</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Otherwise -&gt; separate the lists</a:t>
            </a:r>
            <a:endParaRPr lang="en-US" sz="1700" dirty="0"/>
          </a:p>
        </p:txBody>
      </p:sp>
      <p:sp>
        <p:nvSpPr>
          <p:cNvPr id="6" name="Shape 4"/>
          <p:cNvSpPr/>
          <p:nvPr/>
        </p:nvSpPr>
        <p:spPr>
          <a:xfrm>
            <a:off x="6510528" y="2240280"/>
            <a:ext cx="4846320" cy="960120"/>
          </a:xfrm>
          <a:prstGeom prst="roundRect">
            <a:avLst>
              <a:gd name="adj" fmla="val 5714"/>
            </a:avLst>
          </a:prstGeom>
          <a:solidFill>
            <a:srgbClr val="F2F6FA"/>
          </a:solidFill>
          <a:ln w="12700">
            <a:solidFill>
              <a:srgbClr val="F2F6FA"/>
            </a:solidFill>
            <a:prstDash val="solid"/>
          </a:ln>
        </p:spPr>
      </p:sp>
      <p:sp>
        <p:nvSpPr>
          <p:cNvPr id="7" name="Shape 5"/>
          <p:cNvSpPr/>
          <p:nvPr/>
        </p:nvSpPr>
        <p:spPr>
          <a:xfrm>
            <a:off x="6510528" y="2240280"/>
            <a:ext cx="91440" cy="960120"/>
          </a:xfrm>
          <a:prstGeom prst="rect">
            <a:avLst/>
          </a:prstGeom>
          <a:solidFill>
            <a:srgbClr val="156082"/>
          </a:solidFill>
          <a:ln w="12700">
            <a:solidFill>
              <a:srgbClr val="333333"/>
            </a:solidFill>
            <a:prstDash val="solid"/>
          </a:ln>
        </p:spPr>
      </p:sp>
      <p:sp>
        <p:nvSpPr>
          <p:cNvPr id="8" name="Text 6"/>
          <p:cNvSpPr/>
          <p:nvPr/>
        </p:nvSpPr>
        <p:spPr>
          <a:xfrm>
            <a:off x="6803136" y="2350008"/>
            <a:ext cx="4297680" cy="365760"/>
          </a:xfrm>
          <a:prstGeom prst="rect">
            <a:avLst/>
          </a:prstGeom>
          <a:noFill/>
          <a:ln/>
        </p:spPr>
        <p:txBody>
          <a:bodyPr wrap="square" lIns="0" tIns="0" rIns="0" bIns="0" rtlCol="0" anchor="ctr"/>
          <a:lstStyle/>
          <a:p>
            <a:pPr marL="0" indent="0">
              <a:buNone/>
            </a:pPr>
            <a:r>
              <a:rPr lang="en-US" sz="1900" b="1" dirty="0">
                <a:solidFill>
                  <a:srgbClr val="156082"/>
                </a:solidFill>
                <a:latin typeface="Times New Roman" pitchFamily="34" charset="0"/>
                <a:ea typeface="Times New Roman" pitchFamily="34" charset="-122"/>
                <a:cs typeface="Times New Roman" pitchFamily="34" charset="-120"/>
              </a:rPr>
              <a:t>Double arrow</a:t>
            </a:r>
            <a:endParaRPr lang="en-US" sz="1900" dirty="0"/>
          </a:p>
        </p:txBody>
      </p:sp>
      <p:sp>
        <p:nvSpPr>
          <p:cNvPr id="9" name="Text 7"/>
          <p:cNvSpPr/>
          <p:nvPr/>
        </p:nvSpPr>
        <p:spPr>
          <a:xfrm>
            <a:off x="6803136" y="274320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One X value, a whole set of Y values</a:t>
            </a:r>
            <a:endParaRPr lang="en-US" sz="1600" dirty="0"/>
          </a:p>
        </p:txBody>
      </p:sp>
      <p:sp>
        <p:nvSpPr>
          <p:cNvPr id="10" name="Shape 8"/>
          <p:cNvSpPr/>
          <p:nvPr/>
        </p:nvSpPr>
        <p:spPr>
          <a:xfrm>
            <a:off x="6510528" y="3337560"/>
            <a:ext cx="4846320" cy="960120"/>
          </a:xfrm>
          <a:prstGeom prst="roundRect">
            <a:avLst>
              <a:gd name="adj" fmla="val 5714"/>
            </a:avLst>
          </a:prstGeom>
          <a:solidFill>
            <a:srgbClr val="F2F6FA"/>
          </a:solidFill>
          <a:ln w="12700">
            <a:solidFill>
              <a:srgbClr val="F2F6FA"/>
            </a:solidFill>
            <a:prstDash val="solid"/>
          </a:ln>
        </p:spPr>
      </p:sp>
      <p:sp>
        <p:nvSpPr>
          <p:cNvPr id="11" name="Shape 9"/>
          <p:cNvSpPr/>
          <p:nvPr/>
        </p:nvSpPr>
        <p:spPr>
          <a:xfrm>
            <a:off x="6510528" y="3337560"/>
            <a:ext cx="91440" cy="960120"/>
          </a:xfrm>
          <a:prstGeom prst="rect">
            <a:avLst/>
          </a:prstGeom>
          <a:solidFill>
            <a:srgbClr val="E97132"/>
          </a:solidFill>
          <a:ln w="12700">
            <a:solidFill>
              <a:srgbClr val="333333"/>
            </a:solidFill>
            <a:prstDash val="solid"/>
          </a:ln>
        </p:spPr>
      </p:sp>
      <p:sp>
        <p:nvSpPr>
          <p:cNvPr id="12" name="Text 10"/>
          <p:cNvSpPr/>
          <p:nvPr/>
        </p:nvSpPr>
        <p:spPr>
          <a:xfrm>
            <a:off x="6803136" y="3447288"/>
            <a:ext cx="4297680" cy="365760"/>
          </a:xfrm>
          <a:prstGeom prst="rect">
            <a:avLst/>
          </a:prstGeom>
          <a:noFill/>
          <a:ln/>
        </p:spPr>
        <p:txBody>
          <a:bodyPr wrap="square" lIns="0" tIns="0" rIns="0" bIns="0" rtlCol="0" anchor="ctr"/>
          <a:lstStyle/>
          <a:p>
            <a:pPr marL="0" indent="0">
              <a:buNone/>
            </a:pPr>
            <a:r>
              <a:rPr lang="en-US" sz="1900" b="1" dirty="0">
                <a:solidFill>
                  <a:srgbClr val="E97132"/>
                </a:solidFill>
                <a:latin typeface="Times New Roman" pitchFamily="34" charset="0"/>
                <a:ea typeface="Times New Roman" pitchFamily="34" charset="-122"/>
                <a:cs typeface="Times New Roman" pitchFamily="34" charset="-120"/>
              </a:rPr>
              <a:t>Independent</a:t>
            </a:r>
            <a:endParaRPr lang="en-US" sz="1900" dirty="0"/>
          </a:p>
        </p:txBody>
      </p:sp>
      <p:sp>
        <p:nvSpPr>
          <p:cNvPr id="13" name="Text 11"/>
          <p:cNvSpPr/>
          <p:nvPr/>
        </p:nvSpPr>
        <p:spPr>
          <a:xfrm>
            <a:off x="6803136" y="384048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Hobbies say nothing about languages</a:t>
            </a:r>
            <a:endParaRPr lang="en-US" sz="1600" dirty="0"/>
          </a:p>
        </p:txBody>
      </p:sp>
      <p:sp>
        <p:nvSpPr>
          <p:cNvPr id="14" name="Shape 12"/>
          <p:cNvSpPr/>
          <p:nvPr/>
        </p:nvSpPr>
        <p:spPr>
          <a:xfrm>
            <a:off x="6510528" y="4434840"/>
            <a:ext cx="4846320" cy="960120"/>
          </a:xfrm>
          <a:prstGeom prst="roundRect">
            <a:avLst>
              <a:gd name="adj" fmla="val 5714"/>
            </a:avLst>
          </a:prstGeom>
          <a:solidFill>
            <a:srgbClr val="F2F6FA"/>
          </a:solidFill>
          <a:ln w="12700">
            <a:solidFill>
              <a:srgbClr val="F2F6FA"/>
            </a:solidFill>
            <a:prstDash val="solid"/>
          </a:ln>
        </p:spPr>
      </p:sp>
      <p:sp>
        <p:nvSpPr>
          <p:cNvPr id="15" name="Shape 13"/>
          <p:cNvSpPr/>
          <p:nvPr/>
        </p:nvSpPr>
        <p:spPr>
          <a:xfrm>
            <a:off x="6510528" y="4434840"/>
            <a:ext cx="91440" cy="960120"/>
          </a:xfrm>
          <a:prstGeom prst="rect">
            <a:avLst/>
          </a:prstGeom>
          <a:solidFill>
            <a:srgbClr val="196B24"/>
          </a:solidFill>
          <a:ln w="12700">
            <a:solidFill>
              <a:srgbClr val="333333"/>
            </a:solidFill>
            <a:prstDash val="solid"/>
          </a:ln>
        </p:spPr>
      </p:sp>
      <p:sp>
        <p:nvSpPr>
          <p:cNvPr id="16" name="Text 14"/>
          <p:cNvSpPr/>
          <p:nvPr/>
        </p:nvSpPr>
        <p:spPr>
          <a:xfrm>
            <a:off x="6803136" y="4544568"/>
            <a:ext cx="4297680" cy="365760"/>
          </a:xfrm>
          <a:prstGeom prst="rect">
            <a:avLst/>
          </a:prstGeom>
          <a:noFill/>
          <a:ln/>
        </p:spPr>
        <p:txBody>
          <a:bodyPr wrap="square" lIns="0" tIns="0" rIns="0" bIns="0" rtlCol="0" anchor="ctr"/>
          <a:lstStyle/>
          <a:p>
            <a:pPr marL="0" indent="0">
              <a:buNone/>
            </a:pPr>
            <a:r>
              <a:rPr lang="en-US" sz="1900" b="1" dirty="0">
                <a:solidFill>
                  <a:srgbClr val="196B24"/>
                </a:solidFill>
                <a:latin typeface="Times New Roman" pitchFamily="34" charset="0"/>
                <a:ea typeface="Times New Roman" pitchFamily="34" charset="-122"/>
                <a:cs typeface="Times New Roman" pitchFamily="34" charset="-120"/>
              </a:rPr>
              <a:t>The cost</a:t>
            </a:r>
            <a:endParaRPr lang="en-US" sz="1900" dirty="0"/>
          </a:p>
        </p:txBody>
      </p:sp>
      <p:sp>
        <p:nvSpPr>
          <p:cNvPr id="17" name="Text 15"/>
          <p:cNvSpPr/>
          <p:nvPr/>
        </p:nvSpPr>
        <p:spPr>
          <a:xfrm>
            <a:off x="6803136" y="493776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m × n rows to store m + n facts</a:t>
            </a:r>
            <a:endParaRPr lang="en-US" sz="1600" dirty="0"/>
          </a:p>
        </p:txBody>
      </p:sp>
      <p:sp>
        <p:nvSpPr>
          <p:cNvPr id="18" name="Shape 16"/>
          <p:cNvSpPr/>
          <p:nvPr/>
        </p:nvSpPr>
        <p:spPr>
          <a:xfrm>
            <a:off x="841248" y="5577840"/>
            <a:ext cx="10515600" cy="548640"/>
          </a:xfrm>
          <a:prstGeom prst="roundRect">
            <a:avLst>
              <a:gd name="adj" fmla="val 13333"/>
            </a:avLst>
          </a:prstGeom>
          <a:solidFill>
            <a:srgbClr val="E8EFF4"/>
          </a:solidFill>
          <a:ln w="12700">
            <a:solidFill>
              <a:srgbClr val="333333"/>
            </a:solidFill>
            <a:prstDash val="solid"/>
          </a:ln>
        </p:spPr>
      </p:sp>
      <p:sp>
        <p:nvSpPr>
          <p:cNvPr id="19" name="Text 17"/>
          <p:cNvSpPr/>
          <p:nvPr/>
        </p:nvSpPr>
        <p:spPr>
          <a:xfrm>
            <a:off x="841248" y="557784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Two independent multivalued facts must not share a table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4NF — Worked Example</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Violation: two independent lists hang off one key</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 (Student, Hobby, Language)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Asha  Chess  Hindi</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Asha  Chess  English</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Asha  Music  Hindi</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Asha  Music  English</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R1 (Student, Hobby)</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Asha  Chess</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Asha  Music</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R2 (Student, Language)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Asha  Hindi / English</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156082"/>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2 × 2 = 4 rows becomes 2 + 2. At 10 hobbies and 10 languages, 100 junk rows shrink to 20 clean ones.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5NF — Join Dependencies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E97132"/>
                </a:solidFill>
                <a:latin typeface="Times New Roman" pitchFamily="34" charset="0"/>
                <a:ea typeface="Times New Roman" pitchFamily="34" charset="-122"/>
                <a:cs typeface="Times New Roman" pitchFamily="34" charset="-120"/>
              </a:rPr>
              <a:t>For every non-trivial join dependency:</a:t>
            </a:r>
            <a:endParaRPr lang="en-US" sz="2400" dirty="0"/>
          </a:p>
        </p:txBody>
      </p:sp>
      <p:sp>
        <p:nvSpPr>
          <p:cNvPr id="4" name="Shape 2"/>
          <p:cNvSpPr/>
          <p:nvPr/>
        </p:nvSpPr>
        <p:spPr>
          <a:xfrm>
            <a:off x="841248" y="2240280"/>
            <a:ext cx="5257800" cy="3108960"/>
          </a:xfrm>
          <a:prstGeom prst="roundRect">
            <a:avLst>
              <a:gd name="adj" fmla="val 1765"/>
            </a:avLst>
          </a:prstGeom>
          <a:solidFill>
            <a:srgbClr val="1E3040"/>
          </a:solidFill>
          <a:ln w="12700">
            <a:solidFill>
              <a:srgbClr val="333333"/>
            </a:solidFill>
            <a:prstDash val="solid"/>
          </a:ln>
        </p:spPr>
      </p:sp>
      <p:sp>
        <p:nvSpPr>
          <p:cNvPr id="5" name="Text 3"/>
          <p:cNvSpPr/>
          <p:nvPr/>
        </p:nvSpPr>
        <p:spPr>
          <a:xfrm>
            <a:off x="1097280" y="2423160"/>
            <a:ext cx="4745736" cy="2743200"/>
          </a:xfrm>
          <a:prstGeom prst="rect">
            <a:avLst/>
          </a:prstGeom>
          <a:noFill/>
          <a:ln/>
        </p:spPr>
        <p:txBody>
          <a:bodyPr wrap="square" lIns="0" tIns="0" rIns="0" bIns="0" rtlCol="0" anchor="ctr"/>
          <a:lstStyle/>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R (Supplier, Part, Project)</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JD *(SP, SJ, PJ)</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5NF requires:</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every JD implied by</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the candidate keys</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SP |X| SJ |X| PJ  =  R</a:t>
            </a:r>
            <a:endParaRPr lang="en-US" sz="1700" dirty="0"/>
          </a:p>
        </p:txBody>
      </p:sp>
      <p:sp>
        <p:nvSpPr>
          <p:cNvPr id="6" name="Shape 4"/>
          <p:cNvSpPr/>
          <p:nvPr/>
        </p:nvSpPr>
        <p:spPr>
          <a:xfrm>
            <a:off x="6510528" y="2240280"/>
            <a:ext cx="4846320" cy="960120"/>
          </a:xfrm>
          <a:prstGeom prst="roundRect">
            <a:avLst>
              <a:gd name="adj" fmla="val 5714"/>
            </a:avLst>
          </a:prstGeom>
          <a:solidFill>
            <a:srgbClr val="F2F6FA"/>
          </a:solidFill>
          <a:ln w="12700">
            <a:solidFill>
              <a:srgbClr val="F2F6FA"/>
            </a:solidFill>
            <a:prstDash val="solid"/>
          </a:ln>
        </p:spPr>
      </p:sp>
      <p:sp>
        <p:nvSpPr>
          <p:cNvPr id="7" name="Shape 5"/>
          <p:cNvSpPr/>
          <p:nvPr/>
        </p:nvSpPr>
        <p:spPr>
          <a:xfrm>
            <a:off x="6510528" y="2240280"/>
            <a:ext cx="91440" cy="960120"/>
          </a:xfrm>
          <a:prstGeom prst="rect">
            <a:avLst/>
          </a:prstGeom>
          <a:solidFill>
            <a:srgbClr val="156082"/>
          </a:solidFill>
          <a:ln w="12700">
            <a:solidFill>
              <a:srgbClr val="333333"/>
            </a:solidFill>
            <a:prstDash val="solid"/>
          </a:ln>
        </p:spPr>
      </p:sp>
      <p:sp>
        <p:nvSpPr>
          <p:cNvPr id="8" name="Text 6"/>
          <p:cNvSpPr/>
          <p:nvPr/>
        </p:nvSpPr>
        <p:spPr>
          <a:xfrm>
            <a:off x="6803136" y="2350008"/>
            <a:ext cx="4297680" cy="365760"/>
          </a:xfrm>
          <a:prstGeom prst="rect">
            <a:avLst/>
          </a:prstGeom>
          <a:noFill/>
          <a:ln/>
        </p:spPr>
        <p:txBody>
          <a:bodyPr wrap="square" lIns="0" tIns="0" rIns="0" bIns="0" rtlCol="0" anchor="ctr"/>
          <a:lstStyle/>
          <a:p>
            <a:pPr marL="0" indent="0">
              <a:buNone/>
            </a:pPr>
            <a:r>
              <a:rPr lang="en-US" sz="1900" b="1" dirty="0">
                <a:solidFill>
                  <a:srgbClr val="156082"/>
                </a:solidFill>
                <a:latin typeface="Times New Roman" pitchFamily="34" charset="0"/>
                <a:ea typeface="Times New Roman" pitchFamily="34" charset="-122"/>
                <a:cs typeface="Times New Roman" pitchFamily="34" charset="-120"/>
              </a:rPr>
              <a:t>Join dependency</a:t>
            </a:r>
            <a:endParaRPr lang="en-US" sz="1900" dirty="0"/>
          </a:p>
        </p:txBody>
      </p:sp>
      <p:sp>
        <p:nvSpPr>
          <p:cNvPr id="9" name="Text 7"/>
          <p:cNvSpPr/>
          <p:nvPr/>
        </p:nvSpPr>
        <p:spPr>
          <a:xfrm>
            <a:off x="6803136" y="274320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R rebuilt by joining its projections</a:t>
            </a:r>
            <a:endParaRPr lang="en-US" sz="1600" dirty="0"/>
          </a:p>
        </p:txBody>
      </p:sp>
      <p:sp>
        <p:nvSpPr>
          <p:cNvPr id="10" name="Shape 8"/>
          <p:cNvSpPr/>
          <p:nvPr/>
        </p:nvSpPr>
        <p:spPr>
          <a:xfrm>
            <a:off x="6510528" y="3337560"/>
            <a:ext cx="4846320" cy="960120"/>
          </a:xfrm>
          <a:prstGeom prst="roundRect">
            <a:avLst>
              <a:gd name="adj" fmla="val 5714"/>
            </a:avLst>
          </a:prstGeom>
          <a:solidFill>
            <a:srgbClr val="F2F6FA"/>
          </a:solidFill>
          <a:ln w="12700">
            <a:solidFill>
              <a:srgbClr val="F2F6FA"/>
            </a:solidFill>
            <a:prstDash val="solid"/>
          </a:ln>
        </p:spPr>
      </p:sp>
      <p:sp>
        <p:nvSpPr>
          <p:cNvPr id="11" name="Shape 9"/>
          <p:cNvSpPr/>
          <p:nvPr/>
        </p:nvSpPr>
        <p:spPr>
          <a:xfrm>
            <a:off x="6510528" y="3337560"/>
            <a:ext cx="91440" cy="960120"/>
          </a:xfrm>
          <a:prstGeom prst="rect">
            <a:avLst/>
          </a:prstGeom>
          <a:solidFill>
            <a:srgbClr val="E97132"/>
          </a:solidFill>
          <a:ln w="12700">
            <a:solidFill>
              <a:srgbClr val="333333"/>
            </a:solidFill>
            <a:prstDash val="solid"/>
          </a:ln>
        </p:spPr>
      </p:sp>
      <p:sp>
        <p:nvSpPr>
          <p:cNvPr id="12" name="Text 10"/>
          <p:cNvSpPr/>
          <p:nvPr/>
        </p:nvSpPr>
        <p:spPr>
          <a:xfrm>
            <a:off x="6803136" y="3447288"/>
            <a:ext cx="4297680" cy="365760"/>
          </a:xfrm>
          <a:prstGeom prst="rect">
            <a:avLst/>
          </a:prstGeom>
          <a:noFill/>
          <a:ln/>
        </p:spPr>
        <p:txBody>
          <a:bodyPr wrap="square" lIns="0" tIns="0" rIns="0" bIns="0" rtlCol="0" anchor="ctr"/>
          <a:lstStyle/>
          <a:p>
            <a:pPr marL="0" indent="0">
              <a:buNone/>
            </a:pPr>
            <a:r>
              <a:rPr lang="en-US" sz="1900" b="1" dirty="0">
                <a:solidFill>
                  <a:srgbClr val="E97132"/>
                </a:solidFill>
                <a:latin typeface="Times New Roman" pitchFamily="34" charset="0"/>
                <a:ea typeface="Times New Roman" pitchFamily="34" charset="-122"/>
                <a:cs typeface="Times New Roman" pitchFamily="34" charset="-120"/>
              </a:rPr>
              <a:t>The test</a:t>
            </a:r>
            <a:endParaRPr lang="en-US" sz="1900" dirty="0"/>
          </a:p>
        </p:txBody>
      </p:sp>
      <p:sp>
        <p:nvSpPr>
          <p:cNvPr id="13" name="Text 11"/>
          <p:cNvSpPr/>
          <p:nvPr/>
        </p:nvSpPr>
        <p:spPr>
          <a:xfrm>
            <a:off x="6803136" y="384048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Does the join invent rows that were never true?</a:t>
            </a:r>
            <a:endParaRPr lang="en-US" sz="1600" dirty="0"/>
          </a:p>
        </p:txBody>
      </p:sp>
      <p:sp>
        <p:nvSpPr>
          <p:cNvPr id="14" name="Shape 12"/>
          <p:cNvSpPr/>
          <p:nvPr/>
        </p:nvSpPr>
        <p:spPr>
          <a:xfrm>
            <a:off x="6510528" y="4434840"/>
            <a:ext cx="4846320" cy="960120"/>
          </a:xfrm>
          <a:prstGeom prst="roundRect">
            <a:avLst>
              <a:gd name="adj" fmla="val 5714"/>
            </a:avLst>
          </a:prstGeom>
          <a:solidFill>
            <a:srgbClr val="F2F6FA"/>
          </a:solidFill>
          <a:ln w="12700">
            <a:solidFill>
              <a:srgbClr val="F2F6FA"/>
            </a:solidFill>
            <a:prstDash val="solid"/>
          </a:ln>
        </p:spPr>
      </p:sp>
      <p:sp>
        <p:nvSpPr>
          <p:cNvPr id="15" name="Shape 13"/>
          <p:cNvSpPr/>
          <p:nvPr/>
        </p:nvSpPr>
        <p:spPr>
          <a:xfrm>
            <a:off x="6510528" y="4434840"/>
            <a:ext cx="91440" cy="960120"/>
          </a:xfrm>
          <a:prstGeom prst="rect">
            <a:avLst/>
          </a:prstGeom>
          <a:solidFill>
            <a:srgbClr val="196B24"/>
          </a:solidFill>
          <a:ln w="12700">
            <a:solidFill>
              <a:srgbClr val="333333"/>
            </a:solidFill>
            <a:prstDash val="solid"/>
          </a:ln>
        </p:spPr>
      </p:sp>
      <p:sp>
        <p:nvSpPr>
          <p:cNvPr id="16" name="Text 14"/>
          <p:cNvSpPr/>
          <p:nvPr/>
        </p:nvSpPr>
        <p:spPr>
          <a:xfrm>
            <a:off x="6803136" y="4544568"/>
            <a:ext cx="4297680" cy="365760"/>
          </a:xfrm>
          <a:prstGeom prst="rect">
            <a:avLst/>
          </a:prstGeom>
          <a:noFill/>
          <a:ln/>
        </p:spPr>
        <p:txBody>
          <a:bodyPr wrap="square" lIns="0" tIns="0" rIns="0" bIns="0" rtlCol="0" anchor="ctr"/>
          <a:lstStyle/>
          <a:p>
            <a:pPr marL="0" indent="0">
              <a:buNone/>
            </a:pPr>
            <a:r>
              <a:rPr lang="en-US" sz="1900" b="1" dirty="0">
                <a:solidFill>
                  <a:srgbClr val="196B24"/>
                </a:solidFill>
                <a:latin typeface="Times New Roman" pitchFamily="34" charset="0"/>
                <a:ea typeface="Times New Roman" pitchFamily="34" charset="-122"/>
                <a:cs typeface="Times New Roman" pitchFamily="34" charset="-120"/>
              </a:rPr>
              <a:t>The rule</a:t>
            </a:r>
            <a:endParaRPr lang="en-US" sz="1900" dirty="0"/>
          </a:p>
        </p:txBody>
      </p:sp>
      <p:sp>
        <p:nvSpPr>
          <p:cNvPr id="17" name="Text 15"/>
          <p:cNvSpPr/>
          <p:nvPr/>
        </p:nvSpPr>
        <p:spPr>
          <a:xfrm>
            <a:off x="6803136" y="4937760"/>
            <a:ext cx="4297680" cy="365760"/>
          </a:xfrm>
          <a:prstGeom prst="rect">
            <a:avLst/>
          </a:prstGeom>
          <a:noFill/>
          <a:ln/>
        </p:spPr>
        <p:txBody>
          <a:bodyPr wrap="square" lIns="0" tIns="0" rIns="0" bIns="0" rtlCol="0" anchor="ctr"/>
          <a:lstStyle/>
          <a:p>
            <a:pPr marL="0" indent="0">
              <a:buNone/>
            </a:pPr>
            <a:r>
              <a:rPr lang="en-US" sz="1600" dirty="0">
                <a:solidFill>
                  <a:srgbClr val="5A6472"/>
                </a:solidFill>
                <a:latin typeface="Times New Roman" pitchFamily="34" charset="0"/>
                <a:ea typeface="Times New Roman" pitchFamily="34" charset="-122"/>
                <a:cs typeface="Times New Roman" pitchFamily="34" charset="-120"/>
              </a:rPr>
              <a:t>Split only if the business rule is truly pairwise</a:t>
            </a:r>
            <a:endParaRPr lang="en-US" sz="1600" dirty="0"/>
          </a:p>
        </p:txBody>
      </p:sp>
      <p:sp>
        <p:nvSpPr>
          <p:cNvPr id="18" name="Shape 16"/>
          <p:cNvSpPr/>
          <p:nvPr/>
        </p:nvSpPr>
        <p:spPr>
          <a:xfrm>
            <a:off x="841248" y="5577840"/>
            <a:ext cx="10515600" cy="548640"/>
          </a:xfrm>
          <a:prstGeom prst="roundRect">
            <a:avLst>
              <a:gd name="adj" fmla="val 13333"/>
            </a:avLst>
          </a:prstGeom>
          <a:solidFill>
            <a:srgbClr val="E8EFF4"/>
          </a:solidFill>
          <a:ln w="12700">
            <a:solidFill>
              <a:srgbClr val="333333"/>
            </a:solidFill>
            <a:prstDash val="solid"/>
          </a:ln>
        </p:spPr>
      </p:sp>
      <p:sp>
        <p:nvSpPr>
          <p:cNvPr id="19" name="Text 17"/>
          <p:cNvSpPr/>
          <p:nvPr/>
        </p:nvSpPr>
        <p:spPr>
          <a:xfrm>
            <a:off x="841248" y="557784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Rare in practice — and never applied without a stated business rule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5NF — Worked Example</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E97132"/>
                </a:solidFill>
                <a:latin typeface="Times New Roman" pitchFamily="34" charset="0"/>
                <a:ea typeface="Times New Roman" pitchFamily="34" charset="-122"/>
                <a:cs typeface="Times New Roman" pitchFamily="34" charset="-120"/>
              </a:rPr>
              <a:t>Valid only when all three pairwise facts hold</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R (Supplier, Part, Project)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S1  P1  J1</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S1  P2  J1</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S2  P1  J1</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S2  P2  J2</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SP (Supplier, Part)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SJ (Supplier, Project)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PJ (Part, Project)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SP |X| SJ |X| PJ  =  R</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E97132"/>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No pair of the three alone rebuilds R — all three are needed. Amazon-style Vendor–SKU–Warehouse sourcing is exactly this decision.</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BCNF vs 4NF vs 5NF</a:t>
            </a:r>
            <a:endParaRPr lang="en-US" sz="3600" dirty="0"/>
          </a:p>
        </p:txBody>
      </p:sp>
      <p:sp>
        <p:nvSpPr>
          <p:cNvPr id="3" name="Shape 1"/>
          <p:cNvSpPr/>
          <p:nvPr/>
        </p:nvSpPr>
        <p:spPr>
          <a:xfrm>
            <a:off x="841248" y="2103120"/>
            <a:ext cx="3291840" cy="3794760"/>
          </a:xfrm>
          <a:prstGeom prst="roundRect">
            <a:avLst>
              <a:gd name="adj" fmla="val 1667"/>
            </a:avLst>
          </a:prstGeom>
          <a:solidFill>
            <a:srgbClr val="FFFFFF"/>
          </a:solidFill>
          <a:ln w="12700">
            <a:solidFill>
              <a:srgbClr val="D2DCE6"/>
            </a:solidFill>
            <a:prstDash val="solid"/>
          </a:ln>
        </p:spPr>
      </p:sp>
      <p:sp>
        <p:nvSpPr>
          <p:cNvPr id="4" name="Shape 2"/>
          <p:cNvSpPr/>
          <p:nvPr/>
        </p:nvSpPr>
        <p:spPr>
          <a:xfrm>
            <a:off x="841248" y="2103120"/>
            <a:ext cx="3291840" cy="118872"/>
          </a:xfrm>
          <a:prstGeom prst="rect">
            <a:avLst/>
          </a:prstGeom>
          <a:solidFill>
            <a:srgbClr val="A02B93"/>
          </a:solidFill>
          <a:ln w="12700">
            <a:solidFill>
              <a:srgbClr val="333333"/>
            </a:solidFill>
            <a:prstDash val="solid"/>
          </a:ln>
        </p:spPr>
      </p:sp>
      <p:sp>
        <p:nvSpPr>
          <p:cNvPr id="5" name="Text 3"/>
          <p:cNvSpPr/>
          <p:nvPr/>
        </p:nvSpPr>
        <p:spPr>
          <a:xfrm>
            <a:off x="1115568" y="2423160"/>
            <a:ext cx="2743200" cy="457200"/>
          </a:xfrm>
          <a:prstGeom prst="rect">
            <a:avLst/>
          </a:prstGeom>
          <a:noFill/>
          <a:ln/>
        </p:spPr>
        <p:txBody>
          <a:bodyPr wrap="square" lIns="0" tIns="0" rIns="0" bIns="0" rtlCol="0" anchor="ctr"/>
          <a:lstStyle/>
          <a:p>
            <a:pPr marL="0" indent="0">
              <a:buNone/>
            </a:pPr>
            <a:r>
              <a:rPr lang="en-US" sz="2600" b="1" dirty="0">
                <a:solidFill>
                  <a:srgbClr val="A02B93"/>
                </a:solidFill>
                <a:latin typeface="Times New Roman" pitchFamily="34" charset="0"/>
                <a:ea typeface="Times New Roman" pitchFamily="34" charset="-122"/>
                <a:cs typeface="Times New Roman" pitchFamily="34" charset="-120"/>
              </a:rPr>
              <a:t>BCNF</a:t>
            </a:r>
            <a:endParaRPr lang="en-US" sz="2600" dirty="0"/>
          </a:p>
        </p:txBody>
      </p:sp>
      <p:sp>
        <p:nvSpPr>
          <p:cNvPr id="6" name="Text 4"/>
          <p:cNvSpPr/>
          <p:nvPr/>
        </p:nvSpPr>
        <p:spPr>
          <a:xfrm>
            <a:off x="1115568" y="301752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DEPENDENCY</a:t>
            </a:r>
            <a:endParaRPr lang="en-US" sz="1200" dirty="0"/>
          </a:p>
        </p:txBody>
      </p:sp>
      <p:sp>
        <p:nvSpPr>
          <p:cNvPr id="7" name="Text 5"/>
          <p:cNvSpPr/>
          <p:nvPr/>
        </p:nvSpPr>
        <p:spPr>
          <a:xfrm>
            <a:off x="1115568" y="3273552"/>
            <a:ext cx="2743200" cy="50292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Functional   X → Y</a:t>
            </a:r>
            <a:endParaRPr lang="en-US" sz="1700" dirty="0"/>
          </a:p>
        </p:txBody>
      </p:sp>
      <p:sp>
        <p:nvSpPr>
          <p:cNvPr id="8" name="Text 6"/>
          <p:cNvSpPr/>
          <p:nvPr/>
        </p:nvSpPr>
        <p:spPr>
          <a:xfrm>
            <a:off x="1115568" y="388620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ASK</a:t>
            </a:r>
            <a:endParaRPr lang="en-US" sz="1200" dirty="0"/>
          </a:p>
        </p:txBody>
      </p:sp>
      <p:sp>
        <p:nvSpPr>
          <p:cNvPr id="9" name="Text 7"/>
          <p:cNvSpPr/>
          <p:nvPr/>
        </p:nvSpPr>
        <p:spPr>
          <a:xfrm>
            <a:off x="1115568" y="4142232"/>
            <a:ext cx="2743200" cy="64008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Is every determinant a superkey?</a:t>
            </a:r>
            <a:endParaRPr lang="en-US" sz="1700" dirty="0"/>
          </a:p>
        </p:txBody>
      </p:sp>
      <p:sp>
        <p:nvSpPr>
          <p:cNvPr id="10" name="Text 8"/>
          <p:cNvSpPr/>
          <p:nvPr/>
        </p:nvSpPr>
        <p:spPr>
          <a:xfrm>
            <a:off x="1115568" y="502920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SIGNAL</a:t>
            </a:r>
            <a:endParaRPr lang="en-US" sz="1200" dirty="0"/>
          </a:p>
        </p:txBody>
      </p:sp>
      <p:sp>
        <p:nvSpPr>
          <p:cNvPr id="11" name="Text 9"/>
          <p:cNvSpPr/>
          <p:nvPr/>
        </p:nvSpPr>
        <p:spPr>
          <a:xfrm>
            <a:off x="1115568" y="5285232"/>
            <a:ext cx="2743200" cy="548640"/>
          </a:xfrm>
          <a:prstGeom prst="rect">
            <a:avLst/>
          </a:prstGeom>
          <a:noFill/>
          <a:ln/>
        </p:spPr>
        <p:txBody>
          <a:bodyPr wrap="square" lIns="0" tIns="0" rIns="0" bIns="0" rtlCol="0" anchor="ctr"/>
          <a:lstStyle/>
          <a:p>
            <a:pPr marL="0" indent="0">
              <a:buNone/>
            </a:pPr>
            <a:r>
              <a:rPr lang="en-US" sz="1500" dirty="0">
                <a:solidFill>
                  <a:srgbClr val="5A6472"/>
                </a:solidFill>
                <a:latin typeface="Times New Roman" pitchFamily="34" charset="0"/>
                <a:ea typeface="Times New Roman" pitchFamily="34" charset="-122"/>
                <a:cs typeface="Times New Roman" pitchFamily="34" charset="-120"/>
              </a:rPr>
              <a:t>A non-key column drives another in a staffing table</a:t>
            </a:r>
            <a:endParaRPr lang="en-US" sz="1500" dirty="0"/>
          </a:p>
        </p:txBody>
      </p:sp>
      <p:sp>
        <p:nvSpPr>
          <p:cNvPr id="12" name="Shape 10"/>
          <p:cNvSpPr/>
          <p:nvPr/>
        </p:nvSpPr>
        <p:spPr>
          <a:xfrm>
            <a:off x="4453128" y="2103120"/>
            <a:ext cx="3291840" cy="3794760"/>
          </a:xfrm>
          <a:prstGeom prst="roundRect">
            <a:avLst>
              <a:gd name="adj" fmla="val 1667"/>
            </a:avLst>
          </a:prstGeom>
          <a:solidFill>
            <a:srgbClr val="FFFFFF"/>
          </a:solidFill>
          <a:ln w="12700">
            <a:solidFill>
              <a:srgbClr val="D2DCE6"/>
            </a:solidFill>
            <a:prstDash val="solid"/>
          </a:ln>
        </p:spPr>
      </p:sp>
      <p:sp>
        <p:nvSpPr>
          <p:cNvPr id="13" name="Shape 11"/>
          <p:cNvSpPr/>
          <p:nvPr/>
        </p:nvSpPr>
        <p:spPr>
          <a:xfrm>
            <a:off x="4453128" y="2103120"/>
            <a:ext cx="3291840" cy="118872"/>
          </a:xfrm>
          <a:prstGeom prst="rect">
            <a:avLst/>
          </a:prstGeom>
          <a:solidFill>
            <a:srgbClr val="156082"/>
          </a:solidFill>
          <a:ln w="12700">
            <a:solidFill>
              <a:srgbClr val="333333"/>
            </a:solidFill>
            <a:prstDash val="solid"/>
          </a:ln>
        </p:spPr>
      </p:sp>
      <p:sp>
        <p:nvSpPr>
          <p:cNvPr id="14" name="Text 12"/>
          <p:cNvSpPr/>
          <p:nvPr/>
        </p:nvSpPr>
        <p:spPr>
          <a:xfrm>
            <a:off x="4727448" y="2423160"/>
            <a:ext cx="2743200" cy="457200"/>
          </a:xfrm>
          <a:prstGeom prst="rect">
            <a:avLst/>
          </a:prstGeom>
          <a:noFill/>
          <a:ln/>
        </p:spPr>
        <p:txBody>
          <a:bodyPr wrap="square" lIns="0" tIns="0" rIns="0" bIns="0" rtlCol="0" anchor="ctr"/>
          <a:lstStyle/>
          <a:p>
            <a:pPr marL="0" indent="0">
              <a:buNone/>
            </a:pPr>
            <a:r>
              <a:rPr lang="en-US" sz="2600" b="1" dirty="0">
                <a:solidFill>
                  <a:srgbClr val="156082"/>
                </a:solidFill>
                <a:latin typeface="Times New Roman" pitchFamily="34" charset="0"/>
                <a:ea typeface="Times New Roman" pitchFamily="34" charset="-122"/>
                <a:cs typeface="Times New Roman" pitchFamily="34" charset="-120"/>
              </a:rPr>
              <a:t>4NF</a:t>
            </a:r>
            <a:endParaRPr lang="en-US" sz="2600" dirty="0"/>
          </a:p>
        </p:txBody>
      </p:sp>
      <p:sp>
        <p:nvSpPr>
          <p:cNvPr id="15" name="Text 13"/>
          <p:cNvSpPr/>
          <p:nvPr/>
        </p:nvSpPr>
        <p:spPr>
          <a:xfrm>
            <a:off x="4727448" y="301752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DEPENDENCY</a:t>
            </a:r>
            <a:endParaRPr lang="en-US" sz="1200" dirty="0"/>
          </a:p>
        </p:txBody>
      </p:sp>
      <p:sp>
        <p:nvSpPr>
          <p:cNvPr id="16" name="Text 14"/>
          <p:cNvSpPr/>
          <p:nvPr/>
        </p:nvSpPr>
        <p:spPr>
          <a:xfrm>
            <a:off x="4727448" y="3273552"/>
            <a:ext cx="2743200" cy="50292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Multivalued   X ↠ Y</a:t>
            </a:r>
            <a:endParaRPr lang="en-US" sz="1700" dirty="0"/>
          </a:p>
        </p:txBody>
      </p:sp>
      <p:sp>
        <p:nvSpPr>
          <p:cNvPr id="17" name="Text 15"/>
          <p:cNvSpPr/>
          <p:nvPr/>
        </p:nvSpPr>
        <p:spPr>
          <a:xfrm>
            <a:off x="4727448" y="388620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ASK</a:t>
            </a:r>
            <a:endParaRPr lang="en-US" sz="1200" dirty="0"/>
          </a:p>
        </p:txBody>
      </p:sp>
      <p:sp>
        <p:nvSpPr>
          <p:cNvPr id="18" name="Text 16"/>
          <p:cNvSpPr/>
          <p:nvPr/>
        </p:nvSpPr>
        <p:spPr>
          <a:xfrm>
            <a:off x="4727448" y="4142232"/>
            <a:ext cx="2743200" cy="64008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Two independent lists on one key?</a:t>
            </a:r>
            <a:endParaRPr lang="en-US" sz="1700" dirty="0"/>
          </a:p>
        </p:txBody>
      </p:sp>
      <p:sp>
        <p:nvSpPr>
          <p:cNvPr id="19" name="Text 17"/>
          <p:cNvSpPr/>
          <p:nvPr/>
        </p:nvSpPr>
        <p:spPr>
          <a:xfrm>
            <a:off x="4727448" y="502920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SIGNAL</a:t>
            </a:r>
            <a:endParaRPr lang="en-US" sz="1200" dirty="0"/>
          </a:p>
        </p:txBody>
      </p:sp>
      <p:sp>
        <p:nvSpPr>
          <p:cNvPr id="20" name="Text 18"/>
          <p:cNvSpPr/>
          <p:nvPr/>
        </p:nvSpPr>
        <p:spPr>
          <a:xfrm>
            <a:off x="4727448" y="5285232"/>
            <a:ext cx="2743200" cy="548640"/>
          </a:xfrm>
          <a:prstGeom prst="rect">
            <a:avLst/>
          </a:prstGeom>
          <a:noFill/>
          <a:ln/>
        </p:spPr>
        <p:txBody>
          <a:bodyPr wrap="square" lIns="0" tIns="0" rIns="0" bIns="0" rtlCol="0" anchor="ctr"/>
          <a:lstStyle/>
          <a:p>
            <a:pPr marL="0" indent="0">
              <a:buNone/>
            </a:pPr>
            <a:r>
              <a:rPr lang="en-US" sz="1500" dirty="0">
                <a:solidFill>
                  <a:srgbClr val="5A6472"/>
                </a:solidFill>
                <a:latin typeface="Times New Roman" pitchFamily="34" charset="0"/>
                <a:ea typeface="Times New Roman" pitchFamily="34" charset="-122"/>
                <a:cs typeface="Times New Roman" pitchFamily="34" charset="-120"/>
              </a:rPr>
              <a:t>Devices × languages rows multiply in a profile table</a:t>
            </a:r>
            <a:endParaRPr lang="en-US" sz="1500" dirty="0"/>
          </a:p>
        </p:txBody>
      </p:sp>
      <p:sp>
        <p:nvSpPr>
          <p:cNvPr id="21" name="Shape 19"/>
          <p:cNvSpPr/>
          <p:nvPr/>
        </p:nvSpPr>
        <p:spPr>
          <a:xfrm>
            <a:off x="8065008" y="2103120"/>
            <a:ext cx="3291840" cy="3794760"/>
          </a:xfrm>
          <a:prstGeom prst="roundRect">
            <a:avLst>
              <a:gd name="adj" fmla="val 1667"/>
            </a:avLst>
          </a:prstGeom>
          <a:solidFill>
            <a:srgbClr val="FFFFFF"/>
          </a:solidFill>
          <a:ln w="12700">
            <a:solidFill>
              <a:srgbClr val="D2DCE6"/>
            </a:solidFill>
            <a:prstDash val="solid"/>
          </a:ln>
        </p:spPr>
      </p:sp>
      <p:sp>
        <p:nvSpPr>
          <p:cNvPr id="22" name="Shape 20"/>
          <p:cNvSpPr/>
          <p:nvPr/>
        </p:nvSpPr>
        <p:spPr>
          <a:xfrm>
            <a:off x="8065008" y="2103120"/>
            <a:ext cx="3291840" cy="118872"/>
          </a:xfrm>
          <a:prstGeom prst="rect">
            <a:avLst/>
          </a:prstGeom>
          <a:solidFill>
            <a:srgbClr val="E97132"/>
          </a:solidFill>
          <a:ln w="12700">
            <a:solidFill>
              <a:srgbClr val="333333"/>
            </a:solidFill>
            <a:prstDash val="solid"/>
          </a:ln>
        </p:spPr>
      </p:sp>
      <p:sp>
        <p:nvSpPr>
          <p:cNvPr id="23" name="Text 21"/>
          <p:cNvSpPr/>
          <p:nvPr/>
        </p:nvSpPr>
        <p:spPr>
          <a:xfrm>
            <a:off x="8339328" y="2423160"/>
            <a:ext cx="2743200" cy="457200"/>
          </a:xfrm>
          <a:prstGeom prst="rect">
            <a:avLst/>
          </a:prstGeom>
          <a:noFill/>
          <a:ln/>
        </p:spPr>
        <p:txBody>
          <a:bodyPr wrap="square" lIns="0" tIns="0" rIns="0" bIns="0" rtlCol="0" anchor="ctr"/>
          <a:lstStyle/>
          <a:p>
            <a:pPr marL="0" indent="0">
              <a:buNone/>
            </a:pPr>
            <a:r>
              <a:rPr lang="en-US" sz="2600" b="1" dirty="0">
                <a:solidFill>
                  <a:srgbClr val="E97132"/>
                </a:solidFill>
                <a:latin typeface="Times New Roman" pitchFamily="34" charset="0"/>
                <a:ea typeface="Times New Roman" pitchFamily="34" charset="-122"/>
                <a:cs typeface="Times New Roman" pitchFamily="34" charset="-120"/>
              </a:rPr>
              <a:t>5NF</a:t>
            </a:r>
            <a:endParaRPr lang="en-US" sz="2600" dirty="0"/>
          </a:p>
        </p:txBody>
      </p:sp>
      <p:sp>
        <p:nvSpPr>
          <p:cNvPr id="24" name="Text 22"/>
          <p:cNvSpPr/>
          <p:nvPr/>
        </p:nvSpPr>
        <p:spPr>
          <a:xfrm>
            <a:off x="8339328" y="301752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DEPENDENCY</a:t>
            </a:r>
            <a:endParaRPr lang="en-US" sz="1200" dirty="0"/>
          </a:p>
        </p:txBody>
      </p:sp>
      <p:sp>
        <p:nvSpPr>
          <p:cNvPr id="25" name="Text 23"/>
          <p:cNvSpPr/>
          <p:nvPr/>
        </p:nvSpPr>
        <p:spPr>
          <a:xfrm>
            <a:off x="8339328" y="3273552"/>
            <a:ext cx="2743200" cy="50292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Join   *(SP, SJ, PJ)</a:t>
            </a:r>
            <a:endParaRPr lang="en-US" sz="1700" dirty="0"/>
          </a:p>
        </p:txBody>
      </p:sp>
      <p:sp>
        <p:nvSpPr>
          <p:cNvPr id="26" name="Text 24"/>
          <p:cNvSpPr/>
          <p:nvPr/>
        </p:nvSpPr>
        <p:spPr>
          <a:xfrm>
            <a:off x="8339328" y="388620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ASK</a:t>
            </a:r>
            <a:endParaRPr lang="en-US" sz="1200" dirty="0"/>
          </a:p>
        </p:txBody>
      </p:sp>
      <p:sp>
        <p:nvSpPr>
          <p:cNvPr id="27" name="Text 25"/>
          <p:cNvSpPr/>
          <p:nvPr/>
        </p:nvSpPr>
        <p:spPr>
          <a:xfrm>
            <a:off x="8339328" y="4142232"/>
            <a:ext cx="2743200" cy="64008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Is the triple implied by its pairs?</a:t>
            </a:r>
            <a:endParaRPr lang="en-US" sz="1700" dirty="0"/>
          </a:p>
        </p:txBody>
      </p:sp>
      <p:sp>
        <p:nvSpPr>
          <p:cNvPr id="28" name="Text 26"/>
          <p:cNvSpPr/>
          <p:nvPr/>
        </p:nvSpPr>
        <p:spPr>
          <a:xfrm>
            <a:off x="8339328" y="5029200"/>
            <a:ext cx="2743200" cy="256032"/>
          </a:xfrm>
          <a:prstGeom prst="rect">
            <a:avLst/>
          </a:prstGeom>
          <a:noFill/>
          <a:ln/>
        </p:spPr>
        <p:txBody>
          <a:bodyPr wrap="square" lIns="0" tIns="0" rIns="0" bIns="0" rtlCol="0" anchor="ctr"/>
          <a:lstStyle/>
          <a:p>
            <a:pPr marL="0" indent="0">
              <a:buNone/>
            </a:pPr>
            <a:r>
              <a:rPr lang="en-US" sz="1200" dirty="0">
                <a:solidFill>
                  <a:srgbClr val="5A6472"/>
                </a:solidFill>
                <a:latin typeface="Times New Roman" pitchFamily="34" charset="0"/>
                <a:ea typeface="Times New Roman" pitchFamily="34" charset="-122"/>
                <a:cs typeface="Times New Roman" pitchFamily="34" charset="-120"/>
              </a:rPr>
              <a:t>SIGNAL</a:t>
            </a:r>
            <a:endParaRPr lang="en-US" sz="1200" dirty="0"/>
          </a:p>
        </p:txBody>
      </p:sp>
      <p:sp>
        <p:nvSpPr>
          <p:cNvPr id="29" name="Text 27"/>
          <p:cNvSpPr/>
          <p:nvPr/>
        </p:nvSpPr>
        <p:spPr>
          <a:xfrm>
            <a:off x="8339328" y="5285232"/>
            <a:ext cx="2743200" cy="548640"/>
          </a:xfrm>
          <a:prstGeom prst="rect">
            <a:avLst/>
          </a:prstGeom>
          <a:noFill/>
          <a:ln/>
        </p:spPr>
        <p:txBody>
          <a:bodyPr wrap="square" lIns="0" tIns="0" rIns="0" bIns="0" rtlCol="0" anchor="ctr"/>
          <a:lstStyle/>
          <a:p>
            <a:pPr marL="0" indent="0">
              <a:buNone/>
            </a:pPr>
            <a:r>
              <a:rPr lang="en-US" sz="1500" dirty="0">
                <a:solidFill>
                  <a:srgbClr val="5A6472"/>
                </a:solidFill>
                <a:latin typeface="Times New Roman" pitchFamily="34" charset="0"/>
                <a:ea typeface="Times New Roman" pitchFamily="34" charset="-122"/>
                <a:cs typeface="Times New Roman" pitchFamily="34" charset="-120"/>
              </a:rPr>
              <a:t>Vendor–SKU–Warehouse rules are purely pairwise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Real-Life Application</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Where these three forms actually show up:</a:t>
            </a:r>
            <a:endParaRPr lang="en-US" sz="2400" dirty="0"/>
          </a:p>
        </p:txBody>
      </p:sp>
      <p:sp>
        <p:nvSpPr>
          <p:cNvPr id="4" name="Shape 2"/>
          <p:cNvSpPr/>
          <p:nvPr/>
        </p:nvSpPr>
        <p:spPr>
          <a:xfrm>
            <a:off x="841248" y="2240280"/>
            <a:ext cx="4937760" cy="1417320"/>
          </a:xfrm>
          <a:prstGeom prst="roundRect">
            <a:avLst>
              <a:gd name="adj" fmla="val 3871"/>
            </a:avLst>
          </a:prstGeom>
          <a:solidFill>
            <a:srgbClr val="FFFFFF"/>
          </a:solidFill>
          <a:ln w="12700">
            <a:solidFill>
              <a:srgbClr val="D2DCE6"/>
            </a:solidFill>
            <a:prstDash val="solid"/>
          </a:ln>
        </p:spPr>
      </p:sp>
      <p:sp>
        <p:nvSpPr>
          <p:cNvPr id="5" name="Shape 3"/>
          <p:cNvSpPr/>
          <p:nvPr/>
        </p:nvSpPr>
        <p:spPr>
          <a:xfrm>
            <a:off x="841248" y="2240280"/>
            <a:ext cx="4937760" cy="118872"/>
          </a:xfrm>
          <a:prstGeom prst="rect">
            <a:avLst/>
          </a:prstGeom>
          <a:solidFill>
            <a:srgbClr val="156082"/>
          </a:solidFill>
          <a:ln w="12700">
            <a:solidFill>
              <a:srgbClr val="333333"/>
            </a:solidFill>
            <a:prstDash val="solid"/>
          </a:ln>
        </p:spPr>
      </p:sp>
      <p:sp>
        <p:nvSpPr>
          <p:cNvPr id="6" name="Text 4"/>
          <p:cNvSpPr/>
          <p:nvPr/>
        </p:nvSpPr>
        <p:spPr>
          <a:xfrm>
            <a:off x="1133856" y="2496312"/>
            <a:ext cx="4389120" cy="45720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OLTP cores</a:t>
            </a:r>
            <a:endParaRPr lang="en-US" sz="2200" dirty="0"/>
          </a:p>
        </p:txBody>
      </p:sp>
      <p:sp>
        <p:nvSpPr>
          <p:cNvPr id="7" name="Text 5"/>
          <p:cNvSpPr/>
          <p:nvPr/>
        </p:nvSpPr>
        <p:spPr>
          <a:xfrm>
            <a:off x="1133856" y="2990088"/>
            <a:ext cx="4389120" cy="45720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Banks keep ledger tables in BCNF, not 3NF</a:t>
            </a:r>
            <a:endParaRPr lang="en-US" sz="1700" dirty="0"/>
          </a:p>
        </p:txBody>
      </p:sp>
      <p:sp>
        <p:nvSpPr>
          <p:cNvPr id="8" name="Shape 6"/>
          <p:cNvSpPr/>
          <p:nvPr/>
        </p:nvSpPr>
        <p:spPr>
          <a:xfrm>
            <a:off x="6419088" y="2240280"/>
            <a:ext cx="4937760" cy="1417320"/>
          </a:xfrm>
          <a:prstGeom prst="roundRect">
            <a:avLst>
              <a:gd name="adj" fmla="val 3871"/>
            </a:avLst>
          </a:prstGeom>
          <a:solidFill>
            <a:srgbClr val="FFFFFF"/>
          </a:solidFill>
          <a:ln w="12700">
            <a:solidFill>
              <a:srgbClr val="D2DCE6"/>
            </a:solidFill>
            <a:prstDash val="solid"/>
          </a:ln>
        </p:spPr>
      </p:sp>
      <p:sp>
        <p:nvSpPr>
          <p:cNvPr id="9" name="Shape 7"/>
          <p:cNvSpPr/>
          <p:nvPr/>
        </p:nvSpPr>
        <p:spPr>
          <a:xfrm>
            <a:off x="6419088" y="2240280"/>
            <a:ext cx="4937760" cy="118872"/>
          </a:xfrm>
          <a:prstGeom prst="rect">
            <a:avLst/>
          </a:prstGeom>
          <a:solidFill>
            <a:srgbClr val="E97132"/>
          </a:solidFill>
          <a:ln w="12700">
            <a:solidFill>
              <a:srgbClr val="333333"/>
            </a:solidFill>
            <a:prstDash val="solid"/>
          </a:ln>
        </p:spPr>
      </p:sp>
      <p:sp>
        <p:nvSpPr>
          <p:cNvPr id="10" name="Text 8"/>
          <p:cNvSpPr/>
          <p:nvPr/>
        </p:nvSpPr>
        <p:spPr>
          <a:xfrm>
            <a:off x="6711696" y="2496312"/>
            <a:ext cx="4389120" cy="45720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Streaming profiles</a:t>
            </a:r>
            <a:endParaRPr lang="en-US" sz="2200" dirty="0"/>
          </a:p>
        </p:txBody>
      </p:sp>
      <p:sp>
        <p:nvSpPr>
          <p:cNvPr id="11" name="Text 9"/>
          <p:cNvSpPr/>
          <p:nvPr/>
        </p:nvSpPr>
        <p:spPr>
          <a:xfrm>
            <a:off x="6711696" y="2990088"/>
            <a:ext cx="4389120" cy="45720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Devices and languages stored in separate tables</a:t>
            </a:r>
            <a:endParaRPr lang="en-US" sz="1700" dirty="0"/>
          </a:p>
        </p:txBody>
      </p:sp>
      <p:sp>
        <p:nvSpPr>
          <p:cNvPr id="12" name="Shape 10"/>
          <p:cNvSpPr/>
          <p:nvPr/>
        </p:nvSpPr>
        <p:spPr>
          <a:xfrm>
            <a:off x="841248" y="3840480"/>
            <a:ext cx="4937760" cy="1417320"/>
          </a:xfrm>
          <a:prstGeom prst="roundRect">
            <a:avLst>
              <a:gd name="adj" fmla="val 3871"/>
            </a:avLst>
          </a:prstGeom>
          <a:solidFill>
            <a:srgbClr val="FFFFFF"/>
          </a:solidFill>
          <a:ln w="12700">
            <a:solidFill>
              <a:srgbClr val="D2DCE6"/>
            </a:solidFill>
            <a:prstDash val="solid"/>
          </a:ln>
        </p:spPr>
      </p:sp>
      <p:sp>
        <p:nvSpPr>
          <p:cNvPr id="13" name="Shape 11"/>
          <p:cNvSpPr/>
          <p:nvPr/>
        </p:nvSpPr>
        <p:spPr>
          <a:xfrm>
            <a:off x="841248" y="3840480"/>
            <a:ext cx="4937760" cy="118872"/>
          </a:xfrm>
          <a:prstGeom prst="rect">
            <a:avLst/>
          </a:prstGeom>
          <a:solidFill>
            <a:srgbClr val="196B24"/>
          </a:solidFill>
          <a:ln w="12700">
            <a:solidFill>
              <a:srgbClr val="333333"/>
            </a:solidFill>
            <a:prstDash val="solid"/>
          </a:ln>
        </p:spPr>
      </p:sp>
      <p:sp>
        <p:nvSpPr>
          <p:cNvPr id="14" name="Text 12"/>
          <p:cNvSpPr/>
          <p:nvPr/>
        </p:nvSpPr>
        <p:spPr>
          <a:xfrm>
            <a:off x="1133856" y="4096512"/>
            <a:ext cx="4389120" cy="45720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Schema review</a:t>
            </a:r>
            <a:endParaRPr lang="en-US" sz="2200" dirty="0"/>
          </a:p>
        </p:txBody>
      </p:sp>
      <p:sp>
        <p:nvSpPr>
          <p:cNvPr id="15" name="Text 13"/>
          <p:cNvSpPr/>
          <p:nvPr/>
        </p:nvSpPr>
        <p:spPr>
          <a:xfrm>
            <a:off x="1133856" y="4590288"/>
            <a:ext cx="4389120" cy="45720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dbt and CI tests run before every migration</a:t>
            </a:r>
            <a:endParaRPr lang="en-US" sz="1700" dirty="0"/>
          </a:p>
        </p:txBody>
      </p:sp>
      <p:sp>
        <p:nvSpPr>
          <p:cNvPr id="16" name="Shape 14"/>
          <p:cNvSpPr/>
          <p:nvPr/>
        </p:nvSpPr>
        <p:spPr>
          <a:xfrm>
            <a:off x="6419088" y="3840480"/>
            <a:ext cx="4937760" cy="1417320"/>
          </a:xfrm>
          <a:prstGeom prst="roundRect">
            <a:avLst>
              <a:gd name="adj" fmla="val 3871"/>
            </a:avLst>
          </a:prstGeom>
          <a:solidFill>
            <a:srgbClr val="FFFFFF"/>
          </a:solidFill>
          <a:ln w="12700">
            <a:solidFill>
              <a:srgbClr val="D2DCE6"/>
            </a:solidFill>
            <a:prstDash val="solid"/>
          </a:ln>
        </p:spPr>
      </p:sp>
      <p:sp>
        <p:nvSpPr>
          <p:cNvPr id="17" name="Shape 15"/>
          <p:cNvSpPr/>
          <p:nvPr/>
        </p:nvSpPr>
        <p:spPr>
          <a:xfrm>
            <a:off x="6419088" y="3840480"/>
            <a:ext cx="4937760" cy="118872"/>
          </a:xfrm>
          <a:prstGeom prst="rect">
            <a:avLst/>
          </a:prstGeom>
          <a:solidFill>
            <a:srgbClr val="A02B93"/>
          </a:solidFill>
          <a:ln w="12700">
            <a:solidFill>
              <a:srgbClr val="333333"/>
            </a:solidFill>
            <a:prstDash val="solid"/>
          </a:ln>
        </p:spPr>
      </p:sp>
      <p:sp>
        <p:nvSpPr>
          <p:cNvPr id="18" name="Text 16"/>
          <p:cNvSpPr/>
          <p:nvPr/>
        </p:nvSpPr>
        <p:spPr>
          <a:xfrm>
            <a:off x="6711696" y="4096512"/>
            <a:ext cx="4389120" cy="457200"/>
          </a:xfrm>
          <a:prstGeom prst="rect">
            <a:avLst/>
          </a:prstGeom>
          <a:noFill/>
          <a:ln/>
        </p:spPr>
        <p:txBody>
          <a:bodyPr wrap="square" lIns="0" tIns="0" rIns="0" bIns="0" rtlCol="0" anchor="ctr"/>
          <a:lstStyle/>
          <a:p>
            <a:pPr marL="0" indent="0">
              <a:buNone/>
            </a:pPr>
            <a:r>
              <a:rPr lang="en-US" sz="2200" b="1" dirty="0">
                <a:solidFill>
                  <a:srgbClr val="A02B93"/>
                </a:solidFill>
                <a:latin typeface="Times New Roman" pitchFamily="34" charset="0"/>
                <a:ea typeface="Times New Roman" pitchFamily="34" charset="-122"/>
                <a:cs typeface="Times New Roman" pitchFamily="34" charset="-120"/>
              </a:rPr>
              <a:t>Sourcing data</a:t>
            </a:r>
            <a:endParaRPr lang="en-US" sz="2200" dirty="0"/>
          </a:p>
        </p:txBody>
      </p:sp>
      <p:sp>
        <p:nvSpPr>
          <p:cNvPr id="19" name="Text 17"/>
          <p:cNvSpPr/>
          <p:nvPr/>
        </p:nvSpPr>
        <p:spPr>
          <a:xfrm>
            <a:off x="6711696" y="4590288"/>
            <a:ext cx="4389120" cy="457200"/>
          </a:xfrm>
          <a:prstGeom prst="rect">
            <a:avLst/>
          </a:prstGeom>
          <a:noFill/>
          <a:ln/>
        </p:spPr>
        <p:txBody>
          <a:bodyPr wrap="square" lIns="0" tIns="0" rIns="0" bIns="0" rtlCol="0" anchor="ctr"/>
          <a:lstStyle/>
          <a:p>
            <a:pPr marL="0" indent="0">
              <a:buNone/>
            </a:pPr>
            <a:r>
              <a:rPr lang="en-US" sz="1700" dirty="0">
                <a:solidFill>
                  <a:srgbClr val="2B2B2B"/>
                </a:solidFill>
                <a:latin typeface="Times New Roman" pitchFamily="34" charset="0"/>
                <a:ea typeface="Times New Roman" pitchFamily="34" charset="-122"/>
                <a:cs typeface="Times New Roman" pitchFamily="34" charset="-120"/>
              </a:rPr>
              <a:t>Vendor–SKU–Warehouse triples: a 5NF call</a:t>
            </a:r>
            <a:endParaRPr lang="en-US" sz="1700" dirty="0"/>
          </a:p>
        </p:txBody>
      </p:sp>
      <p:sp>
        <p:nvSpPr>
          <p:cNvPr id="20" name="Shape 18"/>
          <p:cNvSpPr/>
          <p:nvPr/>
        </p:nvSpPr>
        <p:spPr>
          <a:xfrm>
            <a:off x="841248" y="5623560"/>
            <a:ext cx="10515600" cy="548640"/>
          </a:xfrm>
          <a:prstGeom prst="roundRect">
            <a:avLst>
              <a:gd name="adj" fmla="val 13333"/>
            </a:avLst>
          </a:prstGeom>
          <a:solidFill>
            <a:srgbClr val="E8EFF4"/>
          </a:solidFill>
          <a:ln w="12700">
            <a:solidFill>
              <a:srgbClr val="333333"/>
            </a:solidFill>
            <a:prstDash val="solid"/>
          </a:ln>
        </p:spPr>
      </p:sp>
      <p:sp>
        <p:nvSpPr>
          <p:cNvPr id="21" name="Text 19"/>
          <p:cNvSpPr/>
          <p:nvPr/>
        </p:nvSpPr>
        <p:spPr>
          <a:xfrm>
            <a:off x="841248" y="562356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Normalise for correctness first; denormalise later only where measurements demand it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Think – Pair – Share</a:t>
            </a:r>
            <a:endParaRPr lang="en-US" sz="3600" dirty="0"/>
          </a:p>
        </p:txBody>
      </p:sp>
      <p:sp>
        <p:nvSpPr>
          <p:cNvPr id="3" name="Shape 1"/>
          <p:cNvSpPr/>
          <p:nvPr/>
        </p:nvSpPr>
        <p:spPr>
          <a:xfrm>
            <a:off x="841248" y="1737360"/>
            <a:ext cx="10515600" cy="1005840"/>
          </a:xfrm>
          <a:prstGeom prst="roundRect">
            <a:avLst>
              <a:gd name="adj" fmla="val 5455"/>
            </a:avLst>
          </a:prstGeom>
          <a:solidFill>
            <a:srgbClr val="F2F6FA"/>
          </a:solidFill>
          <a:ln w="12700">
            <a:solidFill>
              <a:srgbClr val="F2F6FA"/>
            </a:solidFill>
            <a:prstDash val="solid"/>
          </a:ln>
        </p:spPr>
      </p:sp>
      <p:sp>
        <p:nvSpPr>
          <p:cNvPr id="4" name="Shape 2"/>
          <p:cNvSpPr/>
          <p:nvPr/>
        </p:nvSpPr>
        <p:spPr>
          <a:xfrm>
            <a:off x="841248" y="1737360"/>
            <a:ext cx="91440" cy="1005840"/>
          </a:xfrm>
          <a:prstGeom prst="rect">
            <a:avLst/>
          </a:prstGeom>
          <a:solidFill>
            <a:srgbClr val="E97132"/>
          </a:solidFill>
          <a:ln w="12700">
            <a:solidFill>
              <a:srgbClr val="333333"/>
            </a:solidFill>
            <a:prstDash val="solid"/>
          </a:ln>
        </p:spPr>
      </p:sp>
      <p:sp>
        <p:nvSpPr>
          <p:cNvPr id="5" name="Text 3"/>
          <p:cNvSpPr/>
          <p:nvPr/>
        </p:nvSpPr>
        <p:spPr>
          <a:xfrm>
            <a:off x="1133856" y="1737360"/>
            <a:ext cx="9966960" cy="100584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A 5NF split is legal only under one business rule. What is it — and what breaks without it?</a:t>
            </a:r>
            <a:endParaRPr lang="en-US" sz="2100" dirty="0"/>
          </a:p>
        </p:txBody>
      </p:sp>
      <p:sp>
        <p:nvSpPr>
          <p:cNvPr id="6" name="Shape 4"/>
          <p:cNvSpPr/>
          <p:nvPr/>
        </p:nvSpPr>
        <p:spPr>
          <a:xfrm>
            <a:off x="841248" y="3017520"/>
            <a:ext cx="3264408" cy="1737360"/>
          </a:xfrm>
          <a:prstGeom prst="roundRect">
            <a:avLst>
              <a:gd name="adj" fmla="val 3158"/>
            </a:avLst>
          </a:prstGeom>
          <a:solidFill>
            <a:srgbClr val="FFFFFF"/>
          </a:solidFill>
          <a:ln w="12700">
            <a:solidFill>
              <a:srgbClr val="D2DCE6"/>
            </a:solidFill>
            <a:prstDash val="solid"/>
          </a:ln>
        </p:spPr>
      </p:sp>
      <p:sp>
        <p:nvSpPr>
          <p:cNvPr id="7" name="Shape 5"/>
          <p:cNvSpPr/>
          <p:nvPr/>
        </p:nvSpPr>
        <p:spPr>
          <a:xfrm>
            <a:off x="1115568" y="3291840"/>
            <a:ext cx="603504" cy="603504"/>
          </a:xfrm>
          <a:prstGeom prst="roundRect">
            <a:avLst>
              <a:gd name="adj" fmla="val 15152"/>
            </a:avLst>
          </a:prstGeom>
          <a:solidFill>
            <a:srgbClr val="156082"/>
          </a:solidFill>
          <a:ln w="12700">
            <a:solidFill>
              <a:srgbClr val="333333"/>
            </a:solidFill>
            <a:prstDash val="solid"/>
          </a:ln>
        </p:spPr>
      </p:sp>
      <p:sp>
        <p:nvSpPr>
          <p:cNvPr id="8" name="Text 6"/>
          <p:cNvSpPr/>
          <p:nvPr/>
        </p:nvSpPr>
        <p:spPr>
          <a:xfrm>
            <a:off x="1115568" y="32918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9" name="Text 7"/>
          <p:cNvSpPr/>
          <p:nvPr/>
        </p:nvSpPr>
        <p:spPr>
          <a:xfrm>
            <a:off x="1115568" y="4023360"/>
            <a:ext cx="2743200" cy="41148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Think</a:t>
            </a:r>
            <a:endParaRPr lang="en-US" sz="2200" dirty="0"/>
          </a:p>
        </p:txBody>
      </p:sp>
      <p:sp>
        <p:nvSpPr>
          <p:cNvPr id="10" name="Text 8"/>
          <p:cNvSpPr/>
          <p:nvPr/>
        </p:nvSpPr>
        <p:spPr>
          <a:xfrm>
            <a:off x="1115568" y="4389120"/>
            <a:ext cx="2743200" cy="36576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On your own</a:t>
            </a:r>
            <a:endParaRPr lang="en-US" sz="1800" dirty="0"/>
          </a:p>
        </p:txBody>
      </p:sp>
      <p:sp>
        <p:nvSpPr>
          <p:cNvPr id="11" name="Shape 9"/>
          <p:cNvSpPr/>
          <p:nvPr/>
        </p:nvSpPr>
        <p:spPr>
          <a:xfrm>
            <a:off x="4471416" y="3017520"/>
            <a:ext cx="3264408" cy="1737360"/>
          </a:xfrm>
          <a:prstGeom prst="roundRect">
            <a:avLst>
              <a:gd name="adj" fmla="val 3158"/>
            </a:avLst>
          </a:prstGeom>
          <a:solidFill>
            <a:srgbClr val="FFFFFF"/>
          </a:solidFill>
          <a:ln w="12700">
            <a:solidFill>
              <a:srgbClr val="D2DCE6"/>
            </a:solidFill>
            <a:prstDash val="solid"/>
          </a:ln>
        </p:spPr>
      </p:sp>
      <p:sp>
        <p:nvSpPr>
          <p:cNvPr id="12" name="Shape 10"/>
          <p:cNvSpPr/>
          <p:nvPr/>
        </p:nvSpPr>
        <p:spPr>
          <a:xfrm>
            <a:off x="4745736" y="3291840"/>
            <a:ext cx="603504" cy="603504"/>
          </a:xfrm>
          <a:prstGeom prst="roundRect">
            <a:avLst>
              <a:gd name="adj" fmla="val 15152"/>
            </a:avLst>
          </a:prstGeom>
          <a:solidFill>
            <a:srgbClr val="E97132"/>
          </a:solidFill>
          <a:ln w="12700">
            <a:solidFill>
              <a:srgbClr val="333333"/>
            </a:solidFill>
            <a:prstDash val="solid"/>
          </a:ln>
        </p:spPr>
      </p:sp>
      <p:sp>
        <p:nvSpPr>
          <p:cNvPr id="13" name="Text 11"/>
          <p:cNvSpPr/>
          <p:nvPr/>
        </p:nvSpPr>
        <p:spPr>
          <a:xfrm>
            <a:off x="4745736" y="32918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4" name="Text 12"/>
          <p:cNvSpPr/>
          <p:nvPr/>
        </p:nvSpPr>
        <p:spPr>
          <a:xfrm>
            <a:off x="4745736" y="4023360"/>
            <a:ext cx="2743200" cy="41148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Pair</a:t>
            </a:r>
            <a:endParaRPr lang="en-US" sz="2200" dirty="0"/>
          </a:p>
        </p:txBody>
      </p:sp>
      <p:sp>
        <p:nvSpPr>
          <p:cNvPr id="15" name="Text 13"/>
          <p:cNvSpPr/>
          <p:nvPr/>
        </p:nvSpPr>
        <p:spPr>
          <a:xfrm>
            <a:off x="4745736" y="4389120"/>
            <a:ext cx="2743200" cy="36576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With a neighbour</a:t>
            </a:r>
            <a:endParaRPr lang="en-US" sz="1800" dirty="0"/>
          </a:p>
        </p:txBody>
      </p:sp>
      <p:sp>
        <p:nvSpPr>
          <p:cNvPr id="16" name="Shape 14"/>
          <p:cNvSpPr/>
          <p:nvPr/>
        </p:nvSpPr>
        <p:spPr>
          <a:xfrm>
            <a:off x="8101584" y="3017520"/>
            <a:ext cx="3264408" cy="1737360"/>
          </a:xfrm>
          <a:prstGeom prst="roundRect">
            <a:avLst>
              <a:gd name="adj" fmla="val 3158"/>
            </a:avLst>
          </a:prstGeom>
          <a:solidFill>
            <a:srgbClr val="FFFFFF"/>
          </a:solidFill>
          <a:ln w="12700">
            <a:solidFill>
              <a:srgbClr val="D2DCE6"/>
            </a:solidFill>
            <a:prstDash val="solid"/>
          </a:ln>
        </p:spPr>
      </p:sp>
      <p:sp>
        <p:nvSpPr>
          <p:cNvPr id="17" name="Shape 15"/>
          <p:cNvSpPr/>
          <p:nvPr/>
        </p:nvSpPr>
        <p:spPr>
          <a:xfrm>
            <a:off x="8375904" y="3291840"/>
            <a:ext cx="603504" cy="603504"/>
          </a:xfrm>
          <a:prstGeom prst="roundRect">
            <a:avLst>
              <a:gd name="adj" fmla="val 15152"/>
            </a:avLst>
          </a:prstGeom>
          <a:solidFill>
            <a:srgbClr val="196B24"/>
          </a:solidFill>
          <a:ln w="12700">
            <a:solidFill>
              <a:srgbClr val="333333"/>
            </a:solidFill>
            <a:prstDash val="solid"/>
          </a:ln>
        </p:spPr>
      </p:sp>
      <p:sp>
        <p:nvSpPr>
          <p:cNvPr id="18" name="Text 16"/>
          <p:cNvSpPr/>
          <p:nvPr/>
        </p:nvSpPr>
        <p:spPr>
          <a:xfrm>
            <a:off x="8375904" y="32918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9" name="Text 17"/>
          <p:cNvSpPr/>
          <p:nvPr/>
        </p:nvSpPr>
        <p:spPr>
          <a:xfrm>
            <a:off x="8375904" y="4023360"/>
            <a:ext cx="274320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Share</a:t>
            </a:r>
            <a:endParaRPr lang="en-US" sz="2200" dirty="0"/>
          </a:p>
        </p:txBody>
      </p:sp>
      <p:sp>
        <p:nvSpPr>
          <p:cNvPr id="20" name="Text 18"/>
          <p:cNvSpPr/>
          <p:nvPr/>
        </p:nvSpPr>
        <p:spPr>
          <a:xfrm>
            <a:off x="8375904" y="4389120"/>
            <a:ext cx="2743200" cy="36576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With the class</a:t>
            </a:r>
            <a:endParaRPr lang="en-US" sz="1800" dirty="0"/>
          </a:p>
        </p:txBody>
      </p:sp>
      <p:sp>
        <p:nvSpPr>
          <p:cNvPr id="21" name="Shape 19"/>
          <p:cNvSpPr/>
          <p:nvPr/>
        </p:nvSpPr>
        <p:spPr>
          <a:xfrm>
            <a:off x="841248" y="5074920"/>
            <a:ext cx="10515600" cy="548640"/>
          </a:xfrm>
          <a:prstGeom prst="roundRect">
            <a:avLst>
              <a:gd name="adj" fmla="val 13333"/>
            </a:avLst>
          </a:prstGeom>
          <a:solidFill>
            <a:srgbClr val="E8EFF4"/>
          </a:solidFill>
          <a:ln w="12700">
            <a:solidFill>
              <a:srgbClr val="333333"/>
            </a:solidFill>
            <a:prstDash val="solid"/>
          </a:ln>
        </p:spPr>
      </p:sp>
      <p:sp>
        <p:nvSpPr>
          <p:cNvPr id="22" name="Text 20"/>
          <p:cNvSpPr/>
          <p:nvPr/>
        </p:nvSpPr>
        <p:spPr>
          <a:xfrm>
            <a:off x="841248" y="507492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One minute alone · two in pairs · two sharing</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Check for Understanding</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E97132"/>
                </a:solidFill>
                <a:latin typeface="Times New Roman" pitchFamily="34" charset="0"/>
                <a:ea typeface="Times New Roman" pitchFamily="34" charset="-122"/>
                <a:cs typeface="Times New Roman" pitchFamily="34" charset="-120"/>
              </a:rPr>
              <a:t>True or False?</a:t>
            </a:r>
            <a:endParaRPr lang="en-US" sz="2400" dirty="0"/>
          </a:p>
        </p:txBody>
      </p:sp>
      <p:sp>
        <p:nvSpPr>
          <p:cNvPr id="4" name="Shape 2"/>
          <p:cNvSpPr/>
          <p:nvPr/>
        </p:nvSpPr>
        <p:spPr>
          <a:xfrm>
            <a:off x="841248" y="2331720"/>
            <a:ext cx="10515600" cy="1005840"/>
          </a:xfrm>
          <a:prstGeom prst="roundRect">
            <a:avLst>
              <a:gd name="adj" fmla="val 5455"/>
            </a:avLst>
          </a:prstGeom>
          <a:solidFill>
            <a:srgbClr val="F2F6FA"/>
          </a:solidFill>
          <a:ln w="12700">
            <a:solidFill>
              <a:srgbClr val="F2F6FA"/>
            </a:solidFill>
            <a:prstDash val="solid"/>
          </a:ln>
        </p:spPr>
      </p:sp>
      <p:sp>
        <p:nvSpPr>
          <p:cNvPr id="5" name="Shape 3"/>
          <p:cNvSpPr/>
          <p:nvPr/>
        </p:nvSpPr>
        <p:spPr>
          <a:xfrm>
            <a:off x="1115568" y="2532888"/>
            <a:ext cx="603504" cy="603504"/>
          </a:xfrm>
          <a:prstGeom prst="roundRect">
            <a:avLst>
              <a:gd name="adj" fmla="val 15152"/>
            </a:avLst>
          </a:prstGeom>
          <a:solidFill>
            <a:srgbClr val="156082"/>
          </a:solidFill>
          <a:ln w="12700">
            <a:solidFill>
              <a:srgbClr val="333333"/>
            </a:solidFill>
            <a:prstDash val="solid"/>
          </a:ln>
        </p:spPr>
      </p:sp>
      <p:sp>
        <p:nvSpPr>
          <p:cNvPr id="6" name="Text 4"/>
          <p:cNvSpPr/>
          <p:nvPr/>
        </p:nvSpPr>
        <p:spPr>
          <a:xfrm>
            <a:off x="1115568" y="2532888"/>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938528" y="2331720"/>
            <a:ext cx="6126480" cy="100584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Every BCNF relation is also in 3NF</a:t>
            </a:r>
            <a:endParaRPr lang="en-US" sz="1900" dirty="0"/>
          </a:p>
        </p:txBody>
      </p:sp>
      <p:sp>
        <p:nvSpPr>
          <p:cNvPr id="8" name="Shape 6"/>
          <p:cNvSpPr/>
          <p:nvPr/>
        </p:nvSpPr>
        <p:spPr>
          <a:xfrm>
            <a:off x="8430768" y="2569464"/>
            <a:ext cx="1234440" cy="530352"/>
          </a:xfrm>
          <a:prstGeom prst="roundRect">
            <a:avLst>
              <a:gd name="adj" fmla="val 13793"/>
            </a:avLst>
          </a:prstGeom>
          <a:solidFill>
            <a:srgbClr val="E8EFF4"/>
          </a:solidFill>
          <a:ln w="12700">
            <a:solidFill>
              <a:srgbClr val="333333"/>
            </a:solidFill>
            <a:prstDash val="solid"/>
          </a:ln>
        </p:spPr>
      </p:sp>
      <p:sp>
        <p:nvSpPr>
          <p:cNvPr id="9" name="Text 7"/>
          <p:cNvSpPr/>
          <p:nvPr/>
        </p:nvSpPr>
        <p:spPr>
          <a:xfrm>
            <a:off x="8430768" y="2569464"/>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True</a:t>
            </a:r>
            <a:endParaRPr lang="en-US" sz="1800" dirty="0"/>
          </a:p>
        </p:txBody>
      </p:sp>
      <p:sp>
        <p:nvSpPr>
          <p:cNvPr id="10" name="Shape 8"/>
          <p:cNvSpPr/>
          <p:nvPr/>
        </p:nvSpPr>
        <p:spPr>
          <a:xfrm>
            <a:off x="9848088" y="2569464"/>
            <a:ext cx="1234440" cy="530352"/>
          </a:xfrm>
          <a:prstGeom prst="roundRect">
            <a:avLst>
              <a:gd name="adj" fmla="val 13793"/>
            </a:avLst>
          </a:prstGeom>
          <a:solidFill>
            <a:srgbClr val="E8EFF4"/>
          </a:solidFill>
          <a:ln w="12700">
            <a:solidFill>
              <a:srgbClr val="333333"/>
            </a:solidFill>
            <a:prstDash val="solid"/>
          </a:ln>
        </p:spPr>
      </p:sp>
      <p:sp>
        <p:nvSpPr>
          <p:cNvPr id="11" name="Text 9"/>
          <p:cNvSpPr/>
          <p:nvPr/>
        </p:nvSpPr>
        <p:spPr>
          <a:xfrm>
            <a:off x="9848088" y="2569464"/>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False</a:t>
            </a:r>
            <a:endParaRPr lang="en-US" sz="1800" dirty="0"/>
          </a:p>
        </p:txBody>
      </p:sp>
      <p:sp>
        <p:nvSpPr>
          <p:cNvPr id="12" name="Shape 10"/>
          <p:cNvSpPr/>
          <p:nvPr/>
        </p:nvSpPr>
        <p:spPr>
          <a:xfrm>
            <a:off x="841248" y="3502152"/>
            <a:ext cx="10515600" cy="1005840"/>
          </a:xfrm>
          <a:prstGeom prst="roundRect">
            <a:avLst>
              <a:gd name="adj" fmla="val 5455"/>
            </a:avLst>
          </a:prstGeom>
          <a:solidFill>
            <a:srgbClr val="F2F6FA"/>
          </a:solidFill>
          <a:ln w="12700">
            <a:solidFill>
              <a:srgbClr val="F2F6FA"/>
            </a:solidFill>
            <a:prstDash val="solid"/>
          </a:ln>
        </p:spPr>
      </p:sp>
      <p:sp>
        <p:nvSpPr>
          <p:cNvPr id="13" name="Shape 11"/>
          <p:cNvSpPr/>
          <p:nvPr/>
        </p:nvSpPr>
        <p:spPr>
          <a:xfrm>
            <a:off x="1115568" y="3703320"/>
            <a:ext cx="603504" cy="603504"/>
          </a:xfrm>
          <a:prstGeom prst="roundRect">
            <a:avLst>
              <a:gd name="adj" fmla="val 15152"/>
            </a:avLst>
          </a:prstGeom>
          <a:solidFill>
            <a:srgbClr val="A02B93"/>
          </a:solidFill>
          <a:ln w="12700">
            <a:solidFill>
              <a:srgbClr val="333333"/>
            </a:solidFill>
            <a:prstDash val="solid"/>
          </a:ln>
        </p:spPr>
      </p:sp>
      <p:sp>
        <p:nvSpPr>
          <p:cNvPr id="14" name="Text 12"/>
          <p:cNvSpPr/>
          <p:nvPr/>
        </p:nvSpPr>
        <p:spPr>
          <a:xfrm>
            <a:off x="1115568" y="370332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5" name="Text 13"/>
          <p:cNvSpPr/>
          <p:nvPr/>
        </p:nvSpPr>
        <p:spPr>
          <a:xfrm>
            <a:off x="1938528" y="3502152"/>
            <a:ext cx="6126480" cy="100584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An MVD is a special kind of functional dependency</a:t>
            </a:r>
            <a:endParaRPr lang="en-US" sz="1900" dirty="0"/>
          </a:p>
        </p:txBody>
      </p:sp>
      <p:sp>
        <p:nvSpPr>
          <p:cNvPr id="16" name="Shape 14"/>
          <p:cNvSpPr/>
          <p:nvPr/>
        </p:nvSpPr>
        <p:spPr>
          <a:xfrm>
            <a:off x="8430768" y="3739896"/>
            <a:ext cx="1234440" cy="530352"/>
          </a:xfrm>
          <a:prstGeom prst="roundRect">
            <a:avLst>
              <a:gd name="adj" fmla="val 13793"/>
            </a:avLst>
          </a:prstGeom>
          <a:solidFill>
            <a:srgbClr val="E8EFF4"/>
          </a:solidFill>
          <a:ln w="12700">
            <a:solidFill>
              <a:srgbClr val="333333"/>
            </a:solidFill>
            <a:prstDash val="solid"/>
          </a:ln>
        </p:spPr>
      </p:sp>
      <p:sp>
        <p:nvSpPr>
          <p:cNvPr id="17" name="Text 15"/>
          <p:cNvSpPr/>
          <p:nvPr/>
        </p:nvSpPr>
        <p:spPr>
          <a:xfrm>
            <a:off x="8430768" y="3739896"/>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True</a:t>
            </a:r>
            <a:endParaRPr lang="en-US" sz="1800" dirty="0"/>
          </a:p>
        </p:txBody>
      </p:sp>
      <p:sp>
        <p:nvSpPr>
          <p:cNvPr id="18" name="Shape 16"/>
          <p:cNvSpPr/>
          <p:nvPr/>
        </p:nvSpPr>
        <p:spPr>
          <a:xfrm>
            <a:off x="9848088" y="3739896"/>
            <a:ext cx="1234440" cy="530352"/>
          </a:xfrm>
          <a:prstGeom prst="roundRect">
            <a:avLst>
              <a:gd name="adj" fmla="val 13793"/>
            </a:avLst>
          </a:prstGeom>
          <a:solidFill>
            <a:srgbClr val="E8EFF4"/>
          </a:solidFill>
          <a:ln w="12700">
            <a:solidFill>
              <a:srgbClr val="333333"/>
            </a:solidFill>
            <a:prstDash val="solid"/>
          </a:ln>
        </p:spPr>
      </p:sp>
      <p:sp>
        <p:nvSpPr>
          <p:cNvPr id="19" name="Text 17"/>
          <p:cNvSpPr/>
          <p:nvPr/>
        </p:nvSpPr>
        <p:spPr>
          <a:xfrm>
            <a:off x="9848088" y="3739896"/>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False</a:t>
            </a:r>
            <a:endParaRPr lang="en-US" sz="1800" dirty="0"/>
          </a:p>
        </p:txBody>
      </p:sp>
      <p:sp>
        <p:nvSpPr>
          <p:cNvPr id="20" name="Shape 18"/>
          <p:cNvSpPr/>
          <p:nvPr/>
        </p:nvSpPr>
        <p:spPr>
          <a:xfrm>
            <a:off x="841248" y="4672584"/>
            <a:ext cx="10515600" cy="1005840"/>
          </a:xfrm>
          <a:prstGeom prst="roundRect">
            <a:avLst>
              <a:gd name="adj" fmla="val 5455"/>
            </a:avLst>
          </a:prstGeom>
          <a:solidFill>
            <a:srgbClr val="F2F6FA"/>
          </a:solidFill>
          <a:ln w="12700">
            <a:solidFill>
              <a:srgbClr val="F2F6FA"/>
            </a:solidFill>
            <a:prstDash val="solid"/>
          </a:ln>
        </p:spPr>
      </p:sp>
      <p:sp>
        <p:nvSpPr>
          <p:cNvPr id="21" name="Shape 19"/>
          <p:cNvSpPr/>
          <p:nvPr/>
        </p:nvSpPr>
        <p:spPr>
          <a:xfrm>
            <a:off x="1115568" y="4873752"/>
            <a:ext cx="603504" cy="603504"/>
          </a:xfrm>
          <a:prstGeom prst="roundRect">
            <a:avLst>
              <a:gd name="adj" fmla="val 15152"/>
            </a:avLst>
          </a:prstGeom>
          <a:solidFill>
            <a:srgbClr val="196B24"/>
          </a:solidFill>
          <a:ln w="12700">
            <a:solidFill>
              <a:srgbClr val="333333"/>
            </a:solidFill>
            <a:prstDash val="solid"/>
          </a:ln>
        </p:spPr>
      </p:sp>
      <p:sp>
        <p:nvSpPr>
          <p:cNvPr id="22" name="Text 20"/>
          <p:cNvSpPr/>
          <p:nvPr/>
        </p:nvSpPr>
        <p:spPr>
          <a:xfrm>
            <a:off x="1115568" y="4873752"/>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23" name="Text 21"/>
          <p:cNvSpPr/>
          <p:nvPr/>
        </p:nvSpPr>
        <p:spPr>
          <a:xfrm>
            <a:off x="1938528" y="4672584"/>
            <a:ext cx="6126480" cy="100584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A ternary table should always be split into three pairs</a:t>
            </a:r>
            <a:endParaRPr lang="en-US" sz="1900" dirty="0"/>
          </a:p>
        </p:txBody>
      </p:sp>
      <p:sp>
        <p:nvSpPr>
          <p:cNvPr id="24" name="Shape 22"/>
          <p:cNvSpPr/>
          <p:nvPr/>
        </p:nvSpPr>
        <p:spPr>
          <a:xfrm>
            <a:off x="8430768" y="4910328"/>
            <a:ext cx="1234440" cy="530352"/>
          </a:xfrm>
          <a:prstGeom prst="roundRect">
            <a:avLst>
              <a:gd name="adj" fmla="val 13793"/>
            </a:avLst>
          </a:prstGeom>
          <a:solidFill>
            <a:srgbClr val="E8EFF4"/>
          </a:solidFill>
          <a:ln w="12700">
            <a:solidFill>
              <a:srgbClr val="333333"/>
            </a:solidFill>
            <a:prstDash val="solid"/>
          </a:ln>
        </p:spPr>
      </p:sp>
      <p:sp>
        <p:nvSpPr>
          <p:cNvPr id="25" name="Text 23"/>
          <p:cNvSpPr/>
          <p:nvPr/>
        </p:nvSpPr>
        <p:spPr>
          <a:xfrm>
            <a:off x="8430768" y="4910328"/>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True</a:t>
            </a:r>
            <a:endParaRPr lang="en-US" sz="1800" dirty="0"/>
          </a:p>
        </p:txBody>
      </p:sp>
      <p:sp>
        <p:nvSpPr>
          <p:cNvPr id="26" name="Shape 24"/>
          <p:cNvSpPr/>
          <p:nvPr/>
        </p:nvSpPr>
        <p:spPr>
          <a:xfrm>
            <a:off x="9848088" y="4910328"/>
            <a:ext cx="1234440" cy="530352"/>
          </a:xfrm>
          <a:prstGeom prst="roundRect">
            <a:avLst>
              <a:gd name="adj" fmla="val 13793"/>
            </a:avLst>
          </a:prstGeom>
          <a:solidFill>
            <a:srgbClr val="E8EFF4"/>
          </a:solidFill>
          <a:ln w="12700">
            <a:solidFill>
              <a:srgbClr val="333333"/>
            </a:solidFill>
            <a:prstDash val="solid"/>
          </a:ln>
        </p:spPr>
      </p:sp>
      <p:sp>
        <p:nvSpPr>
          <p:cNvPr id="27" name="Text 25"/>
          <p:cNvSpPr/>
          <p:nvPr/>
        </p:nvSpPr>
        <p:spPr>
          <a:xfrm>
            <a:off x="9848088" y="4910328"/>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False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731520"/>
            <a:ext cx="11155680" cy="54864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Final Check Before You Leave</a:t>
            </a:r>
            <a:endParaRPr lang="en-US" sz="2800" dirty="0"/>
          </a:p>
        </p:txBody>
      </p:sp>
      <p:sp>
        <p:nvSpPr>
          <p:cNvPr id="5" name="Shape 3"/>
          <p:cNvSpPr/>
          <p:nvPr/>
        </p:nvSpPr>
        <p:spPr>
          <a:xfrm>
            <a:off x="502920" y="1737360"/>
            <a:ext cx="5486400" cy="1828800"/>
          </a:xfrm>
          <a:prstGeom prst="roundRect">
            <a:avLst>
              <a:gd name="adj" fmla="val 4500"/>
            </a:avLst>
          </a:prstGeom>
          <a:solidFill>
            <a:srgbClr val="2A5D8C"/>
          </a:solidFill>
          <a:ln/>
        </p:spPr>
      </p:sp>
      <p:sp>
        <p:nvSpPr>
          <p:cNvPr id="6" name="Shape 4"/>
          <p:cNvSpPr/>
          <p:nvPr/>
        </p:nvSpPr>
        <p:spPr>
          <a:xfrm>
            <a:off x="758952" y="2011680"/>
            <a:ext cx="566928" cy="566928"/>
          </a:xfrm>
          <a:prstGeom prst="ellipse">
            <a:avLst/>
          </a:prstGeom>
          <a:solidFill>
            <a:srgbClr val="F0A32E"/>
          </a:solidFill>
          <a:ln/>
        </p:spPr>
      </p:sp>
      <p:sp>
        <p:nvSpPr>
          <p:cNvPr id="7" name="Text 5"/>
          <p:cNvSpPr/>
          <p:nvPr/>
        </p:nvSpPr>
        <p:spPr>
          <a:xfrm>
            <a:off x="758952" y="1993392"/>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08760" y="1965960"/>
            <a:ext cx="420624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Explain BCNF in one sentence</a:t>
            </a:r>
            <a:endParaRPr lang="en-US" sz="1600" dirty="0"/>
          </a:p>
        </p:txBody>
      </p:sp>
      <p:pic>
        <p:nvPicPr>
          <p:cNvPr id="9" name="Image 0" descr="icons/pen.png"/>
          <p:cNvPicPr>
            <a:picLocks noChangeAspect="1"/>
          </p:cNvPicPr>
          <p:nvPr/>
        </p:nvPicPr>
        <p:blipFill>
          <a:blip r:embed="rId3">
            <a:alphaModFix amt="55000"/>
          </a:blip>
          <a:stretch>
            <a:fillRect/>
          </a:stretch>
        </p:blipFill>
        <p:spPr>
          <a:xfrm>
            <a:off x="5257800" y="2926080"/>
            <a:ext cx="457200" cy="457200"/>
          </a:xfrm>
          <a:prstGeom prst="rect">
            <a:avLst/>
          </a:prstGeom>
        </p:spPr>
      </p:pic>
      <p:sp>
        <p:nvSpPr>
          <p:cNvPr id="10" name="Shape 7"/>
          <p:cNvSpPr/>
          <p:nvPr/>
        </p:nvSpPr>
        <p:spPr>
          <a:xfrm>
            <a:off x="6217920" y="1737360"/>
            <a:ext cx="5486400" cy="1828800"/>
          </a:xfrm>
          <a:prstGeom prst="roundRect">
            <a:avLst>
              <a:gd name="adj" fmla="val 4500"/>
            </a:avLst>
          </a:prstGeom>
          <a:solidFill>
            <a:srgbClr val="2A5D8C"/>
          </a:solidFill>
          <a:ln/>
        </p:spPr>
      </p:sp>
      <p:sp>
        <p:nvSpPr>
          <p:cNvPr id="11" name="Shape 8"/>
          <p:cNvSpPr/>
          <p:nvPr/>
        </p:nvSpPr>
        <p:spPr>
          <a:xfrm>
            <a:off x="6473952" y="2011680"/>
            <a:ext cx="566928" cy="566928"/>
          </a:xfrm>
          <a:prstGeom prst="ellipse">
            <a:avLst/>
          </a:prstGeom>
          <a:solidFill>
            <a:srgbClr val="F0A32E"/>
          </a:solidFill>
          <a:ln/>
        </p:spPr>
      </p:sp>
      <p:sp>
        <p:nvSpPr>
          <p:cNvPr id="12" name="Text 9"/>
          <p:cNvSpPr/>
          <p:nvPr/>
        </p:nvSpPr>
        <p:spPr>
          <a:xfrm>
            <a:off x="6473952" y="1993392"/>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2</a:t>
            </a:r>
            <a:endParaRPr lang="en-US" sz="1600" dirty="0"/>
          </a:p>
        </p:txBody>
      </p:sp>
      <p:sp>
        <p:nvSpPr>
          <p:cNvPr id="13" name="Text 10"/>
          <p:cNvSpPr/>
          <p:nvPr/>
        </p:nvSpPr>
        <p:spPr>
          <a:xfrm>
            <a:off x="7223760" y="1965960"/>
            <a:ext cx="420624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Give one signal that screams "4NF issue"</a:t>
            </a:r>
            <a:endParaRPr lang="en-US" sz="1600" dirty="0"/>
          </a:p>
        </p:txBody>
      </p:sp>
      <p:pic>
        <p:nvPicPr>
          <p:cNvPr id="14" name="Image 1" descr="icons/layers.png"/>
          <p:cNvPicPr>
            <a:picLocks noChangeAspect="1"/>
          </p:cNvPicPr>
          <p:nvPr/>
        </p:nvPicPr>
        <p:blipFill>
          <a:blip r:embed="rId4">
            <a:alphaModFix amt="55000"/>
          </a:blip>
          <a:stretch>
            <a:fillRect/>
          </a:stretch>
        </p:blipFill>
        <p:spPr>
          <a:xfrm>
            <a:off x="10972800" y="2926080"/>
            <a:ext cx="457200" cy="457200"/>
          </a:xfrm>
          <a:prstGeom prst="rect">
            <a:avLst/>
          </a:prstGeom>
        </p:spPr>
      </p:pic>
      <p:sp>
        <p:nvSpPr>
          <p:cNvPr id="15" name="Shape 11"/>
          <p:cNvSpPr/>
          <p:nvPr/>
        </p:nvSpPr>
        <p:spPr>
          <a:xfrm>
            <a:off x="502920" y="3794760"/>
            <a:ext cx="5486400" cy="1828800"/>
          </a:xfrm>
          <a:prstGeom prst="roundRect">
            <a:avLst>
              <a:gd name="adj" fmla="val 4500"/>
            </a:avLst>
          </a:prstGeom>
          <a:solidFill>
            <a:srgbClr val="2A5D8C"/>
          </a:solidFill>
          <a:ln/>
        </p:spPr>
      </p:sp>
      <p:sp>
        <p:nvSpPr>
          <p:cNvPr id="16" name="Shape 12"/>
          <p:cNvSpPr/>
          <p:nvPr/>
        </p:nvSpPr>
        <p:spPr>
          <a:xfrm>
            <a:off x="758952" y="4069080"/>
            <a:ext cx="566928" cy="566928"/>
          </a:xfrm>
          <a:prstGeom prst="ellipse">
            <a:avLst/>
          </a:prstGeom>
          <a:solidFill>
            <a:srgbClr val="F0A32E"/>
          </a:solidFill>
          <a:ln/>
        </p:spPr>
      </p:sp>
      <p:sp>
        <p:nvSpPr>
          <p:cNvPr id="17" name="Text 13"/>
          <p:cNvSpPr/>
          <p:nvPr/>
        </p:nvSpPr>
        <p:spPr>
          <a:xfrm>
            <a:off x="758952" y="4050792"/>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3</a:t>
            </a:r>
            <a:endParaRPr lang="en-US" sz="1600" dirty="0"/>
          </a:p>
        </p:txBody>
      </p:sp>
      <p:sp>
        <p:nvSpPr>
          <p:cNvPr id="18" name="Text 14"/>
          <p:cNvSpPr/>
          <p:nvPr/>
        </p:nvSpPr>
        <p:spPr>
          <a:xfrm>
            <a:off x="1508760" y="4023360"/>
            <a:ext cx="420624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 is 5NF rare but important in industry?</a:t>
            </a:r>
            <a:endParaRPr lang="en-US" sz="1600" dirty="0"/>
          </a:p>
        </p:txBody>
      </p:sp>
      <p:pic>
        <p:nvPicPr>
          <p:cNvPr id="19" name="Image 2" descr="icons/question.png"/>
          <p:cNvPicPr>
            <a:picLocks noChangeAspect="1"/>
          </p:cNvPicPr>
          <p:nvPr/>
        </p:nvPicPr>
        <p:blipFill>
          <a:blip r:embed="rId5">
            <a:alphaModFix amt="55000"/>
          </a:blip>
          <a:stretch>
            <a:fillRect/>
          </a:stretch>
        </p:blipFill>
        <p:spPr>
          <a:xfrm>
            <a:off x="5257800" y="4983480"/>
            <a:ext cx="457200" cy="457200"/>
          </a:xfrm>
          <a:prstGeom prst="rect">
            <a:avLst/>
          </a:prstGeom>
        </p:spPr>
      </p:pic>
      <p:sp>
        <p:nvSpPr>
          <p:cNvPr id="20" name="Shape 15"/>
          <p:cNvSpPr/>
          <p:nvPr/>
        </p:nvSpPr>
        <p:spPr>
          <a:xfrm>
            <a:off x="6217920" y="3794760"/>
            <a:ext cx="5486400" cy="1828800"/>
          </a:xfrm>
          <a:prstGeom prst="roundRect">
            <a:avLst>
              <a:gd name="adj" fmla="val 4500"/>
            </a:avLst>
          </a:prstGeom>
          <a:solidFill>
            <a:srgbClr val="2A5D8C"/>
          </a:solidFill>
          <a:ln/>
        </p:spPr>
      </p:sp>
      <p:sp>
        <p:nvSpPr>
          <p:cNvPr id="21" name="Shape 16"/>
          <p:cNvSpPr/>
          <p:nvPr/>
        </p:nvSpPr>
        <p:spPr>
          <a:xfrm>
            <a:off x="6473952" y="4069080"/>
            <a:ext cx="566928" cy="566928"/>
          </a:xfrm>
          <a:prstGeom prst="ellipse">
            <a:avLst/>
          </a:prstGeom>
          <a:solidFill>
            <a:srgbClr val="F0A32E"/>
          </a:solidFill>
          <a:ln/>
        </p:spPr>
      </p:sp>
      <p:sp>
        <p:nvSpPr>
          <p:cNvPr id="22" name="Text 17"/>
          <p:cNvSpPr/>
          <p:nvPr/>
        </p:nvSpPr>
        <p:spPr>
          <a:xfrm>
            <a:off x="6473952" y="4050792"/>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4</a:t>
            </a:r>
            <a:endParaRPr lang="en-US" sz="1600" dirty="0"/>
          </a:p>
        </p:txBody>
      </p:sp>
      <p:sp>
        <p:nvSpPr>
          <p:cNvPr id="23" name="Text 18"/>
          <p:cNvSpPr/>
          <p:nvPr/>
        </p:nvSpPr>
        <p:spPr>
          <a:xfrm>
            <a:off x="7223760" y="4023360"/>
            <a:ext cx="420624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Write one decomposition from today — no notes!</a:t>
            </a:r>
            <a:endParaRPr lang="en-US" sz="1600" dirty="0"/>
          </a:p>
        </p:txBody>
      </p:sp>
      <p:pic>
        <p:nvPicPr>
          <p:cNvPr id="24" name="Image 3" descr="icons/branch.png"/>
          <p:cNvPicPr>
            <a:picLocks noChangeAspect="1"/>
          </p:cNvPicPr>
          <p:nvPr/>
        </p:nvPicPr>
        <p:blipFill>
          <a:blip r:embed="rId6">
            <a:alphaModFix amt="55000"/>
          </a:blip>
          <a:stretch>
            <a:fillRect/>
          </a:stretch>
        </p:blipFill>
        <p:spPr>
          <a:xfrm>
            <a:off x="10972800" y="4983480"/>
            <a:ext cx="457200" cy="457200"/>
          </a:xfrm>
          <a:prstGeom prst="rect">
            <a:avLst/>
          </a:prstGeom>
        </p:spPr>
      </p:pic>
      <p:sp>
        <p:nvSpPr>
          <p:cNvPr id="26" name="Text 20"/>
          <p:cNvSpPr/>
          <p:nvPr/>
        </p:nvSpPr>
        <p:spPr>
          <a:xfrm>
            <a:off x="502920" y="6510528"/>
            <a:ext cx="8686800" cy="27432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Normalization: BCNF, 4NF &amp; 5NF  |  Database Management Systems  |  K.R. Mangalam University</a:t>
            </a:r>
            <a:endParaRPr lang="en-US" sz="900" dirty="0"/>
          </a:p>
        </p:txBody>
      </p:sp>
      <p:sp>
        <p:nvSpPr>
          <p:cNvPr id="27" name="Text 21"/>
          <p:cNvSpPr/>
          <p:nvPr/>
        </p:nvSpPr>
        <p:spPr>
          <a:xfrm>
            <a:off x="11292840" y="6510528"/>
            <a:ext cx="411480"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Summary / Takeaways</a:t>
            </a:r>
            <a:endParaRPr lang="en-US" sz="3600" dirty="0"/>
          </a:p>
        </p:txBody>
      </p:sp>
      <p:sp>
        <p:nvSpPr>
          <p:cNvPr id="3" name="Shape 1"/>
          <p:cNvSpPr/>
          <p:nvPr/>
        </p:nvSpPr>
        <p:spPr>
          <a:xfrm>
            <a:off x="841248" y="1783080"/>
            <a:ext cx="10515600" cy="768096"/>
          </a:xfrm>
          <a:prstGeom prst="roundRect">
            <a:avLst>
              <a:gd name="adj" fmla="val 7143"/>
            </a:avLst>
          </a:prstGeom>
          <a:solidFill>
            <a:srgbClr val="FFFFFF"/>
          </a:solidFill>
          <a:ln w="12700">
            <a:solidFill>
              <a:srgbClr val="D2DCE6"/>
            </a:solidFill>
            <a:prstDash val="solid"/>
          </a:ln>
        </p:spPr>
      </p:sp>
      <p:sp>
        <p:nvSpPr>
          <p:cNvPr id="4" name="Shape 2"/>
          <p:cNvSpPr/>
          <p:nvPr/>
        </p:nvSpPr>
        <p:spPr>
          <a:xfrm>
            <a:off x="841248" y="1783080"/>
            <a:ext cx="91440" cy="768096"/>
          </a:xfrm>
          <a:prstGeom prst="rect">
            <a:avLst/>
          </a:prstGeom>
          <a:solidFill>
            <a:srgbClr val="156082"/>
          </a:solidFill>
          <a:ln w="12700">
            <a:solidFill>
              <a:srgbClr val="333333"/>
            </a:solidFill>
            <a:prstDash val="solid"/>
          </a:ln>
        </p:spPr>
      </p:sp>
      <p:sp>
        <p:nvSpPr>
          <p:cNvPr id="5" name="Text 3"/>
          <p:cNvSpPr/>
          <p:nvPr/>
        </p:nvSpPr>
        <p:spPr>
          <a:xfrm>
            <a:off x="1161288" y="1783080"/>
            <a:ext cx="3931920" cy="768096"/>
          </a:xfrm>
          <a:prstGeom prst="rect">
            <a:avLst/>
          </a:prstGeom>
          <a:noFill/>
          <a:ln/>
        </p:spPr>
        <p:txBody>
          <a:bodyPr wrap="square" lIns="0" tIns="0" rIns="0" bIns="0" rtlCol="0" anchor="ctr"/>
          <a:lstStyle/>
          <a:p>
            <a:pPr marL="0" indent="0">
              <a:buNone/>
            </a:pPr>
            <a:r>
              <a:rPr lang="en-US" sz="2100" b="1" dirty="0">
                <a:solidFill>
                  <a:srgbClr val="156082"/>
                </a:solidFill>
                <a:latin typeface="Times New Roman" pitchFamily="34" charset="0"/>
                <a:ea typeface="Times New Roman" pitchFamily="34" charset="-122"/>
                <a:cs typeface="Times New Roman" pitchFamily="34" charset="-120"/>
              </a:rPr>
              <a:t>3NF is not the end</a:t>
            </a:r>
            <a:endParaRPr lang="en-US" sz="2100" dirty="0"/>
          </a:p>
        </p:txBody>
      </p:sp>
      <p:sp>
        <p:nvSpPr>
          <p:cNvPr id="6" name="Text 4"/>
          <p:cNvSpPr/>
          <p:nvPr/>
        </p:nvSpPr>
        <p:spPr>
          <a:xfrm>
            <a:off x="5212080" y="1783080"/>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A determinant can still fail to be a key</a:t>
            </a:r>
            <a:endParaRPr lang="en-US" sz="1900" dirty="0"/>
          </a:p>
        </p:txBody>
      </p:sp>
      <p:sp>
        <p:nvSpPr>
          <p:cNvPr id="7" name="Shape 5"/>
          <p:cNvSpPr/>
          <p:nvPr/>
        </p:nvSpPr>
        <p:spPr>
          <a:xfrm>
            <a:off x="841248" y="2642616"/>
            <a:ext cx="10515600" cy="768096"/>
          </a:xfrm>
          <a:prstGeom prst="roundRect">
            <a:avLst>
              <a:gd name="adj" fmla="val 7143"/>
            </a:avLst>
          </a:prstGeom>
          <a:solidFill>
            <a:srgbClr val="FFFFFF"/>
          </a:solidFill>
          <a:ln w="12700">
            <a:solidFill>
              <a:srgbClr val="D2DCE6"/>
            </a:solidFill>
            <a:prstDash val="solid"/>
          </a:ln>
        </p:spPr>
      </p:sp>
      <p:sp>
        <p:nvSpPr>
          <p:cNvPr id="8" name="Shape 6"/>
          <p:cNvSpPr/>
          <p:nvPr/>
        </p:nvSpPr>
        <p:spPr>
          <a:xfrm>
            <a:off x="841248" y="2642616"/>
            <a:ext cx="91440" cy="768096"/>
          </a:xfrm>
          <a:prstGeom prst="rect">
            <a:avLst/>
          </a:prstGeom>
          <a:solidFill>
            <a:srgbClr val="A02B93"/>
          </a:solidFill>
          <a:ln w="12700">
            <a:solidFill>
              <a:srgbClr val="333333"/>
            </a:solidFill>
            <a:prstDash val="solid"/>
          </a:ln>
        </p:spPr>
      </p:sp>
      <p:sp>
        <p:nvSpPr>
          <p:cNvPr id="9" name="Text 7"/>
          <p:cNvSpPr/>
          <p:nvPr/>
        </p:nvSpPr>
        <p:spPr>
          <a:xfrm>
            <a:off x="1161288" y="2642616"/>
            <a:ext cx="3931920" cy="768096"/>
          </a:xfrm>
          <a:prstGeom prst="rect">
            <a:avLst/>
          </a:prstGeom>
          <a:noFill/>
          <a:ln/>
        </p:spPr>
        <p:txBody>
          <a:bodyPr wrap="square" lIns="0" tIns="0" rIns="0" bIns="0" rtlCol="0" anchor="ctr"/>
          <a:lstStyle/>
          <a:p>
            <a:pPr marL="0" indent="0">
              <a:buNone/>
            </a:pPr>
            <a:r>
              <a:rPr lang="en-US" sz="2100" b="1" dirty="0">
                <a:solidFill>
                  <a:srgbClr val="A02B93"/>
                </a:solidFill>
                <a:latin typeface="Times New Roman" pitchFamily="34" charset="0"/>
                <a:ea typeface="Times New Roman" pitchFamily="34" charset="-122"/>
                <a:cs typeface="Times New Roman" pitchFamily="34" charset="-120"/>
              </a:rPr>
              <a:t>BCNF</a:t>
            </a:r>
            <a:endParaRPr lang="en-US" sz="2100" dirty="0"/>
          </a:p>
        </p:txBody>
      </p:sp>
      <p:sp>
        <p:nvSpPr>
          <p:cNvPr id="10" name="Text 8"/>
          <p:cNvSpPr/>
          <p:nvPr/>
        </p:nvSpPr>
        <p:spPr>
          <a:xfrm>
            <a:off x="5212080" y="2642616"/>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Every determinant must be a superkey</a:t>
            </a:r>
            <a:endParaRPr lang="en-US" sz="1900" dirty="0"/>
          </a:p>
        </p:txBody>
      </p:sp>
      <p:sp>
        <p:nvSpPr>
          <p:cNvPr id="11" name="Shape 9"/>
          <p:cNvSpPr/>
          <p:nvPr/>
        </p:nvSpPr>
        <p:spPr>
          <a:xfrm>
            <a:off x="841248" y="3502152"/>
            <a:ext cx="10515600" cy="768096"/>
          </a:xfrm>
          <a:prstGeom prst="roundRect">
            <a:avLst>
              <a:gd name="adj" fmla="val 7143"/>
            </a:avLst>
          </a:prstGeom>
          <a:solidFill>
            <a:srgbClr val="FFFFFF"/>
          </a:solidFill>
          <a:ln w="12700">
            <a:solidFill>
              <a:srgbClr val="D2DCE6"/>
            </a:solidFill>
            <a:prstDash val="solid"/>
          </a:ln>
        </p:spPr>
      </p:sp>
      <p:sp>
        <p:nvSpPr>
          <p:cNvPr id="12" name="Shape 10"/>
          <p:cNvSpPr/>
          <p:nvPr/>
        </p:nvSpPr>
        <p:spPr>
          <a:xfrm>
            <a:off x="841248" y="3502152"/>
            <a:ext cx="91440" cy="768096"/>
          </a:xfrm>
          <a:prstGeom prst="rect">
            <a:avLst/>
          </a:prstGeom>
          <a:solidFill>
            <a:srgbClr val="156082"/>
          </a:solidFill>
          <a:ln w="12700">
            <a:solidFill>
              <a:srgbClr val="333333"/>
            </a:solidFill>
            <a:prstDash val="solid"/>
          </a:ln>
        </p:spPr>
      </p:sp>
      <p:sp>
        <p:nvSpPr>
          <p:cNvPr id="13" name="Text 11"/>
          <p:cNvSpPr/>
          <p:nvPr/>
        </p:nvSpPr>
        <p:spPr>
          <a:xfrm>
            <a:off x="1161288" y="3502152"/>
            <a:ext cx="3931920" cy="768096"/>
          </a:xfrm>
          <a:prstGeom prst="rect">
            <a:avLst/>
          </a:prstGeom>
          <a:noFill/>
          <a:ln/>
        </p:spPr>
        <p:txBody>
          <a:bodyPr wrap="square" lIns="0" tIns="0" rIns="0" bIns="0" rtlCol="0" anchor="ctr"/>
          <a:lstStyle/>
          <a:p>
            <a:pPr marL="0" indent="0">
              <a:buNone/>
            </a:pPr>
            <a:r>
              <a:rPr lang="en-US" sz="2100" b="1" dirty="0">
                <a:solidFill>
                  <a:srgbClr val="156082"/>
                </a:solidFill>
                <a:latin typeface="Times New Roman" pitchFamily="34" charset="0"/>
                <a:ea typeface="Times New Roman" pitchFamily="34" charset="-122"/>
                <a:cs typeface="Times New Roman" pitchFamily="34" charset="-120"/>
              </a:rPr>
              <a:t>4NF</a:t>
            </a:r>
            <a:endParaRPr lang="en-US" sz="2100" dirty="0"/>
          </a:p>
        </p:txBody>
      </p:sp>
      <p:sp>
        <p:nvSpPr>
          <p:cNvPr id="14" name="Text 12"/>
          <p:cNvSpPr/>
          <p:nvPr/>
        </p:nvSpPr>
        <p:spPr>
          <a:xfrm>
            <a:off x="5212080" y="3502152"/>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Independent lists belong in separate tables</a:t>
            </a:r>
            <a:endParaRPr lang="en-US" sz="1900" dirty="0"/>
          </a:p>
        </p:txBody>
      </p:sp>
      <p:sp>
        <p:nvSpPr>
          <p:cNvPr id="15" name="Shape 13"/>
          <p:cNvSpPr/>
          <p:nvPr/>
        </p:nvSpPr>
        <p:spPr>
          <a:xfrm>
            <a:off x="841248" y="4361688"/>
            <a:ext cx="10515600" cy="768096"/>
          </a:xfrm>
          <a:prstGeom prst="roundRect">
            <a:avLst>
              <a:gd name="adj" fmla="val 7143"/>
            </a:avLst>
          </a:prstGeom>
          <a:solidFill>
            <a:srgbClr val="FFFFFF"/>
          </a:solidFill>
          <a:ln w="12700">
            <a:solidFill>
              <a:srgbClr val="D2DCE6"/>
            </a:solidFill>
            <a:prstDash val="solid"/>
          </a:ln>
        </p:spPr>
      </p:sp>
      <p:sp>
        <p:nvSpPr>
          <p:cNvPr id="16" name="Shape 14"/>
          <p:cNvSpPr/>
          <p:nvPr/>
        </p:nvSpPr>
        <p:spPr>
          <a:xfrm>
            <a:off x="841248" y="4361688"/>
            <a:ext cx="91440" cy="768096"/>
          </a:xfrm>
          <a:prstGeom prst="rect">
            <a:avLst/>
          </a:prstGeom>
          <a:solidFill>
            <a:srgbClr val="E97132"/>
          </a:solidFill>
          <a:ln w="12700">
            <a:solidFill>
              <a:srgbClr val="333333"/>
            </a:solidFill>
            <a:prstDash val="solid"/>
          </a:ln>
        </p:spPr>
      </p:sp>
      <p:sp>
        <p:nvSpPr>
          <p:cNvPr id="17" name="Text 15"/>
          <p:cNvSpPr/>
          <p:nvPr/>
        </p:nvSpPr>
        <p:spPr>
          <a:xfrm>
            <a:off x="1161288" y="4361688"/>
            <a:ext cx="3931920" cy="768096"/>
          </a:xfrm>
          <a:prstGeom prst="rect">
            <a:avLst/>
          </a:prstGeom>
          <a:noFill/>
          <a:ln/>
        </p:spPr>
        <p:txBody>
          <a:bodyPr wrap="square" lIns="0" tIns="0" rIns="0" bIns="0" rtlCol="0" anchor="ctr"/>
          <a:lstStyle/>
          <a:p>
            <a:pPr marL="0" indent="0">
              <a:buNone/>
            </a:pPr>
            <a:r>
              <a:rPr lang="en-US" sz="2100" b="1" dirty="0">
                <a:solidFill>
                  <a:srgbClr val="E97132"/>
                </a:solidFill>
                <a:latin typeface="Times New Roman" pitchFamily="34" charset="0"/>
                <a:ea typeface="Times New Roman" pitchFamily="34" charset="-122"/>
                <a:cs typeface="Times New Roman" pitchFamily="34" charset="-120"/>
              </a:rPr>
              <a:t>5NF</a:t>
            </a:r>
            <a:endParaRPr lang="en-US" sz="2100" dirty="0"/>
          </a:p>
        </p:txBody>
      </p:sp>
      <p:sp>
        <p:nvSpPr>
          <p:cNvPr id="18" name="Text 16"/>
          <p:cNvSpPr/>
          <p:nvPr/>
        </p:nvSpPr>
        <p:spPr>
          <a:xfrm>
            <a:off x="5212080" y="4361688"/>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Split a triple only if the rule is pairwise</a:t>
            </a:r>
            <a:endParaRPr lang="en-US" sz="1900" dirty="0"/>
          </a:p>
        </p:txBody>
      </p:sp>
      <p:sp>
        <p:nvSpPr>
          <p:cNvPr id="19" name="Shape 17"/>
          <p:cNvSpPr/>
          <p:nvPr/>
        </p:nvSpPr>
        <p:spPr>
          <a:xfrm>
            <a:off x="841248" y="5221224"/>
            <a:ext cx="10515600" cy="768096"/>
          </a:xfrm>
          <a:prstGeom prst="roundRect">
            <a:avLst>
              <a:gd name="adj" fmla="val 7143"/>
            </a:avLst>
          </a:prstGeom>
          <a:solidFill>
            <a:srgbClr val="FFFFFF"/>
          </a:solidFill>
          <a:ln w="12700">
            <a:solidFill>
              <a:srgbClr val="D2DCE6"/>
            </a:solidFill>
            <a:prstDash val="solid"/>
          </a:ln>
        </p:spPr>
      </p:sp>
      <p:sp>
        <p:nvSpPr>
          <p:cNvPr id="20" name="Shape 18"/>
          <p:cNvSpPr/>
          <p:nvPr/>
        </p:nvSpPr>
        <p:spPr>
          <a:xfrm>
            <a:off x="841248" y="5221224"/>
            <a:ext cx="91440" cy="768096"/>
          </a:xfrm>
          <a:prstGeom prst="rect">
            <a:avLst/>
          </a:prstGeom>
          <a:solidFill>
            <a:srgbClr val="196B24"/>
          </a:solidFill>
          <a:ln w="12700">
            <a:solidFill>
              <a:srgbClr val="333333"/>
            </a:solidFill>
            <a:prstDash val="solid"/>
          </a:ln>
        </p:spPr>
      </p:sp>
      <p:sp>
        <p:nvSpPr>
          <p:cNvPr id="21" name="Text 19"/>
          <p:cNvSpPr/>
          <p:nvPr/>
        </p:nvSpPr>
        <p:spPr>
          <a:xfrm>
            <a:off x="1161288" y="5221224"/>
            <a:ext cx="3931920" cy="768096"/>
          </a:xfrm>
          <a:prstGeom prst="rect">
            <a:avLst/>
          </a:prstGeom>
          <a:noFill/>
          <a:ln/>
        </p:spPr>
        <p:txBody>
          <a:bodyPr wrap="square" lIns="0" tIns="0" rIns="0" bIns="0" rtlCol="0" anchor="ctr"/>
          <a:lstStyle/>
          <a:p>
            <a:pPr marL="0" indent="0">
              <a:buNone/>
            </a:pPr>
            <a:r>
              <a:rPr lang="en-US" sz="2100" b="1" dirty="0">
                <a:solidFill>
                  <a:srgbClr val="196B24"/>
                </a:solidFill>
                <a:latin typeface="Times New Roman" pitchFamily="34" charset="0"/>
                <a:ea typeface="Times New Roman" pitchFamily="34" charset="-122"/>
                <a:cs typeface="Times New Roman" pitchFamily="34" charset="-120"/>
              </a:rPr>
              <a:t>Always verify</a:t>
            </a:r>
            <a:endParaRPr lang="en-US" sz="2100" dirty="0"/>
          </a:p>
        </p:txBody>
      </p:sp>
      <p:sp>
        <p:nvSpPr>
          <p:cNvPr id="22" name="Text 20"/>
          <p:cNvSpPr/>
          <p:nvPr/>
        </p:nvSpPr>
        <p:spPr>
          <a:xfrm>
            <a:off x="5212080" y="5221224"/>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Lossless join, and no invented rows</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Exit Ticket</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Before you leave…</a:t>
            </a:r>
            <a:endParaRPr lang="en-US" sz="2400" dirty="0"/>
          </a:p>
        </p:txBody>
      </p:sp>
      <p:sp>
        <p:nvSpPr>
          <p:cNvPr id="4" name="Shape 2"/>
          <p:cNvSpPr/>
          <p:nvPr/>
        </p:nvSpPr>
        <p:spPr>
          <a:xfrm>
            <a:off x="841248" y="2331720"/>
            <a:ext cx="10515600" cy="1051560"/>
          </a:xfrm>
          <a:prstGeom prst="roundRect">
            <a:avLst>
              <a:gd name="adj" fmla="val 5217"/>
            </a:avLst>
          </a:prstGeom>
          <a:solidFill>
            <a:srgbClr val="F2F6FA"/>
          </a:solidFill>
          <a:ln w="12700">
            <a:solidFill>
              <a:srgbClr val="F2F6FA"/>
            </a:solidFill>
            <a:prstDash val="solid"/>
          </a:ln>
        </p:spPr>
      </p:sp>
      <p:sp>
        <p:nvSpPr>
          <p:cNvPr id="5" name="Shape 3"/>
          <p:cNvSpPr/>
          <p:nvPr/>
        </p:nvSpPr>
        <p:spPr>
          <a:xfrm>
            <a:off x="1115568" y="2560320"/>
            <a:ext cx="603504" cy="603504"/>
          </a:xfrm>
          <a:prstGeom prst="roundRect">
            <a:avLst>
              <a:gd name="adj" fmla="val 15152"/>
            </a:avLst>
          </a:prstGeom>
          <a:solidFill>
            <a:srgbClr val="156082"/>
          </a:solidFill>
          <a:ln w="12700">
            <a:solidFill>
              <a:srgbClr val="333333"/>
            </a:solidFill>
            <a:prstDash val="solid"/>
          </a:ln>
        </p:spPr>
      </p:sp>
      <p:sp>
        <p:nvSpPr>
          <p:cNvPr id="6" name="Text 4"/>
          <p:cNvSpPr/>
          <p:nvPr/>
        </p:nvSpPr>
        <p:spPr>
          <a:xfrm>
            <a:off x="1115568" y="256032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938528" y="2331720"/>
            <a:ext cx="8961120" cy="1051560"/>
          </a:xfrm>
          <a:prstGeom prst="rect">
            <a:avLst/>
          </a:prstGeom>
          <a:noFill/>
          <a:ln/>
        </p:spPr>
        <p:txBody>
          <a:bodyPr wrap="square" lIns="0" tIns="0" rIns="0" bIns="0" rtlCol="0" anchor="ctr"/>
          <a:lstStyle/>
          <a:p>
            <a:pPr marL="0" indent="0">
              <a:buNone/>
            </a:pPr>
            <a:r>
              <a:rPr lang="en-US" sz="2100" dirty="0">
                <a:solidFill>
                  <a:srgbClr val="2B2B2B"/>
                </a:solidFill>
                <a:latin typeface="Times New Roman" pitchFamily="34" charset="0"/>
                <a:ea typeface="Times New Roman" pitchFamily="34" charset="-122"/>
                <a:cs typeface="Times New Roman" pitchFamily="34" charset="-120"/>
              </a:rPr>
              <a:t>State the BCNF rule in a single sentence</a:t>
            </a:r>
            <a:endParaRPr lang="en-US" sz="2100" dirty="0"/>
          </a:p>
        </p:txBody>
      </p:sp>
      <p:sp>
        <p:nvSpPr>
          <p:cNvPr id="8" name="Shape 6"/>
          <p:cNvSpPr/>
          <p:nvPr/>
        </p:nvSpPr>
        <p:spPr>
          <a:xfrm>
            <a:off x="841248" y="3566160"/>
            <a:ext cx="10515600" cy="1051560"/>
          </a:xfrm>
          <a:prstGeom prst="roundRect">
            <a:avLst>
              <a:gd name="adj" fmla="val 5217"/>
            </a:avLst>
          </a:prstGeom>
          <a:solidFill>
            <a:srgbClr val="F2F6FA"/>
          </a:solidFill>
          <a:ln w="12700">
            <a:solidFill>
              <a:srgbClr val="F2F6FA"/>
            </a:solidFill>
            <a:prstDash val="solid"/>
          </a:ln>
        </p:spPr>
      </p:sp>
      <p:sp>
        <p:nvSpPr>
          <p:cNvPr id="9" name="Shape 7"/>
          <p:cNvSpPr/>
          <p:nvPr/>
        </p:nvSpPr>
        <p:spPr>
          <a:xfrm>
            <a:off x="1115568" y="3794760"/>
            <a:ext cx="603504" cy="603504"/>
          </a:xfrm>
          <a:prstGeom prst="roundRect">
            <a:avLst>
              <a:gd name="adj" fmla="val 15152"/>
            </a:avLst>
          </a:prstGeom>
          <a:solidFill>
            <a:srgbClr val="E97132"/>
          </a:solidFill>
          <a:ln w="12700">
            <a:solidFill>
              <a:srgbClr val="333333"/>
            </a:solidFill>
            <a:prstDash val="solid"/>
          </a:ln>
        </p:spPr>
      </p:sp>
      <p:sp>
        <p:nvSpPr>
          <p:cNvPr id="10" name="Text 8"/>
          <p:cNvSpPr/>
          <p:nvPr/>
        </p:nvSpPr>
        <p:spPr>
          <a:xfrm>
            <a:off x="1115568" y="379476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1" name="Text 9"/>
          <p:cNvSpPr/>
          <p:nvPr/>
        </p:nvSpPr>
        <p:spPr>
          <a:xfrm>
            <a:off x="1938528" y="3566160"/>
            <a:ext cx="8961120" cy="1051560"/>
          </a:xfrm>
          <a:prstGeom prst="rect">
            <a:avLst/>
          </a:prstGeom>
          <a:noFill/>
          <a:ln/>
        </p:spPr>
        <p:txBody>
          <a:bodyPr wrap="square" lIns="0" tIns="0" rIns="0" bIns="0" rtlCol="0" anchor="ctr"/>
          <a:lstStyle/>
          <a:p>
            <a:pPr marL="0" indent="0">
              <a:buNone/>
            </a:pPr>
            <a:r>
              <a:rPr lang="en-US" sz="2100" dirty="0">
                <a:solidFill>
                  <a:srgbClr val="2B2B2B"/>
                </a:solidFill>
                <a:latin typeface="Times New Roman" pitchFamily="34" charset="0"/>
                <a:ea typeface="Times New Roman" pitchFamily="34" charset="-122"/>
                <a:cs typeface="Times New Roman" pitchFamily="34" charset="-120"/>
              </a:rPr>
              <a:t>Give one signal that screams “4NF issue”</a:t>
            </a:r>
            <a:endParaRPr lang="en-US" sz="2100" dirty="0"/>
          </a:p>
        </p:txBody>
      </p:sp>
      <p:sp>
        <p:nvSpPr>
          <p:cNvPr id="12" name="Shape 10"/>
          <p:cNvSpPr/>
          <p:nvPr/>
        </p:nvSpPr>
        <p:spPr>
          <a:xfrm>
            <a:off x="841248" y="5029200"/>
            <a:ext cx="10515600" cy="914400"/>
          </a:xfrm>
          <a:prstGeom prst="roundRect">
            <a:avLst>
              <a:gd name="adj" fmla="val 6000"/>
            </a:avLst>
          </a:prstGeom>
          <a:solidFill>
            <a:srgbClr val="FFFFFF"/>
          </a:solidFill>
          <a:ln w="12700">
            <a:solidFill>
              <a:srgbClr val="D2DCE6"/>
            </a:solidFill>
            <a:prstDash val="solid"/>
          </a:ln>
        </p:spPr>
      </p:sp>
      <p:sp>
        <p:nvSpPr>
          <p:cNvPr id="13" name="Shape 11"/>
          <p:cNvSpPr/>
          <p:nvPr/>
        </p:nvSpPr>
        <p:spPr>
          <a:xfrm>
            <a:off x="841248" y="5029200"/>
            <a:ext cx="91440" cy="914400"/>
          </a:xfrm>
          <a:prstGeom prst="rect">
            <a:avLst/>
          </a:prstGeom>
          <a:solidFill>
            <a:srgbClr val="196B24"/>
          </a:solidFill>
          <a:ln w="12700">
            <a:solidFill>
              <a:srgbClr val="333333"/>
            </a:solidFill>
            <a:prstDash val="solid"/>
          </a:ln>
        </p:spPr>
      </p:sp>
      <p:sp>
        <p:nvSpPr>
          <p:cNvPr id="14" name="Text 12"/>
          <p:cNvSpPr/>
          <p:nvPr/>
        </p:nvSpPr>
        <p:spPr>
          <a:xfrm>
            <a:off x="1161288" y="5029200"/>
            <a:ext cx="9875520" cy="91440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Next: Session 12 — Problem Solving on Normalization</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References — Textbooks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Latest editions:</a:t>
            </a:r>
            <a:endParaRPr lang="en-US" sz="2400" dirty="0"/>
          </a:p>
        </p:txBody>
      </p:sp>
      <p:sp>
        <p:nvSpPr>
          <p:cNvPr id="4" name="Shape 2"/>
          <p:cNvSpPr/>
          <p:nvPr/>
        </p:nvSpPr>
        <p:spPr>
          <a:xfrm>
            <a:off x="841248" y="2194560"/>
            <a:ext cx="10515600" cy="1188720"/>
          </a:xfrm>
          <a:prstGeom prst="roundRect">
            <a:avLst>
              <a:gd name="adj" fmla="val 4615"/>
            </a:avLst>
          </a:prstGeom>
          <a:solidFill>
            <a:srgbClr val="FFFFFF"/>
          </a:solidFill>
          <a:ln w="12700">
            <a:solidFill>
              <a:srgbClr val="D2DCE6"/>
            </a:solidFill>
            <a:prstDash val="solid"/>
          </a:ln>
        </p:spPr>
      </p:sp>
      <p:sp>
        <p:nvSpPr>
          <p:cNvPr id="5" name="Shape 3"/>
          <p:cNvSpPr/>
          <p:nvPr/>
        </p:nvSpPr>
        <p:spPr>
          <a:xfrm>
            <a:off x="841248" y="2194560"/>
            <a:ext cx="91440" cy="1188720"/>
          </a:xfrm>
          <a:prstGeom prst="rect">
            <a:avLst/>
          </a:prstGeom>
          <a:solidFill>
            <a:srgbClr val="156082"/>
          </a:solidFill>
          <a:ln w="12700">
            <a:solidFill>
              <a:srgbClr val="333333"/>
            </a:solidFill>
            <a:prstDash val="solid"/>
          </a:ln>
        </p:spPr>
      </p:sp>
      <p:sp>
        <p:nvSpPr>
          <p:cNvPr id="6" name="Shape 4"/>
          <p:cNvSpPr/>
          <p:nvPr/>
        </p:nvSpPr>
        <p:spPr>
          <a:xfrm>
            <a:off x="1115568" y="2487168"/>
            <a:ext cx="603504" cy="603504"/>
          </a:xfrm>
          <a:prstGeom prst="roundRect">
            <a:avLst>
              <a:gd name="adj" fmla="val 15152"/>
            </a:avLst>
          </a:prstGeom>
          <a:solidFill>
            <a:srgbClr val="156082"/>
          </a:solidFill>
          <a:ln w="12700">
            <a:solidFill>
              <a:srgbClr val="333333"/>
            </a:solidFill>
            <a:prstDash val="solid"/>
          </a:ln>
        </p:spPr>
      </p:sp>
      <p:sp>
        <p:nvSpPr>
          <p:cNvPr id="7" name="Text 5"/>
          <p:cNvSpPr/>
          <p:nvPr/>
        </p:nvSpPr>
        <p:spPr>
          <a:xfrm>
            <a:off x="1115568" y="2487168"/>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8" name="Text 6"/>
          <p:cNvSpPr/>
          <p:nvPr/>
        </p:nvSpPr>
        <p:spPr>
          <a:xfrm>
            <a:off x="1874520" y="2322576"/>
            <a:ext cx="9326880" cy="384048"/>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Database System Concepts</a:t>
            </a:r>
            <a:endParaRPr lang="en-US" sz="2100" dirty="0"/>
          </a:p>
        </p:txBody>
      </p:sp>
      <p:sp>
        <p:nvSpPr>
          <p:cNvPr id="9" name="Text 7"/>
          <p:cNvSpPr/>
          <p:nvPr/>
        </p:nvSpPr>
        <p:spPr>
          <a:xfrm>
            <a:off x="1874520" y="2688336"/>
            <a:ext cx="9326880" cy="329184"/>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Silberschatz, Korth &amp; Sudarshan — 7th Edition, McGraw-Hill, 2019</a:t>
            </a:r>
            <a:endParaRPr lang="en-US" sz="1700" dirty="0"/>
          </a:p>
        </p:txBody>
      </p:sp>
      <p:sp>
        <p:nvSpPr>
          <p:cNvPr id="10" name="Text 8">
            <a:hlinkClick r:id="rId3"/>
          </p:cNvPr>
          <p:cNvSpPr/>
          <p:nvPr/>
        </p:nvSpPr>
        <p:spPr>
          <a:xfrm>
            <a:off x="1874520" y="3017520"/>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3">
                  <a:extLst>
                    <a:ext uri="{A12FA001-AC4F-418D-AE19-62706E023703}">
                      <ahyp:hlinkClr xmlns:ahyp="http://schemas.microsoft.com/office/drawing/2018/hyperlinkcolor" val="tx"/>
                    </a:ext>
                  </a:extLst>
                </a:hlinkClick>
              </a:rPr>
              <a:t>https://www.db-book.com</a:t>
            </a:r>
            <a:endParaRPr lang="en-US" sz="1600" dirty="0"/>
          </a:p>
        </p:txBody>
      </p:sp>
      <p:sp>
        <p:nvSpPr>
          <p:cNvPr id="11" name="Shape 9"/>
          <p:cNvSpPr/>
          <p:nvPr/>
        </p:nvSpPr>
        <p:spPr>
          <a:xfrm>
            <a:off x="841248" y="3493008"/>
            <a:ext cx="10515600" cy="1188720"/>
          </a:xfrm>
          <a:prstGeom prst="roundRect">
            <a:avLst>
              <a:gd name="adj" fmla="val 4615"/>
            </a:avLst>
          </a:prstGeom>
          <a:solidFill>
            <a:srgbClr val="FFFFFF"/>
          </a:solidFill>
          <a:ln w="12700">
            <a:solidFill>
              <a:srgbClr val="D2DCE6"/>
            </a:solidFill>
            <a:prstDash val="solid"/>
          </a:ln>
        </p:spPr>
      </p:sp>
      <p:sp>
        <p:nvSpPr>
          <p:cNvPr id="12" name="Shape 10"/>
          <p:cNvSpPr/>
          <p:nvPr/>
        </p:nvSpPr>
        <p:spPr>
          <a:xfrm>
            <a:off x="841248" y="3493008"/>
            <a:ext cx="91440" cy="1188720"/>
          </a:xfrm>
          <a:prstGeom prst="rect">
            <a:avLst/>
          </a:prstGeom>
          <a:solidFill>
            <a:srgbClr val="E97132"/>
          </a:solidFill>
          <a:ln w="12700">
            <a:solidFill>
              <a:srgbClr val="333333"/>
            </a:solidFill>
            <a:prstDash val="solid"/>
          </a:ln>
        </p:spPr>
      </p:sp>
      <p:sp>
        <p:nvSpPr>
          <p:cNvPr id="13" name="Shape 11"/>
          <p:cNvSpPr/>
          <p:nvPr/>
        </p:nvSpPr>
        <p:spPr>
          <a:xfrm>
            <a:off x="1115568" y="3785616"/>
            <a:ext cx="603504" cy="603504"/>
          </a:xfrm>
          <a:prstGeom prst="roundRect">
            <a:avLst>
              <a:gd name="adj" fmla="val 15152"/>
            </a:avLst>
          </a:prstGeom>
          <a:solidFill>
            <a:srgbClr val="E97132"/>
          </a:solidFill>
          <a:ln w="12700">
            <a:solidFill>
              <a:srgbClr val="333333"/>
            </a:solidFill>
            <a:prstDash val="solid"/>
          </a:ln>
        </p:spPr>
      </p:sp>
      <p:sp>
        <p:nvSpPr>
          <p:cNvPr id="14" name="Text 12"/>
          <p:cNvSpPr/>
          <p:nvPr/>
        </p:nvSpPr>
        <p:spPr>
          <a:xfrm>
            <a:off x="1115568" y="3785616"/>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5" name="Text 13"/>
          <p:cNvSpPr/>
          <p:nvPr/>
        </p:nvSpPr>
        <p:spPr>
          <a:xfrm>
            <a:off x="1874520" y="3621024"/>
            <a:ext cx="9326880" cy="384048"/>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Fundamentals of Database Systems</a:t>
            </a:r>
            <a:endParaRPr lang="en-US" sz="2100" dirty="0"/>
          </a:p>
        </p:txBody>
      </p:sp>
      <p:sp>
        <p:nvSpPr>
          <p:cNvPr id="16" name="Text 14"/>
          <p:cNvSpPr/>
          <p:nvPr/>
        </p:nvSpPr>
        <p:spPr>
          <a:xfrm>
            <a:off x="1874520" y="3986784"/>
            <a:ext cx="9326880" cy="329184"/>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Elmasri &amp; Navathe — 7th Edition, Pearson, 2016</a:t>
            </a:r>
            <a:endParaRPr lang="en-US" sz="1700" dirty="0"/>
          </a:p>
        </p:txBody>
      </p:sp>
      <p:sp>
        <p:nvSpPr>
          <p:cNvPr id="17" name="Text 15">
            <a:hlinkClick r:id="rId4"/>
          </p:cNvPr>
          <p:cNvSpPr/>
          <p:nvPr/>
        </p:nvSpPr>
        <p:spPr>
          <a:xfrm>
            <a:off x="1874520" y="4315968"/>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4">
                  <a:extLst>
                    <a:ext uri="{A12FA001-AC4F-418D-AE19-62706E023703}">
                      <ahyp:hlinkClr xmlns:ahyp="http://schemas.microsoft.com/office/drawing/2018/hyperlinkcolor" val="tx"/>
                    </a:ext>
                  </a:extLst>
                </a:hlinkClick>
              </a:rPr>
              <a:t>pearson.com — Fundamentals of Database Systems, 7th Ed</a:t>
            </a:r>
            <a:endParaRPr lang="en-US" sz="1600" dirty="0"/>
          </a:p>
        </p:txBody>
      </p:sp>
      <p:sp>
        <p:nvSpPr>
          <p:cNvPr id="18" name="Shape 16"/>
          <p:cNvSpPr/>
          <p:nvPr/>
        </p:nvSpPr>
        <p:spPr>
          <a:xfrm>
            <a:off x="841248" y="4791456"/>
            <a:ext cx="10515600" cy="1188720"/>
          </a:xfrm>
          <a:prstGeom prst="roundRect">
            <a:avLst>
              <a:gd name="adj" fmla="val 4615"/>
            </a:avLst>
          </a:prstGeom>
          <a:solidFill>
            <a:srgbClr val="FFFFFF"/>
          </a:solidFill>
          <a:ln w="12700">
            <a:solidFill>
              <a:srgbClr val="D2DCE6"/>
            </a:solidFill>
            <a:prstDash val="solid"/>
          </a:ln>
        </p:spPr>
      </p:sp>
      <p:sp>
        <p:nvSpPr>
          <p:cNvPr id="19" name="Shape 17"/>
          <p:cNvSpPr/>
          <p:nvPr/>
        </p:nvSpPr>
        <p:spPr>
          <a:xfrm>
            <a:off x="841248" y="4791456"/>
            <a:ext cx="91440" cy="1188720"/>
          </a:xfrm>
          <a:prstGeom prst="rect">
            <a:avLst/>
          </a:prstGeom>
          <a:solidFill>
            <a:srgbClr val="196B24"/>
          </a:solidFill>
          <a:ln w="12700">
            <a:solidFill>
              <a:srgbClr val="333333"/>
            </a:solidFill>
            <a:prstDash val="solid"/>
          </a:ln>
        </p:spPr>
      </p:sp>
      <p:sp>
        <p:nvSpPr>
          <p:cNvPr id="20" name="Shape 18"/>
          <p:cNvSpPr/>
          <p:nvPr/>
        </p:nvSpPr>
        <p:spPr>
          <a:xfrm>
            <a:off x="1115568" y="5084064"/>
            <a:ext cx="603504" cy="603504"/>
          </a:xfrm>
          <a:prstGeom prst="roundRect">
            <a:avLst>
              <a:gd name="adj" fmla="val 15152"/>
            </a:avLst>
          </a:prstGeom>
          <a:solidFill>
            <a:srgbClr val="196B24"/>
          </a:solidFill>
          <a:ln w="12700">
            <a:solidFill>
              <a:srgbClr val="333333"/>
            </a:solidFill>
            <a:prstDash val="solid"/>
          </a:ln>
        </p:spPr>
      </p:sp>
      <p:sp>
        <p:nvSpPr>
          <p:cNvPr id="21" name="Text 19"/>
          <p:cNvSpPr/>
          <p:nvPr/>
        </p:nvSpPr>
        <p:spPr>
          <a:xfrm>
            <a:off x="1115568" y="5084064"/>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22" name="Text 20"/>
          <p:cNvSpPr/>
          <p:nvPr/>
        </p:nvSpPr>
        <p:spPr>
          <a:xfrm>
            <a:off x="1874520" y="4919472"/>
            <a:ext cx="9326880" cy="384048"/>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Database Management Systems</a:t>
            </a:r>
            <a:endParaRPr lang="en-US" sz="2100" dirty="0"/>
          </a:p>
        </p:txBody>
      </p:sp>
      <p:sp>
        <p:nvSpPr>
          <p:cNvPr id="23" name="Text 21"/>
          <p:cNvSpPr/>
          <p:nvPr/>
        </p:nvSpPr>
        <p:spPr>
          <a:xfrm>
            <a:off x="1874520" y="5285232"/>
            <a:ext cx="9326880" cy="329184"/>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Ramakrishnan &amp; Gehrke — 3rd Edition, McGraw-Hill, 2003</a:t>
            </a:r>
            <a:endParaRPr lang="en-US" sz="1700" dirty="0"/>
          </a:p>
        </p:txBody>
      </p:sp>
      <p:sp>
        <p:nvSpPr>
          <p:cNvPr id="24" name="Text 22">
            <a:hlinkClick r:id="rId5"/>
          </p:cNvPr>
          <p:cNvSpPr/>
          <p:nvPr/>
        </p:nvSpPr>
        <p:spPr>
          <a:xfrm>
            <a:off x="1874520" y="5614416"/>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5">
                  <a:extLst>
                    <a:ext uri="{A12FA001-AC4F-418D-AE19-62706E023703}">
                      <ahyp:hlinkClr xmlns:ahyp="http://schemas.microsoft.com/office/drawing/2018/hyperlinkcolor" val="tx"/>
                    </a:ext>
                  </a:extLst>
                </a:hlinkClick>
              </a:rPr>
              <a:t>https://pages.cs.wisc.edu/~dbbook/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References — Further Reading</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Specialist texts and self-learning:</a:t>
            </a:r>
            <a:endParaRPr lang="en-US" sz="2400" dirty="0"/>
          </a:p>
        </p:txBody>
      </p:sp>
      <p:sp>
        <p:nvSpPr>
          <p:cNvPr id="4" name="Shape 2"/>
          <p:cNvSpPr/>
          <p:nvPr/>
        </p:nvSpPr>
        <p:spPr>
          <a:xfrm>
            <a:off x="841248" y="2194560"/>
            <a:ext cx="10515600" cy="1188720"/>
          </a:xfrm>
          <a:prstGeom prst="roundRect">
            <a:avLst>
              <a:gd name="adj" fmla="val 4615"/>
            </a:avLst>
          </a:prstGeom>
          <a:solidFill>
            <a:srgbClr val="FFFFFF"/>
          </a:solidFill>
          <a:ln w="12700">
            <a:solidFill>
              <a:srgbClr val="D2DCE6"/>
            </a:solidFill>
            <a:prstDash val="solid"/>
          </a:ln>
        </p:spPr>
      </p:sp>
      <p:sp>
        <p:nvSpPr>
          <p:cNvPr id="5" name="Shape 3"/>
          <p:cNvSpPr/>
          <p:nvPr/>
        </p:nvSpPr>
        <p:spPr>
          <a:xfrm>
            <a:off x="841248" y="2194560"/>
            <a:ext cx="91440" cy="1188720"/>
          </a:xfrm>
          <a:prstGeom prst="rect">
            <a:avLst/>
          </a:prstGeom>
          <a:solidFill>
            <a:srgbClr val="A02B93"/>
          </a:solidFill>
          <a:ln w="12700">
            <a:solidFill>
              <a:srgbClr val="333333"/>
            </a:solidFill>
            <a:prstDash val="solid"/>
          </a:ln>
        </p:spPr>
      </p:sp>
      <p:sp>
        <p:nvSpPr>
          <p:cNvPr id="6" name="Shape 4"/>
          <p:cNvSpPr/>
          <p:nvPr/>
        </p:nvSpPr>
        <p:spPr>
          <a:xfrm>
            <a:off x="1115568" y="2487168"/>
            <a:ext cx="603504" cy="603504"/>
          </a:xfrm>
          <a:prstGeom prst="roundRect">
            <a:avLst>
              <a:gd name="adj" fmla="val 15152"/>
            </a:avLst>
          </a:prstGeom>
          <a:solidFill>
            <a:srgbClr val="A02B93"/>
          </a:solidFill>
          <a:ln w="12700">
            <a:solidFill>
              <a:srgbClr val="333333"/>
            </a:solidFill>
            <a:prstDash val="solid"/>
          </a:ln>
        </p:spPr>
      </p:sp>
      <p:sp>
        <p:nvSpPr>
          <p:cNvPr id="7" name="Text 5"/>
          <p:cNvSpPr/>
          <p:nvPr/>
        </p:nvSpPr>
        <p:spPr>
          <a:xfrm>
            <a:off x="1115568" y="2487168"/>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4</a:t>
            </a:r>
            <a:endParaRPr lang="en-US" sz="2100" dirty="0"/>
          </a:p>
        </p:txBody>
      </p:sp>
      <p:sp>
        <p:nvSpPr>
          <p:cNvPr id="8" name="Text 6"/>
          <p:cNvSpPr/>
          <p:nvPr/>
        </p:nvSpPr>
        <p:spPr>
          <a:xfrm>
            <a:off x="1874520" y="2286000"/>
            <a:ext cx="9326880" cy="420624"/>
          </a:xfrm>
          <a:prstGeom prst="rect">
            <a:avLst/>
          </a:prstGeom>
          <a:noFill/>
          <a:ln/>
        </p:spPr>
        <p:txBody>
          <a:bodyPr wrap="square" lIns="0" tIns="0" rIns="0" bIns="0" rtlCol="0" anchor="ctr"/>
          <a:lstStyle/>
          <a:p>
            <a:pPr marL="0" indent="0">
              <a:buNone/>
            </a:pPr>
            <a:r>
              <a:rPr lang="en-US" sz="1900" b="1" dirty="0">
                <a:solidFill>
                  <a:srgbClr val="0E2841"/>
                </a:solidFill>
                <a:latin typeface="Times New Roman" pitchFamily="34" charset="0"/>
                <a:ea typeface="Times New Roman" pitchFamily="34" charset="-122"/>
                <a:cs typeface="Times New Roman" pitchFamily="34" charset="-120"/>
              </a:rPr>
              <a:t>Database Design and Relational Theory: Normal Forms and All That Jazz</a:t>
            </a:r>
            <a:endParaRPr lang="en-US" sz="1900" dirty="0"/>
          </a:p>
        </p:txBody>
      </p:sp>
      <p:sp>
        <p:nvSpPr>
          <p:cNvPr id="9" name="Text 7"/>
          <p:cNvSpPr/>
          <p:nvPr/>
        </p:nvSpPr>
        <p:spPr>
          <a:xfrm>
            <a:off x="1874520" y="2697480"/>
            <a:ext cx="9326880" cy="310896"/>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C. J. Date — 2nd Edition, Apress, 2019</a:t>
            </a:r>
            <a:endParaRPr lang="en-US" sz="1700" dirty="0"/>
          </a:p>
        </p:txBody>
      </p:sp>
      <p:sp>
        <p:nvSpPr>
          <p:cNvPr id="10" name="Text 8">
            <a:hlinkClick r:id="rId3"/>
          </p:cNvPr>
          <p:cNvSpPr/>
          <p:nvPr/>
        </p:nvSpPr>
        <p:spPr>
          <a:xfrm>
            <a:off x="1874520" y="3017520"/>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3">
                  <a:extLst>
                    <a:ext uri="{A12FA001-AC4F-418D-AE19-62706E023703}">
                      <ahyp:hlinkClr xmlns:ahyp="http://schemas.microsoft.com/office/drawing/2018/hyperlinkcolor" val="tx"/>
                    </a:ext>
                  </a:extLst>
                </a:hlinkClick>
              </a:rPr>
              <a:t>https://link.springer.com/book/10.1007/978-1-4842-5540-7</a:t>
            </a:r>
            <a:endParaRPr lang="en-US" sz="1600" dirty="0"/>
          </a:p>
        </p:txBody>
      </p:sp>
      <p:sp>
        <p:nvSpPr>
          <p:cNvPr id="11" name="Shape 9"/>
          <p:cNvSpPr/>
          <p:nvPr/>
        </p:nvSpPr>
        <p:spPr>
          <a:xfrm>
            <a:off x="841248" y="3493008"/>
            <a:ext cx="10515600" cy="1188720"/>
          </a:xfrm>
          <a:prstGeom prst="roundRect">
            <a:avLst>
              <a:gd name="adj" fmla="val 4615"/>
            </a:avLst>
          </a:prstGeom>
          <a:solidFill>
            <a:srgbClr val="FFFFFF"/>
          </a:solidFill>
          <a:ln w="12700">
            <a:solidFill>
              <a:srgbClr val="D2DCE6"/>
            </a:solidFill>
            <a:prstDash val="solid"/>
          </a:ln>
        </p:spPr>
      </p:sp>
      <p:sp>
        <p:nvSpPr>
          <p:cNvPr id="12" name="Shape 10"/>
          <p:cNvSpPr/>
          <p:nvPr/>
        </p:nvSpPr>
        <p:spPr>
          <a:xfrm>
            <a:off x="841248" y="3493008"/>
            <a:ext cx="91440" cy="1188720"/>
          </a:xfrm>
          <a:prstGeom prst="rect">
            <a:avLst/>
          </a:prstGeom>
          <a:solidFill>
            <a:srgbClr val="156082"/>
          </a:solidFill>
          <a:ln w="12700">
            <a:solidFill>
              <a:srgbClr val="333333"/>
            </a:solidFill>
            <a:prstDash val="solid"/>
          </a:ln>
        </p:spPr>
      </p:sp>
      <p:sp>
        <p:nvSpPr>
          <p:cNvPr id="13" name="Shape 11"/>
          <p:cNvSpPr/>
          <p:nvPr/>
        </p:nvSpPr>
        <p:spPr>
          <a:xfrm>
            <a:off x="1115568" y="3785616"/>
            <a:ext cx="603504" cy="603504"/>
          </a:xfrm>
          <a:prstGeom prst="roundRect">
            <a:avLst>
              <a:gd name="adj" fmla="val 15152"/>
            </a:avLst>
          </a:prstGeom>
          <a:solidFill>
            <a:srgbClr val="156082"/>
          </a:solidFill>
          <a:ln w="12700">
            <a:solidFill>
              <a:srgbClr val="333333"/>
            </a:solidFill>
            <a:prstDash val="solid"/>
          </a:ln>
        </p:spPr>
      </p:sp>
      <p:sp>
        <p:nvSpPr>
          <p:cNvPr id="14" name="Text 12"/>
          <p:cNvSpPr/>
          <p:nvPr/>
        </p:nvSpPr>
        <p:spPr>
          <a:xfrm>
            <a:off x="1115568" y="3785616"/>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5</a:t>
            </a:r>
            <a:endParaRPr lang="en-US" sz="2100" dirty="0"/>
          </a:p>
        </p:txBody>
      </p:sp>
      <p:sp>
        <p:nvSpPr>
          <p:cNvPr id="15" name="Text 13"/>
          <p:cNvSpPr/>
          <p:nvPr/>
        </p:nvSpPr>
        <p:spPr>
          <a:xfrm>
            <a:off x="1874520" y="3584448"/>
            <a:ext cx="9326880" cy="420624"/>
          </a:xfrm>
          <a:prstGeom prst="rect">
            <a:avLst/>
          </a:prstGeom>
          <a:noFill/>
          <a:ln/>
        </p:spPr>
        <p:txBody>
          <a:bodyPr wrap="square" lIns="0" tIns="0" rIns="0" bIns="0" rtlCol="0" anchor="ctr"/>
          <a:lstStyle/>
          <a:p>
            <a:pPr marL="0" indent="0">
              <a:buNone/>
            </a:pPr>
            <a:r>
              <a:rPr lang="en-US" sz="1900" b="1" dirty="0">
                <a:solidFill>
                  <a:srgbClr val="0E2841"/>
                </a:solidFill>
                <a:latin typeface="Times New Roman" pitchFamily="34" charset="0"/>
                <a:ea typeface="Times New Roman" pitchFamily="34" charset="-122"/>
                <a:cs typeface="Times New Roman" pitchFamily="34" charset="-120"/>
              </a:rPr>
              <a:t>Database Systems: The Complete Book</a:t>
            </a:r>
            <a:endParaRPr lang="en-US" sz="1900" dirty="0"/>
          </a:p>
        </p:txBody>
      </p:sp>
      <p:sp>
        <p:nvSpPr>
          <p:cNvPr id="16" name="Text 14"/>
          <p:cNvSpPr/>
          <p:nvPr/>
        </p:nvSpPr>
        <p:spPr>
          <a:xfrm>
            <a:off x="1874520" y="3995928"/>
            <a:ext cx="9326880" cy="310896"/>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Garcia-Molina, Ullman &amp; Widom — 2nd Edition, Pearson, 2008</a:t>
            </a:r>
            <a:endParaRPr lang="en-US" sz="1700" dirty="0"/>
          </a:p>
        </p:txBody>
      </p:sp>
      <p:sp>
        <p:nvSpPr>
          <p:cNvPr id="17" name="Text 15">
            <a:hlinkClick r:id="rId4"/>
          </p:cNvPr>
          <p:cNvSpPr/>
          <p:nvPr/>
        </p:nvSpPr>
        <p:spPr>
          <a:xfrm>
            <a:off x="1874520" y="4315968"/>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4">
                  <a:extLst>
                    <a:ext uri="{A12FA001-AC4F-418D-AE19-62706E023703}">
                      <ahyp:hlinkClr xmlns:ahyp="http://schemas.microsoft.com/office/drawing/2018/hyperlinkcolor" val="tx"/>
                    </a:ext>
                  </a:extLst>
                </a:hlinkClick>
              </a:rPr>
              <a:t>http://infolab.stanford.edu/~ullman/dscb.html</a:t>
            </a:r>
            <a:endParaRPr lang="en-US" sz="1600" dirty="0"/>
          </a:p>
        </p:txBody>
      </p:sp>
      <p:sp>
        <p:nvSpPr>
          <p:cNvPr id="18" name="Shape 16"/>
          <p:cNvSpPr/>
          <p:nvPr/>
        </p:nvSpPr>
        <p:spPr>
          <a:xfrm>
            <a:off x="841248" y="4791456"/>
            <a:ext cx="10515600" cy="1188720"/>
          </a:xfrm>
          <a:prstGeom prst="roundRect">
            <a:avLst>
              <a:gd name="adj" fmla="val 4615"/>
            </a:avLst>
          </a:prstGeom>
          <a:solidFill>
            <a:srgbClr val="FFFFFF"/>
          </a:solidFill>
          <a:ln w="12700">
            <a:solidFill>
              <a:srgbClr val="D2DCE6"/>
            </a:solidFill>
            <a:prstDash val="solid"/>
          </a:ln>
        </p:spPr>
      </p:sp>
      <p:sp>
        <p:nvSpPr>
          <p:cNvPr id="19" name="Shape 17"/>
          <p:cNvSpPr/>
          <p:nvPr/>
        </p:nvSpPr>
        <p:spPr>
          <a:xfrm>
            <a:off x="841248" y="4791456"/>
            <a:ext cx="91440" cy="1188720"/>
          </a:xfrm>
          <a:prstGeom prst="rect">
            <a:avLst/>
          </a:prstGeom>
          <a:solidFill>
            <a:srgbClr val="E97132"/>
          </a:solidFill>
          <a:ln w="12700">
            <a:solidFill>
              <a:srgbClr val="333333"/>
            </a:solidFill>
            <a:prstDash val="solid"/>
          </a:ln>
        </p:spPr>
      </p:sp>
      <p:sp>
        <p:nvSpPr>
          <p:cNvPr id="20" name="Shape 18"/>
          <p:cNvSpPr/>
          <p:nvPr/>
        </p:nvSpPr>
        <p:spPr>
          <a:xfrm>
            <a:off x="1115568" y="5084064"/>
            <a:ext cx="603504" cy="603504"/>
          </a:xfrm>
          <a:prstGeom prst="roundRect">
            <a:avLst>
              <a:gd name="adj" fmla="val 15152"/>
            </a:avLst>
          </a:prstGeom>
          <a:solidFill>
            <a:srgbClr val="E97132"/>
          </a:solidFill>
          <a:ln w="12700">
            <a:solidFill>
              <a:srgbClr val="333333"/>
            </a:solidFill>
            <a:prstDash val="solid"/>
          </a:ln>
        </p:spPr>
      </p:sp>
      <p:sp>
        <p:nvSpPr>
          <p:cNvPr id="21" name="Text 19"/>
          <p:cNvSpPr/>
          <p:nvPr/>
        </p:nvSpPr>
        <p:spPr>
          <a:xfrm>
            <a:off x="1115568" y="5084064"/>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6</a:t>
            </a:r>
            <a:endParaRPr lang="en-US" sz="2100" dirty="0"/>
          </a:p>
        </p:txBody>
      </p:sp>
      <p:sp>
        <p:nvSpPr>
          <p:cNvPr id="22" name="Text 20"/>
          <p:cNvSpPr/>
          <p:nvPr/>
        </p:nvSpPr>
        <p:spPr>
          <a:xfrm>
            <a:off x="1874520" y="4882896"/>
            <a:ext cx="9326880" cy="420624"/>
          </a:xfrm>
          <a:prstGeom prst="rect">
            <a:avLst/>
          </a:prstGeom>
          <a:noFill/>
          <a:ln/>
        </p:spPr>
        <p:txBody>
          <a:bodyPr wrap="square" lIns="0" tIns="0" rIns="0" bIns="0" rtlCol="0" anchor="ctr"/>
          <a:lstStyle/>
          <a:p>
            <a:pPr marL="0" indent="0">
              <a:buNone/>
            </a:pPr>
            <a:r>
              <a:rPr lang="en-US" sz="1900" b="1" dirty="0">
                <a:solidFill>
                  <a:srgbClr val="0E2841"/>
                </a:solidFill>
                <a:latin typeface="Times New Roman" pitchFamily="34" charset="0"/>
                <a:ea typeface="Times New Roman" pitchFamily="34" charset="-122"/>
                <a:cs typeface="Times New Roman" pitchFamily="34" charset="-120"/>
              </a:rPr>
              <a:t>NPTEL — Database Management System</a:t>
            </a:r>
            <a:endParaRPr lang="en-US" sz="1900" dirty="0"/>
          </a:p>
        </p:txBody>
      </p:sp>
      <p:sp>
        <p:nvSpPr>
          <p:cNvPr id="23" name="Text 21"/>
          <p:cNvSpPr/>
          <p:nvPr/>
        </p:nvSpPr>
        <p:spPr>
          <a:xfrm>
            <a:off x="1874520" y="5294376"/>
            <a:ext cx="9326880" cy="310896"/>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Online course, IIT Kharagpur — free video lectures</a:t>
            </a:r>
            <a:endParaRPr lang="en-US" sz="1700" dirty="0"/>
          </a:p>
        </p:txBody>
      </p:sp>
      <p:sp>
        <p:nvSpPr>
          <p:cNvPr id="24" name="Text 22">
            <a:hlinkClick r:id="rId5"/>
          </p:cNvPr>
          <p:cNvSpPr/>
          <p:nvPr/>
        </p:nvSpPr>
        <p:spPr>
          <a:xfrm>
            <a:off x="1874520" y="5614416"/>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5">
                  <a:extLst>
                    <a:ext uri="{A12FA001-AC4F-418D-AE19-62706E023703}">
                      <ahyp:hlinkClr xmlns:ahyp="http://schemas.microsoft.com/office/drawing/2018/hyperlinkcolor" val="tx"/>
                    </a:ext>
                  </a:extLst>
                </a:hlinkClick>
              </a:rPr>
              <a:t>https://nptel.ac.in/courses/106105175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3078</Words>
  <Application>Microsoft Office PowerPoint</Application>
  <PresentationFormat>Widescreen</PresentationFormat>
  <Paragraphs>345</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Mansi Kajal-Assistant Professor SOET</cp:lastModifiedBy>
  <cp:revision>9</cp:revision>
  <dcterms:created xsi:type="dcterms:W3CDTF">2026-08-02T05:52:13Z</dcterms:created>
  <dcterms:modified xsi:type="dcterms:W3CDTF">2026-09-07T07:54:22Z</dcterms:modified>
</cp:coreProperties>
</file>