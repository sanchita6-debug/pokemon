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8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10" autoAdjust="0"/>
  </p:normalViewPr>
  <p:slideViewPr>
    <p:cSldViewPr snapToGrid="0">
      <p:cViewPr varScale="1">
        <p:scale>
          <a:sx n="79" d="100"/>
          <a:sy n="79" d="100"/>
        </p:scale>
        <p:origin x="821" y="72"/>
      </p:cViewPr>
      <p:guideLst/>
    </p:cSldViewPr>
  </p:slideViewPr>
  <p:notesTextViewPr>
    <p:cViewPr>
      <p:scale>
        <a:sx n="100" d="100"/>
        <a:sy n="100" d="100"/>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508E98-516E-8722-4E6C-986147824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9B8D797-628E-27C7-DC6E-68CA6C4A4F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E04B2D-4144-451F-9E99-CB2373F04C77}" type="datetimeFigureOut">
              <a:rPr lang="en-IN" smtClean="0"/>
              <a:t>01-08-2026</a:t>
            </a:fld>
            <a:endParaRPr lang="en-IN"/>
          </a:p>
        </p:txBody>
      </p:sp>
      <p:sp>
        <p:nvSpPr>
          <p:cNvPr id="4" name="Footer Placeholder 3">
            <a:extLst>
              <a:ext uri="{FF2B5EF4-FFF2-40B4-BE49-F238E27FC236}">
                <a16:creationId xmlns:a16="http://schemas.microsoft.com/office/drawing/2014/main" id="{39F3E6EA-D009-5AB9-FDE7-F7C5F2BAC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4B929CE-F094-D971-CFDB-7DEA7983229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E235A6-961F-4367-B296-CC463E8D49FC}" type="slidenum">
              <a:rPr lang="en-IN" smtClean="0"/>
              <a:t>‹#›</a:t>
            </a:fld>
            <a:endParaRPr lang="en-IN"/>
          </a:p>
        </p:txBody>
      </p:sp>
    </p:spTree>
    <p:extLst>
      <p:ext uri="{BB962C8B-B14F-4D97-AF65-F5344CB8AC3E}">
        <p14:creationId xmlns:p14="http://schemas.microsoft.com/office/powerpoint/2010/main" val="2205469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2B4A9-3E34-4136-B3C8-4E0E0A851C07}" type="datetimeFigureOut">
              <a:rPr lang="en-IN" smtClean="0"/>
              <a:t>01-08-2026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AF95F-2C82-4E7F-9E28-8EEEDF06760A}" type="slidenum">
              <a:rPr lang="en-IN" smtClean="0"/>
              <a:t>‹#›</a:t>
            </a:fld>
            <a:endParaRPr lang="en-IN"/>
          </a:p>
        </p:txBody>
      </p:sp>
    </p:spTree>
    <p:extLst>
      <p:ext uri="{BB962C8B-B14F-4D97-AF65-F5344CB8AC3E}">
        <p14:creationId xmlns:p14="http://schemas.microsoft.com/office/powerpoint/2010/main" val="723243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F260D-14E1-2286-7BF6-2AA0A83B5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9A506-95F3-E33F-8B6D-0111B3815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26538-15FF-3FD6-5167-916C77603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659F4A-ED0F-96CA-92F6-D41D0EFFB72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45507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to three minutes, no answers yet. Put the three-level architecture back on screen and ask the three questions. Expected: the conceptual level is where the data model lives; yes, data can be a tree — that is the hierarchical model; banks prefer tables because keys and constraints keep money arithmetic consistent. Do not resolve them fully — today's session answers all three.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map to CO1 — understanding database concepts and the models that underpin them. Bloom's Level 2 (Understand): students must explain and compare the models and justify a choice, not merely name them. Session 5 moves to Level 3 when they start drawing ER diagrams themselves.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Relational dominates, but the other three are alive: every JSON API response is hierarchical, Neo4j is the network model reborn, and every ORM is the object-oriented model. (2) IBM IMS, built in 1968, still clears core banking transactions. (3) The network model is named for the web of links between records; it has nothing to do with computer networks — a reliable exam trap.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data model answers four questions before a single table exists: what shape does the data take, how do records relate, what rules must hold, and how will we ask questions of it. Amazon, Google and Infosys settle the model first because migrating a badly shaped database at scale is far more expensive than the design time. The four classical models are four answers to the first question.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Preview slide — thirty seconds per model, no detail yet. The letter badge is a memory hook: T for tree, G for graph, O for objects, T for tables. Tell students the order is chronological: hierarchical (1960s), network (1970s), relational (1970 onward) and object-oriented (1980s). Each of the next four slides takes one model, one diagram and three rules.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Draw the tree on the board as you speak. One parent may have many children, but a child has exactly one parent — that single rule is the whole model. Navigation downward is very fast because the path is fixed. The weakness follows from the same rule: a song in two playlists needs either duplication or a pointer trick. IBM IMS was built in 1968 for the Apollo programme and still clears bank transactions today.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Asha takes DBMS and Python and joins the Coding Club; Rahul takes Python too. Trace the lines with a finger — every link is a first-class connection and no record is duplicated. This is exactly Instagram's follower graph and LinkedIn's connection graph. The classic 1970s CODASYL network model faded because it was hard to query, then returned as the graph database once query languages like Cypher matured.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Encapsulation is the headline: the fine calculation lives with the loan, not in a separate report script. Inheritance lets PostgradStudent reuse Student. The model exists because backend code at every MNC is object-oriented, so storing objects as objects removes a translation layer. In practice most companies compromise — objects in code, tables in the database, an ORM in between.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Codd's 1970 paper is the single most influential idea in the field. Point at the arrow: the RollNo in ENROLLMENT is a foreign key pointing back to the primary key in STUDENT, and that is the entire relationship — no pointers, no nesting. Asha's name is stored once no matter how many courses she takes. Stress that the JOIN happens at query time, which is why the design stays flexible.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one artefact students should copy into their notes. Read down the Structure column first — tree, graph, objects, tables — then across to the modern example. The closing line is a serviceable interview answer; make them say it aloud once. If time is short, this slide alone carries the session's core.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Ten minutes on paper, in pairs. Circulate. The tree forces a choice — students under courses or courses under students — and either way Python or a student gets written twice; that duplication is the teaching moment. The graph draws in seconds with no repetition. The tables need the third ENROLLMENT table, which is the insight most students miss. Ask two pairs to show their three drawings on the visualiser.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why the session is not a history lesson. Follow one order left to right: the Java or Python backend holds Order and Rider objects; the payment lands in a PostgreSQL table because money needs constraints; the mobile app receives nested JSON, which is a tree; and the recommendation engine walks a customer-restaurant graph. Four models, one order, ninety seconds.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alone, two in pairs, two sharing. Guide them to the single-parent rule: a follower relationship runs both ways and each user has millions of parents, so the tree either duplicates users endlessly or cannot represent the link at all. Expect someone to suggest storing a list of IDs in each node — accept it, then point out that this is precisely a graph, and that is why Instagram uses one.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FALSE — a child has exactly one parent; that restriction is what defines the hierarchical model and what the network model removes. (2) TRUE — many-to-many links without duplication is the network model's whole reason for existing. (3) FALSE — the relational model stores data only; behaviour lives in the application, which is exactly the gap the object-oriented model set out to close. Ask for hands before revealing each answer.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in three minutes and close the loop on the three opening questions: the conceptual level is where the data model lives, data absolutely can be a tree, and banks prefer tables because keys and constraints protect consistency. Next session covers the ER model and how a design becomes tables. Reading: Silberschatz chapter 1, or Elmasri and Navathe chapter 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on a slip. Question 1 checks that they can connect an abstraction to something concrete — accept any defensible answer with a reason. Question 2 surfaces what to revisit; expect the network model's comeback as a graph database and the fact that IBM IMS still runs to dominate. Read the slips before Session 5 and spend the first two minutes there on the most common gap.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Silberschatz is the prescribed text and the seventh edition's chapter 1 covers exactly today's material; the full book is free to read at db-book.com along with slides and lab material. Elmasri and Navathe is the better second opinion on data modelling. Ramakrishnan and Gehrke remains the standard systems-side reference despite its age. Date is for students who want the relational theory properly.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9423F-2007-CB14-E56B-2AAF17585FBA}"/>
              </a:ext>
            </a:extLst>
          </p:cNvPr>
          <p:cNvSpPr>
            <a:spLocks noGrp="1"/>
          </p:cNvSpPr>
          <p:nvPr>
            <p:ph type="ctrTitle" hasCustomPrompt="1"/>
          </p:nvPr>
        </p:nvSpPr>
        <p:spPr>
          <a:xfrm>
            <a:off x="1524000" y="1122363"/>
            <a:ext cx="9144000" cy="2387600"/>
          </a:xfrm>
        </p:spPr>
        <p:txBody>
          <a:bodyPr anchor="b"/>
          <a:lstStyle>
            <a:lvl1pPr algn="l">
              <a:defRPr sz="6000">
                <a:latin typeface="Arial Black" panose="020B0A04020102020204" pitchFamily="34" charset="0"/>
                <a:cs typeface="Arial" panose="020B0604020202020204" pitchFamily="34" charset="0"/>
              </a:defRPr>
            </a:lvl1pPr>
          </a:lstStyle>
          <a:p>
            <a:r>
              <a:rPr lang="en-US" dirty="0"/>
              <a:t>Click to add title</a:t>
            </a:r>
            <a:endParaRPr lang="en-IN" dirty="0"/>
          </a:p>
        </p:txBody>
      </p:sp>
      <p:sp>
        <p:nvSpPr>
          <p:cNvPr id="3" name="Subtitle 2">
            <a:extLst>
              <a:ext uri="{FF2B5EF4-FFF2-40B4-BE49-F238E27FC236}">
                <a16:creationId xmlns:a16="http://schemas.microsoft.com/office/drawing/2014/main" id="{4F96F8EF-AF60-7878-9113-E73D9E50A9E5}"/>
              </a:ext>
            </a:extLst>
          </p:cNvPr>
          <p:cNvSpPr>
            <a:spLocks noGrp="1"/>
          </p:cNvSpPr>
          <p:nvPr>
            <p:ph type="subTitle" idx="1" hasCustomPrompt="1"/>
          </p:nvPr>
        </p:nvSpPr>
        <p:spPr>
          <a:xfrm>
            <a:off x="1524000" y="3602038"/>
            <a:ext cx="9144000" cy="1930544"/>
          </a:xfrm>
        </p:spPr>
        <p:txBody>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IN" dirty="0"/>
              <a:t>Course Title</a:t>
            </a:r>
          </a:p>
          <a:p>
            <a:r>
              <a:rPr lang="en-IN" dirty="0"/>
              <a:t>Program &amp; Semester:</a:t>
            </a:r>
          </a:p>
          <a:p>
            <a:r>
              <a:rPr lang="en-IN" dirty="0"/>
              <a:t>Course Instructor:</a:t>
            </a:r>
          </a:p>
          <a:p>
            <a:r>
              <a:rPr lang="en-IN" dirty="0"/>
              <a:t>School:</a:t>
            </a:r>
          </a:p>
        </p:txBody>
      </p:sp>
      <p:sp>
        <p:nvSpPr>
          <p:cNvPr id="4" name="Date Placeholder 3">
            <a:extLst>
              <a:ext uri="{FF2B5EF4-FFF2-40B4-BE49-F238E27FC236}">
                <a16:creationId xmlns:a16="http://schemas.microsoft.com/office/drawing/2014/main" id="{62B3C3E9-620C-4E85-EC2C-556F7A48C319}"/>
              </a:ext>
            </a:extLst>
          </p:cNvPr>
          <p:cNvSpPr>
            <a:spLocks noGrp="1"/>
          </p:cNvSpPr>
          <p:nvPr>
            <p:ph type="dt" sz="half" idx="10"/>
          </p:nvPr>
        </p:nvSpPr>
        <p:spPr/>
        <p:txBody>
          <a:bodyPr/>
          <a:lstStyle/>
          <a:p>
            <a:fld id="{C888F347-2569-4226-9022-DE8088F87A84}" type="datetimeFigureOut">
              <a:rPr lang="en-IN" smtClean="0"/>
              <a:t>01-08-2026</a:t>
            </a:fld>
            <a:endParaRPr lang="en-IN"/>
          </a:p>
        </p:txBody>
      </p:sp>
      <p:sp>
        <p:nvSpPr>
          <p:cNvPr id="5" name="Footer Placeholder 4">
            <a:extLst>
              <a:ext uri="{FF2B5EF4-FFF2-40B4-BE49-F238E27FC236}">
                <a16:creationId xmlns:a16="http://schemas.microsoft.com/office/drawing/2014/main" id="{D0174DE5-0947-12E8-EC01-D88698BC79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1A5590-C389-8515-B443-27A30C0E2C07}"/>
              </a:ext>
            </a:extLst>
          </p:cNvPr>
          <p:cNvSpPr>
            <a:spLocks noGrp="1"/>
          </p:cNvSpPr>
          <p:nvPr>
            <p:ph type="sldNum" sz="quarter" idx="12"/>
          </p:nvPr>
        </p:nvSpPr>
        <p:spPr/>
        <p:txBody>
          <a:bodyPr/>
          <a:lstStyle/>
          <a:p>
            <a:fld id="{9F351B64-867A-4F20-90C3-3BD18464E5B3}" type="slidenum">
              <a:rPr lang="en-IN" smtClean="0"/>
              <a:t>‹#›</a:t>
            </a:fld>
            <a:endParaRPr lang="en-IN"/>
          </a:p>
        </p:txBody>
      </p:sp>
      <p:sp>
        <p:nvSpPr>
          <p:cNvPr id="8" name="Rectangle 7">
            <a:extLst>
              <a:ext uri="{FF2B5EF4-FFF2-40B4-BE49-F238E27FC236}">
                <a16:creationId xmlns:a16="http://schemas.microsoft.com/office/drawing/2014/main" id="{78996607-E988-409F-4C68-02FAE0E5787E}"/>
              </a:ext>
            </a:extLst>
          </p:cNvPr>
          <p:cNvSpPr/>
          <p:nvPr userDrawn="1"/>
        </p:nvSpPr>
        <p:spPr>
          <a:xfrm>
            <a:off x="0" y="6289964"/>
            <a:ext cx="12192000" cy="568037"/>
          </a:xfrm>
          <a:prstGeom prst="rect">
            <a:avLst/>
          </a:prstGeom>
          <a:solidFill>
            <a:srgbClr val="0060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descr="KRMU LMS Moodle">
            <a:extLst>
              <a:ext uri="{FF2B5EF4-FFF2-40B4-BE49-F238E27FC236}">
                <a16:creationId xmlns:a16="http://schemas.microsoft.com/office/drawing/2014/main" id="{3218B9C3-E974-7A20-E6E2-061333C30D5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424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652AF2E-1B2A-6FAC-83D2-C37E01113B9C}"/>
              </a:ext>
            </a:extLst>
          </p:cNvPr>
          <p:cNvSpPr/>
          <p:nvPr userDrawn="1"/>
        </p:nvSpPr>
        <p:spPr>
          <a:xfrm>
            <a:off x="0" y="6289964"/>
            <a:ext cx="12192000" cy="568037"/>
          </a:xfrm>
          <a:prstGeom prst="rect">
            <a:avLst/>
          </a:prstGeom>
          <a:solidFill>
            <a:srgbClr val="0060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0E8BAA8-846F-7DBB-83B8-E5A908ADBAD9}"/>
              </a:ext>
            </a:extLst>
          </p:cNvPr>
          <p:cNvSpPr>
            <a:spLocks noGrp="1"/>
          </p:cNvSpPr>
          <p:nvPr>
            <p:ph type="title"/>
          </p:nvPr>
        </p:nvSpPr>
        <p:spPr>
          <a:xfrm>
            <a:off x="838200" y="692149"/>
            <a:ext cx="10515600" cy="794906"/>
          </a:xfrm>
        </p:spPr>
        <p:txBody>
          <a:bodyPr>
            <a:normAutofit/>
          </a:bodyPr>
          <a:lstStyle>
            <a:lvl1pPr>
              <a:defRPr sz="3600">
                <a:latin typeface="Arial Black" panose="020B0A040201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E10BD45-BA60-59B6-1790-CC80E9B26DFD}"/>
              </a:ext>
            </a:extLst>
          </p:cNvPr>
          <p:cNvSpPr>
            <a:spLocks noGrp="1"/>
          </p:cNvSpPr>
          <p:nvPr>
            <p:ph idx="1" hasCustomPrompt="1"/>
          </p:nvPr>
        </p:nvSpPr>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Max 25 words per slide and at least 40% visuals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882AFA75-DE6F-7C82-B9F0-DC87D4ECDECC}"/>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01-08-2026</a:t>
            </a:fld>
            <a:endParaRPr lang="en-IN" dirty="0">
              <a:solidFill>
                <a:schemeClr val="bg1">
                  <a:lumMod val="95000"/>
                </a:schemeClr>
              </a:solidFill>
            </a:endParaRPr>
          </a:p>
        </p:txBody>
      </p:sp>
      <p:sp>
        <p:nvSpPr>
          <p:cNvPr id="5" name="Footer Placeholder 4">
            <a:extLst>
              <a:ext uri="{FF2B5EF4-FFF2-40B4-BE49-F238E27FC236}">
                <a16:creationId xmlns:a16="http://schemas.microsoft.com/office/drawing/2014/main" id="{0CE59B29-7DEA-00FB-D372-97265A5814F5}"/>
              </a:ext>
            </a:extLst>
          </p:cNvPr>
          <p:cNvSpPr>
            <a:spLocks noGrp="1"/>
          </p:cNvSpPr>
          <p:nvPr>
            <p:ph type="ftr" sz="quarter" idx="11"/>
          </p:nvPr>
        </p:nvSpPr>
        <p:spPr/>
        <p:txBody>
          <a:bodyPr/>
          <a:lstStyle>
            <a:lvl1pPr>
              <a:defRPr>
                <a:solidFill>
                  <a:schemeClr val="bg1"/>
                </a:solidFill>
              </a:defRPr>
            </a:lvl1pPr>
          </a:lstStyle>
          <a:p>
            <a:endParaRPr lang="en-IN" dirty="0">
              <a:solidFill>
                <a:schemeClr val="bg1"/>
              </a:solidFill>
            </a:endParaRPr>
          </a:p>
        </p:txBody>
      </p:sp>
      <p:sp>
        <p:nvSpPr>
          <p:cNvPr id="6" name="Slide Number Placeholder 5">
            <a:extLst>
              <a:ext uri="{FF2B5EF4-FFF2-40B4-BE49-F238E27FC236}">
                <a16:creationId xmlns:a16="http://schemas.microsoft.com/office/drawing/2014/main" id="{F8C1B182-07C2-4D9B-4F8A-63E4509B1D3A}"/>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8" name="Picture 2" descr="KRMU LMS Moodle">
            <a:extLst>
              <a:ext uri="{FF2B5EF4-FFF2-40B4-BE49-F238E27FC236}">
                <a16:creationId xmlns:a16="http://schemas.microsoft.com/office/drawing/2014/main" id="{73C48843-CB0F-EB0D-8690-318613C704B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365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A6FC-9F92-9937-2BC6-4FE2C575E3A5}"/>
              </a:ext>
            </a:extLst>
          </p:cNvPr>
          <p:cNvSpPr>
            <a:spLocks noGrp="1"/>
          </p:cNvSpPr>
          <p:nvPr>
            <p:ph type="title"/>
          </p:nvPr>
        </p:nvSpPr>
        <p:spPr>
          <a:xfrm>
            <a:off x="831850" y="1709738"/>
            <a:ext cx="10515600" cy="2852737"/>
          </a:xfrm>
        </p:spPr>
        <p:txBody>
          <a:bodyPr anchor="b">
            <a:normAutofit/>
          </a:bodyPr>
          <a:lstStyle>
            <a:lvl1pPr>
              <a:defRPr sz="4400">
                <a:latin typeface="Arial Black" panose="020B0A04020102020204" pitchFamily="34" charset="0"/>
                <a:cs typeface="Arial" panose="020B0604020202020204" pitchFamily="34" charset="0"/>
              </a:defRPr>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6CC667B-A0FA-B065-4292-EE4364C7B3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Arial" panose="020B0604020202020204" pitchFamily="34" charset="0"/>
                <a:cs typeface="Arial" panose="020B06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EF47B87A-35A2-0020-909C-965D937D828F}"/>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01-08-2026</a:t>
            </a:fld>
            <a:endParaRPr lang="en-IN" dirty="0"/>
          </a:p>
        </p:txBody>
      </p:sp>
      <p:sp>
        <p:nvSpPr>
          <p:cNvPr id="5" name="Footer Placeholder 4">
            <a:extLst>
              <a:ext uri="{FF2B5EF4-FFF2-40B4-BE49-F238E27FC236}">
                <a16:creationId xmlns:a16="http://schemas.microsoft.com/office/drawing/2014/main" id="{7E746634-8309-8CA1-CA16-F0A3EE174D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0C8C78-40C8-B70D-4627-3DF756985D92}"/>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7" name="Picture 2" descr="KRMU LMS Moodle">
            <a:extLst>
              <a:ext uri="{FF2B5EF4-FFF2-40B4-BE49-F238E27FC236}">
                <a16:creationId xmlns:a16="http://schemas.microsoft.com/office/drawing/2014/main" id="{EAF21BB4-2C1B-C8AB-71BD-E7414560376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59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C9B5-1B78-CEE9-8ED8-826788124B98}"/>
              </a:ext>
            </a:extLst>
          </p:cNvPr>
          <p:cNvSpPr>
            <a:spLocks noGrp="1"/>
          </p:cNvSpPr>
          <p:nvPr>
            <p:ph type="title" hasCustomPrompt="1"/>
          </p:nvPr>
        </p:nvSpPr>
        <p:spPr/>
        <p:txBody>
          <a:bodyPr/>
          <a:lstStyle>
            <a:lvl1pPr>
              <a:defRPr sz="3600">
                <a:latin typeface="Arial Black" panose="020B0A04020102020204" pitchFamily="34" charset="0"/>
              </a:defRPr>
            </a:lvl1pPr>
          </a:lstStyle>
          <a:p>
            <a:r>
              <a:rPr lang="en-IN" dirty="0"/>
              <a:t>Prior Knowledge Activation</a:t>
            </a:r>
          </a:p>
        </p:txBody>
      </p:sp>
      <p:sp>
        <p:nvSpPr>
          <p:cNvPr id="3" name="Content Placeholder 2">
            <a:extLst>
              <a:ext uri="{FF2B5EF4-FFF2-40B4-BE49-F238E27FC236}">
                <a16:creationId xmlns:a16="http://schemas.microsoft.com/office/drawing/2014/main" id="{1E8AE091-2973-1619-4B83-91DCAE07ECAE}"/>
              </a:ext>
            </a:extLst>
          </p:cNvPr>
          <p:cNvSpPr>
            <a:spLocks noGrp="1"/>
          </p:cNvSpPr>
          <p:nvPr>
            <p:ph sz="half" idx="1" hasCustomPrompt="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Add content here</a:t>
            </a:r>
          </a:p>
          <a:p>
            <a:pPr lvl="0"/>
            <a:r>
              <a:rPr lang="en-US" dirty="0"/>
              <a:t>Max 25–30 words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4691D502-5E03-0BDD-A0D1-55C015DD16AE}"/>
              </a:ext>
            </a:extLst>
          </p:cNvPr>
          <p:cNvSpPr>
            <a:spLocks noGrp="1"/>
          </p:cNvSpPr>
          <p:nvPr>
            <p:ph sz="half" idx="2" hasCustomPrompt="1"/>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Add visuals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a:extLst>
              <a:ext uri="{FF2B5EF4-FFF2-40B4-BE49-F238E27FC236}">
                <a16:creationId xmlns:a16="http://schemas.microsoft.com/office/drawing/2014/main" id="{98517726-9A47-DF8F-0485-9EBC770B8FA8}"/>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01-08-2026</a:t>
            </a:fld>
            <a:endParaRPr lang="en-IN" dirty="0"/>
          </a:p>
        </p:txBody>
      </p:sp>
      <p:sp>
        <p:nvSpPr>
          <p:cNvPr id="6" name="Footer Placeholder 5">
            <a:extLst>
              <a:ext uri="{FF2B5EF4-FFF2-40B4-BE49-F238E27FC236}">
                <a16:creationId xmlns:a16="http://schemas.microsoft.com/office/drawing/2014/main" id="{05DA415F-D17E-1DB3-3EB6-14DB5BDF28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187CA1-1A88-945D-45CD-FDF219D17308}"/>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8" name="Picture 2" descr="KRMU LMS Moodle">
            <a:extLst>
              <a:ext uri="{FF2B5EF4-FFF2-40B4-BE49-F238E27FC236}">
                <a16:creationId xmlns:a16="http://schemas.microsoft.com/office/drawing/2014/main" id="{A54A61D2-2F0B-9E27-728D-EDF2949BD5E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490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A7D1-DC15-EA41-2BF9-0D195368F8E4}"/>
              </a:ext>
            </a:extLst>
          </p:cNvPr>
          <p:cNvSpPr>
            <a:spLocks noGrp="1"/>
          </p:cNvSpPr>
          <p:nvPr>
            <p:ph type="title"/>
          </p:nvPr>
        </p:nvSpPr>
        <p:spPr>
          <a:xfrm>
            <a:off x="839788" y="555624"/>
            <a:ext cx="10515600" cy="823912"/>
          </a:xfrm>
        </p:spPr>
        <p:txBody>
          <a:bodyPr>
            <a:normAutofit/>
          </a:bodyPr>
          <a:lstStyle>
            <a:lvl1pPr>
              <a:defRPr sz="3600">
                <a:latin typeface="Arial Black" panose="020B0A04020102020204" pitchFamily="34" charset="0"/>
              </a:defRPr>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8E45A01D-8931-B0E5-B752-8632115E03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F7EFD7-AB41-860E-35A9-D54CEB92B0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6F9E0F5-419C-CD96-786D-E2C1D00D4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80B29-9EEE-EF2F-539B-AA9EAF8764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B652DB-B91D-D81B-DC88-591029F173F9}"/>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01-08-2026</a:t>
            </a:fld>
            <a:endParaRPr lang="en-IN" dirty="0"/>
          </a:p>
        </p:txBody>
      </p:sp>
      <p:sp>
        <p:nvSpPr>
          <p:cNvPr id="8" name="Footer Placeholder 7">
            <a:extLst>
              <a:ext uri="{FF2B5EF4-FFF2-40B4-BE49-F238E27FC236}">
                <a16:creationId xmlns:a16="http://schemas.microsoft.com/office/drawing/2014/main" id="{4BDE8BDF-5737-3F0E-4831-AAAF670C6E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759D2A-8170-5271-5E20-868FA444B83A}"/>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10" name="Picture 2" descr="KRMU LMS Moodle">
            <a:extLst>
              <a:ext uri="{FF2B5EF4-FFF2-40B4-BE49-F238E27FC236}">
                <a16:creationId xmlns:a16="http://schemas.microsoft.com/office/drawing/2014/main" id="{317EEC63-6AE2-AC54-A662-320B20EB01D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693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57C4-BC08-7799-60E5-5DC1A7D38F31}"/>
              </a:ext>
            </a:extLst>
          </p:cNvPr>
          <p:cNvSpPr>
            <a:spLocks noGrp="1"/>
          </p:cNvSpPr>
          <p:nvPr>
            <p:ph type="title" hasCustomPrompt="1"/>
          </p:nvPr>
        </p:nvSpPr>
        <p:spPr/>
        <p:txBody>
          <a:bodyPr/>
          <a:lstStyle>
            <a:lvl1pPr>
              <a:defRPr>
                <a:latin typeface="Arial Black" panose="020B0A04020102020204" pitchFamily="34" charset="0"/>
                <a:cs typeface="Arial" panose="020B0604020202020204" pitchFamily="34" charset="0"/>
              </a:defRPr>
            </a:lvl1pPr>
          </a:lstStyle>
          <a:p>
            <a:r>
              <a:rPr lang="en-US" dirty="0"/>
              <a:t>Check for understanding</a:t>
            </a:r>
            <a:endParaRPr lang="en-IN" dirty="0"/>
          </a:p>
        </p:txBody>
      </p:sp>
      <p:sp>
        <p:nvSpPr>
          <p:cNvPr id="3" name="Date Placeholder 2">
            <a:extLst>
              <a:ext uri="{FF2B5EF4-FFF2-40B4-BE49-F238E27FC236}">
                <a16:creationId xmlns:a16="http://schemas.microsoft.com/office/drawing/2014/main" id="{C0A3006B-81DD-02D1-F5EC-FA296B030F19}"/>
              </a:ext>
            </a:extLst>
          </p:cNvPr>
          <p:cNvSpPr>
            <a:spLocks noGrp="1"/>
          </p:cNvSpPr>
          <p:nvPr>
            <p:ph type="dt" sz="half" idx="10"/>
          </p:nvPr>
        </p:nvSpPr>
        <p:spPr/>
        <p:txBody>
          <a:bodyPr/>
          <a:lstStyle/>
          <a:p>
            <a:fld id="{C888F347-2569-4226-9022-DE8088F87A84}" type="datetimeFigureOut">
              <a:rPr lang="en-IN" smtClean="0"/>
              <a:t>01-08-2026</a:t>
            </a:fld>
            <a:endParaRPr lang="en-IN"/>
          </a:p>
        </p:txBody>
      </p:sp>
      <p:sp>
        <p:nvSpPr>
          <p:cNvPr id="4" name="Footer Placeholder 3">
            <a:extLst>
              <a:ext uri="{FF2B5EF4-FFF2-40B4-BE49-F238E27FC236}">
                <a16:creationId xmlns:a16="http://schemas.microsoft.com/office/drawing/2014/main" id="{C9F63F23-50D0-1B28-DC9D-016383C67B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F70BB8-193B-2320-1328-B4AAEA4D54AD}"/>
              </a:ext>
            </a:extLst>
          </p:cNvPr>
          <p:cNvSpPr>
            <a:spLocks noGrp="1"/>
          </p:cNvSpPr>
          <p:nvPr>
            <p:ph type="sldNum" sz="quarter" idx="12"/>
          </p:nvPr>
        </p:nvSpPr>
        <p:spPr/>
        <p:txBody>
          <a:bodyPr/>
          <a:lstStyle/>
          <a:p>
            <a:fld id="{9F351B64-867A-4F20-90C3-3BD18464E5B3}" type="slidenum">
              <a:rPr lang="en-IN" smtClean="0"/>
              <a:t>‹#›</a:t>
            </a:fld>
            <a:endParaRPr lang="en-IN"/>
          </a:p>
        </p:txBody>
      </p:sp>
      <p:sp>
        <p:nvSpPr>
          <p:cNvPr id="6" name="Content Placeholder 2">
            <a:extLst>
              <a:ext uri="{FF2B5EF4-FFF2-40B4-BE49-F238E27FC236}">
                <a16:creationId xmlns:a16="http://schemas.microsoft.com/office/drawing/2014/main" id="{D7F5DEA6-124E-4662-F0E3-5D6A7A8A317E}"/>
              </a:ext>
            </a:extLst>
          </p:cNvPr>
          <p:cNvSpPr>
            <a:spLocks noGrp="1"/>
          </p:cNvSpPr>
          <p:nvPr>
            <p:ph idx="1" hasCustomPrompt="1"/>
          </p:nvPr>
        </p:nvSpPr>
        <p:spPr>
          <a:xfrm>
            <a:off x="838200" y="1825625"/>
            <a:ext cx="10515600" cy="43513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Encourage summary of Key Concepts, True-False questions, Short quiz, etc.</a:t>
            </a:r>
          </a:p>
          <a:p>
            <a:pPr marL="68580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75553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DA6F77-199A-18A0-BB14-D2ADAA06AD97}"/>
              </a:ext>
            </a:extLst>
          </p:cNvPr>
          <p:cNvSpPr>
            <a:spLocks noGrp="1"/>
          </p:cNvSpPr>
          <p:nvPr>
            <p:ph type="dt" sz="half" idx="10"/>
          </p:nvPr>
        </p:nvSpPr>
        <p:spPr/>
        <p:txBody>
          <a:bodyPr/>
          <a:lstStyle/>
          <a:p>
            <a:fld id="{C888F347-2569-4226-9022-DE8088F87A84}" type="datetimeFigureOut">
              <a:rPr lang="en-IN" smtClean="0"/>
              <a:t>01-08-2026</a:t>
            </a:fld>
            <a:endParaRPr lang="en-IN"/>
          </a:p>
        </p:txBody>
      </p:sp>
      <p:sp>
        <p:nvSpPr>
          <p:cNvPr id="3" name="Footer Placeholder 2">
            <a:extLst>
              <a:ext uri="{FF2B5EF4-FFF2-40B4-BE49-F238E27FC236}">
                <a16:creationId xmlns:a16="http://schemas.microsoft.com/office/drawing/2014/main" id="{90322086-ECF2-D80D-9A5E-42D342B983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2C2C518-F236-6472-7AAD-E8D3A092A3FA}"/>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5" name="Picture 2" descr="KRMU LMS Moodle">
            <a:extLst>
              <a:ext uri="{FF2B5EF4-FFF2-40B4-BE49-F238E27FC236}">
                <a16:creationId xmlns:a16="http://schemas.microsoft.com/office/drawing/2014/main" id="{10D92CCE-27E5-854A-4CB1-C7A7DC46B9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58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B03B-0BB4-1264-7442-34DFFD61FE96}"/>
              </a:ext>
            </a:extLst>
          </p:cNvPr>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0B24CD5F-2A17-14F5-D6DE-9086B571CA0A}"/>
              </a:ext>
            </a:extLst>
          </p:cNvPr>
          <p:cNvSpPr>
            <a:spLocks noGrp="1"/>
          </p:cNvSpPr>
          <p:nvPr>
            <p:ph idx="1"/>
          </p:nvPr>
        </p:nvSpPr>
        <p:spPr>
          <a:xfrm>
            <a:off x="5183188" y="987425"/>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a:extLst>
              <a:ext uri="{FF2B5EF4-FFF2-40B4-BE49-F238E27FC236}">
                <a16:creationId xmlns:a16="http://schemas.microsoft.com/office/drawing/2014/main" id="{07D81F65-4714-4640-304C-BCCD643F0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1E1D4-7D97-ADCF-67D4-B795793FCEC0}"/>
              </a:ext>
            </a:extLst>
          </p:cNvPr>
          <p:cNvSpPr>
            <a:spLocks noGrp="1"/>
          </p:cNvSpPr>
          <p:nvPr>
            <p:ph type="dt" sz="half" idx="10"/>
          </p:nvPr>
        </p:nvSpPr>
        <p:spPr/>
        <p:txBody>
          <a:bodyPr/>
          <a:lstStyle/>
          <a:p>
            <a:fld id="{C888F347-2569-4226-9022-DE8088F87A84}" type="datetimeFigureOut">
              <a:rPr lang="en-IN" smtClean="0"/>
              <a:t>01-08-2026</a:t>
            </a:fld>
            <a:endParaRPr lang="en-IN"/>
          </a:p>
        </p:txBody>
      </p:sp>
      <p:sp>
        <p:nvSpPr>
          <p:cNvPr id="6" name="Footer Placeholder 5">
            <a:extLst>
              <a:ext uri="{FF2B5EF4-FFF2-40B4-BE49-F238E27FC236}">
                <a16:creationId xmlns:a16="http://schemas.microsoft.com/office/drawing/2014/main" id="{1C176284-62D9-F812-FB2D-246A9CA36C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6D5426-6FE2-93D6-4CD3-D31B994DABEE}"/>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8" name="Picture 2" descr="KRMU LMS Moodle">
            <a:extLst>
              <a:ext uri="{FF2B5EF4-FFF2-40B4-BE49-F238E27FC236}">
                <a16:creationId xmlns:a16="http://schemas.microsoft.com/office/drawing/2014/main" id="{89F1494A-62C8-347E-F8BA-D30D031A1AC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484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0198-87A5-27B7-62C2-AD485CA206D0}"/>
              </a:ext>
            </a:extLst>
          </p:cNvPr>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Picture Placeholder 2">
            <a:extLst>
              <a:ext uri="{FF2B5EF4-FFF2-40B4-BE49-F238E27FC236}">
                <a16:creationId xmlns:a16="http://schemas.microsoft.com/office/drawing/2014/main" id="{C068C6E2-D9DC-1F07-8573-6914ADE8A6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9B4D08-C1FC-2EBA-1939-1E82F2482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283172-DCE1-4873-0B29-D3926590A766}"/>
              </a:ext>
            </a:extLst>
          </p:cNvPr>
          <p:cNvSpPr>
            <a:spLocks noGrp="1"/>
          </p:cNvSpPr>
          <p:nvPr>
            <p:ph type="dt" sz="half" idx="10"/>
          </p:nvPr>
        </p:nvSpPr>
        <p:spPr/>
        <p:txBody>
          <a:bodyPr/>
          <a:lstStyle/>
          <a:p>
            <a:fld id="{C888F347-2569-4226-9022-DE8088F87A84}" type="datetimeFigureOut">
              <a:rPr lang="en-IN" smtClean="0"/>
              <a:t>01-08-2026</a:t>
            </a:fld>
            <a:endParaRPr lang="en-IN"/>
          </a:p>
        </p:txBody>
      </p:sp>
      <p:sp>
        <p:nvSpPr>
          <p:cNvPr id="6" name="Footer Placeholder 5">
            <a:extLst>
              <a:ext uri="{FF2B5EF4-FFF2-40B4-BE49-F238E27FC236}">
                <a16:creationId xmlns:a16="http://schemas.microsoft.com/office/drawing/2014/main" id="{745B7DA4-0D87-CDD1-E2DA-8FA05C5745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A7D77B-C745-43E7-28A9-AAA91A90C1B8}"/>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8" name="Picture 2" descr="KRMU LMS Moodle">
            <a:extLst>
              <a:ext uri="{FF2B5EF4-FFF2-40B4-BE49-F238E27FC236}">
                <a16:creationId xmlns:a16="http://schemas.microsoft.com/office/drawing/2014/main" id="{E030362E-D069-DA33-67F7-62D480A25A9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440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538FE-236F-8D1A-F112-FE71E1800262}"/>
              </a:ext>
            </a:extLst>
          </p:cNvPr>
          <p:cNvSpPr>
            <a:spLocks noGrp="1"/>
          </p:cNvSpPr>
          <p:nvPr>
            <p:ph type="title"/>
          </p:nvPr>
        </p:nvSpPr>
        <p:spPr>
          <a:xfrm>
            <a:off x="838200" y="555624"/>
            <a:ext cx="10515600" cy="931432"/>
          </a:xfrm>
        </p:spPr>
        <p:txBody>
          <a:bodyPr/>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46FB1C90-10CF-BC4F-3FA1-0D853994AA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2A9946-1B4D-EB25-84E1-9B76C52100A7}"/>
              </a:ext>
            </a:extLst>
          </p:cNvPr>
          <p:cNvSpPr>
            <a:spLocks noGrp="1"/>
          </p:cNvSpPr>
          <p:nvPr>
            <p:ph type="dt" sz="half" idx="10"/>
          </p:nvPr>
        </p:nvSpPr>
        <p:spPr/>
        <p:txBody>
          <a:bodyPr/>
          <a:lstStyle/>
          <a:p>
            <a:fld id="{C888F347-2569-4226-9022-DE8088F87A84}" type="datetimeFigureOut">
              <a:rPr lang="en-IN" smtClean="0"/>
              <a:t>01-08-2026</a:t>
            </a:fld>
            <a:endParaRPr lang="en-IN"/>
          </a:p>
        </p:txBody>
      </p:sp>
      <p:sp>
        <p:nvSpPr>
          <p:cNvPr id="5" name="Footer Placeholder 4">
            <a:extLst>
              <a:ext uri="{FF2B5EF4-FFF2-40B4-BE49-F238E27FC236}">
                <a16:creationId xmlns:a16="http://schemas.microsoft.com/office/drawing/2014/main" id="{657B1018-BC17-F834-7A4E-3FABF45BE8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EB66F2-87A4-0BEB-BDE7-B3B32E14FEE6}"/>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7" name="Picture 2" descr="KRMU LMS Moodle">
            <a:extLst>
              <a:ext uri="{FF2B5EF4-FFF2-40B4-BE49-F238E27FC236}">
                <a16:creationId xmlns:a16="http://schemas.microsoft.com/office/drawing/2014/main" id="{A704C666-439E-DA27-6CC7-EE2E1774303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702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FAC744-3E28-DBCE-93D1-B138AFCB8F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6D750F-E7A0-1AE8-3BC0-F7E6CAC8CC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4EA64F-96A5-AF6F-DF2F-B77635014975}"/>
              </a:ext>
            </a:extLst>
          </p:cNvPr>
          <p:cNvSpPr>
            <a:spLocks noGrp="1"/>
          </p:cNvSpPr>
          <p:nvPr>
            <p:ph type="dt" sz="half" idx="10"/>
          </p:nvPr>
        </p:nvSpPr>
        <p:spPr/>
        <p:txBody>
          <a:bodyPr/>
          <a:lstStyle/>
          <a:p>
            <a:fld id="{C888F347-2569-4226-9022-DE8088F87A84}" type="datetimeFigureOut">
              <a:rPr lang="en-IN" smtClean="0"/>
              <a:t>01-08-2026</a:t>
            </a:fld>
            <a:endParaRPr lang="en-IN"/>
          </a:p>
        </p:txBody>
      </p:sp>
      <p:sp>
        <p:nvSpPr>
          <p:cNvPr id="5" name="Footer Placeholder 4">
            <a:extLst>
              <a:ext uri="{FF2B5EF4-FFF2-40B4-BE49-F238E27FC236}">
                <a16:creationId xmlns:a16="http://schemas.microsoft.com/office/drawing/2014/main" id="{2A3C3410-0E6E-7BB3-E9AB-F1836339A0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9A9CFF-82C0-CB32-3626-081A4B8ABD26}"/>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7" name="Picture 2" descr="KRMU LMS Moodle">
            <a:extLst>
              <a:ext uri="{FF2B5EF4-FFF2-40B4-BE49-F238E27FC236}">
                <a16:creationId xmlns:a16="http://schemas.microsoft.com/office/drawing/2014/main" id="{375A0EB8-5D9F-63DD-2BAE-2A973A31599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1480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597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A60DD6-C638-2183-20C3-900D3C969F56}"/>
              </a:ext>
            </a:extLst>
          </p:cNvPr>
          <p:cNvSpPr/>
          <p:nvPr userDrawn="1"/>
        </p:nvSpPr>
        <p:spPr>
          <a:xfrm>
            <a:off x="0" y="6289964"/>
            <a:ext cx="12192000" cy="568037"/>
          </a:xfrm>
          <a:prstGeom prst="rect">
            <a:avLst/>
          </a:prstGeom>
          <a:solidFill>
            <a:srgbClr val="0060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Placeholder 1">
            <a:extLst>
              <a:ext uri="{FF2B5EF4-FFF2-40B4-BE49-F238E27FC236}">
                <a16:creationId xmlns:a16="http://schemas.microsoft.com/office/drawing/2014/main" id="{2436C7EB-04B0-139F-68F6-3D0C1F647A7F}"/>
              </a:ext>
            </a:extLst>
          </p:cNvPr>
          <p:cNvSpPr>
            <a:spLocks noGrp="1"/>
          </p:cNvSpPr>
          <p:nvPr>
            <p:ph type="title"/>
          </p:nvPr>
        </p:nvSpPr>
        <p:spPr>
          <a:xfrm>
            <a:off x="838200" y="555623"/>
            <a:ext cx="10515600" cy="857541"/>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E960E9B-89A7-96EB-B53E-CA4E991695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FEDCB760-9D68-2E34-1012-00C8C2DDA2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lumMod val="95000"/>
                  </a:schemeClr>
                </a:solidFill>
              </a:defRPr>
            </a:lvl1pPr>
          </a:lstStyle>
          <a:p>
            <a:fld id="{C888F347-2569-4226-9022-DE8088F87A84}" type="datetimeFigureOut">
              <a:rPr lang="en-IN" smtClean="0"/>
              <a:pPr/>
              <a:t>01-08-2026</a:t>
            </a:fld>
            <a:endParaRPr lang="en-IN" dirty="0">
              <a:solidFill>
                <a:schemeClr val="bg1">
                  <a:lumMod val="95000"/>
                </a:schemeClr>
              </a:solidFill>
            </a:endParaRPr>
          </a:p>
        </p:txBody>
      </p:sp>
      <p:sp>
        <p:nvSpPr>
          <p:cNvPr id="5" name="Footer Placeholder 4">
            <a:extLst>
              <a:ext uri="{FF2B5EF4-FFF2-40B4-BE49-F238E27FC236}">
                <a16:creationId xmlns:a16="http://schemas.microsoft.com/office/drawing/2014/main" id="{B1977E5E-34E1-2053-5C2A-E26871D93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endParaRPr lang="en-IN" dirty="0">
              <a:solidFill>
                <a:schemeClr val="bg1">
                  <a:lumMod val="95000"/>
                </a:schemeClr>
              </a:solidFill>
            </a:endParaRPr>
          </a:p>
        </p:txBody>
      </p:sp>
      <p:sp>
        <p:nvSpPr>
          <p:cNvPr id="6" name="Slide Number Placeholder 5">
            <a:extLst>
              <a:ext uri="{FF2B5EF4-FFF2-40B4-BE49-F238E27FC236}">
                <a16:creationId xmlns:a16="http://schemas.microsoft.com/office/drawing/2014/main" id="{04536B8F-4D10-B799-A131-A7AF4DA7F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lumMod val="95000"/>
                  </a:schemeClr>
                </a:solidFill>
              </a:defRPr>
            </a:lvl1pPr>
          </a:lstStyle>
          <a:p>
            <a:fld id="{9F351B64-867A-4F20-90C3-3BD18464E5B3}" type="slidenum">
              <a:rPr lang="en-IN" smtClean="0"/>
              <a:pPr/>
              <a:t>‹#›</a:t>
            </a:fld>
            <a:endParaRPr lang="en-IN" dirty="0"/>
          </a:p>
        </p:txBody>
      </p:sp>
      <p:pic>
        <p:nvPicPr>
          <p:cNvPr id="7" name="Picture 2" descr="KRMU LMS Moodle">
            <a:extLst>
              <a:ext uri="{FF2B5EF4-FFF2-40B4-BE49-F238E27FC236}">
                <a16:creationId xmlns:a16="http://schemas.microsoft.com/office/drawing/2014/main" id="{16309F3E-58E1-C940-96AC-28985BE1219A}"/>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473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3600" kern="1200">
          <a:solidFill>
            <a:schemeClr val="tx1"/>
          </a:solidFill>
          <a:latin typeface="Arial Black" panose="020B0A040201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www.db-book.com"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hyperlink" Target="https://www.pearson.com/en-us/subject-catalog/p/introduction-to-database-systems-an/P200000003545" TargetMode="External"/><Relationship Id="rId5" Type="http://schemas.openxmlformats.org/officeDocument/2006/relationships/hyperlink" Target="https://pages.cs.wisc.edu/~dbbook/" TargetMode="External"/><Relationship Id="rId4" Type="http://schemas.openxmlformats.org/officeDocument/2006/relationships/hyperlink" Target="https://www.pearson.com/en-us/subject-catalog/p/fundamentals-of-database-systems/P200000003546"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onlinecourses.nptel.ac.in/noc22_cs91/preview"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hyperlink" Target="https://www.mongodb.com/docs/manual/data-modeling/" TargetMode="External"/><Relationship Id="rId5" Type="http://schemas.openxmlformats.org/officeDocument/2006/relationships/hyperlink" Target="https://neo4j.com/docs/getting-started/data-modeling/" TargetMode="External"/><Relationship Id="rId4" Type="http://schemas.openxmlformats.org/officeDocument/2006/relationships/hyperlink" Target="https://www.postgresql.org/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krmu_bg.png"/>
          <p:cNvPicPr>
            <a:picLocks noChangeAspect="1"/>
          </p:cNvPicPr>
          <p:nvPr/>
        </p:nvPicPr>
        <p:blipFill>
          <a:blip r:embed="rId3"/>
          <a:stretch>
            <a:fillRect/>
          </a:stretch>
        </p:blipFill>
        <p:spPr>
          <a:xfrm>
            <a:off x="0" y="0"/>
            <a:ext cx="12191999" cy="6858000"/>
          </a:xfrm>
          <a:prstGeom prst="rect">
            <a:avLst/>
          </a:prstGeom>
        </p:spPr>
      </p:pic>
      <p:pic>
        <p:nvPicPr>
          <p:cNvPr id="3" name="Image 1" descr="krmu_logo.png"/>
          <p:cNvPicPr>
            <a:picLocks noChangeAspect="1"/>
          </p:cNvPicPr>
          <p:nvPr/>
        </p:nvPicPr>
        <p:blipFill>
          <a:blip r:embed="rId4"/>
          <a:stretch>
            <a:fillRect/>
          </a:stretch>
        </p:blipFill>
        <p:spPr>
          <a:xfrm>
            <a:off x="2893162" y="149962"/>
            <a:ext cx="6397142" cy="920801"/>
          </a:xfrm>
          <a:prstGeom prst="rect">
            <a:avLst/>
          </a:prstGeom>
        </p:spPr>
      </p:pic>
      <p:sp>
        <p:nvSpPr>
          <p:cNvPr id="4" name="Text 0"/>
          <p:cNvSpPr/>
          <p:nvPr/>
        </p:nvSpPr>
        <p:spPr>
          <a:xfrm>
            <a:off x="1783994" y="1600200"/>
            <a:ext cx="8494776" cy="594360"/>
          </a:xfrm>
          <a:prstGeom prst="rect">
            <a:avLst/>
          </a:prstGeom>
          <a:noFill/>
          <a:ln/>
        </p:spPr>
        <p:txBody>
          <a:bodyPr wrap="square" lIns="0" tIns="0" rIns="0" bIns="0" rtlCol="0" anchor="ctr"/>
          <a:lstStyle/>
          <a:p>
            <a:pPr marL="0" indent="0" algn="ctr">
              <a:buNone/>
            </a:pPr>
            <a:r>
              <a:rPr lang="en-US" sz="3200" b="1" dirty="0">
                <a:solidFill>
                  <a:srgbClr val="E31E24"/>
                </a:solidFill>
                <a:latin typeface="Times New Roman" pitchFamily="34" charset="0"/>
                <a:ea typeface="Times New Roman" pitchFamily="34" charset="-122"/>
                <a:cs typeface="Times New Roman" pitchFamily="34" charset="-120"/>
              </a:rPr>
              <a:t>Database Management Systems</a:t>
            </a:r>
            <a:endParaRPr lang="en-US" sz="3200" dirty="0"/>
          </a:p>
        </p:txBody>
      </p:sp>
      <p:sp>
        <p:nvSpPr>
          <p:cNvPr id="5" name="Text 1"/>
          <p:cNvSpPr/>
          <p:nvPr/>
        </p:nvSpPr>
        <p:spPr>
          <a:xfrm>
            <a:off x="1097280" y="2697480"/>
            <a:ext cx="9966960" cy="914400"/>
          </a:xfrm>
          <a:prstGeom prst="rect">
            <a:avLst/>
          </a:prstGeom>
          <a:noFill/>
          <a:ln/>
        </p:spPr>
        <p:txBody>
          <a:bodyPr wrap="square" lIns="0" tIns="0" rIns="0" bIns="0" rtlCol="0" anchor="ctr"/>
          <a:lstStyle/>
          <a:p>
            <a:pPr marL="0" indent="0" algn="ctr">
              <a:buNone/>
            </a:pPr>
            <a:r>
              <a:rPr lang="en-US" sz="2200" b="1" dirty="0">
                <a:solidFill>
                  <a:srgbClr val="E31E24"/>
                </a:solidFill>
                <a:latin typeface="Times New Roman" pitchFamily="34" charset="0"/>
                <a:ea typeface="Times New Roman" pitchFamily="34" charset="-122"/>
                <a:cs typeface="Times New Roman" pitchFamily="34" charset="-120"/>
              </a:rPr>
              <a:t>Ms. Mansi, Dr. Rishika, Ms. Megha Sharma, Dr. Reenu, Dr. Swati,</a:t>
            </a:r>
            <a:endParaRPr lang="en-US" sz="2200" dirty="0"/>
          </a:p>
          <a:p>
            <a:pPr marL="0" indent="0" algn="ctr">
              <a:buNone/>
            </a:pPr>
            <a:r>
              <a:rPr lang="en-US" sz="2200" b="1" dirty="0">
                <a:solidFill>
                  <a:srgbClr val="E31E24"/>
                </a:solidFill>
                <a:latin typeface="Times New Roman"/>
                <a:ea typeface="Times New Roman" pitchFamily="34" charset="-122"/>
                <a:cs typeface="Times New Roman"/>
              </a:rPr>
              <a:t>Dr. Neha Kaushik </a:t>
            </a:r>
            <a:endParaRPr lang="en-US" sz="2200" b="1" dirty="0">
              <a:solidFill>
                <a:srgbClr val="E31E24"/>
              </a:solidFill>
              <a:latin typeface="Times New Roman"/>
              <a:cs typeface="Times New Roman"/>
            </a:endParaRPr>
          </a:p>
        </p:txBody>
      </p:sp>
      <p:sp>
        <p:nvSpPr>
          <p:cNvPr id="6" name="Text 2"/>
          <p:cNvSpPr/>
          <p:nvPr/>
        </p:nvSpPr>
        <p:spPr>
          <a:xfrm>
            <a:off x="1819656" y="4251960"/>
            <a:ext cx="8494776" cy="960120"/>
          </a:xfrm>
          <a:prstGeom prst="rect">
            <a:avLst/>
          </a:prstGeom>
          <a:noFill/>
          <a:ln/>
        </p:spPr>
        <p:txBody>
          <a:bodyPr wrap="square" lIns="0" tIns="0" rIns="0" bIns="0" rtlCol="0" anchor="ctr"/>
          <a:lstStyle/>
          <a:p>
            <a:pPr marL="0" indent="0" algn="ctr">
              <a:buNone/>
            </a:pPr>
            <a:r>
              <a:rPr lang="en-US" sz="1300" b="1" dirty="0">
                <a:solidFill>
                  <a:srgbClr val="1F3864"/>
                </a:solidFill>
                <a:latin typeface="Verdana" pitchFamily="34" charset="0"/>
                <a:ea typeface="Verdana" pitchFamily="34" charset="-122"/>
                <a:cs typeface="Verdana" pitchFamily="34" charset="-120"/>
              </a:rPr>
              <a:t>Faculty</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School of Engineering &amp; Technology (SOET)</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K. R. Mangalam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1F4A-BAF3-4DBF-18AE-5BBC0888438F}"/>
            </a:ext>
          </a:extLst>
        </p:cNvPr>
        <p:cNvGrpSpPr/>
        <p:nvPr/>
      </p:nvGrpSpPr>
      <p:grpSpPr>
        <a:xfrm>
          <a:off x="0" y="0"/>
          <a:ext cx="0" cy="0"/>
          <a:chOff x="0" y="0"/>
          <a:chExt cx="0" cy="0"/>
        </a:xfrm>
      </p:grpSpPr>
      <p:pic>
        <p:nvPicPr>
          <p:cNvPr id="3" name="Image 1" descr="krmu_logo.png">
            <a:extLst>
              <a:ext uri="{FF2B5EF4-FFF2-40B4-BE49-F238E27FC236}">
                <a16:creationId xmlns:a16="http://schemas.microsoft.com/office/drawing/2014/main" id="{EBF10D4A-90BD-295A-A612-F05303881EF7}"/>
              </a:ext>
            </a:extLst>
          </p:cNvPr>
          <p:cNvPicPr>
            <a:picLocks noChangeAspect="1"/>
          </p:cNvPicPr>
          <p:nvPr/>
        </p:nvPicPr>
        <p:blipFill>
          <a:blip r:embed="rId3"/>
          <a:stretch>
            <a:fillRect/>
          </a:stretch>
        </p:blipFill>
        <p:spPr>
          <a:xfrm>
            <a:off x="9936328" y="221681"/>
            <a:ext cx="2028462" cy="291976"/>
          </a:xfrm>
          <a:prstGeom prst="rect">
            <a:avLst/>
          </a:prstGeom>
        </p:spPr>
      </p:pic>
      <p:sp>
        <p:nvSpPr>
          <p:cNvPr id="5" name="Text 1">
            <a:extLst>
              <a:ext uri="{FF2B5EF4-FFF2-40B4-BE49-F238E27FC236}">
                <a16:creationId xmlns:a16="http://schemas.microsoft.com/office/drawing/2014/main" id="{F1D23CE6-DFDC-F11A-08F2-0F7F2E1D0A0C}"/>
              </a:ext>
            </a:extLst>
          </p:cNvPr>
          <p:cNvSpPr/>
          <p:nvPr/>
        </p:nvSpPr>
        <p:spPr>
          <a:xfrm>
            <a:off x="1097280" y="2697480"/>
            <a:ext cx="9966960" cy="914400"/>
          </a:xfrm>
          <a:prstGeom prst="rect">
            <a:avLst/>
          </a:prstGeom>
          <a:noFill/>
          <a:ln/>
        </p:spPr>
        <p:txBody>
          <a:bodyPr wrap="square" lIns="0" tIns="0" rIns="0" bIns="0" rtlCol="0" anchor="ctr"/>
          <a:lstStyle/>
          <a:p>
            <a:pPr marL="0" indent="0" algn="ctr">
              <a:buNone/>
            </a:pPr>
            <a:endParaRPr lang="en-US" sz="2200" dirty="0">
              <a:solidFill>
                <a:schemeClr val="accent1"/>
              </a:solidFill>
            </a:endParaRPr>
          </a:p>
        </p:txBody>
      </p:sp>
      <p:sp>
        <p:nvSpPr>
          <p:cNvPr id="8" name="Shape 2">
            <a:extLst>
              <a:ext uri="{FF2B5EF4-FFF2-40B4-BE49-F238E27FC236}">
                <a16:creationId xmlns:a16="http://schemas.microsoft.com/office/drawing/2014/main" id="{506FCA27-02A4-2491-586B-62C920EBAE13}"/>
              </a:ext>
            </a:extLst>
          </p:cNvPr>
          <p:cNvSpPr/>
          <p:nvPr/>
        </p:nvSpPr>
        <p:spPr>
          <a:xfrm>
            <a:off x="5687568" y="777240"/>
            <a:ext cx="822960" cy="822960"/>
          </a:xfrm>
          <a:prstGeom prst="ellipse">
            <a:avLst/>
          </a:prstGeom>
          <a:solidFill>
            <a:srgbClr val="2E75B6"/>
          </a:solidFill>
          <a:ln/>
        </p:spPr>
      </p:sp>
      <p:pic>
        <p:nvPicPr>
          <p:cNvPr id="10" name="Image 0" descr="icons/database.png">
            <a:extLst>
              <a:ext uri="{FF2B5EF4-FFF2-40B4-BE49-F238E27FC236}">
                <a16:creationId xmlns:a16="http://schemas.microsoft.com/office/drawing/2014/main" id="{7370764F-4300-A768-928E-2BEC455EF8BB}"/>
              </a:ext>
            </a:extLst>
          </p:cNvPr>
          <p:cNvPicPr>
            <a:picLocks noChangeAspect="1"/>
          </p:cNvPicPr>
          <p:nvPr/>
        </p:nvPicPr>
        <p:blipFill>
          <a:blip r:embed="rId4"/>
          <a:stretch>
            <a:fillRect/>
          </a:stretch>
        </p:blipFill>
        <p:spPr>
          <a:xfrm>
            <a:off x="5917997" y="1007669"/>
            <a:ext cx="362102" cy="362102"/>
          </a:xfrm>
          <a:prstGeom prst="rect">
            <a:avLst/>
          </a:prstGeom>
        </p:spPr>
      </p:pic>
      <p:sp>
        <p:nvSpPr>
          <p:cNvPr id="12" name="Shape 3">
            <a:extLst>
              <a:ext uri="{FF2B5EF4-FFF2-40B4-BE49-F238E27FC236}">
                <a16:creationId xmlns:a16="http://schemas.microsoft.com/office/drawing/2014/main" id="{F16B2273-B99D-9E11-712B-E909A27906EB}"/>
              </a:ext>
            </a:extLst>
          </p:cNvPr>
          <p:cNvSpPr/>
          <p:nvPr/>
        </p:nvSpPr>
        <p:spPr>
          <a:xfrm>
            <a:off x="5138928" y="1828800"/>
            <a:ext cx="1920240" cy="384048"/>
          </a:xfrm>
          <a:prstGeom prst="roundRect">
            <a:avLst>
              <a:gd name="adj" fmla="val 50000"/>
            </a:avLst>
          </a:prstGeom>
          <a:solidFill>
            <a:srgbClr val="F0A32E"/>
          </a:solidFill>
          <a:ln/>
        </p:spPr>
      </p:sp>
      <p:sp>
        <p:nvSpPr>
          <p:cNvPr id="14" name="Text 4">
            <a:extLst>
              <a:ext uri="{FF2B5EF4-FFF2-40B4-BE49-F238E27FC236}">
                <a16:creationId xmlns:a16="http://schemas.microsoft.com/office/drawing/2014/main" id="{9F9D9483-211C-97CE-EBA4-C7D178C07C6E}"/>
              </a:ext>
            </a:extLst>
          </p:cNvPr>
          <p:cNvSpPr/>
          <p:nvPr/>
        </p:nvSpPr>
        <p:spPr>
          <a:xfrm>
            <a:off x="5138928" y="1810512"/>
            <a:ext cx="1920240" cy="384048"/>
          </a:xfrm>
          <a:prstGeom prst="rect">
            <a:avLst/>
          </a:prstGeom>
          <a:noFill/>
          <a:ln/>
        </p:spPr>
        <p:txBody>
          <a:bodyPr wrap="square" lIns="0" tIns="0" rIns="0" bIns="0" rtlCol="0" anchor="ctr"/>
          <a:lstStyle/>
          <a:p>
            <a:pPr marL="0" indent="0" algn="ctr">
              <a:buNone/>
            </a:pPr>
            <a:r>
              <a:rPr lang="en-US" sz="1300" b="1" dirty="0">
                <a:solidFill>
                  <a:schemeClr val="accent1"/>
                </a:solidFill>
                <a:latin typeface="Calibri" pitchFamily="34" charset="0"/>
                <a:ea typeface="Calibri" pitchFamily="34" charset="-122"/>
                <a:cs typeface="Calibri" pitchFamily="34" charset="-120"/>
              </a:rPr>
              <a:t>SESSION 4</a:t>
            </a:r>
            <a:endParaRPr lang="en-US" sz="1300" dirty="0">
              <a:solidFill>
                <a:schemeClr val="accent1"/>
              </a:solidFill>
            </a:endParaRPr>
          </a:p>
        </p:txBody>
      </p:sp>
      <p:sp>
        <p:nvSpPr>
          <p:cNvPr id="18" name="Shape 8">
            <a:extLst>
              <a:ext uri="{FF2B5EF4-FFF2-40B4-BE49-F238E27FC236}">
                <a16:creationId xmlns:a16="http://schemas.microsoft.com/office/drawing/2014/main" id="{9FB54520-4FBE-5177-4F85-118719EA1136}"/>
              </a:ext>
            </a:extLst>
          </p:cNvPr>
          <p:cNvSpPr/>
          <p:nvPr/>
        </p:nvSpPr>
        <p:spPr>
          <a:xfrm>
            <a:off x="1409548" y="4800600"/>
            <a:ext cx="1691640" cy="402336"/>
          </a:xfrm>
          <a:prstGeom prst="roundRect">
            <a:avLst>
              <a:gd name="adj" fmla="val 50000"/>
            </a:avLst>
          </a:prstGeom>
          <a:solidFill>
            <a:srgbClr val="1F4E79"/>
          </a:solidFill>
          <a:ln w="12700">
            <a:solidFill>
              <a:srgbClr val="CADCFC"/>
            </a:solidFill>
            <a:prstDash val="solid"/>
          </a:ln>
        </p:spPr>
      </p:sp>
      <p:sp>
        <p:nvSpPr>
          <p:cNvPr id="20" name="Text 9">
            <a:extLst>
              <a:ext uri="{FF2B5EF4-FFF2-40B4-BE49-F238E27FC236}">
                <a16:creationId xmlns:a16="http://schemas.microsoft.com/office/drawing/2014/main" id="{B2AC4471-8928-E8A1-47F2-6CE26E903E65}"/>
              </a:ext>
            </a:extLst>
          </p:cNvPr>
          <p:cNvSpPr/>
          <p:nvPr/>
        </p:nvSpPr>
        <p:spPr>
          <a:xfrm>
            <a:off x="1409548" y="4782312"/>
            <a:ext cx="1691640" cy="402336"/>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IBM IMS</a:t>
            </a:r>
            <a:endParaRPr lang="en-US" sz="1100" dirty="0"/>
          </a:p>
        </p:txBody>
      </p:sp>
      <p:sp>
        <p:nvSpPr>
          <p:cNvPr id="22" name="Shape 10">
            <a:extLst>
              <a:ext uri="{FF2B5EF4-FFF2-40B4-BE49-F238E27FC236}">
                <a16:creationId xmlns:a16="http://schemas.microsoft.com/office/drawing/2014/main" id="{8EE46FF2-3C01-5B6E-147A-2CB12B292925}"/>
              </a:ext>
            </a:extLst>
          </p:cNvPr>
          <p:cNvSpPr/>
          <p:nvPr/>
        </p:nvSpPr>
        <p:spPr>
          <a:xfrm>
            <a:off x="3329788" y="4800600"/>
            <a:ext cx="1691640" cy="402336"/>
          </a:xfrm>
          <a:prstGeom prst="roundRect">
            <a:avLst>
              <a:gd name="adj" fmla="val 50000"/>
            </a:avLst>
          </a:prstGeom>
          <a:solidFill>
            <a:srgbClr val="1F4E79"/>
          </a:solidFill>
          <a:ln w="12700">
            <a:solidFill>
              <a:srgbClr val="CADCFC"/>
            </a:solidFill>
            <a:prstDash val="solid"/>
          </a:ln>
        </p:spPr>
      </p:sp>
      <p:sp>
        <p:nvSpPr>
          <p:cNvPr id="24" name="Text 11">
            <a:extLst>
              <a:ext uri="{FF2B5EF4-FFF2-40B4-BE49-F238E27FC236}">
                <a16:creationId xmlns:a16="http://schemas.microsoft.com/office/drawing/2014/main" id="{78EAF3FC-E376-B2FC-B26B-B8C60E3D57D9}"/>
              </a:ext>
            </a:extLst>
          </p:cNvPr>
          <p:cNvSpPr/>
          <p:nvPr/>
        </p:nvSpPr>
        <p:spPr>
          <a:xfrm>
            <a:off x="3329788" y="4782312"/>
            <a:ext cx="1691640" cy="402336"/>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Neo4j</a:t>
            </a:r>
            <a:endParaRPr lang="en-US" sz="1100" dirty="0"/>
          </a:p>
        </p:txBody>
      </p:sp>
      <p:sp>
        <p:nvSpPr>
          <p:cNvPr id="26" name="Shape 12">
            <a:extLst>
              <a:ext uri="{FF2B5EF4-FFF2-40B4-BE49-F238E27FC236}">
                <a16:creationId xmlns:a16="http://schemas.microsoft.com/office/drawing/2014/main" id="{5D22DBA2-A116-9FC9-4714-80211525E173}"/>
              </a:ext>
            </a:extLst>
          </p:cNvPr>
          <p:cNvSpPr/>
          <p:nvPr/>
        </p:nvSpPr>
        <p:spPr>
          <a:xfrm>
            <a:off x="5250028" y="4800600"/>
            <a:ext cx="1691640" cy="402336"/>
          </a:xfrm>
          <a:prstGeom prst="roundRect">
            <a:avLst>
              <a:gd name="adj" fmla="val 50000"/>
            </a:avLst>
          </a:prstGeom>
          <a:solidFill>
            <a:srgbClr val="1F4E79"/>
          </a:solidFill>
          <a:ln w="12700">
            <a:solidFill>
              <a:srgbClr val="CADCFC"/>
            </a:solidFill>
            <a:prstDash val="solid"/>
          </a:ln>
        </p:spPr>
      </p:sp>
      <p:sp>
        <p:nvSpPr>
          <p:cNvPr id="28" name="Text 13">
            <a:extLst>
              <a:ext uri="{FF2B5EF4-FFF2-40B4-BE49-F238E27FC236}">
                <a16:creationId xmlns:a16="http://schemas.microsoft.com/office/drawing/2014/main" id="{A0EDFC5F-1A01-27F3-B5D9-1EC3AAFECFFB}"/>
              </a:ext>
            </a:extLst>
          </p:cNvPr>
          <p:cNvSpPr/>
          <p:nvPr/>
        </p:nvSpPr>
        <p:spPr>
          <a:xfrm>
            <a:off x="5250028" y="4782312"/>
            <a:ext cx="1691640" cy="402336"/>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MongoDB</a:t>
            </a:r>
            <a:endParaRPr lang="en-US" sz="1100" dirty="0"/>
          </a:p>
        </p:txBody>
      </p:sp>
      <p:sp>
        <p:nvSpPr>
          <p:cNvPr id="30" name="Shape 14">
            <a:extLst>
              <a:ext uri="{FF2B5EF4-FFF2-40B4-BE49-F238E27FC236}">
                <a16:creationId xmlns:a16="http://schemas.microsoft.com/office/drawing/2014/main" id="{2E13DF78-DE8B-5FE1-DD86-527F569F4D2A}"/>
              </a:ext>
            </a:extLst>
          </p:cNvPr>
          <p:cNvSpPr/>
          <p:nvPr/>
        </p:nvSpPr>
        <p:spPr>
          <a:xfrm>
            <a:off x="7170268" y="4800600"/>
            <a:ext cx="1691640" cy="402336"/>
          </a:xfrm>
          <a:prstGeom prst="roundRect">
            <a:avLst>
              <a:gd name="adj" fmla="val 50000"/>
            </a:avLst>
          </a:prstGeom>
          <a:solidFill>
            <a:srgbClr val="1F4E79"/>
          </a:solidFill>
          <a:ln w="12700">
            <a:solidFill>
              <a:srgbClr val="CADCFC"/>
            </a:solidFill>
            <a:prstDash val="solid"/>
          </a:ln>
        </p:spPr>
      </p:sp>
      <p:sp>
        <p:nvSpPr>
          <p:cNvPr id="32" name="Text 15">
            <a:extLst>
              <a:ext uri="{FF2B5EF4-FFF2-40B4-BE49-F238E27FC236}">
                <a16:creationId xmlns:a16="http://schemas.microsoft.com/office/drawing/2014/main" id="{3E7C40EF-EB12-8D4C-E201-0832E661828A}"/>
              </a:ext>
            </a:extLst>
          </p:cNvPr>
          <p:cNvSpPr/>
          <p:nvPr/>
        </p:nvSpPr>
        <p:spPr>
          <a:xfrm>
            <a:off x="7170268" y="4782312"/>
            <a:ext cx="1691640" cy="402336"/>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PostgreSQL</a:t>
            </a:r>
            <a:endParaRPr lang="en-US" sz="1100" dirty="0"/>
          </a:p>
        </p:txBody>
      </p:sp>
      <p:sp>
        <p:nvSpPr>
          <p:cNvPr id="34" name="Shape 16">
            <a:extLst>
              <a:ext uri="{FF2B5EF4-FFF2-40B4-BE49-F238E27FC236}">
                <a16:creationId xmlns:a16="http://schemas.microsoft.com/office/drawing/2014/main" id="{C06E63F2-A3BF-7ED4-0B8D-5755840A9F4A}"/>
              </a:ext>
            </a:extLst>
          </p:cNvPr>
          <p:cNvSpPr/>
          <p:nvPr/>
        </p:nvSpPr>
        <p:spPr>
          <a:xfrm>
            <a:off x="9090508" y="4800600"/>
            <a:ext cx="1691640" cy="402336"/>
          </a:xfrm>
          <a:prstGeom prst="roundRect">
            <a:avLst>
              <a:gd name="adj" fmla="val 50000"/>
            </a:avLst>
          </a:prstGeom>
          <a:solidFill>
            <a:srgbClr val="1F4E79"/>
          </a:solidFill>
          <a:ln w="12700">
            <a:solidFill>
              <a:srgbClr val="CADCFC"/>
            </a:solidFill>
            <a:prstDash val="solid"/>
          </a:ln>
        </p:spPr>
      </p:sp>
      <p:sp>
        <p:nvSpPr>
          <p:cNvPr id="36" name="Text 17">
            <a:extLst>
              <a:ext uri="{FF2B5EF4-FFF2-40B4-BE49-F238E27FC236}">
                <a16:creationId xmlns:a16="http://schemas.microsoft.com/office/drawing/2014/main" id="{79A5C0FE-1479-B502-D745-16789228EAAD}"/>
              </a:ext>
            </a:extLst>
          </p:cNvPr>
          <p:cNvSpPr/>
          <p:nvPr/>
        </p:nvSpPr>
        <p:spPr>
          <a:xfrm>
            <a:off x="9090508" y="4782312"/>
            <a:ext cx="1691640" cy="402336"/>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Oracle</a:t>
            </a:r>
            <a:endParaRPr lang="en-US" sz="1100" dirty="0"/>
          </a:p>
        </p:txBody>
      </p:sp>
      <p:sp>
        <p:nvSpPr>
          <p:cNvPr id="38" name="TextBox 37">
            <a:extLst>
              <a:ext uri="{FF2B5EF4-FFF2-40B4-BE49-F238E27FC236}">
                <a16:creationId xmlns:a16="http://schemas.microsoft.com/office/drawing/2014/main" id="{E92EC3FE-15E0-6E2D-E59F-2C9F735EF403}"/>
              </a:ext>
            </a:extLst>
          </p:cNvPr>
          <p:cNvSpPr txBox="1"/>
          <p:nvPr/>
        </p:nvSpPr>
        <p:spPr>
          <a:xfrm>
            <a:off x="3101188" y="2445214"/>
            <a:ext cx="6096000" cy="769441"/>
          </a:xfrm>
          <a:prstGeom prst="rect">
            <a:avLst/>
          </a:prstGeom>
          <a:noFill/>
        </p:spPr>
        <p:txBody>
          <a:bodyPr wrap="square">
            <a:spAutoFit/>
          </a:bodyPr>
          <a:lstStyle/>
          <a:p>
            <a:pPr marL="0" indent="0" algn="ctr">
              <a:buNone/>
            </a:pPr>
            <a:r>
              <a:rPr lang="en-US" sz="4400" b="1" dirty="0">
                <a:solidFill>
                  <a:schemeClr val="accent1"/>
                </a:solidFill>
                <a:latin typeface="Calibri" pitchFamily="34" charset="0"/>
                <a:ea typeface="Calibri" pitchFamily="34" charset="-122"/>
                <a:cs typeface="Calibri" pitchFamily="34" charset="-120"/>
              </a:rPr>
              <a:t>Data Models</a:t>
            </a:r>
            <a:endParaRPr lang="en-US" sz="4400" dirty="0">
              <a:solidFill>
                <a:schemeClr val="accent1"/>
              </a:solidFill>
            </a:endParaRPr>
          </a:p>
        </p:txBody>
      </p:sp>
      <p:sp>
        <p:nvSpPr>
          <p:cNvPr id="40" name="TextBox 39">
            <a:extLst>
              <a:ext uri="{FF2B5EF4-FFF2-40B4-BE49-F238E27FC236}">
                <a16:creationId xmlns:a16="http://schemas.microsoft.com/office/drawing/2014/main" id="{BA2186CE-F539-857B-FDC1-0760245FD8EA}"/>
              </a:ext>
            </a:extLst>
          </p:cNvPr>
          <p:cNvSpPr txBox="1"/>
          <p:nvPr/>
        </p:nvSpPr>
        <p:spPr>
          <a:xfrm>
            <a:off x="3048000" y="3228945"/>
            <a:ext cx="6096000" cy="400110"/>
          </a:xfrm>
          <a:prstGeom prst="rect">
            <a:avLst/>
          </a:prstGeom>
          <a:noFill/>
        </p:spPr>
        <p:txBody>
          <a:bodyPr wrap="square">
            <a:spAutoFit/>
          </a:bodyPr>
          <a:lstStyle/>
          <a:p>
            <a:pPr marL="0" indent="0" algn="ctr">
              <a:buNone/>
            </a:pPr>
            <a:r>
              <a:rPr lang="en-US" sz="2000" dirty="0">
                <a:solidFill>
                  <a:schemeClr val="accent1"/>
                </a:solidFill>
                <a:latin typeface="Calibri" pitchFamily="34" charset="0"/>
                <a:ea typeface="Calibri" pitchFamily="34" charset="-122"/>
                <a:cs typeface="Calibri" pitchFamily="34" charset="-120"/>
              </a:rPr>
              <a:t>Hierarchical  •  Network  •  Object-Oriented  •  Relational</a:t>
            </a:r>
            <a:endParaRPr lang="en-US" sz="2000" dirty="0">
              <a:solidFill>
                <a:schemeClr val="accent1"/>
              </a:solidFill>
            </a:endParaRPr>
          </a:p>
        </p:txBody>
      </p:sp>
    </p:spTree>
    <p:extLst>
      <p:ext uri="{BB962C8B-B14F-4D97-AF65-F5344CB8AC3E}">
        <p14:creationId xmlns:p14="http://schemas.microsoft.com/office/powerpoint/2010/main" val="843049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Prior Knowledge Activation</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Last session you saw where data sits:</a:t>
            </a:r>
          </a:p>
        </p:txBody>
      </p:sp>
      <p:sp>
        <p:nvSpPr>
          <p:cNvPr id="4" name="Shape 4"/>
          <p:cNvSpPr/>
          <p:nvPr/>
        </p:nvSpPr>
        <p:spPr>
          <a:xfrm>
            <a:off x="841248" y="2011680"/>
            <a:ext cx="10515600" cy="118872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1161288" y="2103120"/>
            <a:ext cx="9875520" cy="1005840"/>
          </a:xfrm>
          <a:prstGeom prst="rect">
            <a:avLst/>
          </a:prstGeom>
          <a:noFill/>
        </p:spPr>
        <p:txBody>
          <a:bodyPr wrap="square" lIns="0" tIns="18288" rIns="0" bIns="18288" anchor="ctr">
            <a:spAutoFit/>
          </a:bodyPr>
          <a:lstStyle/>
          <a:p>
            <a:pPr algn="l">
              <a:spcAft>
                <a:spcPts val="200"/>
              </a:spcAft>
            </a:pPr>
            <a:r>
              <a:rPr sz="1600" b="1" i="0">
                <a:solidFill>
                  <a:srgbClr val="156082"/>
                </a:solidFill>
                <a:latin typeface="Consolas"/>
              </a:rPr>
              <a:t>External level</a:t>
            </a:r>
            <a:r>
              <a:rPr sz="1600" b="0" i="0">
                <a:solidFill>
                  <a:srgbClr val="5A6472"/>
                </a:solidFill>
                <a:latin typeface="Consolas"/>
              </a:rPr>
              <a:t>     what each user sees</a:t>
            </a:r>
          </a:p>
          <a:p>
            <a:pPr algn="l">
              <a:spcAft>
                <a:spcPts val="200"/>
              </a:spcAft>
            </a:pPr>
            <a:r>
              <a:rPr sz="1600" b="1" i="0">
                <a:solidFill>
                  <a:srgbClr val="156082"/>
                </a:solidFill>
                <a:latin typeface="Consolas"/>
              </a:rPr>
              <a:t>Conceptual level</a:t>
            </a:r>
            <a:r>
              <a:rPr sz="1600" b="0" i="0">
                <a:solidFill>
                  <a:srgbClr val="5A6472"/>
                </a:solidFill>
                <a:latin typeface="Consolas"/>
              </a:rPr>
              <a:t>   what the whole database holds</a:t>
            </a:r>
          </a:p>
          <a:p>
            <a:pPr algn="l">
              <a:spcAft>
                <a:spcPts val="200"/>
              </a:spcAft>
            </a:pPr>
            <a:r>
              <a:rPr sz="1600" b="1" i="0">
                <a:solidFill>
                  <a:srgbClr val="156082"/>
                </a:solidFill>
                <a:latin typeface="Consolas"/>
              </a:rPr>
              <a:t>Internal level</a:t>
            </a:r>
            <a:r>
              <a:rPr sz="1600" b="0" i="0">
                <a:solidFill>
                  <a:srgbClr val="5A6472"/>
                </a:solidFill>
                <a:latin typeface="Consolas"/>
              </a:rPr>
              <a:t>     how it is physically stored</a:t>
            </a:r>
          </a:p>
        </p:txBody>
      </p:sp>
      <p:sp>
        <p:nvSpPr>
          <p:cNvPr id="6" name="Shape 6"/>
          <p:cNvSpPr/>
          <p:nvPr/>
        </p:nvSpPr>
        <p:spPr>
          <a:xfrm>
            <a:off x="841248" y="3611880"/>
            <a:ext cx="3261360" cy="14173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hape 7"/>
          <p:cNvSpPr/>
          <p:nvPr/>
        </p:nvSpPr>
        <p:spPr>
          <a:xfrm>
            <a:off x="841248" y="3611880"/>
            <a:ext cx="32613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Node 8"/>
          <p:cNvSpPr/>
          <p:nvPr/>
        </p:nvSpPr>
        <p:spPr>
          <a:xfrm>
            <a:off x="1069848" y="3840480"/>
            <a:ext cx="502920" cy="50292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600" b="1" i="0">
                <a:solidFill>
                  <a:srgbClr val="FFFFFF"/>
                </a:solidFill>
                <a:latin typeface="Times New Roman"/>
              </a:rPr>
              <a:t>Q1</a:t>
            </a:r>
          </a:p>
        </p:txBody>
      </p:sp>
      <p:sp>
        <p:nvSpPr>
          <p:cNvPr id="9" name="TextBox 9"/>
          <p:cNvSpPr txBox="1"/>
          <p:nvPr/>
        </p:nvSpPr>
        <p:spPr>
          <a:xfrm>
            <a:off x="1069848" y="4434840"/>
            <a:ext cx="2804160" cy="457200"/>
          </a:xfrm>
          <a:prstGeom prst="rect">
            <a:avLst/>
          </a:prstGeom>
          <a:noFill/>
        </p:spPr>
        <p:txBody>
          <a:bodyPr wrap="square" lIns="0" tIns="18288" rIns="0" bIns="18288" anchor="t">
            <a:spAutoFit/>
          </a:bodyPr>
          <a:lstStyle/>
          <a:p>
            <a:pPr algn="l">
              <a:spcAft>
                <a:spcPts val="400"/>
              </a:spcAft>
            </a:pPr>
            <a:r>
              <a:rPr sz="1600" b="1" i="0">
                <a:solidFill>
                  <a:srgbClr val="0E2841"/>
                </a:solidFill>
                <a:latin typeface="Times New Roman"/>
              </a:rPr>
              <a:t>What shape does the conceptual level take?</a:t>
            </a:r>
          </a:p>
        </p:txBody>
      </p:sp>
      <p:sp>
        <p:nvSpPr>
          <p:cNvPr id="10" name="Shape 10"/>
          <p:cNvSpPr/>
          <p:nvPr/>
        </p:nvSpPr>
        <p:spPr>
          <a:xfrm>
            <a:off x="4468368" y="3611880"/>
            <a:ext cx="3261360" cy="14173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hape 11"/>
          <p:cNvSpPr/>
          <p:nvPr/>
        </p:nvSpPr>
        <p:spPr>
          <a:xfrm>
            <a:off x="4468368" y="3611880"/>
            <a:ext cx="32613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Node 12"/>
          <p:cNvSpPr/>
          <p:nvPr/>
        </p:nvSpPr>
        <p:spPr>
          <a:xfrm>
            <a:off x="4696968" y="3840480"/>
            <a:ext cx="502920" cy="50292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600" b="1" i="0">
                <a:solidFill>
                  <a:srgbClr val="FFFFFF"/>
                </a:solidFill>
                <a:latin typeface="Times New Roman"/>
              </a:rPr>
              <a:t>Q2</a:t>
            </a:r>
          </a:p>
        </p:txBody>
      </p:sp>
      <p:sp>
        <p:nvSpPr>
          <p:cNvPr id="13" name="TextBox 13"/>
          <p:cNvSpPr txBox="1"/>
          <p:nvPr/>
        </p:nvSpPr>
        <p:spPr>
          <a:xfrm>
            <a:off x="4696968" y="4434840"/>
            <a:ext cx="2804160" cy="457200"/>
          </a:xfrm>
          <a:prstGeom prst="rect">
            <a:avLst/>
          </a:prstGeom>
          <a:noFill/>
        </p:spPr>
        <p:txBody>
          <a:bodyPr wrap="square" lIns="0" tIns="18288" rIns="0" bIns="18288" anchor="t">
            <a:spAutoFit/>
          </a:bodyPr>
          <a:lstStyle/>
          <a:p>
            <a:pPr algn="l">
              <a:spcAft>
                <a:spcPts val="400"/>
              </a:spcAft>
            </a:pPr>
            <a:r>
              <a:rPr sz="1600" b="1" i="0">
                <a:solidFill>
                  <a:srgbClr val="0E2841"/>
                </a:solidFill>
                <a:latin typeface="Times New Roman"/>
              </a:rPr>
              <a:t>Can data be stored as a tree?</a:t>
            </a:r>
          </a:p>
        </p:txBody>
      </p:sp>
      <p:sp>
        <p:nvSpPr>
          <p:cNvPr id="14" name="Shape 14"/>
          <p:cNvSpPr/>
          <p:nvPr/>
        </p:nvSpPr>
        <p:spPr>
          <a:xfrm>
            <a:off x="8095488" y="3611880"/>
            <a:ext cx="3261360" cy="14173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hape 15"/>
          <p:cNvSpPr/>
          <p:nvPr/>
        </p:nvSpPr>
        <p:spPr>
          <a:xfrm>
            <a:off x="8095488" y="3611880"/>
            <a:ext cx="32613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Node 16"/>
          <p:cNvSpPr/>
          <p:nvPr/>
        </p:nvSpPr>
        <p:spPr>
          <a:xfrm>
            <a:off x="8324088" y="3840480"/>
            <a:ext cx="502920" cy="502920"/>
          </a:xfrm>
          <a:prstGeom prst="roundRect">
            <a:avLst>
              <a:gd name="adj" fmla="val 25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600" b="1" i="0">
                <a:solidFill>
                  <a:srgbClr val="FFFFFF"/>
                </a:solidFill>
                <a:latin typeface="Times New Roman"/>
              </a:rPr>
              <a:t>Q3</a:t>
            </a:r>
          </a:p>
        </p:txBody>
      </p:sp>
      <p:sp>
        <p:nvSpPr>
          <p:cNvPr id="17" name="TextBox 17"/>
          <p:cNvSpPr txBox="1"/>
          <p:nvPr/>
        </p:nvSpPr>
        <p:spPr>
          <a:xfrm>
            <a:off x="8324088" y="4434840"/>
            <a:ext cx="2804160" cy="457200"/>
          </a:xfrm>
          <a:prstGeom prst="rect">
            <a:avLst/>
          </a:prstGeom>
          <a:noFill/>
        </p:spPr>
        <p:txBody>
          <a:bodyPr wrap="square" lIns="0" tIns="18288" rIns="0" bIns="18288" anchor="t">
            <a:spAutoFit/>
          </a:bodyPr>
          <a:lstStyle/>
          <a:p>
            <a:pPr algn="l">
              <a:spcAft>
                <a:spcPts val="400"/>
              </a:spcAft>
            </a:pPr>
            <a:r>
              <a:rPr sz="1600" b="1" i="0">
                <a:solidFill>
                  <a:srgbClr val="0E2841"/>
                </a:solidFill>
                <a:latin typeface="Times New Roman"/>
              </a:rPr>
              <a:t>Why do banks prefer tables?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Session Outcomes</a:t>
            </a:r>
          </a:p>
        </p:txBody>
      </p:sp>
      <p:sp>
        <p:nvSpPr>
          <p:cNvPr id="3" name="TextBox 3"/>
          <p:cNvSpPr txBox="1"/>
          <p:nvPr/>
        </p:nvSpPr>
        <p:spPr>
          <a:xfrm>
            <a:off x="841248" y="169164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You will be able to:</a:t>
            </a:r>
          </a:p>
        </p:txBody>
      </p:sp>
      <p:sp>
        <p:nvSpPr>
          <p:cNvPr id="4" name="Shape 4"/>
          <p:cNvSpPr/>
          <p:nvPr/>
        </p:nvSpPr>
        <p:spPr>
          <a:xfrm>
            <a:off x="841248" y="2286000"/>
            <a:ext cx="10515600" cy="960120"/>
          </a:xfrm>
          <a:prstGeom prst="roundRect">
            <a:avLst>
              <a:gd name="adj" fmla="val 12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Node 5"/>
          <p:cNvSpPr/>
          <p:nvPr/>
        </p:nvSpPr>
        <p:spPr>
          <a:xfrm>
            <a:off x="1069848" y="2468880"/>
            <a:ext cx="59436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400" b="1" i="0">
                <a:solidFill>
                  <a:srgbClr val="FFFFFF"/>
                </a:solidFill>
                <a:latin typeface="Times New Roman"/>
              </a:rPr>
              <a:t>1</a:t>
            </a:r>
          </a:p>
        </p:txBody>
      </p:sp>
      <p:sp>
        <p:nvSpPr>
          <p:cNvPr id="6" name="TextBox 6"/>
          <p:cNvSpPr txBox="1"/>
          <p:nvPr/>
        </p:nvSpPr>
        <p:spPr>
          <a:xfrm>
            <a:off x="1847088" y="2468880"/>
            <a:ext cx="9235440" cy="594360"/>
          </a:xfrm>
          <a:prstGeom prst="rect">
            <a:avLst/>
          </a:prstGeom>
          <a:noFill/>
        </p:spPr>
        <p:txBody>
          <a:bodyPr wrap="square" lIns="0" tIns="18288" rIns="0" bIns="18288" anchor="ctr">
            <a:spAutoFit/>
          </a:bodyPr>
          <a:lstStyle/>
          <a:p>
            <a:pPr algn="l">
              <a:spcAft>
                <a:spcPts val="400"/>
              </a:spcAft>
            </a:pPr>
            <a:r>
              <a:rPr sz="2000" b="1" i="0">
                <a:solidFill>
                  <a:srgbClr val="0E2841"/>
                </a:solidFill>
                <a:latin typeface="Times New Roman"/>
              </a:rPr>
              <a:t>Describe the four classical data models</a:t>
            </a:r>
          </a:p>
        </p:txBody>
      </p:sp>
      <p:sp>
        <p:nvSpPr>
          <p:cNvPr id="7" name="Shape 7"/>
          <p:cNvSpPr/>
          <p:nvPr/>
        </p:nvSpPr>
        <p:spPr>
          <a:xfrm>
            <a:off x="841248" y="3383280"/>
            <a:ext cx="10515600" cy="960120"/>
          </a:xfrm>
          <a:prstGeom prst="roundRect">
            <a:avLst>
              <a:gd name="adj" fmla="val 12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Node 8"/>
          <p:cNvSpPr/>
          <p:nvPr/>
        </p:nvSpPr>
        <p:spPr>
          <a:xfrm>
            <a:off x="1069848" y="3566160"/>
            <a:ext cx="594360" cy="59436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400" b="1" i="0">
                <a:solidFill>
                  <a:srgbClr val="FFFFFF"/>
                </a:solidFill>
                <a:latin typeface="Times New Roman"/>
              </a:rPr>
              <a:t>2</a:t>
            </a:r>
          </a:p>
        </p:txBody>
      </p:sp>
      <p:sp>
        <p:nvSpPr>
          <p:cNvPr id="9" name="TextBox 9"/>
          <p:cNvSpPr txBox="1"/>
          <p:nvPr/>
        </p:nvSpPr>
        <p:spPr>
          <a:xfrm>
            <a:off x="1847088" y="3566160"/>
            <a:ext cx="9235440" cy="594360"/>
          </a:xfrm>
          <a:prstGeom prst="rect">
            <a:avLst/>
          </a:prstGeom>
          <a:noFill/>
        </p:spPr>
        <p:txBody>
          <a:bodyPr wrap="square" lIns="0" tIns="18288" rIns="0" bIns="18288" anchor="ctr">
            <a:spAutoFit/>
          </a:bodyPr>
          <a:lstStyle/>
          <a:p>
            <a:pPr algn="l">
              <a:spcAft>
                <a:spcPts val="400"/>
              </a:spcAft>
            </a:pPr>
            <a:r>
              <a:rPr sz="2000" b="1" i="0">
                <a:solidFill>
                  <a:srgbClr val="0E2841"/>
                </a:solidFill>
                <a:latin typeface="Times New Roman"/>
              </a:rPr>
              <a:t>Read tree, graph, object and table diagrams</a:t>
            </a:r>
          </a:p>
        </p:txBody>
      </p:sp>
      <p:sp>
        <p:nvSpPr>
          <p:cNvPr id="10" name="Shape 10"/>
          <p:cNvSpPr/>
          <p:nvPr/>
        </p:nvSpPr>
        <p:spPr>
          <a:xfrm>
            <a:off x="841248" y="4480560"/>
            <a:ext cx="10515600" cy="960120"/>
          </a:xfrm>
          <a:prstGeom prst="roundRect">
            <a:avLst>
              <a:gd name="adj" fmla="val 12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Node 11"/>
          <p:cNvSpPr/>
          <p:nvPr/>
        </p:nvSpPr>
        <p:spPr>
          <a:xfrm>
            <a:off x="1069848" y="4663440"/>
            <a:ext cx="594360" cy="594360"/>
          </a:xfrm>
          <a:prstGeom prst="roundRect">
            <a:avLst>
              <a:gd name="adj" fmla="val 25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400" b="1" i="0">
                <a:solidFill>
                  <a:srgbClr val="FFFFFF"/>
                </a:solidFill>
                <a:latin typeface="Times New Roman"/>
              </a:rPr>
              <a:t>3</a:t>
            </a:r>
          </a:p>
        </p:txBody>
      </p:sp>
      <p:sp>
        <p:nvSpPr>
          <p:cNvPr id="12" name="TextBox 12"/>
          <p:cNvSpPr txBox="1"/>
          <p:nvPr/>
        </p:nvSpPr>
        <p:spPr>
          <a:xfrm>
            <a:off x="1847088" y="4663440"/>
            <a:ext cx="9235440" cy="594360"/>
          </a:xfrm>
          <a:prstGeom prst="rect">
            <a:avLst/>
          </a:prstGeom>
          <a:noFill/>
        </p:spPr>
        <p:txBody>
          <a:bodyPr wrap="square" lIns="0" tIns="18288" rIns="0" bIns="18288" anchor="ctr">
            <a:spAutoFit/>
          </a:bodyPr>
          <a:lstStyle/>
          <a:p>
            <a:pPr algn="l">
              <a:spcAft>
                <a:spcPts val="400"/>
              </a:spcAft>
            </a:pPr>
            <a:r>
              <a:rPr sz="2000" b="1" i="0">
                <a:solidFill>
                  <a:srgbClr val="0E2841"/>
                </a:solidFill>
                <a:latin typeface="Times New Roman"/>
              </a:rPr>
              <a:t>Match a data model to a real scenario</a:t>
            </a:r>
          </a:p>
        </p:txBody>
      </p:sp>
      <p:sp>
        <p:nvSpPr>
          <p:cNvPr id="13" name="TextBox 13"/>
          <p:cNvSpPr txBox="1"/>
          <p:nvPr/>
        </p:nvSpPr>
        <p:spPr>
          <a:xfrm>
            <a:off x="841248" y="5638800"/>
            <a:ext cx="10515600" cy="365760"/>
          </a:xfrm>
          <a:prstGeom prst="rect">
            <a:avLst/>
          </a:prstGeom>
          <a:noFill/>
        </p:spPr>
        <p:txBody>
          <a:bodyPr wrap="square" lIns="0" tIns="18288" rIns="0" bIns="18288" anchor="t">
            <a:spAutoFit/>
          </a:bodyPr>
          <a:lstStyle/>
          <a:p>
            <a:pPr algn="l">
              <a:spcAft>
                <a:spcPts val="400"/>
              </a:spcAft>
            </a:pPr>
            <a:r>
              <a:rPr sz="1600" b="1" i="0">
                <a:solidFill>
                  <a:srgbClr val="5A6472"/>
                </a:solidFill>
                <a:latin typeface="Times New Roman"/>
              </a:rPr>
              <a:t>CO1   |   Bloom's L2  (Understand)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Common Misconceptions</a:t>
            </a:r>
          </a:p>
        </p:txBody>
      </p:sp>
      <p:sp>
        <p:nvSpPr>
          <p:cNvPr id="3" name="TextBox 3"/>
          <p:cNvSpPr txBox="1"/>
          <p:nvPr/>
        </p:nvSpPr>
        <p:spPr>
          <a:xfrm>
            <a:off x="841248" y="1691640"/>
            <a:ext cx="5074920" cy="365760"/>
          </a:xfrm>
          <a:prstGeom prst="rect">
            <a:avLst/>
          </a:prstGeom>
          <a:noFill/>
        </p:spPr>
        <p:txBody>
          <a:bodyPr wrap="square" lIns="0" tIns="18288" rIns="0" bIns="18288" anchor="t">
            <a:spAutoFit/>
          </a:bodyPr>
          <a:lstStyle/>
          <a:p>
            <a:pPr algn="l">
              <a:spcAft>
                <a:spcPts val="400"/>
              </a:spcAft>
            </a:pPr>
            <a:r>
              <a:rPr sz="2200" b="1" i="0">
                <a:solidFill>
                  <a:srgbClr val="C03030"/>
                </a:solidFill>
                <a:latin typeface="Times New Roman"/>
              </a:rPr>
              <a:t>✗   Myth</a:t>
            </a:r>
          </a:p>
        </p:txBody>
      </p:sp>
      <p:sp>
        <p:nvSpPr>
          <p:cNvPr id="4" name="TextBox 4"/>
          <p:cNvSpPr txBox="1"/>
          <p:nvPr/>
        </p:nvSpPr>
        <p:spPr>
          <a:xfrm>
            <a:off x="6281928" y="1691640"/>
            <a:ext cx="5074920" cy="365760"/>
          </a:xfrm>
          <a:prstGeom prst="rect">
            <a:avLst/>
          </a:prstGeom>
          <a:noFill/>
        </p:spPr>
        <p:txBody>
          <a:bodyPr wrap="square" lIns="0" tIns="18288" rIns="0" bIns="18288" anchor="t">
            <a:spAutoFit/>
          </a:bodyPr>
          <a:lstStyle/>
          <a:p>
            <a:pPr algn="l">
              <a:spcAft>
                <a:spcPts val="400"/>
              </a:spcAft>
            </a:pPr>
            <a:r>
              <a:rPr sz="2200" b="1" i="0">
                <a:solidFill>
                  <a:srgbClr val="196B24"/>
                </a:solidFill>
                <a:latin typeface="Times New Roman"/>
              </a:rPr>
              <a:t>✓   Fact</a:t>
            </a:r>
          </a:p>
        </p:txBody>
      </p:sp>
      <p:sp>
        <p:nvSpPr>
          <p:cNvPr id="5" name="Shape 5"/>
          <p:cNvSpPr/>
          <p:nvPr/>
        </p:nvSpPr>
        <p:spPr>
          <a:xfrm>
            <a:off x="841248" y="2286000"/>
            <a:ext cx="5074920" cy="960120"/>
          </a:xfrm>
          <a:prstGeom prst="roundRect">
            <a:avLst>
              <a:gd name="adj" fmla="val 12000"/>
            </a:avLst>
          </a:prstGeom>
          <a:solidFill>
            <a:srgbClr val="FDF0F0"/>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6"/>
          <p:cNvSpPr txBox="1"/>
          <p:nvPr/>
        </p:nvSpPr>
        <p:spPr>
          <a:xfrm>
            <a:off x="1115568" y="2286000"/>
            <a:ext cx="4526280" cy="960120"/>
          </a:xfrm>
          <a:prstGeom prst="rect">
            <a:avLst/>
          </a:prstGeom>
          <a:noFill/>
        </p:spPr>
        <p:txBody>
          <a:bodyPr wrap="square" lIns="0" tIns="18288" rIns="0" bIns="18288" anchor="ctr">
            <a:spAutoFit/>
          </a:bodyPr>
          <a:lstStyle/>
          <a:p>
            <a:pPr algn="l">
              <a:spcAft>
                <a:spcPts val="400"/>
              </a:spcAft>
            </a:pPr>
            <a:r>
              <a:rPr sz="1800" b="1" i="0">
                <a:solidFill>
                  <a:srgbClr val="0E2841"/>
                </a:solidFill>
                <a:latin typeface="Times New Roman"/>
              </a:rPr>
              <a:t>Relational is the only model</a:t>
            </a:r>
          </a:p>
        </p:txBody>
      </p:sp>
      <p:sp>
        <p:nvSpPr>
          <p:cNvPr id="7" name="Shape 7"/>
          <p:cNvSpPr/>
          <p:nvPr/>
        </p:nvSpPr>
        <p:spPr>
          <a:xfrm>
            <a:off x="6281928" y="2286000"/>
            <a:ext cx="5074920" cy="960120"/>
          </a:xfrm>
          <a:prstGeom prst="roundRect">
            <a:avLst>
              <a:gd name="adj" fmla="val 12000"/>
            </a:avLst>
          </a:prstGeom>
          <a:solidFill>
            <a:srgbClr val="EFF7E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p:cNvSpPr txBox="1"/>
          <p:nvPr/>
        </p:nvSpPr>
        <p:spPr>
          <a:xfrm>
            <a:off x="6556248" y="2286000"/>
            <a:ext cx="4526280" cy="960120"/>
          </a:xfrm>
          <a:prstGeom prst="rect">
            <a:avLst/>
          </a:prstGeom>
          <a:noFill/>
        </p:spPr>
        <p:txBody>
          <a:bodyPr wrap="square" lIns="0" tIns="18288" rIns="0" bIns="18288" anchor="ctr">
            <a:spAutoFit/>
          </a:bodyPr>
          <a:lstStyle/>
          <a:p>
            <a:pPr algn="l">
              <a:spcAft>
                <a:spcPts val="400"/>
              </a:spcAft>
            </a:pPr>
            <a:r>
              <a:rPr sz="1800" b="1" i="0">
                <a:solidFill>
                  <a:srgbClr val="0E2841"/>
                </a:solidFill>
                <a:latin typeface="Times New Roman"/>
              </a:rPr>
              <a:t>Four models, all still in use</a:t>
            </a:r>
          </a:p>
        </p:txBody>
      </p:sp>
      <p:sp>
        <p:nvSpPr>
          <p:cNvPr id="9" name="Shape 9"/>
          <p:cNvSpPr/>
          <p:nvPr/>
        </p:nvSpPr>
        <p:spPr>
          <a:xfrm>
            <a:off x="841248" y="3383280"/>
            <a:ext cx="5074920" cy="960120"/>
          </a:xfrm>
          <a:prstGeom prst="roundRect">
            <a:avLst>
              <a:gd name="adj" fmla="val 12000"/>
            </a:avLst>
          </a:prstGeom>
          <a:solidFill>
            <a:srgbClr val="FDF0F0"/>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1115568" y="3383280"/>
            <a:ext cx="4526280" cy="960120"/>
          </a:xfrm>
          <a:prstGeom prst="rect">
            <a:avLst/>
          </a:prstGeom>
          <a:noFill/>
        </p:spPr>
        <p:txBody>
          <a:bodyPr wrap="square" lIns="0" tIns="18288" rIns="0" bIns="18288" anchor="ctr">
            <a:spAutoFit/>
          </a:bodyPr>
          <a:lstStyle/>
          <a:p>
            <a:pPr algn="l">
              <a:spcAft>
                <a:spcPts val="400"/>
              </a:spcAft>
            </a:pPr>
            <a:r>
              <a:rPr sz="1800" b="1" i="0">
                <a:solidFill>
                  <a:srgbClr val="0E2841"/>
                </a:solidFill>
                <a:latin typeface="Times New Roman"/>
              </a:rPr>
              <a:t>The hierarchical model is dead</a:t>
            </a:r>
          </a:p>
        </p:txBody>
      </p:sp>
      <p:sp>
        <p:nvSpPr>
          <p:cNvPr id="11" name="Shape 11"/>
          <p:cNvSpPr/>
          <p:nvPr/>
        </p:nvSpPr>
        <p:spPr>
          <a:xfrm>
            <a:off x="6281928" y="3383280"/>
            <a:ext cx="5074920" cy="960120"/>
          </a:xfrm>
          <a:prstGeom prst="roundRect">
            <a:avLst>
              <a:gd name="adj" fmla="val 12000"/>
            </a:avLst>
          </a:prstGeom>
          <a:solidFill>
            <a:srgbClr val="EFF7E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2"/>
          <p:cNvSpPr txBox="1"/>
          <p:nvPr/>
        </p:nvSpPr>
        <p:spPr>
          <a:xfrm>
            <a:off x="6556248" y="3383280"/>
            <a:ext cx="4526280" cy="960120"/>
          </a:xfrm>
          <a:prstGeom prst="rect">
            <a:avLst/>
          </a:prstGeom>
          <a:noFill/>
        </p:spPr>
        <p:txBody>
          <a:bodyPr wrap="square" lIns="0" tIns="18288" rIns="0" bIns="18288" anchor="ctr">
            <a:spAutoFit/>
          </a:bodyPr>
          <a:lstStyle/>
          <a:p>
            <a:pPr algn="l">
              <a:spcAft>
                <a:spcPts val="400"/>
              </a:spcAft>
            </a:pPr>
            <a:r>
              <a:rPr sz="1800" b="1" i="0">
                <a:solidFill>
                  <a:srgbClr val="0E2841"/>
                </a:solidFill>
                <a:latin typeface="Times New Roman"/>
              </a:rPr>
              <a:t>It runs IMS, XML and JSON</a:t>
            </a:r>
          </a:p>
        </p:txBody>
      </p:sp>
      <p:sp>
        <p:nvSpPr>
          <p:cNvPr id="13" name="Shape 13"/>
          <p:cNvSpPr/>
          <p:nvPr/>
        </p:nvSpPr>
        <p:spPr>
          <a:xfrm>
            <a:off x="841248" y="4480560"/>
            <a:ext cx="5074920" cy="960120"/>
          </a:xfrm>
          <a:prstGeom prst="roundRect">
            <a:avLst>
              <a:gd name="adj" fmla="val 12000"/>
            </a:avLst>
          </a:prstGeom>
          <a:solidFill>
            <a:srgbClr val="FDF0F0"/>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1115568" y="4480560"/>
            <a:ext cx="4526280" cy="960120"/>
          </a:xfrm>
          <a:prstGeom prst="rect">
            <a:avLst/>
          </a:prstGeom>
          <a:noFill/>
        </p:spPr>
        <p:txBody>
          <a:bodyPr wrap="square" lIns="0" tIns="18288" rIns="0" bIns="18288" anchor="ctr">
            <a:spAutoFit/>
          </a:bodyPr>
          <a:lstStyle/>
          <a:p>
            <a:pPr algn="l">
              <a:spcAft>
                <a:spcPts val="400"/>
              </a:spcAft>
            </a:pPr>
            <a:r>
              <a:rPr sz="1800" b="1" i="0">
                <a:solidFill>
                  <a:srgbClr val="0E2841"/>
                </a:solidFill>
                <a:latin typeface="Times New Roman"/>
              </a:rPr>
              <a:t>"Network model" means networking</a:t>
            </a:r>
          </a:p>
        </p:txBody>
      </p:sp>
      <p:sp>
        <p:nvSpPr>
          <p:cNvPr id="15" name="Shape 15"/>
          <p:cNvSpPr/>
          <p:nvPr/>
        </p:nvSpPr>
        <p:spPr>
          <a:xfrm>
            <a:off x="6281928" y="4480560"/>
            <a:ext cx="5074920" cy="960120"/>
          </a:xfrm>
          <a:prstGeom prst="roundRect">
            <a:avLst>
              <a:gd name="adj" fmla="val 12000"/>
            </a:avLst>
          </a:prstGeom>
          <a:solidFill>
            <a:srgbClr val="EFF7E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6556248" y="4480560"/>
            <a:ext cx="4526280" cy="960120"/>
          </a:xfrm>
          <a:prstGeom prst="rect">
            <a:avLst/>
          </a:prstGeom>
          <a:noFill/>
        </p:spPr>
        <p:txBody>
          <a:bodyPr wrap="square" lIns="0" tIns="18288" rIns="0" bIns="18288" anchor="ctr">
            <a:spAutoFit/>
          </a:bodyPr>
          <a:lstStyle/>
          <a:p>
            <a:pPr algn="l">
              <a:spcAft>
                <a:spcPts val="400"/>
              </a:spcAft>
            </a:pPr>
            <a:r>
              <a:rPr sz="1800" b="1" i="0">
                <a:solidFill>
                  <a:srgbClr val="0E2841"/>
                </a:solidFill>
                <a:latin typeface="Times New Roman"/>
              </a:rPr>
              <a:t>It means records linked freely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What Is a Data Model?</a:t>
            </a:r>
          </a:p>
        </p:txBody>
      </p:sp>
      <p:sp>
        <p:nvSpPr>
          <p:cNvPr id="3" name="Shape 3"/>
          <p:cNvSpPr/>
          <p:nvPr/>
        </p:nvSpPr>
        <p:spPr>
          <a:xfrm>
            <a:off x="841248" y="2011680"/>
            <a:ext cx="4937760" cy="329184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Node 4"/>
          <p:cNvSpPr/>
          <p:nvPr/>
        </p:nvSpPr>
        <p:spPr>
          <a:xfrm>
            <a:off x="1481328" y="2377440"/>
            <a:ext cx="3657600" cy="100584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400" b="1" i="0">
                <a:solidFill>
                  <a:srgbClr val="FFFFFF"/>
                </a:solidFill>
                <a:latin typeface="Times New Roman"/>
              </a:rPr>
              <a:t>DATA MODEL</a:t>
            </a:r>
          </a:p>
        </p:txBody>
      </p:sp>
      <p:sp>
        <p:nvSpPr>
          <p:cNvPr id="5" name="TextBox 5"/>
          <p:cNvSpPr txBox="1"/>
          <p:nvPr/>
        </p:nvSpPr>
        <p:spPr>
          <a:xfrm>
            <a:off x="1252728" y="3566160"/>
            <a:ext cx="4114800" cy="1188720"/>
          </a:xfrm>
          <a:prstGeom prst="rect">
            <a:avLst/>
          </a:prstGeom>
          <a:noFill/>
        </p:spPr>
        <p:txBody>
          <a:bodyPr wrap="square" lIns="0" tIns="18288" rIns="0" bIns="18288" anchor="t">
            <a:spAutoFit/>
          </a:bodyPr>
          <a:lstStyle/>
          <a:p>
            <a:pPr algn="l">
              <a:spcAft>
                <a:spcPts val="400"/>
              </a:spcAft>
            </a:pPr>
            <a:r>
              <a:rPr sz="1600" b="0" i="0">
                <a:solidFill>
                  <a:srgbClr val="2B2B2B"/>
                </a:solidFill>
                <a:latin typeface="Times New Roman"/>
              </a:rPr>
              <a:t>A blueprint for how data is shaped, linked and restricted — chosen before any table is created.</a:t>
            </a:r>
          </a:p>
        </p:txBody>
      </p:sp>
      <p:sp>
        <p:nvSpPr>
          <p:cNvPr id="6" name="Shape 6"/>
          <p:cNvSpPr/>
          <p:nvPr/>
        </p:nvSpPr>
        <p:spPr>
          <a:xfrm>
            <a:off x="6281928" y="2011680"/>
            <a:ext cx="5074920" cy="685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hape 7"/>
          <p:cNvSpPr/>
          <p:nvPr/>
        </p:nvSpPr>
        <p:spPr>
          <a:xfrm>
            <a:off x="6281928" y="2011680"/>
            <a:ext cx="5074920" cy="9144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p:cNvSpPr txBox="1"/>
          <p:nvPr/>
        </p:nvSpPr>
        <p:spPr>
          <a:xfrm>
            <a:off x="6556248" y="2103120"/>
            <a:ext cx="4526280" cy="594360"/>
          </a:xfrm>
          <a:prstGeom prst="rect">
            <a:avLst/>
          </a:prstGeom>
          <a:noFill/>
        </p:spPr>
        <p:txBody>
          <a:bodyPr wrap="square" lIns="0" tIns="18288" rIns="0" bIns="18288" anchor="ctr">
            <a:spAutoFit/>
          </a:bodyPr>
          <a:lstStyle/>
          <a:p>
            <a:pPr algn="l">
              <a:spcAft>
                <a:spcPts val="0"/>
              </a:spcAft>
            </a:pPr>
            <a:r>
              <a:rPr sz="1800" b="1" i="0">
                <a:solidFill>
                  <a:srgbClr val="0E2841"/>
                </a:solidFill>
                <a:latin typeface="Times New Roman"/>
              </a:rPr>
              <a:t>Structure</a:t>
            </a:r>
          </a:p>
          <a:p>
            <a:pPr algn="l">
              <a:spcAft>
                <a:spcPts val="0"/>
              </a:spcAft>
            </a:pPr>
            <a:r>
              <a:rPr sz="1400" b="0" i="0">
                <a:solidFill>
                  <a:srgbClr val="5A6472"/>
                </a:solidFill>
                <a:latin typeface="Times New Roman"/>
              </a:rPr>
              <a:t>How the data is shaped</a:t>
            </a:r>
          </a:p>
        </p:txBody>
      </p:sp>
      <p:sp>
        <p:nvSpPr>
          <p:cNvPr id="9" name="Shape 9"/>
          <p:cNvSpPr/>
          <p:nvPr/>
        </p:nvSpPr>
        <p:spPr>
          <a:xfrm>
            <a:off x="6281928" y="2880360"/>
            <a:ext cx="5074920" cy="685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hape 10"/>
          <p:cNvSpPr/>
          <p:nvPr/>
        </p:nvSpPr>
        <p:spPr>
          <a:xfrm>
            <a:off x="6281928" y="2880360"/>
            <a:ext cx="5074920" cy="9144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6556248" y="2971800"/>
            <a:ext cx="4526280" cy="594360"/>
          </a:xfrm>
          <a:prstGeom prst="rect">
            <a:avLst/>
          </a:prstGeom>
          <a:noFill/>
        </p:spPr>
        <p:txBody>
          <a:bodyPr wrap="square" lIns="0" tIns="18288" rIns="0" bIns="18288" anchor="ctr">
            <a:spAutoFit/>
          </a:bodyPr>
          <a:lstStyle/>
          <a:p>
            <a:pPr algn="l">
              <a:spcAft>
                <a:spcPts val="0"/>
              </a:spcAft>
            </a:pPr>
            <a:r>
              <a:rPr sz="1800" b="1" i="0">
                <a:solidFill>
                  <a:srgbClr val="0E2841"/>
                </a:solidFill>
                <a:latin typeface="Times New Roman"/>
              </a:rPr>
              <a:t>Relationships</a:t>
            </a:r>
          </a:p>
          <a:p>
            <a:pPr algn="l">
              <a:spcAft>
                <a:spcPts val="0"/>
              </a:spcAft>
            </a:pPr>
            <a:r>
              <a:rPr sz="1400" b="0" i="0">
                <a:solidFill>
                  <a:srgbClr val="5A6472"/>
                </a:solidFill>
                <a:latin typeface="Times New Roman"/>
              </a:rPr>
              <a:t>How records connect</a:t>
            </a:r>
          </a:p>
        </p:txBody>
      </p:sp>
      <p:sp>
        <p:nvSpPr>
          <p:cNvPr id="12" name="Shape 12"/>
          <p:cNvSpPr/>
          <p:nvPr/>
        </p:nvSpPr>
        <p:spPr>
          <a:xfrm>
            <a:off x="6281928" y="3749040"/>
            <a:ext cx="5074920" cy="685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hape 13"/>
          <p:cNvSpPr/>
          <p:nvPr/>
        </p:nvSpPr>
        <p:spPr>
          <a:xfrm>
            <a:off x="6281928" y="3749040"/>
            <a:ext cx="5074920" cy="9144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6556248" y="3840480"/>
            <a:ext cx="4526280" cy="594360"/>
          </a:xfrm>
          <a:prstGeom prst="rect">
            <a:avLst/>
          </a:prstGeom>
          <a:noFill/>
        </p:spPr>
        <p:txBody>
          <a:bodyPr wrap="square" lIns="0" tIns="18288" rIns="0" bIns="18288" anchor="ctr">
            <a:spAutoFit/>
          </a:bodyPr>
          <a:lstStyle/>
          <a:p>
            <a:pPr algn="l">
              <a:spcAft>
                <a:spcPts val="0"/>
              </a:spcAft>
            </a:pPr>
            <a:r>
              <a:rPr sz="1800" b="1" i="0">
                <a:solidFill>
                  <a:srgbClr val="0E2841"/>
                </a:solidFill>
                <a:latin typeface="Times New Roman"/>
              </a:rPr>
              <a:t>Constraints</a:t>
            </a:r>
          </a:p>
          <a:p>
            <a:pPr algn="l">
              <a:spcAft>
                <a:spcPts val="0"/>
              </a:spcAft>
            </a:pPr>
            <a:r>
              <a:rPr sz="1400" b="0" i="0">
                <a:solidFill>
                  <a:srgbClr val="5A6472"/>
                </a:solidFill>
                <a:latin typeface="Times New Roman"/>
              </a:rPr>
              <a:t>What is allowed</a:t>
            </a:r>
          </a:p>
        </p:txBody>
      </p:sp>
      <p:sp>
        <p:nvSpPr>
          <p:cNvPr id="15" name="Shape 15"/>
          <p:cNvSpPr/>
          <p:nvPr/>
        </p:nvSpPr>
        <p:spPr>
          <a:xfrm>
            <a:off x="6281928" y="4617720"/>
            <a:ext cx="5074920" cy="685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hape 16"/>
          <p:cNvSpPr/>
          <p:nvPr/>
        </p:nvSpPr>
        <p:spPr>
          <a:xfrm>
            <a:off x="6281928" y="4617720"/>
            <a:ext cx="5074920" cy="9144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7"/>
          <p:cNvSpPr txBox="1"/>
          <p:nvPr/>
        </p:nvSpPr>
        <p:spPr>
          <a:xfrm>
            <a:off x="6556248" y="4709160"/>
            <a:ext cx="4526280" cy="594360"/>
          </a:xfrm>
          <a:prstGeom prst="rect">
            <a:avLst/>
          </a:prstGeom>
          <a:noFill/>
        </p:spPr>
        <p:txBody>
          <a:bodyPr wrap="square" lIns="0" tIns="18288" rIns="0" bIns="18288" anchor="ctr">
            <a:spAutoFit/>
          </a:bodyPr>
          <a:lstStyle/>
          <a:p>
            <a:pPr algn="l">
              <a:spcAft>
                <a:spcPts val="0"/>
              </a:spcAft>
            </a:pPr>
            <a:r>
              <a:rPr sz="1800" b="1" i="0">
                <a:solidFill>
                  <a:srgbClr val="0E2841"/>
                </a:solidFill>
                <a:latin typeface="Times New Roman"/>
              </a:rPr>
              <a:t>Operations</a:t>
            </a:r>
          </a:p>
          <a:p>
            <a:pPr algn="l">
              <a:spcAft>
                <a:spcPts val="0"/>
              </a:spcAft>
            </a:pPr>
            <a:r>
              <a:rPr sz="1400" b="0" i="0">
                <a:solidFill>
                  <a:srgbClr val="5A6472"/>
                </a:solidFill>
                <a:latin typeface="Times New Roman"/>
              </a:rPr>
              <a:t>How it is queried</a:t>
            </a:r>
          </a:p>
        </p:txBody>
      </p:sp>
      <p:sp>
        <p:nvSpPr>
          <p:cNvPr id="18" name="TextBox 18"/>
          <p:cNvSpPr txBox="1"/>
          <p:nvPr/>
        </p:nvSpPr>
        <p:spPr>
          <a:xfrm>
            <a:off x="841248" y="5486400"/>
            <a:ext cx="10515600" cy="365760"/>
          </a:xfrm>
          <a:prstGeom prst="rect">
            <a:avLst/>
          </a:prstGeom>
          <a:noFill/>
        </p:spPr>
        <p:txBody>
          <a:bodyPr wrap="square" lIns="0" tIns="18288" rIns="0" bIns="18288" anchor="t">
            <a:spAutoFit/>
          </a:bodyPr>
          <a:lstStyle/>
          <a:p>
            <a:pPr algn="l">
              <a:spcAft>
                <a:spcPts val="400"/>
              </a:spcAft>
            </a:pPr>
            <a:r>
              <a:rPr sz="1600" b="0" i="1">
                <a:solidFill>
                  <a:srgbClr val="5A6472"/>
                </a:solidFill>
                <a:latin typeface="Times New Roman"/>
              </a:rPr>
              <a:t>Pick the shape before the software — the wrong shape means slow queries and costly rewrites.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The Four Data Models</a:t>
            </a:r>
          </a:p>
        </p:txBody>
      </p:sp>
      <p:sp>
        <p:nvSpPr>
          <p:cNvPr id="3" name="Shape 3"/>
          <p:cNvSpPr/>
          <p:nvPr/>
        </p:nvSpPr>
        <p:spPr>
          <a:xfrm>
            <a:off x="841248" y="2103120"/>
            <a:ext cx="2423160" cy="27432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hape 4"/>
          <p:cNvSpPr/>
          <p:nvPr/>
        </p:nvSpPr>
        <p:spPr>
          <a:xfrm>
            <a:off x="841248" y="2103120"/>
            <a:ext cx="24231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Node 5"/>
          <p:cNvSpPr/>
          <p:nvPr/>
        </p:nvSpPr>
        <p:spPr>
          <a:xfrm>
            <a:off x="1709928" y="2377440"/>
            <a:ext cx="685800" cy="68580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800" b="1" i="0">
                <a:solidFill>
                  <a:srgbClr val="FFFFFF"/>
                </a:solidFill>
                <a:latin typeface="Times New Roman"/>
              </a:rPr>
              <a:t>T</a:t>
            </a:r>
          </a:p>
        </p:txBody>
      </p:sp>
      <p:sp>
        <p:nvSpPr>
          <p:cNvPr id="6" name="TextBox 6"/>
          <p:cNvSpPr txBox="1"/>
          <p:nvPr/>
        </p:nvSpPr>
        <p:spPr>
          <a:xfrm>
            <a:off x="978408" y="3200400"/>
            <a:ext cx="2148840" cy="457200"/>
          </a:xfrm>
          <a:prstGeom prst="rect">
            <a:avLst/>
          </a:prstGeom>
          <a:noFill/>
        </p:spPr>
        <p:txBody>
          <a:bodyPr wrap="square" lIns="0" tIns="18288" rIns="0" bIns="18288" anchor="t">
            <a:spAutoFit/>
          </a:bodyPr>
          <a:lstStyle/>
          <a:p>
            <a:pPr algn="ctr">
              <a:spcAft>
                <a:spcPts val="400"/>
              </a:spcAft>
            </a:pPr>
            <a:r>
              <a:rPr sz="1700" b="1" i="0">
                <a:solidFill>
                  <a:srgbClr val="0E2841"/>
                </a:solidFill>
                <a:latin typeface="Times New Roman"/>
              </a:rPr>
              <a:t>Hierarchical</a:t>
            </a:r>
          </a:p>
        </p:txBody>
      </p:sp>
      <p:sp>
        <p:nvSpPr>
          <p:cNvPr id="7" name="TextBox 7"/>
          <p:cNvSpPr txBox="1"/>
          <p:nvPr/>
        </p:nvSpPr>
        <p:spPr>
          <a:xfrm>
            <a:off x="978408" y="3657600"/>
            <a:ext cx="2148840" cy="365760"/>
          </a:xfrm>
          <a:prstGeom prst="rect">
            <a:avLst/>
          </a:prstGeom>
          <a:noFill/>
        </p:spPr>
        <p:txBody>
          <a:bodyPr wrap="square" lIns="0" tIns="18288" rIns="0" bIns="18288" anchor="t">
            <a:spAutoFit/>
          </a:bodyPr>
          <a:lstStyle/>
          <a:p>
            <a:pPr algn="ctr">
              <a:spcAft>
                <a:spcPts val="400"/>
              </a:spcAft>
            </a:pPr>
            <a:r>
              <a:rPr sz="1500" b="1" i="0">
                <a:solidFill>
                  <a:srgbClr val="156082"/>
                </a:solidFill>
                <a:latin typeface="Consolas"/>
              </a:rPr>
              <a:t>Tree</a:t>
            </a:r>
          </a:p>
        </p:txBody>
      </p:sp>
      <p:sp>
        <p:nvSpPr>
          <p:cNvPr id="8" name="TextBox 8"/>
          <p:cNvSpPr txBox="1"/>
          <p:nvPr/>
        </p:nvSpPr>
        <p:spPr>
          <a:xfrm>
            <a:off x="978408" y="4114800"/>
            <a:ext cx="2148840" cy="594360"/>
          </a:xfrm>
          <a:prstGeom prst="rect">
            <a:avLst/>
          </a:prstGeom>
          <a:noFill/>
        </p:spPr>
        <p:txBody>
          <a:bodyPr wrap="square" lIns="0" tIns="18288" rIns="0" bIns="18288" anchor="t">
            <a:spAutoFit/>
          </a:bodyPr>
          <a:lstStyle/>
          <a:p>
            <a:pPr algn="ctr">
              <a:spcAft>
                <a:spcPts val="0"/>
              </a:spcAft>
            </a:pPr>
            <a:r>
              <a:rPr sz="1300" b="0" i="0">
                <a:solidFill>
                  <a:srgbClr val="5A6472"/>
                </a:solidFill>
                <a:latin typeface="Times New Roman"/>
              </a:rPr>
              <a:t>One parent,</a:t>
            </a:r>
          </a:p>
          <a:p>
            <a:pPr algn="ctr">
              <a:spcAft>
                <a:spcPts val="0"/>
              </a:spcAft>
            </a:pPr>
            <a:r>
              <a:rPr sz="1300" b="0" i="0">
                <a:solidFill>
                  <a:srgbClr val="5A6472"/>
                </a:solidFill>
                <a:latin typeface="Times New Roman"/>
              </a:rPr>
              <a:t>many children</a:t>
            </a:r>
          </a:p>
        </p:txBody>
      </p:sp>
      <p:sp>
        <p:nvSpPr>
          <p:cNvPr id="9" name="Shape 9"/>
          <p:cNvSpPr/>
          <p:nvPr/>
        </p:nvSpPr>
        <p:spPr>
          <a:xfrm>
            <a:off x="3538728" y="2103120"/>
            <a:ext cx="2423160" cy="27432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hape 10"/>
          <p:cNvSpPr/>
          <p:nvPr/>
        </p:nvSpPr>
        <p:spPr>
          <a:xfrm>
            <a:off x="3538728" y="2103120"/>
            <a:ext cx="24231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Node 11"/>
          <p:cNvSpPr/>
          <p:nvPr/>
        </p:nvSpPr>
        <p:spPr>
          <a:xfrm>
            <a:off x="4407408" y="2377440"/>
            <a:ext cx="685800" cy="68580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800" b="1" i="0">
                <a:solidFill>
                  <a:srgbClr val="FFFFFF"/>
                </a:solidFill>
                <a:latin typeface="Times New Roman"/>
              </a:rPr>
              <a:t>G</a:t>
            </a:r>
          </a:p>
        </p:txBody>
      </p:sp>
      <p:sp>
        <p:nvSpPr>
          <p:cNvPr id="12" name="TextBox 12"/>
          <p:cNvSpPr txBox="1"/>
          <p:nvPr/>
        </p:nvSpPr>
        <p:spPr>
          <a:xfrm>
            <a:off x="3675888" y="3200400"/>
            <a:ext cx="2148840" cy="457200"/>
          </a:xfrm>
          <a:prstGeom prst="rect">
            <a:avLst/>
          </a:prstGeom>
          <a:noFill/>
        </p:spPr>
        <p:txBody>
          <a:bodyPr wrap="square" lIns="0" tIns="18288" rIns="0" bIns="18288" anchor="t">
            <a:spAutoFit/>
          </a:bodyPr>
          <a:lstStyle/>
          <a:p>
            <a:pPr algn="ctr">
              <a:spcAft>
                <a:spcPts val="400"/>
              </a:spcAft>
            </a:pPr>
            <a:r>
              <a:rPr sz="1700" b="1" i="0">
                <a:solidFill>
                  <a:srgbClr val="0E2841"/>
                </a:solidFill>
                <a:latin typeface="Times New Roman"/>
              </a:rPr>
              <a:t>Network</a:t>
            </a:r>
          </a:p>
        </p:txBody>
      </p:sp>
      <p:sp>
        <p:nvSpPr>
          <p:cNvPr id="13" name="TextBox 13"/>
          <p:cNvSpPr txBox="1"/>
          <p:nvPr/>
        </p:nvSpPr>
        <p:spPr>
          <a:xfrm>
            <a:off x="3675888" y="3657600"/>
            <a:ext cx="2148840" cy="365760"/>
          </a:xfrm>
          <a:prstGeom prst="rect">
            <a:avLst/>
          </a:prstGeom>
          <a:noFill/>
        </p:spPr>
        <p:txBody>
          <a:bodyPr wrap="square" lIns="0" tIns="18288" rIns="0" bIns="18288" anchor="t">
            <a:spAutoFit/>
          </a:bodyPr>
          <a:lstStyle/>
          <a:p>
            <a:pPr algn="ctr">
              <a:spcAft>
                <a:spcPts val="400"/>
              </a:spcAft>
            </a:pPr>
            <a:r>
              <a:rPr sz="1500" b="1" i="0">
                <a:solidFill>
                  <a:srgbClr val="E97132"/>
                </a:solidFill>
                <a:latin typeface="Consolas"/>
              </a:rPr>
              <a:t>Graph</a:t>
            </a:r>
          </a:p>
        </p:txBody>
      </p:sp>
      <p:sp>
        <p:nvSpPr>
          <p:cNvPr id="14" name="TextBox 14"/>
          <p:cNvSpPr txBox="1"/>
          <p:nvPr/>
        </p:nvSpPr>
        <p:spPr>
          <a:xfrm>
            <a:off x="3675888" y="4114800"/>
            <a:ext cx="2148840" cy="594360"/>
          </a:xfrm>
          <a:prstGeom prst="rect">
            <a:avLst/>
          </a:prstGeom>
          <a:noFill/>
        </p:spPr>
        <p:txBody>
          <a:bodyPr wrap="square" lIns="0" tIns="18288" rIns="0" bIns="18288" anchor="t">
            <a:spAutoFit/>
          </a:bodyPr>
          <a:lstStyle/>
          <a:p>
            <a:pPr algn="ctr">
              <a:spcAft>
                <a:spcPts val="0"/>
              </a:spcAft>
            </a:pPr>
            <a:r>
              <a:rPr sz="1300" b="0" i="0">
                <a:solidFill>
                  <a:srgbClr val="5A6472"/>
                </a:solidFill>
                <a:latin typeface="Times New Roman"/>
              </a:rPr>
              <a:t>Records linked</a:t>
            </a:r>
          </a:p>
          <a:p>
            <a:pPr algn="ctr">
              <a:spcAft>
                <a:spcPts val="0"/>
              </a:spcAft>
            </a:pPr>
            <a:r>
              <a:rPr sz="1300" b="0" i="0">
                <a:solidFill>
                  <a:srgbClr val="5A6472"/>
                </a:solidFill>
                <a:latin typeface="Times New Roman"/>
              </a:rPr>
              <a:t>in any direction</a:t>
            </a:r>
          </a:p>
        </p:txBody>
      </p:sp>
      <p:sp>
        <p:nvSpPr>
          <p:cNvPr id="15" name="Shape 15"/>
          <p:cNvSpPr/>
          <p:nvPr/>
        </p:nvSpPr>
        <p:spPr>
          <a:xfrm>
            <a:off x="6236208" y="2103120"/>
            <a:ext cx="2423160" cy="27432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hape 16"/>
          <p:cNvSpPr/>
          <p:nvPr/>
        </p:nvSpPr>
        <p:spPr>
          <a:xfrm>
            <a:off x="6236208" y="2103120"/>
            <a:ext cx="2423160" cy="118872"/>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Node 17"/>
          <p:cNvSpPr/>
          <p:nvPr/>
        </p:nvSpPr>
        <p:spPr>
          <a:xfrm>
            <a:off x="7104888" y="2377440"/>
            <a:ext cx="685800" cy="685800"/>
          </a:xfrm>
          <a:prstGeom prst="roundRect">
            <a:avLst>
              <a:gd name="adj" fmla="val 25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800" b="1" i="0">
                <a:solidFill>
                  <a:srgbClr val="FFFFFF"/>
                </a:solidFill>
                <a:latin typeface="Times New Roman"/>
              </a:rPr>
              <a:t>O</a:t>
            </a:r>
          </a:p>
        </p:txBody>
      </p:sp>
      <p:sp>
        <p:nvSpPr>
          <p:cNvPr id="18" name="TextBox 18"/>
          <p:cNvSpPr txBox="1"/>
          <p:nvPr/>
        </p:nvSpPr>
        <p:spPr>
          <a:xfrm>
            <a:off x="6373368" y="3200400"/>
            <a:ext cx="2148840" cy="457200"/>
          </a:xfrm>
          <a:prstGeom prst="rect">
            <a:avLst/>
          </a:prstGeom>
          <a:noFill/>
        </p:spPr>
        <p:txBody>
          <a:bodyPr wrap="square" lIns="0" tIns="18288" rIns="0" bIns="18288" anchor="t">
            <a:spAutoFit/>
          </a:bodyPr>
          <a:lstStyle/>
          <a:p>
            <a:pPr algn="ctr">
              <a:spcAft>
                <a:spcPts val="400"/>
              </a:spcAft>
            </a:pPr>
            <a:r>
              <a:rPr sz="1700" b="1" i="0">
                <a:solidFill>
                  <a:srgbClr val="0E2841"/>
                </a:solidFill>
                <a:latin typeface="Times New Roman"/>
              </a:rPr>
              <a:t>Object-Oriented</a:t>
            </a:r>
          </a:p>
        </p:txBody>
      </p:sp>
      <p:sp>
        <p:nvSpPr>
          <p:cNvPr id="19" name="TextBox 19"/>
          <p:cNvSpPr txBox="1"/>
          <p:nvPr/>
        </p:nvSpPr>
        <p:spPr>
          <a:xfrm>
            <a:off x="6373368" y="3657600"/>
            <a:ext cx="2148840" cy="365760"/>
          </a:xfrm>
          <a:prstGeom prst="rect">
            <a:avLst/>
          </a:prstGeom>
          <a:noFill/>
        </p:spPr>
        <p:txBody>
          <a:bodyPr wrap="square" lIns="0" tIns="18288" rIns="0" bIns="18288" anchor="t">
            <a:spAutoFit/>
          </a:bodyPr>
          <a:lstStyle/>
          <a:p>
            <a:pPr algn="ctr">
              <a:spcAft>
                <a:spcPts val="400"/>
              </a:spcAft>
            </a:pPr>
            <a:r>
              <a:rPr sz="1500" b="1" i="0">
                <a:solidFill>
                  <a:srgbClr val="A02B93"/>
                </a:solidFill>
                <a:latin typeface="Consolas"/>
              </a:rPr>
              <a:t>Objects</a:t>
            </a:r>
          </a:p>
        </p:txBody>
      </p:sp>
      <p:sp>
        <p:nvSpPr>
          <p:cNvPr id="20" name="TextBox 20"/>
          <p:cNvSpPr txBox="1"/>
          <p:nvPr/>
        </p:nvSpPr>
        <p:spPr>
          <a:xfrm>
            <a:off x="6373368" y="4114800"/>
            <a:ext cx="2148840" cy="594360"/>
          </a:xfrm>
          <a:prstGeom prst="rect">
            <a:avLst/>
          </a:prstGeom>
          <a:noFill/>
        </p:spPr>
        <p:txBody>
          <a:bodyPr wrap="square" lIns="0" tIns="18288" rIns="0" bIns="18288" anchor="t">
            <a:spAutoFit/>
          </a:bodyPr>
          <a:lstStyle/>
          <a:p>
            <a:pPr algn="ctr">
              <a:spcAft>
                <a:spcPts val="0"/>
              </a:spcAft>
            </a:pPr>
            <a:r>
              <a:rPr sz="1300" b="0" i="0">
                <a:solidFill>
                  <a:srgbClr val="5A6472"/>
                </a:solidFill>
                <a:latin typeface="Times New Roman"/>
              </a:rPr>
              <a:t>Data and behaviour</a:t>
            </a:r>
          </a:p>
          <a:p>
            <a:pPr algn="ctr">
              <a:spcAft>
                <a:spcPts val="0"/>
              </a:spcAft>
            </a:pPr>
            <a:r>
              <a:rPr sz="1300" b="0" i="0">
                <a:solidFill>
                  <a:srgbClr val="5A6472"/>
                </a:solidFill>
                <a:latin typeface="Times New Roman"/>
              </a:rPr>
              <a:t>travel together</a:t>
            </a:r>
          </a:p>
        </p:txBody>
      </p:sp>
      <p:sp>
        <p:nvSpPr>
          <p:cNvPr id="21" name="Shape 21"/>
          <p:cNvSpPr/>
          <p:nvPr/>
        </p:nvSpPr>
        <p:spPr>
          <a:xfrm>
            <a:off x="8933688" y="2103120"/>
            <a:ext cx="2423160" cy="27432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2"/>
          <p:cNvSpPr/>
          <p:nvPr/>
        </p:nvSpPr>
        <p:spPr>
          <a:xfrm>
            <a:off x="8933688" y="2103120"/>
            <a:ext cx="24231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Node 23"/>
          <p:cNvSpPr/>
          <p:nvPr/>
        </p:nvSpPr>
        <p:spPr>
          <a:xfrm>
            <a:off x="9802368" y="2377440"/>
            <a:ext cx="685800" cy="685800"/>
          </a:xfrm>
          <a:prstGeom prst="roundRect">
            <a:avLst>
              <a:gd name="adj" fmla="val 25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800" b="1" i="0">
                <a:solidFill>
                  <a:srgbClr val="FFFFFF"/>
                </a:solidFill>
                <a:latin typeface="Times New Roman"/>
              </a:rPr>
              <a:t>T</a:t>
            </a:r>
          </a:p>
        </p:txBody>
      </p:sp>
      <p:sp>
        <p:nvSpPr>
          <p:cNvPr id="24" name="TextBox 24"/>
          <p:cNvSpPr txBox="1"/>
          <p:nvPr/>
        </p:nvSpPr>
        <p:spPr>
          <a:xfrm>
            <a:off x="9070848" y="3200400"/>
            <a:ext cx="2148840" cy="457200"/>
          </a:xfrm>
          <a:prstGeom prst="rect">
            <a:avLst/>
          </a:prstGeom>
          <a:noFill/>
        </p:spPr>
        <p:txBody>
          <a:bodyPr wrap="square" lIns="0" tIns="18288" rIns="0" bIns="18288" anchor="t">
            <a:spAutoFit/>
          </a:bodyPr>
          <a:lstStyle/>
          <a:p>
            <a:pPr algn="ctr">
              <a:spcAft>
                <a:spcPts val="400"/>
              </a:spcAft>
            </a:pPr>
            <a:r>
              <a:rPr sz="1700" b="1" i="0">
                <a:solidFill>
                  <a:srgbClr val="0E2841"/>
                </a:solidFill>
                <a:latin typeface="Times New Roman"/>
              </a:rPr>
              <a:t>Relational</a:t>
            </a:r>
          </a:p>
        </p:txBody>
      </p:sp>
      <p:sp>
        <p:nvSpPr>
          <p:cNvPr id="25" name="TextBox 25"/>
          <p:cNvSpPr txBox="1"/>
          <p:nvPr/>
        </p:nvSpPr>
        <p:spPr>
          <a:xfrm>
            <a:off x="9070848" y="3657600"/>
            <a:ext cx="2148840" cy="365760"/>
          </a:xfrm>
          <a:prstGeom prst="rect">
            <a:avLst/>
          </a:prstGeom>
          <a:noFill/>
        </p:spPr>
        <p:txBody>
          <a:bodyPr wrap="square" lIns="0" tIns="18288" rIns="0" bIns="18288" anchor="t">
            <a:spAutoFit/>
          </a:bodyPr>
          <a:lstStyle/>
          <a:p>
            <a:pPr algn="ctr">
              <a:spcAft>
                <a:spcPts val="400"/>
              </a:spcAft>
            </a:pPr>
            <a:r>
              <a:rPr sz="1500" b="1" i="0">
                <a:solidFill>
                  <a:srgbClr val="196B24"/>
                </a:solidFill>
                <a:latin typeface="Consolas"/>
              </a:rPr>
              <a:t>Tables</a:t>
            </a:r>
          </a:p>
        </p:txBody>
      </p:sp>
      <p:sp>
        <p:nvSpPr>
          <p:cNvPr id="26" name="TextBox 26"/>
          <p:cNvSpPr txBox="1"/>
          <p:nvPr/>
        </p:nvSpPr>
        <p:spPr>
          <a:xfrm>
            <a:off x="9070848" y="4114800"/>
            <a:ext cx="2148840" cy="594360"/>
          </a:xfrm>
          <a:prstGeom prst="rect">
            <a:avLst/>
          </a:prstGeom>
          <a:noFill/>
        </p:spPr>
        <p:txBody>
          <a:bodyPr wrap="square" lIns="0" tIns="18288" rIns="0" bIns="18288" anchor="t">
            <a:spAutoFit/>
          </a:bodyPr>
          <a:lstStyle/>
          <a:p>
            <a:pPr algn="ctr">
              <a:spcAft>
                <a:spcPts val="0"/>
              </a:spcAft>
            </a:pPr>
            <a:r>
              <a:rPr sz="1300" b="0" i="0">
                <a:solidFill>
                  <a:srgbClr val="5A6472"/>
                </a:solidFill>
                <a:latin typeface="Times New Roman"/>
              </a:rPr>
              <a:t>Rows joined</a:t>
            </a:r>
          </a:p>
          <a:p>
            <a:pPr algn="ctr">
              <a:spcAft>
                <a:spcPts val="0"/>
              </a:spcAft>
            </a:pPr>
            <a:r>
              <a:rPr sz="1300" b="0" i="0">
                <a:solidFill>
                  <a:srgbClr val="5A6472"/>
                </a:solidFill>
                <a:latin typeface="Times New Roman"/>
              </a:rPr>
              <a:t>by keys</a:t>
            </a:r>
          </a:p>
        </p:txBody>
      </p:sp>
      <p:sp>
        <p:nvSpPr>
          <p:cNvPr id="27" name="TextBox 27"/>
          <p:cNvSpPr txBox="1"/>
          <p:nvPr/>
        </p:nvSpPr>
        <p:spPr>
          <a:xfrm>
            <a:off x="841248" y="5120640"/>
            <a:ext cx="10515600" cy="365760"/>
          </a:xfrm>
          <a:prstGeom prst="rect">
            <a:avLst/>
          </a:prstGeom>
          <a:noFill/>
        </p:spPr>
        <p:txBody>
          <a:bodyPr wrap="square" lIns="0" tIns="18288" rIns="0" bIns="18288" anchor="t">
            <a:spAutoFit/>
          </a:bodyPr>
          <a:lstStyle/>
          <a:p>
            <a:pPr algn="l">
              <a:spcAft>
                <a:spcPts val="400"/>
              </a:spcAft>
            </a:pPr>
            <a:r>
              <a:rPr sz="1700" b="0" i="1">
                <a:solidFill>
                  <a:srgbClr val="5A6472"/>
                </a:solidFill>
                <a:latin typeface="Times New Roman"/>
              </a:rPr>
              <a:t>Four shapes, one goal — store each fact once, find it fast.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Hierarchical Model</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Levels, parents and children</a:t>
            </a:r>
          </a:p>
        </p:txBody>
      </p:sp>
      <p:cxnSp>
        <p:nvCxnSpPr>
          <p:cNvPr id="4" name="Connector 4"/>
          <p:cNvCxnSpPr/>
          <p:nvPr/>
        </p:nvCxnSpPr>
        <p:spPr>
          <a:xfrm flipH="1">
            <a:off x="1618488" y="2651760"/>
            <a:ext cx="2103120" cy="457200"/>
          </a:xfrm>
          <a:prstGeom prst="line">
            <a:avLst/>
          </a:prstGeom>
          <a:ln w="19050">
            <a:solidFill>
              <a:srgbClr val="D2DCE6"/>
            </a:solidFill>
          </a:ln>
        </p:spPr>
      </p:cxnSp>
      <p:cxnSp>
        <p:nvCxnSpPr>
          <p:cNvPr id="5" name="Connector 5"/>
          <p:cNvCxnSpPr/>
          <p:nvPr/>
        </p:nvCxnSpPr>
        <p:spPr>
          <a:xfrm>
            <a:off x="3721608" y="2651760"/>
            <a:ext cx="0" cy="457200"/>
          </a:xfrm>
          <a:prstGeom prst="line">
            <a:avLst/>
          </a:prstGeom>
          <a:ln w="19050">
            <a:solidFill>
              <a:srgbClr val="D2DCE6"/>
            </a:solidFill>
          </a:ln>
        </p:spPr>
      </p:cxnSp>
      <p:cxnSp>
        <p:nvCxnSpPr>
          <p:cNvPr id="6" name="Connector 6"/>
          <p:cNvCxnSpPr/>
          <p:nvPr/>
        </p:nvCxnSpPr>
        <p:spPr>
          <a:xfrm>
            <a:off x="3721608" y="2651760"/>
            <a:ext cx="2103120" cy="457200"/>
          </a:xfrm>
          <a:prstGeom prst="line">
            <a:avLst/>
          </a:prstGeom>
          <a:ln w="19050">
            <a:solidFill>
              <a:srgbClr val="D2DCE6"/>
            </a:solidFill>
          </a:ln>
        </p:spPr>
      </p:cxnSp>
      <p:cxnSp>
        <p:nvCxnSpPr>
          <p:cNvPr id="7" name="Connector 7"/>
          <p:cNvCxnSpPr/>
          <p:nvPr/>
        </p:nvCxnSpPr>
        <p:spPr>
          <a:xfrm flipH="1">
            <a:off x="1184148" y="3611880"/>
            <a:ext cx="434340" cy="365760"/>
          </a:xfrm>
          <a:prstGeom prst="line">
            <a:avLst/>
          </a:prstGeom>
          <a:ln w="19050">
            <a:solidFill>
              <a:srgbClr val="D2DCE6"/>
            </a:solidFill>
          </a:ln>
        </p:spPr>
      </p:cxnSp>
      <p:cxnSp>
        <p:nvCxnSpPr>
          <p:cNvPr id="8" name="Connector 8"/>
          <p:cNvCxnSpPr/>
          <p:nvPr/>
        </p:nvCxnSpPr>
        <p:spPr>
          <a:xfrm>
            <a:off x="1618488" y="3611880"/>
            <a:ext cx="434340" cy="365760"/>
          </a:xfrm>
          <a:prstGeom prst="line">
            <a:avLst/>
          </a:prstGeom>
          <a:ln w="19050">
            <a:solidFill>
              <a:srgbClr val="D2DCE6"/>
            </a:solidFill>
          </a:ln>
        </p:spPr>
      </p:cxnSp>
      <p:sp>
        <p:nvSpPr>
          <p:cNvPr id="9" name="Node 9"/>
          <p:cNvSpPr/>
          <p:nvPr/>
        </p:nvSpPr>
        <p:spPr>
          <a:xfrm>
            <a:off x="2852928" y="2103120"/>
            <a:ext cx="1737360" cy="548640"/>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600" b="1" i="0">
                <a:solidFill>
                  <a:srgbClr val="FFFFFF"/>
                </a:solidFill>
                <a:latin typeface="Times New Roman"/>
              </a:rPr>
              <a:t>University</a:t>
            </a:r>
          </a:p>
        </p:txBody>
      </p:sp>
      <p:sp>
        <p:nvSpPr>
          <p:cNvPr id="10" name="Node 10"/>
          <p:cNvSpPr/>
          <p:nvPr/>
        </p:nvSpPr>
        <p:spPr>
          <a:xfrm>
            <a:off x="841248" y="3108960"/>
            <a:ext cx="1554480" cy="502920"/>
          </a:xfrm>
          <a:prstGeom prst="roundRect">
            <a:avLst>
              <a:gd name="adj" fmla="val 12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0E2841"/>
                </a:solidFill>
                <a:latin typeface="Times New Roman"/>
              </a:rPr>
              <a:t>SOET</a:t>
            </a:r>
          </a:p>
        </p:txBody>
      </p:sp>
      <p:sp>
        <p:nvSpPr>
          <p:cNvPr id="11" name="Node 11"/>
          <p:cNvSpPr/>
          <p:nvPr/>
        </p:nvSpPr>
        <p:spPr>
          <a:xfrm>
            <a:off x="2944368" y="3108960"/>
            <a:ext cx="1554480" cy="502920"/>
          </a:xfrm>
          <a:prstGeom prst="roundRect">
            <a:avLst>
              <a:gd name="adj" fmla="val 12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0E2841"/>
                </a:solidFill>
                <a:latin typeface="Times New Roman"/>
              </a:rPr>
              <a:t>SOL</a:t>
            </a:r>
          </a:p>
        </p:txBody>
      </p:sp>
      <p:sp>
        <p:nvSpPr>
          <p:cNvPr id="12" name="Node 12"/>
          <p:cNvSpPr/>
          <p:nvPr/>
        </p:nvSpPr>
        <p:spPr>
          <a:xfrm>
            <a:off x="5047488" y="3108960"/>
            <a:ext cx="1554480" cy="502920"/>
          </a:xfrm>
          <a:prstGeom prst="roundRect">
            <a:avLst>
              <a:gd name="adj" fmla="val 12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0E2841"/>
                </a:solidFill>
                <a:latin typeface="Times New Roman"/>
              </a:rPr>
              <a:t>SOMC</a:t>
            </a:r>
          </a:p>
        </p:txBody>
      </p:sp>
      <p:sp>
        <p:nvSpPr>
          <p:cNvPr id="13" name="Node 13"/>
          <p:cNvSpPr/>
          <p:nvPr/>
        </p:nvSpPr>
        <p:spPr>
          <a:xfrm>
            <a:off x="841248" y="3977640"/>
            <a:ext cx="685800" cy="457200"/>
          </a:xfrm>
          <a:prstGeom prst="roundRect">
            <a:avLst>
              <a:gd name="adj" fmla="val 1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300" b="1" i="0">
                <a:solidFill>
                  <a:srgbClr val="5A6472"/>
                </a:solidFill>
                <a:latin typeface="Times New Roman"/>
              </a:rPr>
              <a:t>CSE</a:t>
            </a:r>
          </a:p>
        </p:txBody>
      </p:sp>
      <p:sp>
        <p:nvSpPr>
          <p:cNvPr id="14" name="Node 14"/>
          <p:cNvSpPr/>
          <p:nvPr/>
        </p:nvSpPr>
        <p:spPr>
          <a:xfrm>
            <a:off x="1709928" y="3977640"/>
            <a:ext cx="685800" cy="457200"/>
          </a:xfrm>
          <a:prstGeom prst="roundRect">
            <a:avLst>
              <a:gd name="adj" fmla="val 1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300" b="1" i="0">
                <a:solidFill>
                  <a:srgbClr val="5A6472"/>
                </a:solidFill>
                <a:latin typeface="Times New Roman"/>
              </a:rPr>
              <a:t>ECE</a:t>
            </a:r>
          </a:p>
        </p:txBody>
      </p:sp>
      <p:sp>
        <p:nvSpPr>
          <p:cNvPr id="15" name="TextBox 15"/>
          <p:cNvSpPr txBox="1"/>
          <p:nvPr/>
        </p:nvSpPr>
        <p:spPr>
          <a:xfrm>
            <a:off x="841248" y="4663440"/>
            <a:ext cx="5760720" cy="365760"/>
          </a:xfrm>
          <a:prstGeom prst="rect">
            <a:avLst/>
          </a:prstGeom>
          <a:noFill/>
        </p:spPr>
        <p:txBody>
          <a:bodyPr wrap="square" lIns="0" tIns="18288" rIns="0" bIns="18288" anchor="t">
            <a:spAutoFit/>
          </a:bodyPr>
          <a:lstStyle/>
          <a:p>
            <a:pPr algn="ctr">
              <a:spcAft>
                <a:spcPts val="400"/>
              </a:spcAft>
            </a:pPr>
            <a:r>
              <a:rPr sz="1400" b="0" i="1">
                <a:solidFill>
                  <a:srgbClr val="5A6472"/>
                </a:solidFill>
                <a:latin typeface="Times New Roman"/>
              </a:rPr>
              <a:t>Every node has exactly one parent above it.</a:t>
            </a:r>
          </a:p>
        </p:txBody>
      </p:sp>
      <p:sp>
        <p:nvSpPr>
          <p:cNvPr id="16" name="Shape 16"/>
          <p:cNvSpPr/>
          <p:nvPr/>
        </p:nvSpPr>
        <p:spPr>
          <a:xfrm>
            <a:off x="6967728" y="2103120"/>
            <a:ext cx="43891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7"/>
          <p:cNvSpPr txBox="1"/>
          <p:nvPr/>
        </p:nvSpPr>
        <p:spPr>
          <a:xfrm>
            <a:off x="7196328" y="2103120"/>
            <a:ext cx="39319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One parent → many children</a:t>
            </a:r>
          </a:p>
        </p:txBody>
      </p:sp>
      <p:sp>
        <p:nvSpPr>
          <p:cNvPr id="18" name="Shape 18"/>
          <p:cNvSpPr/>
          <p:nvPr/>
        </p:nvSpPr>
        <p:spPr>
          <a:xfrm>
            <a:off x="6967728" y="2834640"/>
            <a:ext cx="43891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9"/>
          <p:cNvSpPr txBox="1"/>
          <p:nvPr/>
        </p:nvSpPr>
        <p:spPr>
          <a:xfrm>
            <a:off x="7196328" y="2834640"/>
            <a:ext cx="39319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Each child → exactly one parent</a:t>
            </a:r>
          </a:p>
        </p:txBody>
      </p:sp>
      <p:sp>
        <p:nvSpPr>
          <p:cNvPr id="20" name="Shape 20"/>
          <p:cNvSpPr/>
          <p:nvPr/>
        </p:nvSpPr>
        <p:spPr>
          <a:xfrm>
            <a:off x="6967728" y="3566160"/>
            <a:ext cx="43891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1"/>
          <p:cNvSpPr txBox="1"/>
          <p:nvPr/>
        </p:nvSpPr>
        <p:spPr>
          <a:xfrm>
            <a:off x="7196328" y="3566160"/>
            <a:ext cx="39319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Fast along fixed levels, rigid elsewhere</a:t>
            </a:r>
          </a:p>
        </p:txBody>
      </p:sp>
      <p:sp>
        <p:nvSpPr>
          <p:cNvPr id="22" name="Shape 22"/>
          <p:cNvSpPr/>
          <p:nvPr/>
        </p:nvSpPr>
        <p:spPr>
          <a:xfrm>
            <a:off x="6967728" y="4389120"/>
            <a:ext cx="4389120" cy="1005840"/>
          </a:xfrm>
          <a:prstGeom prst="roundRect">
            <a:avLst>
              <a:gd name="adj" fmla="val 7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3"/>
          <p:cNvSpPr txBox="1"/>
          <p:nvPr/>
        </p:nvSpPr>
        <p:spPr>
          <a:xfrm>
            <a:off x="7196328" y="4480560"/>
            <a:ext cx="3931920" cy="822960"/>
          </a:xfrm>
          <a:prstGeom prst="rect">
            <a:avLst/>
          </a:prstGeom>
          <a:noFill/>
        </p:spPr>
        <p:txBody>
          <a:bodyPr wrap="square" lIns="0" tIns="18288" rIns="0" bIns="18288" anchor="t">
            <a:spAutoFit/>
          </a:bodyPr>
          <a:lstStyle/>
          <a:p>
            <a:pPr algn="l">
              <a:spcAft>
                <a:spcPts val="100"/>
              </a:spcAft>
            </a:pPr>
            <a:r>
              <a:rPr sz="1400" b="1" i="0">
                <a:solidFill>
                  <a:srgbClr val="156082"/>
                </a:solidFill>
                <a:latin typeface="Times New Roman"/>
              </a:rPr>
              <a:t>Where you meet it</a:t>
            </a:r>
          </a:p>
          <a:p>
            <a:pPr algn="l">
              <a:spcAft>
                <a:spcPts val="100"/>
              </a:spcAft>
            </a:pPr>
            <a:r>
              <a:rPr sz="1400" b="0" i="0">
                <a:solidFill>
                  <a:srgbClr val="5A6472"/>
                </a:solidFill>
                <a:latin typeface="Times New Roman"/>
              </a:rPr>
              <a:t>File systems  ·  XML &amp; JSON  ·  LDAP  ·  IBM IMS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Network Model</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Records linked in any direction</a:t>
            </a:r>
          </a:p>
        </p:txBody>
      </p:sp>
      <p:cxnSp>
        <p:nvCxnSpPr>
          <p:cNvPr id="4" name="Connector 4"/>
          <p:cNvCxnSpPr/>
          <p:nvPr/>
        </p:nvCxnSpPr>
        <p:spPr>
          <a:xfrm flipV="1">
            <a:off x="2532888" y="2286000"/>
            <a:ext cx="2240280" cy="365760"/>
          </a:xfrm>
          <a:prstGeom prst="line">
            <a:avLst/>
          </a:prstGeom>
          <a:ln w="19050">
            <a:solidFill>
              <a:srgbClr val="D2DCE6"/>
            </a:solidFill>
          </a:ln>
        </p:spPr>
      </p:cxnSp>
      <p:cxnSp>
        <p:nvCxnSpPr>
          <p:cNvPr id="5" name="Connector 5"/>
          <p:cNvCxnSpPr/>
          <p:nvPr/>
        </p:nvCxnSpPr>
        <p:spPr>
          <a:xfrm>
            <a:off x="2532888" y="2651760"/>
            <a:ext cx="2240280" cy="914400"/>
          </a:xfrm>
          <a:prstGeom prst="line">
            <a:avLst/>
          </a:prstGeom>
          <a:ln w="19050">
            <a:solidFill>
              <a:srgbClr val="D2DCE6"/>
            </a:solidFill>
          </a:ln>
        </p:spPr>
      </p:cxnSp>
      <p:cxnSp>
        <p:nvCxnSpPr>
          <p:cNvPr id="6" name="Connector 6"/>
          <p:cNvCxnSpPr/>
          <p:nvPr/>
        </p:nvCxnSpPr>
        <p:spPr>
          <a:xfrm>
            <a:off x="2532888" y="2651760"/>
            <a:ext cx="2240280" cy="2194560"/>
          </a:xfrm>
          <a:prstGeom prst="line">
            <a:avLst/>
          </a:prstGeom>
          <a:ln w="19050">
            <a:solidFill>
              <a:srgbClr val="D2DCE6"/>
            </a:solidFill>
          </a:ln>
        </p:spPr>
      </p:cxnSp>
      <p:cxnSp>
        <p:nvCxnSpPr>
          <p:cNvPr id="7" name="Connector 7"/>
          <p:cNvCxnSpPr/>
          <p:nvPr/>
        </p:nvCxnSpPr>
        <p:spPr>
          <a:xfrm flipV="1">
            <a:off x="2532888" y="3566160"/>
            <a:ext cx="2240280" cy="914400"/>
          </a:xfrm>
          <a:prstGeom prst="line">
            <a:avLst/>
          </a:prstGeom>
          <a:ln w="19050">
            <a:solidFill>
              <a:srgbClr val="D2DCE6"/>
            </a:solidFill>
          </a:ln>
        </p:spPr>
      </p:cxnSp>
      <p:cxnSp>
        <p:nvCxnSpPr>
          <p:cNvPr id="8" name="Connector 8"/>
          <p:cNvCxnSpPr/>
          <p:nvPr/>
        </p:nvCxnSpPr>
        <p:spPr>
          <a:xfrm>
            <a:off x="2532888" y="4480560"/>
            <a:ext cx="2240280" cy="365760"/>
          </a:xfrm>
          <a:prstGeom prst="line">
            <a:avLst/>
          </a:prstGeom>
          <a:ln w="19050">
            <a:solidFill>
              <a:srgbClr val="D2DCE6"/>
            </a:solidFill>
          </a:ln>
        </p:spPr>
      </p:cxnSp>
      <p:sp>
        <p:nvSpPr>
          <p:cNvPr id="9" name="Node 9"/>
          <p:cNvSpPr/>
          <p:nvPr/>
        </p:nvSpPr>
        <p:spPr>
          <a:xfrm>
            <a:off x="978408" y="2377440"/>
            <a:ext cx="1554480" cy="548640"/>
          </a:xfrm>
          <a:prstGeom prst="roundRect">
            <a:avLst>
              <a:gd name="adj" fmla="val 12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0E2841"/>
                </a:solidFill>
                <a:latin typeface="Times New Roman"/>
              </a:rPr>
              <a:t>Asha</a:t>
            </a:r>
          </a:p>
        </p:txBody>
      </p:sp>
      <p:sp>
        <p:nvSpPr>
          <p:cNvPr id="10" name="Node 10"/>
          <p:cNvSpPr/>
          <p:nvPr/>
        </p:nvSpPr>
        <p:spPr>
          <a:xfrm>
            <a:off x="978408" y="4206240"/>
            <a:ext cx="1554480" cy="548640"/>
          </a:xfrm>
          <a:prstGeom prst="roundRect">
            <a:avLst>
              <a:gd name="adj" fmla="val 12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0E2841"/>
                </a:solidFill>
                <a:latin typeface="Times New Roman"/>
              </a:rPr>
              <a:t>Rahul</a:t>
            </a:r>
          </a:p>
        </p:txBody>
      </p:sp>
      <p:sp>
        <p:nvSpPr>
          <p:cNvPr id="11" name="Node 11"/>
          <p:cNvSpPr/>
          <p:nvPr/>
        </p:nvSpPr>
        <p:spPr>
          <a:xfrm>
            <a:off x="4773168" y="2011680"/>
            <a:ext cx="1554480" cy="54864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FFFFFF"/>
                </a:solidFill>
                <a:latin typeface="Times New Roman"/>
              </a:rPr>
              <a:t>DBMS</a:t>
            </a:r>
          </a:p>
        </p:txBody>
      </p:sp>
      <p:sp>
        <p:nvSpPr>
          <p:cNvPr id="12" name="Node 12"/>
          <p:cNvSpPr/>
          <p:nvPr/>
        </p:nvSpPr>
        <p:spPr>
          <a:xfrm>
            <a:off x="4773168" y="3291840"/>
            <a:ext cx="1554480" cy="54864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FFFFFF"/>
                </a:solidFill>
                <a:latin typeface="Times New Roman"/>
              </a:rPr>
              <a:t>Python</a:t>
            </a:r>
          </a:p>
        </p:txBody>
      </p:sp>
      <p:sp>
        <p:nvSpPr>
          <p:cNvPr id="13" name="Node 13"/>
          <p:cNvSpPr/>
          <p:nvPr/>
        </p:nvSpPr>
        <p:spPr>
          <a:xfrm>
            <a:off x="4773168" y="4572000"/>
            <a:ext cx="1554480" cy="54864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400" b="1" i="0">
                <a:solidFill>
                  <a:srgbClr val="FFFFFF"/>
                </a:solidFill>
                <a:latin typeface="Times New Roman"/>
              </a:rPr>
              <a:t>Coding Club</a:t>
            </a:r>
          </a:p>
        </p:txBody>
      </p:sp>
      <p:sp>
        <p:nvSpPr>
          <p:cNvPr id="14" name="TextBox 14"/>
          <p:cNvSpPr txBox="1"/>
          <p:nvPr/>
        </p:nvSpPr>
        <p:spPr>
          <a:xfrm>
            <a:off x="841248" y="5303520"/>
            <a:ext cx="5760720" cy="365760"/>
          </a:xfrm>
          <a:prstGeom prst="rect">
            <a:avLst/>
          </a:prstGeom>
          <a:noFill/>
        </p:spPr>
        <p:txBody>
          <a:bodyPr wrap="square" lIns="0" tIns="18288" rIns="0" bIns="18288" anchor="t">
            <a:spAutoFit/>
          </a:bodyPr>
          <a:lstStyle/>
          <a:p>
            <a:pPr algn="ctr">
              <a:spcAft>
                <a:spcPts val="400"/>
              </a:spcAft>
            </a:pPr>
            <a:r>
              <a:rPr sz="1400" b="0" i="1">
                <a:solidFill>
                  <a:srgbClr val="5A6472"/>
                </a:solidFill>
                <a:latin typeface="Times New Roman"/>
              </a:rPr>
              <a:t>Python is stored once, yet reached from both students.</a:t>
            </a:r>
          </a:p>
        </p:txBody>
      </p:sp>
      <p:sp>
        <p:nvSpPr>
          <p:cNvPr id="15" name="Shape 15"/>
          <p:cNvSpPr/>
          <p:nvPr/>
        </p:nvSpPr>
        <p:spPr>
          <a:xfrm>
            <a:off x="6967728" y="2103120"/>
            <a:ext cx="43891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7196328" y="2103120"/>
            <a:ext cx="39319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Any record may link to many others</a:t>
            </a:r>
          </a:p>
        </p:txBody>
      </p:sp>
      <p:sp>
        <p:nvSpPr>
          <p:cNvPr id="17" name="Shape 17"/>
          <p:cNvSpPr/>
          <p:nvPr/>
        </p:nvSpPr>
        <p:spPr>
          <a:xfrm>
            <a:off x="6967728" y="2834640"/>
            <a:ext cx="43891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8"/>
          <p:cNvSpPr txBox="1"/>
          <p:nvPr/>
        </p:nvSpPr>
        <p:spPr>
          <a:xfrm>
            <a:off x="7196328" y="2834640"/>
            <a:ext cx="39319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No single-parent restriction</a:t>
            </a:r>
          </a:p>
        </p:txBody>
      </p:sp>
      <p:sp>
        <p:nvSpPr>
          <p:cNvPr id="19" name="Shape 19"/>
          <p:cNvSpPr/>
          <p:nvPr/>
        </p:nvSpPr>
        <p:spPr>
          <a:xfrm>
            <a:off x="6967728" y="3566160"/>
            <a:ext cx="43891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0"/>
          <p:cNvSpPr txBox="1"/>
          <p:nvPr/>
        </p:nvSpPr>
        <p:spPr>
          <a:xfrm>
            <a:off x="7196328" y="3566160"/>
            <a:ext cx="39319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Many-to-many without duplication</a:t>
            </a:r>
          </a:p>
        </p:txBody>
      </p:sp>
      <p:sp>
        <p:nvSpPr>
          <p:cNvPr id="21" name="Shape 21"/>
          <p:cNvSpPr/>
          <p:nvPr/>
        </p:nvSpPr>
        <p:spPr>
          <a:xfrm>
            <a:off x="6967728" y="4389120"/>
            <a:ext cx="4389120" cy="1005840"/>
          </a:xfrm>
          <a:prstGeom prst="roundRect">
            <a:avLst>
              <a:gd name="adj" fmla="val 7000"/>
            </a:avLst>
          </a:prstGeom>
          <a:solidFill>
            <a:srgbClr val="FDF1E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2"/>
          <p:cNvSpPr txBox="1"/>
          <p:nvPr/>
        </p:nvSpPr>
        <p:spPr>
          <a:xfrm>
            <a:off x="7196328" y="4480560"/>
            <a:ext cx="3931920" cy="822960"/>
          </a:xfrm>
          <a:prstGeom prst="rect">
            <a:avLst/>
          </a:prstGeom>
          <a:noFill/>
        </p:spPr>
        <p:txBody>
          <a:bodyPr wrap="square" lIns="0" tIns="18288" rIns="0" bIns="18288" anchor="t">
            <a:spAutoFit/>
          </a:bodyPr>
          <a:lstStyle/>
          <a:p>
            <a:pPr algn="l">
              <a:spcAft>
                <a:spcPts val="100"/>
              </a:spcAft>
            </a:pPr>
            <a:r>
              <a:rPr sz="1400" b="1" i="0">
                <a:solidFill>
                  <a:srgbClr val="E97132"/>
                </a:solidFill>
                <a:latin typeface="Times New Roman"/>
              </a:rPr>
              <a:t>Where you meet it</a:t>
            </a:r>
          </a:p>
          <a:p>
            <a:pPr algn="l">
              <a:spcAft>
                <a:spcPts val="100"/>
              </a:spcAft>
            </a:pPr>
            <a:r>
              <a:rPr sz="1400" b="0" i="0">
                <a:solidFill>
                  <a:srgbClr val="5A6472"/>
                </a:solidFill>
                <a:latin typeface="Times New Roman"/>
              </a:rPr>
              <a:t>Neo4j  ·  Amazon Neptune  ·  social graphs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Object-Oriented Model</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Data and behaviour in one place</a:t>
            </a:r>
          </a:p>
        </p:txBody>
      </p:sp>
      <p:sp>
        <p:nvSpPr>
          <p:cNvPr id="4" name="Shape 4"/>
          <p:cNvSpPr/>
          <p:nvPr/>
        </p:nvSpPr>
        <p:spPr>
          <a:xfrm>
            <a:off x="841248" y="2011680"/>
            <a:ext cx="4937760" cy="3017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hape 5"/>
          <p:cNvSpPr/>
          <p:nvPr/>
        </p:nvSpPr>
        <p:spPr>
          <a:xfrm>
            <a:off x="841248" y="2011680"/>
            <a:ext cx="4937760" cy="5029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6"/>
          <p:cNvSpPr txBox="1"/>
          <p:nvPr/>
        </p:nvSpPr>
        <p:spPr>
          <a:xfrm>
            <a:off x="841248" y="2011680"/>
            <a:ext cx="4937760" cy="502920"/>
          </a:xfrm>
          <a:prstGeom prst="rect">
            <a:avLst/>
          </a:prstGeom>
          <a:noFill/>
        </p:spPr>
        <p:txBody>
          <a:bodyPr wrap="square" lIns="0" tIns="18288" rIns="0" bIns="18288" anchor="ctr">
            <a:spAutoFit/>
          </a:bodyPr>
          <a:lstStyle/>
          <a:p>
            <a:pPr algn="ctr">
              <a:spcAft>
                <a:spcPts val="400"/>
              </a:spcAft>
            </a:pPr>
            <a:r>
              <a:rPr sz="1700" b="1" i="0">
                <a:solidFill>
                  <a:srgbClr val="FFFFFF"/>
                </a:solidFill>
                <a:latin typeface="Consolas"/>
              </a:rPr>
              <a:t>class  Student</a:t>
            </a:r>
          </a:p>
        </p:txBody>
      </p:sp>
      <p:sp>
        <p:nvSpPr>
          <p:cNvPr id="7" name="TextBox 7"/>
          <p:cNvSpPr txBox="1"/>
          <p:nvPr/>
        </p:nvSpPr>
        <p:spPr>
          <a:xfrm>
            <a:off x="1161288" y="2651760"/>
            <a:ext cx="4297680" cy="365760"/>
          </a:xfrm>
          <a:prstGeom prst="rect">
            <a:avLst/>
          </a:prstGeom>
          <a:noFill/>
        </p:spPr>
        <p:txBody>
          <a:bodyPr wrap="square" lIns="0" tIns="18288" rIns="0" bIns="18288" anchor="t">
            <a:spAutoFit/>
          </a:bodyPr>
          <a:lstStyle/>
          <a:p>
            <a:pPr algn="l">
              <a:spcAft>
                <a:spcPts val="400"/>
              </a:spcAft>
            </a:pPr>
            <a:r>
              <a:rPr sz="1400" b="1" i="0">
                <a:solidFill>
                  <a:srgbClr val="A02B93"/>
                </a:solidFill>
                <a:latin typeface="Times New Roman"/>
              </a:rPr>
              <a:t>Attributes</a:t>
            </a:r>
          </a:p>
        </p:txBody>
      </p:sp>
      <p:sp>
        <p:nvSpPr>
          <p:cNvPr id="8" name="TextBox 8"/>
          <p:cNvSpPr txBox="1"/>
          <p:nvPr/>
        </p:nvSpPr>
        <p:spPr>
          <a:xfrm>
            <a:off x="1161288" y="3017520"/>
            <a:ext cx="4297680" cy="548640"/>
          </a:xfrm>
          <a:prstGeom prst="rect">
            <a:avLst/>
          </a:prstGeom>
          <a:noFill/>
        </p:spPr>
        <p:txBody>
          <a:bodyPr wrap="square" lIns="0" tIns="18288" rIns="0" bIns="18288" anchor="t">
            <a:spAutoFit/>
          </a:bodyPr>
          <a:lstStyle/>
          <a:p>
            <a:pPr algn="l">
              <a:spcAft>
                <a:spcPts val="400"/>
              </a:spcAft>
            </a:pPr>
            <a:r>
              <a:rPr sz="1500" b="0" i="0">
                <a:solidFill>
                  <a:srgbClr val="2B2B2B"/>
                </a:solidFill>
                <a:latin typeface="Consolas"/>
              </a:rPr>
              <a:t>rollNo,  name,  semester</a:t>
            </a:r>
          </a:p>
        </p:txBody>
      </p:sp>
      <p:cxnSp>
        <p:nvCxnSpPr>
          <p:cNvPr id="9" name="Connector 9"/>
          <p:cNvCxnSpPr/>
          <p:nvPr/>
        </p:nvCxnSpPr>
        <p:spPr>
          <a:xfrm>
            <a:off x="1161288" y="3566160"/>
            <a:ext cx="4297680" cy="0"/>
          </a:xfrm>
          <a:prstGeom prst="line">
            <a:avLst/>
          </a:prstGeom>
          <a:ln w="12700">
            <a:solidFill>
              <a:srgbClr val="D2DCE6"/>
            </a:solidFill>
          </a:ln>
        </p:spPr>
      </p:cxnSp>
      <p:sp>
        <p:nvSpPr>
          <p:cNvPr id="10" name="TextBox 10"/>
          <p:cNvSpPr txBox="1"/>
          <p:nvPr/>
        </p:nvSpPr>
        <p:spPr>
          <a:xfrm>
            <a:off x="1161288" y="3657600"/>
            <a:ext cx="4297680" cy="365760"/>
          </a:xfrm>
          <a:prstGeom prst="rect">
            <a:avLst/>
          </a:prstGeom>
          <a:noFill/>
        </p:spPr>
        <p:txBody>
          <a:bodyPr wrap="square" lIns="0" tIns="18288" rIns="0" bIns="18288" anchor="t">
            <a:spAutoFit/>
          </a:bodyPr>
          <a:lstStyle/>
          <a:p>
            <a:pPr algn="l">
              <a:spcAft>
                <a:spcPts val="400"/>
              </a:spcAft>
            </a:pPr>
            <a:r>
              <a:rPr sz="1400" b="1" i="0">
                <a:solidFill>
                  <a:srgbClr val="A02B93"/>
                </a:solidFill>
                <a:latin typeface="Times New Roman"/>
              </a:rPr>
              <a:t>Methods</a:t>
            </a:r>
          </a:p>
        </p:txBody>
      </p:sp>
      <p:sp>
        <p:nvSpPr>
          <p:cNvPr id="11" name="TextBox 11"/>
          <p:cNvSpPr txBox="1"/>
          <p:nvPr/>
        </p:nvSpPr>
        <p:spPr>
          <a:xfrm>
            <a:off x="1161288" y="4023360"/>
            <a:ext cx="4297680" cy="548640"/>
          </a:xfrm>
          <a:prstGeom prst="rect">
            <a:avLst/>
          </a:prstGeom>
          <a:noFill/>
        </p:spPr>
        <p:txBody>
          <a:bodyPr wrap="square" lIns="0" tIns="18288" rIns="0" bIns="18288" anchor="t">
            <a:spAutoFit/>
          </a:bodyPr>
          <a:lstStyle/>
          <a:p>
            <a:pPr algn="l">
              <a:spcAft>
                <a:spcPts val="400"/>
              </a:spcAft>
            </a:pPr>
            <a:r>
              <a:rPr sz="1500" b="0" i="0">
                <a:solidFill>
                  <a:srgbClr val="2B2B2B"/>
                </a:solidFill>
                <a:latin typeface="Consolas"/>
              </a:rPr>
              <a:t>register(),  payFee()</a:t>
            </a:r>
          </a:p>
        </p:txBody>
      </p:sp>
      <p:sp>
        <p:nvSpPr>
          <p:cNvPr id="12" name="TextBox 12"/>
          <p:cNvSpPr txBox="1"/>
          <p:nvPr/>
        </p:nvSpPr>
        <p:spPr>
          <a:xfrm>
            <a:off x="841248" y="4663440"/>
            <a:ext cx="4937760" cy="365760"/>
          </a:xfrm>
          <a:prstGeom prst="rect">
            <a:avLst/>
          </a:prstGeom>
          <a:noFill/>
        </p:spPr>
        <p:txBody>
          <a:bodyPr wrap="square" lIns="0" tIns="18288" rIns="0" bIns="18288" anchor="t">
            <a:spAutoFit/>
          </a:bodyPr>
          <a:lstStyle/>
          <a:p>
            <a:pPr algn="ctr">
              <a:spcAft>
                <a:spcPts val="400"/>
              </a:spcAft>
            </a:pPr>
            <a:r>
              <a:rPr sz="1400" b="0" i="1">
                <a:solidFill>
                  <a:srgbClr val="5A6472"/>
                </a:solidFill>
                <a:latin typeface="Times New Roman"/>
              </a:rPr>
              <a:t>one class  →  many objects</a:t>
            </a:r>
          </a:p>
        </p:txBody>
      </p:sp>
      <p:sp>
        <p:nvSpPr>
          <p:cNvPr id="13" name="Shape 13"/>
          <p:cNvSpPr/>
          <p:nvPr/>
        </p:nvSpPr>
        <p:spPr>
          <a:xfrm>
            <a:off x="6281928" y="2011680"/>
            <a:ext cx="50749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6510528" y="2011680"/>
            <a:ext cx="46177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An object holds attributes and methods</a:t>
            </a:r>
          </a:p>
        </p:txBody>
      </p:sp>
      <p:sp>
        <p:nvSpPr>
          <p:cNvPr id="15" name="Shape 15"/>
          <p:cNvSpPr/>
          <p:nvPr/>
        </p:nvSpPr>
        <p:spPr>
          <a:xfrm>
            <a:off x="6281928" y="2743200"/>
            <a:ext cx="50749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6510528" y="2743200"/>
            <a:ext cx="46177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Inheritance lets one class reuse another</a:t>
            </a:r>
          </a:p>
        </p:txBody>
      </p:sp>
      <p:sp>
        <p:nvSpPr>
          <p:cNvPr id="17" name="Shape 17"/>
          <p:cNvSpPr/>
          <p:nvPr/>
        </p:nvSpPr>
        <p:spPr>
          <a:xfrm>
            <a:off x="6281928" y="3474720"/>
            <a:ext cx="5074920" cy="5943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8"/>
          <p:cNvSpPr txBox="1"/>
          <p:nvPr/>
        </p:nvSpPr>
        <p:spPr>
          <a:xfrm>
            <a:off x="6510528" y="3474720"/>
            <a:ext cx="4617720" cy="59436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Matches how the application code is written</a:t>
            </a:r>
          </a:p>
        </p:txBody>
      </p:sp>
      <p:sp>
        <p:nvSpPr>
          <p:cNvPr id="19" name="Shape 19"/>
          <p:cNvSpPr/>
          <p:nvPr/>
        </p:nvSpPr>
        <p:spPr>
          <a:xfrm>
            <a:off x="6281928" y="4297680"/>
            <a:ext cx="5074920" cy="1005840"/>
          </a:xfrm>
          <a:prstGeom prst="roundRect">
            <a:avLst>
              <a:gd name="adj" fmla="val 7000"/>
            </a:avLst>
          </a:prstGeom>
          <a:solidFill>
            <a:srgbClr val="F6EDF6"/>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0"/>
          <p:cNvSpPr txBox="1"/>
          <p:nvPr/>
        </p:nvSpPr>
        <p:spPr>
          <a:xfrm>
            <a:off x="6510528" y="4389120"/>
            <a:ext cx="4617720" cy="822960"/>
          </a:xfrm>
          <a:prstGeom prst="rect">
            <a:avLst/>
          </a:prstGeom>
          <a:noFill/>
        </p:spPr>
        <p:txBody>
          <a:bodyPr wrap="square" lIns="0" tIns="18288" rIns="0" bIns="18288" anchor="t">
            <a:spAutoFit/>
          </a:bodyPr>
          <a:lstStyle/>
          <a:p>
            <a:pPr algn="l">
              <a:spcAft>
                <a:spcPts val="100"/>
              </a:spcAft>
            </a:pPr>
            <a:r>
              <a:rPr sz="1400" b="1" i="0">
                <a:solidFill>
                  <a:srgbClr val="A02B93"/>
                </a:solidFill>
                <a:latin typeface="Times New Roman"/>
              </a:rPr>
              <a:t>Where you meet it</a:t>
            </a:r>
          </a:p>
          <a:p>
            <a:pPr algn="l">
              <a:spcAft>
                <a:spcPts val="100"/>
              </a:spcAft>
            </a:pPr>
            <a:r>
              <a:rPr sz="1400" b="0" i="0">
                <a:solidFill>
                  <a:srgbClr val="5A6472"/>
                </a:solidFill>
                <a:latin typeface="Times New Roman"/>
              </a:rPr>
              <a:t>Hibernate  ·  Django ORM  ·  Realm  ·  game engines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Relational Model</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Tables, keys and joins</a:t>
            </a:r>
          </a:p>
        </p:txBody>
      </p:sp>
      <p:sp>
        <p:nvSpPr>
          <p:cNvPr id="4" name="Shape 4"/>
          <p:cNvSpPr/>
          <p:nvPr/>
        </p:nvSpPr>
        <p:spPr>
          <a:xfrm>
            <a:off x="841248" y="2103120"/>
            <a:ext cx="3200400" cy="4572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841248" y="2103120"/>
            <a:ext cx="3200400" cy="457200"/>
          </a:xfrm>
          <a:prstGeom prst="rect">
            <a:avLst/>
          </a:prstGeom>
          <a:noFill/>
        </p:spPr>
        <p:txBody>
          <a:bodyPr wrap="square" lIns="0" tIns="18288" rIns="0" bIns="18288" anchor="ctr">
            <a:spAutoFit/>
          </a:bodyPr>
          <a:lstStyle/>
          <a:p>
            <a:pPr algn="ctr">
              <a:spcAft>
                <a:spcPts val="400"/>
              </a:spcAft>
            </a:pPr>
            <a:r>
              <a:rPr sz="1500" b="1" i="0">
                <a:solidFill>
                  <a:srgbClr val="FFFFFF"/>
                </a:solidFill>
                <a:latin typeface="Times New Roman"/>
              </a:rPr>
              <a:t>STUDENT</a:t>
            </a:r>
          </a:p>
        </p:txBody>
      </p:sp>
      <p:sp>
        <p:nvSpPr>
          <p:cNvPr id="6" name="Shape 6"/>
          <p:cNvSpPr/>
          <p:nvPr/>
        </p:nvSpPr>
        <p:spPr>
          <a:xfrm>
            <a:off x="841248" y="2560320"/>
            <a:ext cx="3200400" cy="411480"/>
          </a:xfrm>
          <a:prstGeom prst="rect">
            <a:avLst/>
          </a:prstGeom>
          <a:solidFill>
            <a:srgbClr val="E8EFF4"/>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7"/>
          <p:cNvSpPr txBox="1"/>
          <p:nvPr/>
        </p:nvSpPr>
        <p:spPr>
          <a:xfrm>
            <a:off x="841248" y="2560320"/>
            <a:ext cx="1600200" cy="411480"/>
          </a:xfrm>
          <a:prstGeom prst="rect">
            <a:avLst/>
          </a:prstGeom>
          <a:noFill/>
        </p:spPr>
        <p:txBody>
          <a:bodyPr wrap="square" lIns="0" tIns="18288" rIns="0" bIns="18288" anchor="ctr">
            <a:spAutoFit/>
          </a:bodyPr>
          <a:lstStyle/>
          <a:p>
            <a:pPr algn="ctr">
              <a:spcAft>
                <a:spcPts val="400"/>
              </a:spcAft>
            </a:pPr>
            <a:r>
              <a:rPr sz="1200" b="1" i="0">
                <a:solidFill>
                  <a:srgbClr val="0E2841"/>
                </a:solidFill>
                <a:latin typeface="Times New Roman"/>
              </a:rPr>
              <a:t>RollNo (PK)</a:t>
            </a:r>
          </a:p>
        </p:txBody>
      </p:sp>
      <p:sp>
        <p:nvSpPr>
          <p:cNvPr id="8" name="TextBox 8"/>
          <p:cNvSpPr txBox="1"/>
          <p:nvPr/>
        </p:nvSpPr>
        <p:spPr>
          <a:xfrm>
            <a:off x="2441448" y="2560320"/>
            <a:ext cx="1600200" cy="411480"/>
          </a:xfrm>
          <a:prstGeom prst="rect">
            <a:avLst/>
          </a:prstGeom>
          <a:noFill/>
        </p:spPr>
        <p:txBody>
          <a:bodyPr wrap="square" lIns="0" tIns="18288" rIns="0" bIns="18288" anchor="ctr">
            <a:spAutoFit/>
          </a:bodyPr>
          <a:lstStyle/>
          <a:p>
            <a:pPr algn="ctr">
              <a:spcAft>
                <a:spcPts val="400"/>
              </a:spcAft>
            </a:pPr>
            <a:r>
              <a:rPr sz="1200" b="1" i="0">
                <a:solidFill>
                  <a:srgbClr val="0E2841"/>
                </a:solidFill>
                <a:latin typeface="Times New Roman"/>
              </a:rPr>
              <a:t>Name</a:t>
            </a:r>
          </a:p>
        </p:txBody>
      </p:sp>
      <p:sp>
        <p:nvSpPr>
          <p:cNvPr id="9" name="Shape 9"/>
          <p:cNvSpPr/>
          <p:nvPr/>
        </p:nvSpPr>
        <p:spPr>
          <a:xfrm>
            <a:off x="841248" y="2971800"/>
            <a:ext cx="3200400" cy="411480"/>
          </a:xfrm>
          <a:prstGeom prst="rect">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841248" y="297180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101</a:t>
            </a:r>
          </a:p>
        </p:txBody>
      </p:sp>
      <p:sp>
        <p:nvSpPr>
          <p:cNvPr id="11" name="TextBox 11"/>
          <p:cNvSpPr txBox="1"/>
          <p:nvPr/>
        </p:nvSpPr>
        <p:spPr>
          <a:xfrm>
            <a:off x="2441448" y="297180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Asha</a:t>
            </a:r>
          </a:p>
        </p:txBody>
      </p:sp>
      <p:sp>
        <p:nvSpPr>
          <p:cNvPr id="12" name="Shape 12"/>
          <p:cNvSpPr/>
          <p:nvPr/>
        </p:nvSpPr>
        <p:spPr>
          <a:xfrm>
            <a:off x="841248" y="3383280"/>
            <a:ext cx="3200400" cy="411480"/>
          </a:xfrm>
          <a:prstGeom prst="rect">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841248" y="338328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102</a:t>
            </a:r>
          </a:p>
        </p:txBody>
      </p:sp>
      <p:sp>
        <p:nvSpPr>
          <p:cNvPr id="14" name="TextBox 14"/>
          <p:cNvSpPr txBox="1"/>
          <p:nvPr/>
        </p:nvSpPr>
        <p:spPr>
          <a:xfrm>
            <a:off x="2441448" y="338328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Rahul</a:t>
            </a:r>
          </a:p>
        </p:txBody>
      </p:sp>
      <p:sp>
        <p:nvSpPr>
          <p:cNvPr id="15" name="Shape 15"/>
          <p:cNvSpPr/>
          <p:nvPr/>
        </p:nvSpPr>
        <p:spPr>
          <a:xfrm>
            <a:off x="4498848" y="2103120"/>
            <a:ext cx="3200400" cy="4572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4498848" y="2103120"/>
            <a:ext cx="3200400" cy="457200"/>
          </a:xfrm>
          <a:prstGeom prst="rect">
            <a:avLst/>
          </a:prstGeom>
          <a:noFill/>
        </p:spPr>
        <p:txBody>
          <a:bodyPr wrap="square" lIns="0" tIns="18288" rIns="0" bIns="18288" anchor="ctr">
            <a:spAutoFit/>
          </a:bodyPr>
          <a:lstStyle/>
          <a:p>
            <a:pPr algn="ctr">
              <a:spcAft>
                <a:spcPts val="400"/>
              </a:spcAft>
            </a:pPr>
            <a:r>
              <a:rPr sz="1500" b="1" i="0">
                <a:solidFill>
                  <a:srgbClr val="FFFFFF"/>
                </a:solidFill>
                <a:latin typeface="Times New Roman"/>
              </a:rPr>
              <a:t>ENROLLMENT</a:t>
            </a:r>
          </a:p>
        </p:txBody>
      </p:sp>
      <p:sp>
        <p:nvSpPr>
          <p:cNvPr id="17" name="Shape 17"/>
          <p:cNvSpPr/>
          <p:nvPr/>
        </p:nvSpPr>
        <p:spPr>
          <a:xfrm>
            <a:off x="4498848" y="2560320"/>
            <a:ext cx="3200400" cy="411480"/>
          </a:xfrm>
          <a:prstGeom prst="rect">
            <a:avLst/>
          </a:prstGeom>
          <a:solidFill>
            <a:srgbClr val="E8EFF4"/>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8"/>
          <p:cNvSpPr txBox="1"/>
          <p:nvPr/>
        </p:nvSpPr>
        <p:spPr>
          <a:xfrm>
            <a:off x="4498848" y="2560320"/>
            <a:ext cx="1600200" cy="411480"/>
          </a:xfrm>
          <a:prstGeom prst="rect">
            <a:avLst/>
          </a:prstGeom>
          <a:noFill/>
        </p:spPr>
        <p:txBody>
          <a:bodyPr wrap="square" lIns="0" tIns="18288" rIns="0" bIns="18288" anchor="ctr">
            <a:spAutoFit/>
          </a:bodyPr>
          <a:lstStyle/>
          <a:p>
            <a:pPr algn="ctr">
              <a:spcAft>
                <a:spcPts val="400"/>
              </a:spcAft>
            </a:pPr>
            <a:r>
              <a:rPr sz="1200" b="1" i="0">
                <a:solidFill>
                  <a:srgbClr val="0E2841"/>
                </a:solidFill>
                <a:latin typeface="Times New Roman"/>
              </a:rPr>
              <a:t>RollNo (FK)</a:t>
            </a:r>
          </a:p>
        </p:txBody>
      </p:sp>
      <p:sp>
        <p:nvSpPr>
          <p:cNvPr id="19" name="TextBox 19"/>
          <p:cNvSpPr txBox="1"/>
          <p:nvPr/>
        </p:nvSpPr>
        <p:spPr>
          <a:xfrm>
            <a:off x="6099048" y="2560320"/>
            <a:ext cx="1600200" cy="411480"/>
          </a:xfrm>
          <a:prstGeom prst="rect">
            <a:avLst/>
          </a:prstGeom>
          <a:noFill/>
        </p:spPr>
        <p:txBody>
          <a:bodyPr wrap="square" lIns="0" tIns="18288" rIns="0" bIns="18288" anchor="ctr">
            <a:spAutoFit/>
          </a:bodyPr>
          <a:lstStyle/>
          <a:p>
            <a:pPr algn="ctr">
              <a:spcAft>
                <a:spcPts val="400"/>
              </a:spcAft>
            </a:pPr>
            <a:r>
              <a:rPr sz="1200" b="1" i="0">
                <a:solidFill>
                  <a:srgbClr val="0E2841"/>
                </a:solidFill>
                <a:latin typeface="Times New Roman"/>
              </a:rPr>
              <a:t>CourseID (FK)</a:t>
            </a:r>
          </a:p>
        </p:txBody>
      </p:sp>
      <p:sp>
        <p:nvSpPr>
          <p:cNvPr id="20" name="Shape 20"/>
          <p:cNvSpPr/>
          <p:nvPr/>
        </p:nvSpPr>
        <p:spPr>
          <a:xfrm>
            <a:off x="4498848" y="2971800"/>
            <a:ext cx="3200400" cy="411480"/>
          </a:xfrm>
          <a:prstGeom prst="rect">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1"/>
          <p:cNvSpPr txBox="1"/>
          <p:nvPr/>
        </p:nvSpPr>
        <p:spPr>
          <a:xfrm>
            <a:off x="4498848" y="297180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101</a:t>
            </a:r>
          </a:p>
        </p:txBody>
      </p:sp>
      <p:sp>
        <p:nvSpPr>
          <p:cNvPr id="22" name="TextBox 22"/>
          <p:cNvSpPr txBox="1"/>
          <p:nvPr/>
        </p:nvSpPr>
        <p:spPr>
          <a:xfrm>
            <a:off x="6099048" y="297180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DB301</a:t>
            </a:r>
          </a:p>
        </p:txBody>
      </p:sp>
      <p:sp>
        <p:nvSpPr>
          <p:cNvPr id="23" name="Shape 23"/>
          <p:cNvSpPr/>
          <p:nvPr/>
        </p:nvSpPr>
        <p:spPr>
          <a:xfrm>
            <a:off x="4498848" y="3383280"/>
            <a:ext cx="3200400" cy="411480"/>
          </a:xfrm>
          <a:prstGeom prst="rect">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4"/>
          <p:cNvSpPr txBox="1"/>
          <p:nvPr/>
        </p:nvSpPr>
        <p:spPr>
          <a:xfrm>
            <a:off x="4498848" y="338328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102</a:t>
            </a:r>
          </a:p>
        </p:txBody>
      </p:sp>
      <p:sp>
        <p:nvSpPr>
          <p:cNvPr id="25" name="TextBox 25"/>
          <p:cNvSpPr txBox="1"/>
          <p:nvPr/>
        </p:nvSpPr>
        <p:spPr>
          <a:xfrm>
            <a:off x="6099048" y="3383280"/>
            <a:ext cx="1600200" cy="411480"/>
          </a:xfrm>
          <a:prstGeom prst="rect">
            <a:avLst/>
          </a:prstGeom>
          <a:noFill/>
        </p:spPr>
        <p:txBody>
          <a:bodyPr wrap="square" lIns="0" tIns="18288" rIns="0" bIns="18288" anchor="ctr">
            <a:spAutoFit/>
          </a:bodyPr>
          <a:lstStyle/>
          <a:p>
            <a:pPr algn="ctr">
              <a:spcAft>
                <a:spcPts val="400"/>
              </a:spcAft>
            </a:pPr>
            <a:r>
              <a:rPr sz="1200" b="0" i="0">
                <a:solidFill>
                  <a:srgbClr val="2B2B2B"/>
                </a:solidFill>
                <a:latin typeface="Consolas"/>
              </a:rPr>
              <a:t>DB301</a:t>
            </a:r>
          </a:p>
        </p:txBody>
      </p:sp>
      <p:cxnSp>
        <p:nvCxnSpPr>
          <p:cNvPr id="26" name="Connector 26"/>
          <p:cNvCxnSpPr/>
          <p:nvPr/>
        </p:nvCxnSpPr>
        <p:spPr>
          <a:xfrm flipH="1">
            <a:off x="4064508" y="2926080"/>
            <a:ext cx="411480" cy="0"/>
          </a:xfrm>
          <a:prstGeom prst="line">
            <a:avLst/>
          </a:prstGeom>
          <a:ln w="25400">
            <a:solidFill>
              <a:srgbClr val="196B24"/>
            </a:solidFill>
            <a:tailEnd type="triangle" w="med" len="med"/>
          </a:ln>
        </p:spPr>
      </p:cxnSp>
      <p:sp>
        <p:nvSpPr>
          <p:cNvPr id="27" name="TextBox 27"/>
          <p:cNvSpPr txBox="1"/>
          <p:nvPr/>
        </p:nvSpPr>
        <p:spPr>
          <a:xfrm>
            <a:off x="4041648" y="3017520"/>
            <a:ext cx="457200" cy="274320"/>
          </a:xfrm>
          <a:prstGeom prst="rect">
            <a:avLst/>
          </a:prstGeom>
          <a:noFill/>
        </p:spPr>
        <p:txBody>
          <a:bodyPr wrap="square" lIns="0" tIns="18288" rIns="0" bIns="18288" anchor="t">
            <a:spAutoFit/>
          </a:bodyPr>
          <a:lstStyle/>
          <a:p>
            <a:pPr algn="ctr">
              <a:spcAft>
                <a:spcPts val="400"/>
              </a:spcAft>
            </a:pPr>
            <a:r>
              <a:rPr sz="1100" b="1" i="0">
                <a:solidFill>
                  <a:srgbClr val="196B24"/>
                </a:solidFill>
                <a:latin typeface="Times New Roman"/>
              </a:rPr>
              <a:t>FK</a:t>
            </a:r>
          </a:p>
        </p:txBody>
      </p:sp>
      <p:sp>
        <p:nvSpPr>
          <p:cNvPr id="28" name="Shape 28"/>
          <p:cNvSpPr/>
          <p:nvPr/>
        </p:nvSpPr>
        <p:spPr>
          <a:xfrm>
            <a:off x="8156448" y="2103120"/>
            <a:ext cx="3200400" cy="1691640"/>
          </a:xfrm>
          <a:prstGeom prst="roundRect">
            <a:avLst>
              <a:gd name="adj" fmla="val 7000"/>
            </a:avLst>
          </a:prstGeom>
          <a:solidFill>
            <a:srgbClr val="EFF7E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9"/>
          <p:cNvSpPr txBox="1"/>
          <p:nvPr/>
        </p:nvSpPr>
        <p:spPr>
          <a:xfrm>
            <a:off x="8385048" y="2194560"/>
            <a:ext cx="2743200" cy="1508760"/>
          </a:xfrm>
          <a:prstGeom prst="rect">
            <a:avLst/>
          </a:prstGeom>
          <a:noFill/>
        </p:spPr>
        <p:txBody>
          <a:bodyPr wrap="square" lIns="0" tIns="18288" rIns="0" bIns="18288" anchor="ctr">
            <a:spAutoFit/>
          </a:bodyPr>
          <a:lstStyle/>
          <a:p>
            <a:pPr algn="l">
              <a:spcAft>
                <a:spcPts val="100"/>
              </a:spcAft>
            </a:pPr>
            <a:r>
              <a:rPr sz="1500" b="1" i="0">
                <a:solidFill>
                  <a:srgbClr val="196B24"/>
                </a:solidFill>
                <a:latin typeface="Times New Roman"/>
              </a:rPr>
              <a:t>Primary key</a:t>
            </a:r>
          </a:p>
          <a:p>
            <a:pPr algn="l">
              <a:spcAft>
                <a:spcPts val="100"/>
              </a:spcAft>
            </a:pPr>
            <a:r>
              <a:rPr sz="1400" b="0" i="0">
                <a:solidFill>
                  <a:srgbClr val="5A6472"/>
                </a:solidFill>
                <a:latin typeface="Times New Roman"/>
              </a:rPr>
              <a:t>identifies each row uniquely</a:t>
            </a:r>
          </a:p>
          <a:p>
            <a:pPr algn="l">
              <a:spcAft>
                <a:spcPts val="100"/>
              </a:spcAft>
            </a:pPr>
            <a:r>
              <a:rPr sz="800" b="0" i="0">
                <a:solidFill>
                  <a:srgbClr val="5A6472"/>
                </a:solidFill>
                <a:latin typeface="Times New Roman"/>
              </a:rPr>
              <a:t> </a:t>
            </a:r>
          </a:p>
          <a:p>
            <a:pPr algn="l">
              <a:spcAft>
                <a:spcPts val="100"/>
              </a:spcAft>
            </a:pPr>
            <a:r>
              <a:rPr sz="1500" b="1" i="0">
                <a:solidFill>
                  <a:srgbClr val="156082"/>
                </a:solidFill>
                <a:latin typeface="Times New Roman"/>
              </a:rPr>
              <a:t>Foreign key</a:t>
            </a:r>
          </a:p>
          <a:p>
            <a:pPr algn="l">
              <a:spcAft>
                <a:spcPts val="100"/>
              </a:spcAft>
            </a:pPr>
            <a:r>
              <a:rPr sz="1400" b="0" i="0">
                <a:solidFill>
                  <a:srgbClr val="5A6472"/>
                </a:solidFill>
                <a:latin typeface="Times New Roman"/>
              </a:rPr>
              <a:t>points at another table's key</a:t>
            </a:r>
          </a:p>
        </p:txBody>
      </p:sp>
      <p:sp>
        <p:nvSpPr>
          <p:cNvPr id="30" name="Shape 30"/>
          <p:cNvSpPr/>
          <p:nvPr/>
        </p:nvSpPr>
        <p:spPr>
          <a:xfrm>
            <a:off x="841248" y="4297680"/>
            <a:ext cx="3261360" cy="731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1"/>
          <p:cNvSpPr txBox="1"/>
          <p:nvPr/>
        </p:nvSpPr>
        <p:spPr>
          <a:xfrm>
            <a:off x="1069848" y="4297680"/>
            <a:ext cx="2804160" cy="731520"/>
          </a:xfrm>
          <a:prstGeom prst="rect">
            <a:avLst/>
          </a:prstGeom>
          <a:noFill/>
        </p:spPr>
        <p:txBody>
          <a:bodyPr wrap="square" lIns="0" tIns="18288" rIns="0" bIns="18288" anchor="ctr">
            <a:spAutoFit/>
          </a:bodyPr>
          <a:lstStyle/>
          <a:p>
            <a:pPr algn="l">
              <a:spcAft>
                <a:spcPts val="400"/>
              </a:spcAft>
            </a:pPr>
            <a:r>
              <a:rPr sz="1400" b="1" i="0">
                <a:solidFill>
                  <a:srgbClr val="0E2841"/>
                </a:solidFill>
                <a:latin typeface="Times New Roman"/>
              </a:rPr>
              <a:t>Every fact stored once, in one table</a:t>
            </a:r>
          </a:p>
        </p:txBody>
      </p:sp>
      <p:sp>
        <p:nvSpPr>
          <p:cNvPr id="32" name="Shape 32"/>
          <p:cNvSpPr/>
          <p:nvPr/>
        </p:nvSpPr>
        <p:spPr>
          <a:xfrm>
            <a:off x="4468368" y="4297680"/>
            <a:ext cx="3261360" cy="731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3"/>
          <p:cNvSpPr txBox="1"/>
          <p:nvPr/>
        </p:nvSpPr>
        <p:spPr>
          <a:xfrm>
            <a:off x="4696968" y="4297680"/>
            <a:ext cx="2804160" cy="731520"/>
          </a:xfrm>
          <a:prstGeom prst="rect">
            <a:avLst/>
          </a:prstGeom>
          <a:noFill/>
        </p:spPr>
        <p:txBody>
          <a:bodyPr wrap="square" lIns="0" tIns="18288" rIns="0" bIns="18288" anchor="ctr">
            <a:spAutoFit/>
          </a:bodyPr>
          <a:lstStyle/>
          <a:p>
            <a:pPr algn="l">
              <a:spcAft>
                <a:spcPts val="400"/>
              </a:spcAft>
            </a:pPr>
            <a:r>
              <a:rPr sz="1400" b="1" i="0">
                <a:solidFill>
                  <a:srgbClr val="0E2841"/>
                </a:solidFill>
                <a:latin typeface="Times New Roman"/>
              </a:rPr>
              <a:t>Keys and constraints enforce consistency</a:t>
            </a:r>
          </a:p>
        </p:txBody>
      </p:sp>
      <p:sp>
        <p:nvSpPr>
          <p:cNvPr id="34" name="Shape 34"/>
          <p:cNvSpPr/>
          <p:nvPr/>
        </p:nvSpPr>
        <p:spPr>
          <a:xfrm>
            <a:off x="8095488" y="4297680"/>
            <a:ext cx="3261360" cy="731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5"/>
          <p:cNvSpPr txBox="1"/>
          <p:nvPr/>
        </p:nvSpPr>
        <p:spPr>
          <a:xfrm>
            <a:off x="8324088" y="4297680"/>
            <a:ext cx="2804160" cy="731520"/>
          </a:xfrm>
          <a:prstGeom prst="rect">
            <a:avLst/>
          </a:prstGeom>
          <a:noFill/>
        </p:spPr>
        <p:txBody>
          <a:bodyPr wrap="square" lIns="0" tIns="18288" rIns="0" bIns="18288" anchor="ctr">
            <a:spAutoFit/>
          </a:bodyPr>
          <a:lstStyle/>
          <a:p>
            <a:pPr algn="l">
              <a:spcAft>
                <a:spcPts val="400"/>
              </a:spcAft>
            </a:pPr>
            <a:r>
              <a:rPr sz="1400" b="1" i="0">
                <a:solidFill>
                  <a:srgbClr val="0E2841"/>
                </a:solidFill>
                <a:latin typeface="Times New Roman"/>
              </a:rPr>
              <a:t>A JOIN rebuilds the full picture on demand</a:t>
            </a:r>
          </a:p>
        </p:txBody>
      </p:sp>
      <p:sp>
        <p:nvSpPr>
          <p:cNvPr id="36" name="TextBox 36"/>
          <p:cNvSpPr txBox="1"/>
          <p:nvPr/>
        </p:nvSpPr>
        <p:spPr>
          <a:xfrm>
            <a:off x="841248" y="5303520"/>
            <a:ext cx="10515600" cy="365760"/>
          </a:xfrm>
          <a:prstGeom prst="rect">
            <a:avLst/>
          </a:prstGeom>
          <a:noFill/>
        </p:spPr>
        <p:txBody>
          <a:bodyPr wrap="square" lIns="0" tIns="18288" rIns="0" bIns="18288" anchor="t">
            <a:spAutoFit/>
          </a:bodyPr>
          <a:lstStyle/>
          <a:p>
            <a:pPr algn="l">
              <a:spcAft>
                <a:spcPts val="400"/>
              </a:spcAft>
            </a:pPr>
            <a:r>
              <a:rPr sz="1500" b="0" i="1">
                <a:solidFill>
                  <a:srgbClr val="5A6472"/>
                </a:solidFill>
                <a:latin typeface="Times New Roman"/>
              </a:rPr>
              <a:t>Where you meet it:  PostgreSQL · Oracle · MySQL · Amazon Aurora — banking, ERP, e-commerce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The Four Models at a Glance</a:t>
            </a:r>
          </a:p>
        </p:txBody>
      </p:sp>
      <p:sp>
        <p:nvSpPr>
          <p:cNvPr id="3" name="Shape 3"/>
          <p:cNvSpPr/>
          <p:nvPr/>
        </p:nvSpPr>
        <p:spPr>
          <a:xfrm>
            <a:off x="841248" y="1965960"/>
            <a:ext cx="10515600" cy="54864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069848" y="1965960"/>
            <a:ext cx="2286000" cy="548640"/>
          </a:xfrm>
          <a:prstGeom prst="rect">
            <a:avLst/>
          </a:prstGeom>
          <a:noFill/>
        </p:spPr>
        <p:txBody>
          <a:bodyPr wrap="square" lIns="0" tIns="18288" rIns="0" bIns="18288" anchor="ctr">
            <a:spAutoFit/>
          </a:bodyPr>
          <a:lstStyle/>
          <a:p>
            <a:pPr algn="l">
              <a:spcAft>
                <a:spcPts val="400"/>
              </a:spcAft>
            </a:pPr>
            <a:r>
              <a:rPr sz="1600" b="1" i="0">
                <a:solidFill>
                  <a:srgbClr val="FFFFFF"/>
                </a:solidFill>
                <a:latin typeface="Times New Roman"/>
              </a:rPr>
              <a:t>Model</a:t>
            </a:r>
          </a:p>
        </p:txBody>
      </p:sp>
      <p:sp>
        <p:nvSpPr>
          <p:cNvPr id="5" name="TextBox 5"/>
          <p:cNvSpPr txBox="1"/>
          <p:nvPr/>
        </p:nvSpPr>
        <p:spPr>
          <a:xfrm>
            <a:off x="3630168" y="1965960"/>
            <a:ext cx="2286000" cy="548640"/>
          </a:xfrm>
          <a:prstGeom prst="rect">
            <a:avLst/>
          </a:prstGeom>
          <a:noFill/>
        </p:spPr>
        <p:txBody>
          <a:bodyPr wrap="square" lIns="0" tIns="18288" rIns="0" bIns="18288" anchor="ctr">
            <a:spAutoFit/>
          </a:bodyPr>
          <a:lstStyle/>
          <a:p>
            <a:pPr algn="l">
              <a:spcAft>
                <a:spcPts val="400"/>
              </a:spcAft>
            </a:pPr>
            <a:r>
              <a:rPr sz="1600" b="1" i="0">
                <a:solidFill>
                  <a:srgbClr val="FFFFFF"/>
                </a:solidFill>
                <a:latin typeface="Times New Roman"/>
              </a:rPr>
              <a:t>Structure</a:t>
            </a:r>
          </a:p>
        </p:txBody>
      </p:sp>
      <p:sp>
        <p:nvSpPr>
          <p:cNvPr id="6" name="TextBox 6"/>
          <p:cNvSpPr txBox="1"/>
          <p:nvPr/>
        </p:nvSpPr>
        <p:spPr>
          <a:xfrm>
            <a:off x="6190488" y="1965960"/>
            <a:ext cx="5120640" cy="548640"/>
          </a:xfrm>
          <a:prstGeom prst="rect">
            <a:avLst/>
          </a:prstGeom>
          <a:noFill/>
        </p:spPr>
        <p:txBody>
          <a:bodyPr wrap="square" lIns="0" tIns="18288" rIns="0" bIns="18288" anchor="ctr">
            <a:spAutoFit/>
          </a:bodyPr>
          <a:lstStyle/>
          <a:p>
            <a:pPr algn="l">
              <a:spcAft>
                <a:spcPts val="400"/>
              </a:spcAft>
            </a:pPr>
            <a:r>
              <a:rPr sz="1600" b="1" i="0">
                <a:solidFill>
                  <a:srgbClr val="FFFFFF"/>
                </a:solidFill>
                <a:latin typeface="Times New Roman"/>
              </a:rPr>
              <a:t>Where you meet it today</a:t>
            </a:r>
          </a:p>
        </p:txBody>
      </p:sp>
      <p:sp>
        <p:nvSpPr>
          <p:cNvPr id="7" name="Shape 7"/>
          <p:cNvSpPr/>
          <p:nvPr/>
        </p:nvSpPr>
        <p:spPr>
          <a:xfrm>
            <a:off x="841248" y="2514600"/>
            <a:ext cx="10515600" cy="731520"/>
          </a:xfrm>
          <a:prstGeom prst="rect">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hape 8"/>
          <p:cNvSpPr/>
          <p:nvPr/>
        </p:nvSpPr>
        <p:spPr>
          <a:xfrm>
            <a:off x="841248" y="2514600"/>
            <a:ext cx="45720" cy="7315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9"/>
          <p:cNvSpPr txBox="1"/>
          <p:nvPr/>
        </p:nvSpPr>
        <p:spPr>
          <a:xfrm>
            <a:off x="1069848" y="2514600"/>
            <a:ext cx="2286000" cy="73152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Hierarchical</a:t>
            </a:r>
          </a:p>
        </p:txBody>
      </p:sp>
      <p:sp>
        <p:nvSpPr>
          <p:cNvPr id="10" name="TextBox 10"/>
          <p:cNvSpPr txBox="1"/>
          <p:nvPr/>
        </p:nvSpPr>
        <p:spPr>
          <a:xfrm>
            <a:off x="3630168" y="2514600"/>
            <a:ext cx="2286000" cy="731520"/>
          </a:xfrm>
          <a:prstGeom prst="rect">
            <a:avLst/>
          </a:prstGeom>
          <a:noFill/>
        </p:spPr>
        <p:txBody>
          <a:bodyPr wrap="square" lIns="0" tIns="18288" rIns="0" bIns="18288" anchor="ctr">
            <a:spAutoFit/>
          </a:bodyPr>
          <a:lstStyle/>
          <a:p>
            <a:pPr algn="l">
              <a:spcAft>
                <a:spcPts val="400"/>
              </a:spcAft>
            </a:pPr>
            <a:r>
              <a:rPr sz="1500" b="1" i="0">
                <a:solidFill>
                  <a:srgbClr val="156082"/>
                </a:solidFill>
                <a:latin typeface="Consolas"/>
              </a:rPr>
              <a:t>Tree</a:t>
            </a:r>
          </a:p>
        </p:txBody>
      </p:sp>
      <p:sp>
        <p:nvSpPr>
          <p:cNvPr id="11" name="TextBox 11"/>
          <p:cNvSpPr txBox="1"/>
          <p:nvPr/>
        </p:nvSpPr>
        <p:spPr>
          <a:xfrm>
            <a:off x="6190488" y="2514600"/>
            <a:ext cx="5120640" cy="731520"/>
          </a:xfrm>
          <a:prstGeom prst="rect">
            <a:avLst/>
          </a:prstGeom>
          <a:noFill/>
        </p:spPr>
        <p:txBody>
          <a:bodyPr wrap="square" lIns="0" tIns="18288" rIns="0" bIns="18288" anchor="ctr">
            <a:spAutoFit/>
          </a:bodyPr>
          <a:lstStyle/>
          <a:p>
            <a:pPr algn="l">
              <a:spcAft>
                <a:spcPts val="400"/>
              </a:spcAft>
            </a:pPr>
            <a:r>
              <a:rPr sz="1500" b="0" i="0">
                <a:solidFill>
                  <a:srgbClr val="5A6472"/>
                </a:solidFill>
                <a:latin typeface="Times New Roman"/>
              </a:rPr>
              <a:t>File systems, XML &amp; JSON, LDAP, IBM IMS</a:t>
            </a:r>
          </a:p>
        </p:txBody>
      </p:sp>
      <p:sp>
        <p:nvSpPr>
          <p:cNvPr id="12" name="Shape 12"/>
          <p:cNvSpPr/>
          <p:nvPr/>
        </p:nvSpPr>
        <p:spPr>
          <a:xfrm>
            <a:off x="841248" y="3246120"/>
            <a:ext cx="10515600" cy="731520"/>
          </a:xfrm>
          <a:prstGeom prst="rect">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hape 13"/>
          <p:cNvSpPr/>
          <p:nvPr/>
        </p:nvSpPr>
        <p:spPr>
          <a:xfrm>
            <a:off x="841248" y="3246120"/>
            <a:ext cx="45720" cy="7315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1069848" y="3246120"/>
            <a:ext cx="2286000" cy="73152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Network</a:t>
            </a:r>
          </a:p>
        </p:txBody>
      </p:sp>
      <p:sp>
        <p:nvSpPr>
          <p:cNvPr id="15" name="TextBox 15"/>
          <p:cNvSpPr txBox="1"/>
          <p:nvPr/>
        </p:nvSpPr>
        <p:spPr>
          <a:xfrm>
            <a:off x="3630168" y="3246120"/>
            <a:ext cx="2286000" cy="731520"/>
          </a:xfrm>
          <a:prstGeom prst="rect">
            <a:avLst/>
          </a:prstGeom>
          <a:noFill/>
        </p:spPr>
        <p:txBody>
          <a:bodyPr wrap="square" lIns="0" tIns="18288" rIns="0" bIns="18288" anchor="ctr">
            <a:spAutoFit/>
          </a:bodyPr>
          <a:lstStyle/>
          <a:p>
            <a:pPr algn="l">
              <a:spcAft>
                <a:spcPts val="400"/>
              </a:spcAft>
            </a:pPr>
            <a:r>
              <a:rPr sz="1500" b="1" i="0">
                <a:solidFill>
                  <a:srgbClr val="E97132"/>
                </a:solidFill>
                <a:latin typeface="Consolas"/>
              </a:rPr>
              <a:t>Graph</a:t>
            </a:r>
          </a:p>
        </p:txBody>
      </p:sp>
      <p:sp>
        <p:nvSpPr>
          <p:cNvPr id="16" name="TextBox 16"/>
          <p:cNvSpPr txBox="1"/>
          <p:nvPr/>
        </p:nvSpPr>
        <p:spPr>
          <a:xfrm>
            <a:off x="6190488" y="3246120"/>
            <a:ext cx="5120640" cy="731520"/>
          </a:xfrm>
          <a:prstGeom prst="rect">
            <a:avLst/>
          </a:prstGeom>
          <a:noFill/>
        </p:spPr>
        <p:txBody>
          <a:bodyPr wrap="square" lIns="0" tIns="18288" rIns="0" bIns="18288" anchor="ctr">
            <a:spAutoFit/>
          </a:bodyPr>
          <a:lstStyle/>
          <a:p>
            <a:pPr algn="l">
              <a:spcAft>
                <a:spcPts val="400"/>
              </a:spcAft>
            </a:pPr>
            <a:r>
              <a:rPr sz="1500" b="0" i="0">
                <a:solidFill>
                  <a:srgbClr val="5A6472"/>
                </a:solidFill>
                <a:latin typeface="Times New Roman"/>
              </a:rPr>
              <a:t>Neo4j, Amazon Neptune, social &amp; fraud graphs</a:t>
            </a:r>
          </a:p>
        </p:txBody>
      </p:sp>
      <p:sp>
        <p:nvSpPr>
          <p:cNvPr id="17" name="Shape 17"/>
          <p:cNvSpPr/>
          <p:nvPr/>
        </p:nvSpPr>
        <p:spPr>
          <a:xfrm>
            <a:off x="841248" y="3977640"/>
            <a:ext cx="10515600" cy="731520"/>
          </a:xfrm>
          <a:prstGeom prst="rect">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hape 18"/>
          <p:cNvSpPr/>
          <p:nvPr/>
        </p:nvSpPr>
        <p:spPr>
          <a:xfrm>
            <a:off x="841248" y="3977640"/>
            <a:ext cx="45720" cy="7315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9"/>
          <p:cNvSpPr txBox="1"/>
          <p:nvPr/>
        </p:nvSpPr>
        <p:spPr>
          <a:xfrm>
            <a:off x="1069848" y="3977640"/>
            <a:ext cx="2286000" cy="73152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Object-Oriented</a:t>
            </a:r>
          </a:p>
        </p:txBody>
      </p:sp>
      <p:sp>
        <p:nvSpPr>
          <p:cNvPr id="20" name="TextBox 20"/>
          <p:cNvSpPr txBox="1"/>
          <p:nvPr/>
        </p:nvSpPr>
        <p:spPr>
          <a:xfrm>
            <a:off x="3630168" y="3977640"/>
            <a:ext cx="2286000" cy="731520"/>
          </a:xfrm>
          <a:prstGeom prst="rect">
            <a:avLst/>
          </a:prstGeom>
          <a:noFill/>
        </p:spPr>
        <p:txBody>
          <a:bodyPr wrap="square" lIns="0" tIns="18288" rIns="0" bIns="18288" anchor="ctr">
            <a:spAutoFit/>
          </a:bodyPr>
          <a:lstStyle/>
          <a:p>
            <a:pPr algn="l">
              <a:spcAft>
                <a:spcPts val="400"/>
              </a:spcAft>
            </a:pPr>
            <a:r>
              <a:rPr sz="1500" b="1" i="0">
                <a:solidFill>
                  <a:srgbClr val="A02B93"/>
                </a:solidFill>
                <a:latin typeface="Consolas"/>
              </a:rPr>
              <a:t>Objects</a:t>
            </a:r>
          </a:p>
        </p:txBody>
      </p:sp>
      <p:sp>
        <p:nvSpPr>
          <p:cNvPr id="21" name="TextBox 21"/>
          <p:cNvSpPr txBox="1"/>
          <p:nvPr/>
        </p:nvSpPr>
        <p:spPr>
          <a:xfrm>
            <a:off x="6190488" y="3977640"/>
            <a:ext cx="5120640" cy="731520"/>
          </a:xfrm>
          <a:prstGeom prst="rect">
            <a:avLst/>
          </a:prstGeom>
          <a:noFill/>
        </p:spPr>
        <p:txBody>
          <a:bodyPr wrap="square" lIns="0" tIns="18288" rIns="0" bIns="18288" anchor="ctr">
            <a:spAutoFit/>
          </a:bodyPr>
          <a:lstStyle/>
          <a:p>
            <a:pPr algn="l">
              <a:spcAft>
                <a:spcPts val="400"/>
              </a:spcAft>
            </a:pPr>
            <a:r>
              <a:rPr sz="1500" b="0" i="0">
                <a:solidFill>
                  <a:srgbClr val="5A6472"/>
                </a:solidFill>
                <a:latin typeface="Times New Roman"/>
              </a:rPr>
              <a:t>Hibernate, Django ORM, Realm, game engines</a:t>
            </a:r>
          </a:p>
        </p:txBody>
      </p:sp>
      <p:sp>
        <p:nvSpPr>
          <p:cNvPr id="22" name="Shape 22"/>
          <p:cNvSpPr/>
          <p:nvPr/>
        </p:nvSpPr>
        <p:spPr>
          <a:xfrm>
            <a:off x="841248" y="4709160"/>
            <a:ext cx="10515600" cy="731520"/>
          </a:xfrm>
          <a:prstGeom prst="rect">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hape 23"/>
          <p:cNvSpPr/>
          <p:nvPr/>
        </p:nvSpPr>
        <p:spPr>
          <a:xfrm>
            <a:off x="841248" y="4709160"/>
            <a:ext cx="45720" cy="73152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4"/>
          <p:cNvSpPr txBox="1"/>
          <p:nvPr/>
        </p:nvSpPr>
        <p:spPr>
          <a:xfrm>
            <a:off x="1069848" y="4709160"/>
            <a:ext cx="2286000" cy="731520"/>
          </a:xfrm>
          <a:prstGeom prst="rect">
            <a:avLst/>
          </a:prstGeom>
          <a:noFill/>
        </p:spPr>
        <p:txBody>
          <a:bodyPr wrap="square" lIns="0" tIns="18288" rIns="0" bIns="18288" anchor="ctr">
            <a:spAutoFit/>
          </a:bodyPr>
          <a:lstStyle/>
          <a:p>
            <a:pPr algn="l">
              <a:spcAft>
                <a:spcPts val="400"/>
              </a:spcAft>
            </a:pPr>
            <a:r>
              <a:rPr sz="1500" b="1" i="0">
                <a:solidFill>
                  <a:srgbClr val="0E2841"/>
                </a:solidFill>
                <a:latin typeface="Times New Roman"/>
              </a:rPr>
              <a:t>Relational</a:t>
            </a:r>
          </a:p>
        </p:txBody>
      </p:sp>
      <p:sp>
        <p:nvSpPr>
          <p:cNvPr id="25" name="TextBox 25"/>
          <p:cNvSpPr txBox="1"/>
          <p:nvPr/>
        </p:nvSpPr>
        <p:spPr>
          <a:xfrm>
            <a:off x="3630168" y="4709160"/>
            <a:ext cx="2286000" cy="731520"/>
          </a:xfrm>
          <a:prstGeom prst="rect">
            <a:avLst/>
          </a:prstGeom>
          <a:noFill/>
        </p:spPr>
        <p:txBody>
          <a:bodyPr wrap="square" lIns="0" tIns="18288" rIns="0" bIns="18288" anchor="ctr">
            <a:spAutoFit/>
          </a:bodyPr>
          <a:lstStyle/>
          <a:p>
            <a:pPr algn="l">
              <a:spcAft>
                <a:spcPts val="400"/>
              </a:spcAft>
            </a:pPr>
            <a:r>
              <a:rPr sz="1500" b="1" i="0">
                <a:solidFill>
                  <a:srgbClr val="196B24"/>
                </a:solidFill>
                <a:latin typeface="Consolas"/>
              </a:rPr>
              <a:t>Tables</a:t>
            </a:r>
          </a:p>
        </p:txBody>
      </p:sp>
      <p:sp>
        <p:nvSpPr>
          <p:cNvPr id="26" name="TextBox 26"/>
          <p:cNvSpPr txBox="1"/>
          <p:nvPr/>
        </p:nvSpPr>
        <p:spPr>
          <a:xfrm>
            <a:off x="6190488" y="4709160"/>
            <a:ext cx="5120640" cy="731520"/>
          </a:xfrm>
          <a:prstGeom prst="rect">
            <a:avLst/>
          </a:prstGeom>
          <a:noFill/>
        </p:spPr>
        <p:txBody>
          <a:bodyPr wrap="square" lIns="0" tIns="18288" rIns="0" bIns="18288" anchor="ctr">
            <a:spAutoFit/>
          </a:bodyPr>
          <a:lstStyle/>
          <a:p>
            <a:pPr algn="l">
              <a:spcAft>
                <a:spcPts val="400"/>
              </a:spcAft>
            </a:pPr>
            <a:r>
              <a:rPr sz="1500" b="0" i="0">
                <a:solidFill>
                  <a:srgbClr val="5A6472"/>
                </a:solidFill>
                <a:latin typeface="Times New Roman"/>
              </a:rPr>
              <a:t>PostgreSQL, Oracle, MySQL, Amazon Aurora</a:t>
            </a:r>
          </a:p>
        </p:txBody>
      </p:sp>
      <p:sp>
        <p:nvSpPr>
          <p:cNvPr id="27" name="TextBox 27"/>
          <p:cNvSpPr txBox="1"/>
          <p:nvPr/>
        </p:nvSpPr>
        <p:spPr>
          <a:xfrm>
            <a:off x="841248" y="5623560"/>
            <a:ext cx="10515600" cy="365760"/>
          </a:xfrm>
          <a:prstGeom prst="rect">
            <a:avLst/>
          </a:prstGeom>
          <a:noFill/>
        </p:spPr>
        <p:txBody>
          <a:bodyPr wrap="square" lIns="0" tIns="18288" rIns="0" bIns="18288" anchor="t">
            <a:spAutoFit/>
          </a:bodyPr>
          <a:lstStyle/>
          <a:p>
            <a:pPr algn="l">
              <a:spcAft>
                <a:spcPts val="400"/>
              </a:spcAft>
            </a:pPr>
            <a:r>
              <a:rPr sz="1600" b="0" i="1">
                <a:solidFill>
                  <a:srgbClr val="5A6472"/>
                </a:solidFill>
                <a:latin typeface="Times New Roman"/>
              </a:rPr>
              <a:t>"Trees for levels, graphs for links, objects for behaviour, tables for reports."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Hands-on Task</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Model the same facts three ways</a:t>
            </a:r>
          </a:p>
        </p:txBody>
      </p:sp>
      <p:sp>
        <p:nvSpPr>
          <p:cNvPr id="4" name="Shape 4"/>
          <p:cNvSpPr/>
          <p:nvPr/>
        </p:nvSpPr>
        <p:spPr>
          <a:xfrm>
            <a:off x="841248" y="2103120"/>
            <a:ext cx="5760720" cy="8686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Node 5"/>
          <p:cNvSpPr/>
          <p:nvPr/>
        </p:nvSpPr>
        <p:spPr>
          <a:xfrm>
            <a:off x="1024128" y="2240280"/>
            <a:ext cx="59436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200" b="1" i="0">
                <a:solidFill>
                  <a:srgbClr val="FFFFFF"/>
                </a:solidFill>
                <a:latin typeface="Times New Roman"/>
              </a:rPr>
              <a:t>1</a:t>
            </a:r>
          </a:p>
        </p:txBody>
      </p:sp>
      <p:sp>
        <p:nvSpPr>
          <p:cNvPr id="6" name="TextBox 6"/>
          <p:cNvSpPr txBox="1"/>
          <p:nvPr/>
        </p:nvSpPr>
        <p:spPr>
          <a:xfrm>
            <a:off x="1801368" y="2240280"/>
            <a:ext cx="4526280" cy="594360"/>
          </a:xfrm>
          <a:prstGeom prst="rect">
            <a:avLst/>
          </a:prstGeom>
          <a:noFill/>
        </p:spPr>
        <p:txBody>
          <a:bodyPr wrap="square" lIns="0" tIns="18288" rIns="0" bIns="18288" anchor="ctr">
            <a:spAutoFit/>
          </a:bodyPr>
          <a:lstStyle/>
          <a:p>
            <a:pPr algn="l">
              <a:spcAft>
                <a:spcPts val="0"/>
              </a:spcAft>
            </a:pPr>
            <a:r>
              <a:rPr sz="1700" b="1" i="0">
                <a:solidFill>
                  <a:srgbClr val="0E2841"/>
                </a:solidFill>
                <a:latin typeface="Times New Roman"/>
              </a:rPr>
              <a:t>Draw it as a tree</a:t>
            </a:r>
          </a:p>
          <a:p>
            <a:pPr algn="l">
              <a:spcAft>
                <a:spcPts val="0"/>
              </a:spcAft>
            </a:pPr>
            <a:r>
              <a:rPr sz="1400" b="0" i="0">
                <a:solidFill>
                  <a:srgbClr val="5A6472"/>
                </a:solidFill>
                <a:latin typeface="Times New Roman"/>
              </a:rPr>
              <a:t>Students under courses</a:t>
            </a:r>
          </a:p>
        </p:txBody>
      </p:sp>
      <p:sp>
        <p:nvSpPr>
          <p:cNvPr id="7" name="Shape 7"/>
          <p:cNvSpPr/>
          <p:nvPr/>
        </p:nvSpPr>
        <p:spPr>
          <a:xfrm>
            <a:off x="841248" y="3108960"/>
            <a:ext cx="5760720" cy="8686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Node 8"/>
          <p:cNvSpPr/>
          <p:nvPr/>
        </p:nvSpPr>
        <p:spPr>
          <a:xfrm>
            <a:off x="1024128" y="3246120"/>
            <a:ext cx="59436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200" b="1" i="0">
                <a:solidFill>
                  <a:srgbClr val="FFFFFF"/>
                </a:solidFill>
                <a:latin typeface="Times New Roman"/>
              </a:rPr>
              <a:t>2</a:t>
            </a:r>
          </a:p>
        </p:txBody>
      </p:sp>
      <p:sp>
        <p:nvSpPr>
          <p:cNvPr id="9" name="TextBox 9"/>
          <p:cNvSpPr txBox="1"/>
          <p:nvPr/>
        </p:nvSpPr>
        <p:spPr>
          <a:xfrm>
            <a:off x="1801368" y="3246120"/>
            <a:ext cx="4526280" cy="594360"/>
          </a:xfrm>
          <a:prstGeom prst="rect">
            <a:avLst/>
          </a:prstGeom>
          <a:noFill/>
        </p:spPr>
        <p:txBody>
          <a:bodyPr wrap="square" lIns="0" tIns="18288" rIns="0" bIns="18288" anchor="ctr">
            <a:spAutoFit/>
          </a:bodyPr>
          <a:lstStyle/>
          <a:p>
            <a:pPr algn="l">
              <a:spcAft>
                <a:spcPts val="0"/>
              </a:spcAft>
            </a:pPr>
            <a:r>
              <a:rPr sz="1700" b="1" i="0">
                <a:solidFill>
                  <a:srgbClr val="0E2841"/>
                </a:solidFill>
                <a:latin typeface="Times New Roman"/>
              </a:rPr>
              <a:t>Draw it as a graph</a:t>
            </a:r>
          </a:p>
          <a:p>
            <a:pPr algn="l">
              <a:spcAft>
                <a:spcPts val="0"/>
              </a:spcAft>
            </a:pPr>
            <a:r>
              <a:rPr sz="1400" b="0" i="0">
                <a:solidFill>
                  <a:srgbClr val="5A6472"/>
                </a:solidFill>
                <a:latin typeface="Times New Roman"/>
              </a:rPr>
              <a:t>Link students to courses</a:t>
            </a:r>
          </a:p>
        </p:txBody>
      </p:sp>
      <p:sp>
        <p:nvSpPr>
          <p:cNvPr id="10" name="Shape 10"/>
          <p:cNvSpPr/>
          <p:nvPr/>
        </p:nvSpPr>
        <p:spPr>
          <a:xfrm>
            <a:off x="841248" y="4114800"/>
            <a:ext cx="5760720" cy="8686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Node 11"/>
          <p:cNvSpPr/>
          <p:nvPr/>
        </p:nvSpPr>
        <p:spPr>
          <a:xfrm>
            <a:off x="1024128" y="4251960"/>
            <a:ext cx="59436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200" b="1" i="0">
                <a:solidFill>
                  <a:srgbClr val="FFFFFF"/>
                </a:solidFill>
                <a:latin typeface="Times New Roman"/>
              </a:rPr>
              <a:t>3</a:t>
            </a:r>
          </a:p>
        </p:txBody>
      </p:sp>
      <p:sp>
        <p:nvSpPr>
          <p:cNvPr id="12" name="TextBox 12"/>
          <p:cNvSpPr txBox="1"/>
          <p:nvPr/>
        </p:nvSpPr>
        <p:spPr>
          <a:xfrm>
            <a:off x="1801368" y="4251960"/>
            <a:ext cx="4526280" cy="594360"/>
          </a:xfrm>
          <a:prstGeom prst="rect">
            <a:avLst/>
          </a:prstGeom>
          <a:noFill/>
        </p:spPr>
        <p:txBody>
          <a:bodyPr wrap="square" lIns="0" tIns="18288" rIns="0" bIns="18288" anchor="ctr">
            <a:spAutoFit/>
          </a:bodyPr>
          <a:lstStyle/>
          <a:p>
            <a:pPr algn="l">
              <a:spcAft>
                <a:spcPts val="0"/>
              </a:spcAft>
            </a:pPr>
            <a:r>
              <a:rPr sz="1700" b="1" i="0">
                <a:solidFill>
                  <a:srgbClr val="0E2841"/>
                </a:solidFill>
                <a:latin typeface="Times New Roman"/>
              </a:rPr>
              <a:t>Draw it as tables</a:t>
            </a:r>
          </a:p>
          <a:p>
            <a:pPr algn="l">
              <a:spcAft>
                <a:spcPts val="0"/>
              </a:spcAft>
            </a:pPr>
            <a:r>
              <a:rPr sz="1400" b="0" i="0">
                <a:solidFill>
                  <a:srgbClr val="5A6472"/>
                </a:solidFill>
                <a:latin typeface="Times New Roman"/>
              </a:rPr>
              <a:t>Add an ENROLLMENT table</a:t>
            </a:r>
          </a:p>
        </p:txBody>
      </p:sp>
      <p:sp>
        <p:nvSpPr>
          <p:cNvPr id="13" name="Shape 13"/>
          <p:cNvSpPr/>
          <p:nvPr/>
        </p:nvSpPr>
        <p:spPr>
          <a:xfrm>
            <a:off x="6967728" y="2103120"/>
            <a:ext cx="4389120" cy="292608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7242048" y="2286000"/>
            <a:ext cx="3840480" cy="2560320"/>
          </a:xfrm>
          <a:prstGeom prst="rect">
            <a:avLst/>
          </a:prstGeom>
          <a:noFill/>
        </p:spPr>
        <p:txBody>
          <a:bodyPr wrap="square" lIns="0" tIns="18288" rIns="0" bIns="18288" anchor="t">
            <a:spAutoFit/>
          </a:bodyPr>
          <a:lstStyle/>
          <a:p>
            <a:pPr algn="l">
              <a:spcAft>
                <a:spcPts val="200"/>
              </a:spcAft>
            </a:pPr>
            <a:r>
              <a:rPr sz="1500" b="1" i="0">
                <a:solidFill>
                  <a:srgbClr val="156082"/>
                </a:solidFill>
                <a:latin typeface="Consolas"/>
              </a:rPr>
              <a:t>Given:</a:t>
            </a:r>
          </a:p>
          <a:p>
            <a:pPr algn="l">
              <a:spcAft>
                <a:spcPts val="200"/>
              </a:spcAft>
            </a:pPr>
            <a:r>
              <a:rPr sz="1500" b="0" i="0">
                <a:solidFill>
                  <a:srgbClr val="2B2B2B"/>
                </a:solidFill>
                <a:latin typeface="Consolas"/>
              </a:rPr>
              <a:t>Asha   →  DBMS, Python</a:t>
            </a:r>
          </a:p>
          <a:p>
            <a:pPr algn="l">
              <a:spcAft>
                <a:spcPts val="200"/>
              </a:spcAft>
            </a:pPr>
            <a:r>
              <a:rPr sz="1500" b="0" i="0">
                <a:solidFill>
                  <a:srgbClr val="2B2B2B"/>
                </a:solidFill>
                <a:latin typeface="Consolas"/>
              </a:rPr>
              <a:t>Rahul  →  Python</a:t>
            </a:r>
          </a:p>
          <a:p>
            <a:pPr algn="l">
              <a:spcAft>
                <a:spcPts val="200"/>
              </a:spcAft>
            </a:pPr>
            <a:r>
              <a:rPr sz="900" b="0" i="0">
                <a:solidFill>
                  <a:srgbClr val="2B2B2B"/>
                </a:solidFill>
                <a:latin typeface="Times New Roman"/>
              </a:rPr>
              <a:t> </a:t>
            </a:r>
          </a:p>
          <a:p>
            <a:pPr algn="l">
              <a:spcAft>
                <a:spcPts val="200"/>
              </a:spcAft>
            </a:pPr>
            <a:r>
              <a:rPr sz="1500" b="1" i="0">
                <a:solidFill>
                  <a:srgbClr val="156082"/>
                </a:solidFill>
                <a:latin typeface="Consolas"/>
              </a:rPr>
              <a:t>Ask yourself:</a:t>
            </a:r>
          </a:p>
          <a:p>
            <a:pPr algn="l">
              <a:spcAft>
                <a:spcPts val="200"/>
              </a:spcAft>
            </a:pPr>
            <a:r>
              <a:rPr sz="1500" b="0" i="0">
                <a:solidFill>
                  <a:srgbClr val="5A6472"/>
                </a:solidFill>
                <a:latin typeface="Consolas"/>
              </a:rPr>
              <a:t>Which drawing repeats</a:t>
            </a:r>
          </a:p>
          <a:p>
            <a:pPr algn="l">
              <a:spcAft>
                <a:spcPts val="200"/>
              </a:spcAft>
            </a:pPr>
            <a:r>
              <a:rPr sz="1500" b="0" i="0">
                <a:solidFill>
                  <a:srgbClr val="5A6472"/>
                </a:solidFill>
                <a:latin typeface="Consolas"/>
              </a:rPr>
              <a:t>Python twice?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Real-Life Application</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One Swiggy order touches all four</a:t>
            </a:r>
          </a:p>
        </p:txBody>
      </p:sp>
      <p:sp>
        <p:nvSpPr>
          <p:cNvPr id="4" name="Shape 4"/>
          <p:cNvSpPr/>
          <p:nvPr/>
        </p:nvSpPr>
        <p:spPr>
          <a:xfrm>
            <a:off x="841248" y="2103120"/>
            <a:ext cx="2423160" cy="25603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hape 5"/>
          <p:cNvSpPr/>
          <p:nvPr/>
        </p:nvSpPr>
        <p:spPr>
          <a:xfrm>
            <a:off x="841248" y="2103120"/>
            <a:ext cx="2423160" cy="118872"/>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6"/>
          <p:cNvSpPr txBox="1"/>
          <p:nvPr/>
        </p:nvSpPr>
        <p:spPr>
          <a:xfrm>
            <a:off x="1024128" y="2377440"/>
            <a:ext cx="2057400" cy="457200"/>
          </a:xfrm>
          <a:prstGeom prst="rect">
            <a:avLst/>
          </a:prstGeom>
          <a:noFill/>
        </p:spPr>
        <p:txBody>
          <a:bodyPr wrap="square" lIns="0" tIns="18288" rIns="0" bIns="18288" anchor="t">
            <a:spAutoFit/>
          </a:bodyPr>
          <a:lstStyle/>
          <a:p>
            <a:pPr algn="l">
              <a:spcAft>
                <a:spcPts val="400"/>
              </a:spcAft>
            </a:pPr>
            <a:r>
              <a:rPr sz="1500" b="1" i="0">
                <a:solidFill>
                  <a:srgbClr val="0E2841"/>
                </a:solidFill>
                <a:latin typeface="Times New Roman"/>
              </a:rPr>
              <a:t>In the app code</a:t>
            </a:r>
          </a:p>
        </p:txBody>
      </p:sp>
      <p:sp>
        <p:nvSpPr>
          <p:cNvPr id="7" name="TextBox 7"/>
          <p:cNvSpPr txBox="1"/>
          <p:nvPr/>
        </p:nvSpPr>
        <p:spPr>
          <a:xfrm>
            <a:off x="1024128" y="2926080"/>
            <a:ext cx="2057400" cy="822960"/>
          </a:xfrm>
          <a:prstGeom prst="rect">
            <a:avLst/>
          </a:prstGeom>
          <a:noFill/>
        </p:spPr>
        <p:txBody>
          <a:bodyPr wrap="square" lIns="0" tIns="18288" rIns="0" bIns="18288" anchor="t">
            <a:spAutoFit/>
          </a:bodyPr>
          <a:lstStyle/>
          <a:p>
            <a:pPr algn="l">
              <a:spcAft>
                <a:spcPts val="400"/>
              </a:spcAft>
            </a:pPr>
            <a:r>
              <a:rPr sz="1400" b="0" i="0">
                <a:solidFill>
                  <a:srgbClr val="5A6472"/>
                </a:solidFill>
                <a:latin typeface="Times New Roman"/>
              </a:rPr>
              <a:t>Order and Rider are objects</a:t>
            </a:r>
          </a:p>
        </p:txBody>
      </p:sp>
      <p:sp>
        <p:nvSpPr>
          <p:cNvPr id="8" name="Node 8"/>
          <p:cNvSpPr/>
          <p:nvPr/>
        </p:nvSpPr>
        <p:spPr>
          <a:xfrm>
            <a:off x="1024128" y="3931920"/>
            <a:ext cx="2057400" cy="502920"/>
          </a:xfrm>
          <a:prstGeom prst="roundRect">
            <a:avLst>
              <a:gd name="adj" fmla="val 15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300" b="1" i="0">
                <a:solidFill>
                  <a:srgbClr val="FFFFFF"/>
                </a:solidFill>
                <a:latin typeface="Times New Roman"/>
              </a:rPr>
              <a:t>Object-Oriented</a:t>
            </a:r>
          </a:p>
        </p:txBody>
      </p:sp>
      <p:sp>
        <p:nvSpPr>
          <p:cNvPr id="9" name="Shape 9"/>
          <p:cNvSpPr/>
          <p:nvPr/>
        </p:nvSpPr>
        <p:spPr>
          <a:xfrm>
            <a:off x="3538728" y="2103120"/>
            <a:ext cx="2423160" cy="25603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hape 10"/>
          <p:cNvSpPr/>
          <p:nvPr/>
        </p:nvSpPr>
        <p:spPr>
          <a:xfrm>
            <a:off x="3538728" y="2103120"/>
            <a:ext cx="24231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3721608" y="2377440"/>
            <a:ext cx="2057400" cy="457200"/>
          </a:xfrm>
          <a:prstGeom prst="rect">
            <a:avLst/>
          </a:prstGeom>
          <a:noFill/>
        </p:spPr>
        <p:txBody>
          <a:bodyPr wrap="square" lIns="0" tIns="18288" rIns="0" bIns="18288" anchor="t">
            <a:spAutoFit/>
          </a:bodyPr>
          <a:lstStyle/>
          <a:p>
            <a:pPr algn="l">
              <a:spcAft>
                <a:spcPts val="400"/>
              </a:spcAft>
            </a:pPr>
            <a:r>
              <a:rPr sz="1500" b="1" i="0">
                <a:solidFill>
                  <a:srgbClr val="0E2841"/>
                </a:solidFill>
                <a:latin typeface="Times New Roman"/>
              </a:rPr>
              <a:t>In the database</a:t>
            </a:r>
          </a:p>
        </p:txBody>
      </p:sp>
      <p:sp>
        <p:nvSpPr>
          <p:cNvPr id="12" name="TextBox 12"/>
          <p:cNvSpPr txBox="1"/>
          <p:nvPr/>
        </p:nvSpPr>
        <p:spPr>
          <a:xfrm>
            <a:off x="3721608" y="2926080"/>
            <a:ext cx="2057400" cy="822960"/>
          </a:xfrm>
          <a:prstGeom prst="rect">
            <a:avLst/>
          </a:prstGeom>
          <a:noFill/>
        </p:spPr>
        <p:txBody>
          <a:bodyPr wrap="square" lIns="0" tIns="18288" rIns="0" bIns="18288" anchor="t">
            <a:spAutoFit/>
          </a:bodyPr>
          <a:lstStyle/>
          <a:p>
            <a:pPr algn="l">
              <a:spcAft>
                <a:spcPts val="400"/>
              </a:spcAft>
            </a:pPr>
            <a:r>
              <a:rPr sz="1400" b="0" i="0">
                <a:solidFill>
                  <a:srgbClr val="5A6472"/>
                </a:solidFill>
                <a:latin typeface="Times New Roman"/>
              </a:rPr>
              <a:t>PostgreSQL tables for payments</a:t>
            </a:r>
          </a:p>
        </p:txBody>
      </p:sp>
      <p:sp>
        <p:nvSpPr>
          <p:cNvPr id="13" name="Node 13"/>
          <p:cNvSpPr/>
          <p:nvPr/>
        </p:nvSpPr>
        <p:spPr>
          <a:xfrm>
            <a:off x="3721608" y="3931920"/>
            <a:ext cx="2057400" cy="502920"/>
          </a:xfrm>
          <a:prstGeom prst="roundRect">
            <a:avLst>
              <a:gd name="adj" fmla="val 15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300" b="1" i="0">
                <a:solidFill>
                  <a:srgbClr val="FFFFFF"/>
                </a:solidFill>
                <a:latin typeface="Times New Roman"/>
              </a:rPr>
              <a:t>Relational</a:t>
            </a:r>
          </a:p>
        </p:txBody>
      </p:sp>
      <p:sp>
        <p:nvSpPr>
          <p:cNvPr id="14" name="Shape 14"/>
          <p:cNvSpPr/>
          <p:nvPr/>
        </p:nvSpPr>
        <p:spPr>
          <a:xfrm>
            <a:off x="6236208" y="2103120"/>
            <a:ext cx="2423160" cy="25603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hape 15"/>
          <p:cNvSpPr/>
          <p:nvPr/>
        </p:nvSpPr>
        <p:spPr>
          <a:xfrm>
            <a:off x="6236208" y="2103120"/>
            <a:ext cx="24231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6419088" y="2377440"/>
            <a:ext cx="2057400" cy="457200"/>
          </a:xfrm>
          <a:prstGeom prst="rect">
            <a:avLst/>
          </a:prstGeom>
          <a:noFill/>
        </p:spPr>
        <p:txBody>
          <a:bodyPr wrap="square" lIns="0" tIns="18288" rIns="0" bIns="18288" anchor="t">
            <a:spAutoFit/>
          </a:bodyPr>
          <a:lstStyle/>
          <a:p>
            <a:pPr algn="l">
              <a:spcAft>
                <a:spcPts val="400"/>
              </a:spcAft>
            </a:pPr>
            <a:r>
              <a:rPr sz="1500" b="1" i="0">
                <a:solidFill>
                  <a:srgbClr val="0E2841"/>
                </a:solidFill>
                <a:latin typeface="Times New Roman"/>
              </a:rPr>
              <a:t>Over the API</a:t>
            </a:r>
          </a:p>
        </p:txBody>
      </p:sp>
      <p:sp>
        <p:nvSpPr>
          <p:cNvPr id="17" name="TextBox 17"/>
          <p:cNvSpPr txBox="1"/>
          <p:nvPr/>
        </p:nvSpPr>
        <p:spPr>
          <a:xfrm>
            <a:off x="6419088" y="2926080"/>
            <a:ext cx="2057400" cy="822960"/>
          </a:xfrm>
          <a:prstGeom prst="rect">
            <a:avLst/>
          </a:prstGeom>
          <a:noFill/>
        </p:spPr>
        <p:txBody>
          <a:bodyPr wrap="square" lIns="0" tIns="18288" rIns="0" bIns="18288" anchor="t">
            <a:spAutoFit/>
          </a:bodyPr>
          <a:lstStyle/>
          <a:p>
            <a:pPr algn="l">
              <a:spcAft>
                <a:spcPts val="400"/>
              </a:spcAft>
            </a:pPr>
            <a:r>
              <a:rPr sz="1400" b="0" i="0">
                <a:solidFill>
                  <a:srgbClr val="5A6472"/>
                </a:solidFill>
                <a:latin typeface="Times New Roman"/>
              </a:rPr>
              <a:t>Nested JSON — a tree of fields</a:t>
            </a:r>
          </a:p>
        </p:txBody>
      </p:sp>
      <p:sp>
        <p:nvSpPr>
          <p:cNvPr id="18" name="Node 18"/>
          <p:cNvSpPr/>
          <p:nvPr/>
        </p:nvSpPr>
        <p:spPr>
          <a:xfrm>
            <a:off x="6419088" y="3931920"/>
            <a:ext cx="2057400" cy="50292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300" b="1" i="0">
                <a:solidFill>
                  <a:srgbClr val="FFFFFF"/>
                </a:solidFill>
                <a:latin typeface="Times New Roman"/>
              </a:rPr>
              <a:t>Hierarchical</a:t>
            </a:r>
          </a:p>
        </p:txBody>
      </p:sp>
      <p:sp>
        <p:nvSpPr>
          <p:cNvPr id="19" name="Shape 19"/>
          <p:cNvSpPr/>
          <p:nvPr/>
        </p:nvSpPr>
        <p:spPr>
          <a:xfrm>
            <a:off x="8933688" y="2103120"/>
            <a:ext cx="2423160" cy="25603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hape 20"/>
          <p:cNvSpPr/>
          <p:nvPr/>
        </p:nvSpPr>
        <p:spPr>
          <a:xfrm>
            <a:off x="8933688" y="2103120"/>
            <a:ext cx="24231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1"/>
          <p:cNvSpPr txBox="1"/>
          <p:nvPr/>
        </p:nvSpPr>
        <p:spPr>
          <a:xfrm>
            <a:off x="9116568" y="2377440"/>
            <a:ext cx="2057400" cy="457200"/>
          </a:xfrm>
          <a:prstGeom prst="rect">
            <a:avLst/>
          </a:prstGeom>
          <a:noFill/>
        </p:spPr>
        <p:txBody>
          <a:bodyPr wrap="square" lIns="0" tIns="18288" rIns="0" bIns="18288" anchor="t">
            <a:spAutoFit/>
          </a:bodyPr>
          <a:lstStyle/>
          <a:p>
            <a:pPr algn="l">
              <a:spcAft>
                <a:spcPts val="400"/>
              </a:spcAft>
            </a:pPr>
            <a:r>
              <a:rPr sz="1500" b="1" i="0">
                <a:solidFill>
                  <a:srgbClr val="0E2841"/>
                </a:solidFill>
                <a:latin typeface="Times New Roman"/>
              </a:rPr>
              <a:t>In recommendations</a:t>
            </a:r>
          </a:p>
        </p:txBody>
      </p:sp>
      <p:sp>
        <p:nvSpPr>
          <p:cNvPr id="22" name="TextBox 22"/>
          <p:cNvSpPr txBox="1"/>
          <p:nvPr/>
        </p:nvSpPr>
        <p:spPr>
          <a:xfrm>
            <a:off x="9116568" y="2926080"/>
            <a:ext cx="2057400" cy="822960"/>
          </a:xfrm>
          <a:prstGeom prst="rect">
            <a:avLst/>
          </a:prstGeom>
          <a:noFill/>
        </p:spPr>
        <p:txBody>
          <a:bodyPr wrap="square" lIns="0" tIns="18288" rIns="0" bIns="18288" anchor="t">
            <a:spAutoFit/>
          </a:bodyPr>
          <a:lstStyle/>
          <a:p>
            <a:pPr algn="l">
              <a:spcAft>
                <a:spcPts val="400"/>
              </a:spcAft>
            </a:pPr>
            <a:r>
              <a:rPr sz="1400" b="0" i="0">
                <a:solidFill>
                  <a:srgbClr val="5A6472"/>
                </a:solidFill>
                <a:latin typeface="Times New Roman"/>
              </a:rPr>
              <a:t>Customer–restaurant graph</a:t>
            </a:r>
          </a:p>
        </p:txBody>
      </p:sp>
      <p:sp>
        <p:nvSpPr>
          <p:cNvPr id="23" name="Node 23"/>
          <p:cNvSpPr/>
          <p:nvPr/>
        </p:nvSpPr>
        <p:spPr>
          <a:xfrm>
            <a:off x="9116568" y="3931920"/>
            <a:ext cx="2057400" cy="502920"/>
          </a:xfrm>
          <a:prstGeom prst="roundRect">
            <a:avLst>
              <a:gd name="adj" fmla="val 1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300" b="1" i="0">
                <a:solidFill>
                  <a:srgbClr val="FFFFFF"/>
                </a:solidFill>
                <a:latin typeface="Times New Roman"/>
              </a:rPr>
              <a:t>Network</a:t>
            </a:r>
          </a:p>
        </p:txBody>
      </p:sp>
      <p:sp>
        <p:nvSpPr>
          <p:cNvPr id="24" name="Shape 24"/>
          <p:cNvSpPr/>
          <p:nvPr/>
        </p:nvSpPr>
        <p:spPr>
          <a:xfrm>
            <a:off x="841248" y="4937760"/>
            <a:ext cx="10515600" cy="73152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5"/>
          <p:cNvSpPr txBox="1"/>
          <p:nvPr/>
        </p:nvSpPr>
        <p:spPr>
          <a:xfrm>
            <a:off x="1115568" y="4937760"/>
            <a:ext cx="9966960" cy="731520"/>
          </a:xfrm>
          <a:prstGeom prst="rect">
            <a:avLst/>
          </a:prstGeom>
          <a:noFill/>
        </p:spPr>
        <p:txBody>
          <a:bodyPr wrap="square" lIns="0" tIns="18288" rIns="0" bIns="18288" anchor="ctr">
            <a:spAutoFit/>
          </a:bodyPr>
          <a:lstStyle/>
          <a:p>
            <a:pPr algn="l">
              <a:spcAft>
                <a:spcPts val="400"/>
              </a:spcAft>
            </a:pPr>
            <a:r>
              <a:rPr sz="1600" b="1" i="0">
                <a:solidFill>
                  <a:srgbClr val="0E2841"/>
                </a:solidFill>
                <a:latin typeface="Times New Roman"/>
              </a:rPr>
              <a:t>Polyglot persistence — real systems combine model ideas instead of picking just 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Think – Pair – Share</a:t>
            </a:r>
          </a:p>
        </p:txBody>
      </p:sp>
      <p:sp>
        <p:nvSpPr>
          <p:cNvPr id="3" name="Shape 3"/>
          <p:cNvSpPr/>
          <p:nvPr/>
        </p:nvSpPr>
        <p:spPr>
          <a:xfrm>
            <a:off x="841248" y="1874520"/>
            <a:ext cx="10515600" cy="100584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252728" y="1874520"/>
            <a:ext cx="9692640" cy="1005840"/>
          </a:xfrm>
          <a:prstGeom prst="rect">
            <a:avLst/>
          </a:prstGeom>
          <a:noFill/>
        </p:spPr>
        <p:txBody>
          <a:bodyPr wrap="square" lIns="0" tIns="18288" rIns="0" bIns="18288" anchor="ctr">
            <a:spAutoFit/>
          </a:bodyPr>
          <a:lstStyle/>
          <a:p>
            <a:pPr algn="l">
              <a:spcAft>
                <a:spcPts val="400"/>
              </a:spcAft>
            </a:pPr>
            <a:r>
              <a:rPr sz="2000" b="1" i="0">
                <a:solidFill>
                  <a:srgbClr val="0E2841"/>
                </a:solidFill>
                <a:latin typeface="Times New Roman"/>
              </a:rPr>
              <a:t>Instagram stores followers in a strict tree. What breaks?</a:t>
            </a:r>
          </a:p>
        </p:txBody>
      </p:sp>
      <p:sp>
        <p:nvSpPr>
          <p:cNvPr id="5" name="Shape 5"/>
          <p:cNvSpPr/>
          <p:nvPr/>
        </p:nvSpPr>
        <p:spPr>
          <a:xfrm>
            <a:off x="841248" y="3200400"/>
            <a:ext cx="3261360" cy="169164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Node 6"/>
          <p:cNvSpPr/>
          <p:nvPr/>
        </p:nvSpPr>
        <p:spPr>
          <a:xfrm>
            <a:off x="2129028" y="3383280"/>
            <a:ext cx="685800" cy="68580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600" b="1" i="0">
                <a:solidFill>
                  <a:srgbClr val="FFFFFF"/>
                </a:solidFill>
                <a:latin typeface="Times New Roman"/>
              </a:rPr>
              <a:t>1</a:t>
            </a:r>
          </a:p>
        </p:txBody>
      </p:sp>
      <p:sp>
        <p:nvSpPr>
          <p:cNvPr id="7" name="TextBox 7"/>
          <p:cNvSpPr txBox="1"/>
          <p:nvPr/>
        </p:nvSpPr>
        <p:spPr>
          <a:xfrm>
            <a:off x="841248" y="4206240"/>
            <a:ext cx="3261360" cy="365760"/>
          </a:xfrm>
          <a:prstGeom prst="rect">
            <a:avLst/>
          </a:prstGeom>
          <a:noFill/>
        </p:spPr>
        <p:txBody>
          <a:bodyPr wrap="square" lIns="0" tIns="18288" rIns="0" bIns="18288" anchor="t">
            <a:spAutoFit/>
          </a:bodyPr>
          <a:lstStyle/>
          <a:p>
            <a:pPr algn="ctr">
              <a:spcAft>
                <a:spcPts val="400"/>
              </a:spcAft>
            </a:pPr>
            <a:r>
              <a:rPr sz="1900" b="1" i="0">
                <a:solidFill>
                  <a:srgbClr val="0E2841"/>
                </a:solidFill>
                <a:latin typeface="Times New Roman"/>
              </a:rPr>
              <a:t>Think</a:t>
            </a:r>
          </a:p>
        </p:txBody>
      </p:sp>
      <p:sp>
        <p:nvSpPr>
          <p:cNvPr id="8" name="TextBox 8"/>
          <p:cNvSpPr txBox="1"/>
          <p:nvPr/>
        </p:nvSpPr>
        <p:spPr>
          <a:xfrm>
            <a:off x="841248" y="4572000"/>
            <a:ext cx="3261360" cy="365760"/>
          </a:xfrm>
          <a:prstGeom prst="rect">
            <a:avLst/>
          </a:prstGeom>
          <a:noFill/>
        </p:spPr>
        <p:txBody>
          <a:bodyPr wrap="square" lIns="0" tIns="18288" rIns="0" bIns="18288" anchor="t">
            <a:spAutoFit/>
          </a:bodyPr>
          <a:lstStyle/>
          <a:p>
            <a:pPr algn="ctr">
              <a:spcAft>
                <a:spcPts val="400"/>
              </a:spcAft>
            </a:pPr>
            <a:r>
              <a:rPr sz="1400" b="0" i="0">
                <a:solidFill>
                  <a:srgbClr val="5A6472"/>
                </a:solidFill>
                <a:latin typeface="Times New Roman"/>
              </a:rPr>
              <a:t>On your own</a:t>
            </a:r>
          </a:p>
        </p:txBody>
      </p:sp>
      <p:sp>
        <p:nvSpPr>
          <p:cNvPr id="9" name="Shape 9"/>
          <p:cNvSpPr/>
          <p:nvPr/>
        </p:nvSpPr>
        <p:spPr>
          <a:xfrm>
            <a:off x="4468368" y="3200400"/>
            <a:ext cx="3261360" cy="169164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Node 10"/>
          <p:cNvSpPr/>
          <p:nvPr/>
        </p:nvSpPr>
        <p:spPr>
          <a:xfrm>
            <a:off x="5756148" y="3383280"/>
            <a:ext cx="685800" cy="68580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600" b="1" i="0">
                <a:solidFill>
                  <a:srgbClr val="FFFFFF"/>
                </a:solidFill>
                <a:latin typeface="Times New Roman"/>
              </a:rPr>
              <a:t>2</a:t>
            </a:r>
          </a:p>
        </p:txBody>
      </p:sp>
      <p:sp>
        <p:nvSpPr>
          <p:cNvPr id="11" name="TextBox 11"/>
          <p:cNvSpPr txBox="1"/>
          <p:nvPr/>
        </p:nvSpPr>
        <p:spPr>
          <a:xfrm>
            <a:off x="4468368" y="4206240"/>
            <a:ext cx="3261360" cy="365760"/>
          </a:xfrm>
          <a:prstGeom prst="rect">
            <a:avLst/>
          </a:prstGeom>
          <a:noFill/>
        </p:spPr>
        <p:txBody>
          <a:bodyPr wrap="square" lIns="0" tIns="18288" rIns="0" bIns="18288" anchor="t">
            <a:spAutoFit/>
          </a:bodyPr>
          <a:lstStyle/>
          <a:p>
            <a:pPr algn="ctr">
              <a:spcAft>
                <a:spcPts val="400"/>
              </a:spcAft>
            </a:pPr>
            <a:r>
              <a:rPr sz="1900" b="1" i="0">
                <a:solidFill>
                  <a:srgbClr val="0E2841"/>
                </a:solidFill>
                <a:latin typeface="Times New Roman"/>
              </a:rPr>
              <a:t>Pair</a:t>
            </a:r>
          </a:p>
        </p:txBody>
      </p:sp>
      <p:sp>
        <p:nvSpPr>
          <p:cNvPr id="12" name="TextBox 12"/>
          <p:cNvSpPr txBox="1"/>
          <p:nvPr/>
        </p:nvSpPr>
        <p:spPr>
          <a:xfrm>
            <a:off x="4468368" y="4572000"/>
            <a:ext cx="3261360" cy="365760"/>
          </a:xfrm>
          <a:prstGeom prst="rect">
            <a:avLst/>
          </a:prstGeom>
          <a:noFill/>
        </p:spPr>
        <p:txBody>
          <a:bodyPr wrap="square" lIns="0" tIns="18288" rIns="0" bIns="18288" anchor="t">
            <a:spAutoFit/>
          </a:bodyPr>
          <a:lstStyle/>
          <a:p>
            <a:pPr algn="ctr">
              <a:spcAft>
                <a:spcPts val="400"/>
              </a:spcAft>
            </a:pPr>
            <a:r>
              <a:rPr sz="1400" b="0" i="0">
                <a:solidFill>
                  <a:srgbClr val="5A6472"/>
                </a:solidFill>
                <a:latin typeface="Times New Roman"/>
              </a:rPr>
              <a:t>With a neighbour</a:t>
            </a:r>
          </a:p>
        </p:txBody>
      </p:sp>
      <p:sp>
        <p:nvSpPr>
          <p:cNvPr id="13" name="Shape 13"/>
          <p:cNvSpPr/>
          <p:nvPr/>
        </p:nvSpPr>
        <p:spPr>
          <a:xfrm>
            <a:off x="8095488" y="3200400"/>
            <a:ext cx="3261360" cy="169164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Node 14"/>
          <p:cNvSpPr/>
          <p:nvPr/>
        </p:nvSpPr>
        <p:spPr>
          <a:xfrm>
            <a:off x="9383268" y="3383280"/>
            <a:ext cx="685800" cy="685800"/>
          </a:xfrm>
          <a:prstGeom prst="roundRect">
            <a:avLst>
              <a:gd name="adj" fmla="val 25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600" b="1" i="0">
                <a:solidFill>
                  <a:srgbClr val="FFFFFF"/>
                </a:solidFill>
                <a:latin typeface="Times New Roman"/>
              </a:rPr>
              <a:t>3</a:t>
            </a:r>
          </a:p>
        </p:txBody>
      </p:sp>
      <p:sp>
        <p:nvSpPr>
          <p:cNvPr id="15" name="TextBox 15"/>
          <p:cNvSpPr txBox="1"/>
          <p:nvPr/>
        </p:nvSpPr>
        <p:spPr>
          <a:xfrm>
            <a:off x="8095488" y="4206240"/>
            <a:ext cx="3261360" cy="365760"/>
          </a:xfrm>
          <a:prstGeom prst="rect">
            <a:avLst/>
          </a:prstGeom>
          <a:noFill/>
        </p:spPr>
        <p:txBody>
          <a:bodyPr wrap="square" lIns="0" tIns="18288" rIns="0" bIns="18288" anchor="t">
            <a:spAutoFit/>
          </a:bodyPr>
          <a:lstStyle/>
          <a:p>
            <a:pPr algn="ctr">
              <a:spcAft>
                <a:spcPts val="400"/>
              </a:spcAft>
            </a:pPr>
            <a:r>
              <a:rPr sz="1900" b="1" i="0">
                <a:solidFill>
                  <a:srgbClr val="0E2841"/>
                </a:solidFill>
                <a:latin typeface="Times New Roman"/>
              </a:rPr>
              <a:t>Share</a:t>
            </a:r>
          </a:p>
        </p:txBody>
      </p:sp>
      <p:sp>
        <p:nvSpPr>
          <p:cNvPr id="16" name="TextBox 16"/>
          <p:cNvSpPr txBox="1"/>
          <p:nvPr/>
        </p:nvSpPr>
        <p:spPr>
          <a:xfrm>
            <a:off x="8095488" y="4572000"/>
            <a:ext cx="3261360" cy="365760"/>
          </a:xfrm>
          <a:prstGeom prst="rect">
            <a:avLst/>
          </a:prstGeom>
          <a:noFill/>
        </p:spPr>
        <p:txBody>
          <a:bodyPr wrap="square" lIns="0" tIns="18288" rIns="0" bIns="18288" anchor="t">
            <a:spAutoFit/>
          </a:bodyPr>
          <a:lstStyle/>
          <a:p>
            <a:pPr algn="ctr">
              <a:spcAft>
                <a:spcPts val="400"/>
              </a:spcAft>
            </a:pPr>
            <a:r>
              <a:rPr sz="1400" b="0" i="0">
                <a:solidFill>
                  <a:srgbClr val="5A6472"/>
                </a:solidFill>
                <a:latin typeface="Times New Roman"/>
              </a:rPr>
              <a:t>With the class</a:t>
            </a:r>
          </a:p>
        </p:txBody>
      </p:sp>
      <p:sp>
        <p:nvSpPr>
          <p:cNvPr id="17" name="TextBox 17"/>
          <p:cNvSpPr txBox="1"/>
          <p:nvPr/>
        </p:nvSpPr>
        <p:spPr>
          <a:xfrm>
            <a:off x="841248" y="5120640"/>
            <a:ext cx="10515600" cy="365760"/>
          </a:xfrm>
          <a:prstGeom prst="rect">
            <a:avLst/>
          </a:prstGeom>
          <a:noFill/>
        </p:spPr>
        <p:txBody>
          <a:bodyPr wrap="square" lIns="0" tIns="18288" rIns="0" bIns="18288" anchor="t">
            <a:spAutoFit/>
          </a:bodyPr>
          <a:lstStyle/>
          <a:p>
            <a:pPr algn="l">
              <a:spcAft>
                <a:spcPts val="400"/>
              </a:spcAft>
            </a:pPr>
            <a:r>
              <a:rPr sz="1600" b="0" i="1">
                <a:solidFill>
                  <a:srgbClr val="5A6472"/>
                </a:solidFill>
                <a:latin typeface="Times New Roman"/>
              </a:rPr>
              <a:t>Name one thing the tree cannot represent.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Check for Understanding</a:t>
            </a:r>
          </a:p>
        </p:txBody>
      </p:sp>
      <p:sp>
        <p:nvSpPr>
          <p:cNvPr id="3" name="TextBox 3"/>
          <p:cNvSpPr txBox="1"/>
          <p:nvPr/>
        </p:nvSpPr>
        <p:spPr>
          <a:xfrm>
            <a:off x="841248" y="169164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True or False?</a:t>
            </a:r>
          </a:p>
        </p:txBody>
      </p:sp>
      <p:sp>
        <p:nvSpPr>
          <p:cNvPr id="4" name="Shape 4"/>
          <p:cNvSpPr/>
          <p:nvPr/>
        </p:nvSpPr>
        <p:spPr>
          <a:xfrm>
            <a:off x="841248" y="2286000"/>
            <a:ext cx="10515600" cy="9601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Node 5"/>
          <p:cNvSpPr/>
          <p:nvPr/>
        </p:nvSpPr>
        <p:spPr>
          <a:xfrm>
            <a:off x="1069848" y="2468880"/>
            <a:ext cx="594360" cy="594360"/>
          </a:xfrm>
          <a:prstGeom prst="roundRect">
            <a:avLst>
              <a:gd name="adj" fmla="val 25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200" b="1" i="0">
                <a:solidFill>
                  <a:srgbClr val="FFFFFF"/>
                </a:solidFill>
                <a:latin typeface="Times New Roman"/>
              </a:rPr>
              <a:t>1</a:t>
            </a:r>
          </a:p>
        </p:txBody>
      </p:sp>
      <p:sp>
        <p:nvSpPr>
          <p:cNvPr id="6" name="TextBox 6"/>
          <p:cNvSpPr txBox="1"/>
          <p:nvPr/>
        </p:nvSpPr>
        <p:spPr>
          <a:xfrm>
            <a:off x="1847088" y="2468880"/>
            <a:ext cx="6217920" cy="59436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A child may have two parents in the hierarchical model</a:t>
            </a:r>
          </a:p>
        </p:txBody>
      </p:sp>
      <p:sp>
        <p:nvSpPr>
          <p:cNvPr id="7" name="Node 7"/>
          <p:cNvSpPr/>
          <p:nvPr/>
        </p:nvSpPr>
        <p:spPr>
          <a:xfrm>
            <a:off x="8247888" y="2514600"/>
            <a:ext cx="1234440" cy="502920"/>
          </a:xfrm>
          <a:prstGeom prst="roundRect">
            <a:avLst>
              <a:gd name="adj" fmla="val 15000"/>
            </a:avLst>
          </a:prstGeom>
          <a:solidFill>
            <a:srgbClr val="EFF7E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196B24"/>
                </a:solidFill>
                <a:latin typeface="Times New Roman"/>
              </a:rPr>
              <a:t>True</a:t>
            </a:r>
          </a:p>
        </p:txBody>
      </p:sp>
      <p:sp>
        <p:nvSpPr>
          <p:cNvPr id="8" name="Node 8"/>
          <p:cNvSpPr/>
          <p:nvPr/>
        </p:nvSpPr>
        <p:spPr>
          <a:xfrm>
            <a:off x="9619488" y="2514600"/>
            <a:ext cx="1234440" cy="502920"/>
          </a:xfrm>
          <a:prstGeom prst="roundRect">
            <a:avLst>
              <a:gd name="adj" fmla="val 15000"/>
            </a:avLst>
          </a:prstGeom>
          <a:solidFill>
            <a:srgbClr val="FDF0F0"/>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C03030"/>
                </a:solidFill>
                <a:latin typeface="Times New Roman"/>
              </a:rPr>
              <a:t>False</a:t>
            </a:r>
          </a:p>
        </p:txBody>
      </p:sp>
      <p:sp>
        <p:nvSpPr>
          <p:cNvPr id="9" name="Shape 9"/>
          <p:cNvSpPr/>
          <p:nvPr/>
        </p:nvSpPr>
        <p:spPr>
          <a:xfrm>
            <a:off x="841248" y="3383280"/>
            <a:ext cx="10515600" cy="9601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Node 10"/>
          <p:cNvSpPr/>
          <p:nvPr/>
        </p:nvSpPr>
        <p:spPr>
          <a:xfrm>
            <a:off x="1069848" y="3566160"/>
            <a:ext cx="594360" cy="594360"/>
          </a:xfrm>
          <a:prstGeom prst="roundRect">
            <a:avLst>
              <a:gd name="adj" fmla="val 25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200" b="1" i="0">
                <a:solidFill>
                  <a:srgbClr val="FFFFFF"/>
                </a:solidFill>
                <a:latin typeface="Times New Roman"/>
              </a:rPr>
              <a:t>2</a:t>
            </a:r>
          </a:p>
        </p:txBody>
      </p:sp>
      <p:sp>
        <p:nvSpPr>
          <p:cNvPr id="11" name="TextBox 11"/>
          <p:cNvSpPr txBox="1"/>
          <p:nvPr/>
        </p:nvSpPr>
        <p:spPr>
          <a:xfrm>
            <a:off x="1847088" y="3566160"/>
            <a:ext cx="6217920" cy="59436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The network model handles many-to-many links</a:t>
            </a:r>
          </a:p>
        </p:txBody>
      </p:sp>
      <p:sp>
        <p:nvSpPr>
          <p:cNvPr id="12" name="Node 12"/>
          <p:cNvSpPr/>
          <p:nvPr/>
        </p:nvSpPr>
        <p:spPr>
          <a:xfrm>
            <a:off x="8247888" y="3611880"/>
            <a:ext cx="1234440" cy="502920"/>
          </a:xfrm>
          <a:prstGeom prst="roundRect">
            <a:avLst>
              <a:gd name="adj" fmla="val 15000"/>
            </a:avLst>
          </a:prstGeom>
          <a:solidFill>
            <a:srgbClr val="EFF7E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196B24"/>
                </a:solidFill>
                <a:latin typeface="Times New Roman"/>
              </a:rPr>
              <a:t>True</a:t>
            </a:r>
          </a:p>
        </p:txBody>
      </p:sp>
      <p:sp>
        <p:nvSpPr>
          <p:cNvPr id="13" name="Node 13"/>
          <p:cNvSpPr/>
          <p:nvPr/>
        </p:nvSpPr>
        <p:spPr>
          <a:xfrm>
            <a:off x="9619488" y="3611880"/>
            <a:ext cx="1234440" cy="502920"/>
          </a:xfrm>
          <a:prstGeom prst="roundRect">
            <a:avLst>
              <a:gd name="adj" fmla="val 15000"/>
            </a:avLst>
          </a:prstGeom>
          <a:solidFill>
            <a:srgbClr val="FDF0F0"/>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C03030"/>
                </a:solidFill>
                <a:latin typeface="Times New Roman"/>
              </a:rPr>
              <a:t>False</a:t>
            </a:r>
          </a:p>
        </p:txBody>
      </p:sp>
      <p:sp>
        <p:nvSpPr>
          <p:cNvPr id="14" name="Shape 14"/>
          <p:cNvSpPr/>
          <p:nvPr/>
        </p:nvSpPr>
        <p:spPr>
          <a:xfrm>
            <a:off x="841248" y="4480560"/>
            <a:ext cx="10515600" cy="9601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Node 15"/>
          <p:cNvSpPr/>
          <p:nvPr/>
        </p:nvSpPr>
        <p:spPr>
          <a:xfrm>
            <a:off x="1069848" y="4663440"/>
            <a:ext cx="594360" cy="594360"/>
          </a:xfrm>
          <a:prstGeom prst="roundRect">
            <a:avLst>
              <a:gd name="adj" fmla="val 25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200" b="1" i="0">
                <a:solidFill>
                  <a:srgbClr val="FFFFFF"/>
                </a:solidFill>
                <a:latin typeface="Times New Roman"/>
              </a:rPr>
              <a:t>3</a:t>
            </a:r>
          </a:p>
        </p:txBody>
      </p:sp>
      <p:sp>
        <p:nvSpPr>
          <p:cNvPr id="16" name="TextBox 16"/>
          <p:cNvSpPr txBox="1"/>
          <p:nvPr/>
        </p:nvSpPr>
        <p:spPr>
          <a:xfrm>
            <a:off x="1847088" y="4663440"/>
            <a:ext cx="6217920" cy="59436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The relational model stores behaviour with the data</a:t>
            </a:r>
          </a:p>
        </p:txBody>
      </p:sp>
      <p:sp>
        <p:nvSpPr>
          <p:cNvPr id="17" name="Node 17"/>
          <p:cNvSpPr/>
          <p:nvPr/>
        </p:nvSpPr>
        <p:spPr>
          <a:xfrm>
            <a:off x="8247888" y="4709160"/>
            <a:ext cx="1234440" cy="502920"/>
          </a:xfrm>
          <a:prstGeom prst="roundRect">
            <a:avLst>
              <a:gd name="adj" fmla="val 15000"/>
            </a:avLst>
          </a:prstGeom>
          <a:solidFill>
            <a:srgbClr val="EFF7E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196B24"/>
                </a:solidFill>
                <a:latin typeface="Times New Roman"/>
              </a:rPr>
              <a:t>True</a:t>
            </a:r>
          </a:p>
        </p:txBody>
      </p:sp>
      <p:sp>
        <p:nvSpPr>
          <p:cNvPr id="18" name="Node 18"/>
          <p:cNvSpPr/>
          <p:nvPr/>
        </p:nvSpPr>
        <p:spPr>
          <a:xfrm>
            <a:off x="9619488" y="4709160"/>
            <a:ext cx="1234440" cy="502920"/>
          </a:xfrm>
          <a:prstGeom prst="roundRect">
            <a:avLst>
              <a:gd name="adj" fmla="val 15000"/>
            </a:avLst>
          </a:prstGeom>
          <a:solidFill>
            <a:srgbClr val="FDF0F0"/>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1500" b="1" i="0">
                <a:solidFill>
                  <a:srgbClr val="C03030"/>
                </a:solidFill>
                <a:latin typeface="Times New Roman"/>
              </a:rPr>
              <a:t>False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Summary / Takeaways</a:t>
            </a:r>
          </a:p>
        </p:txBody>
      </p:sp>
      <p:sp>
        <p:nvSpPr>
          <p:cNvPr id="3" name="Shape 3"/>
          <p:cNvSpPr/>
          <p:nvPr/>
        </p:nvSpPr>
        <p:spPr>
          <a:xfrm>
            <a:off x="841248" y="1828800"/>
            <a:ext cx="10515600" cy="685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hape 4"/>
          <p:cNvSpPr/>
          <p:nvPr/>
        </p:nvSpPr>
        <p:spPr>
          <a:xfrm>
            <a:off x="841248" y="1828800"/>
            <a:ext cx="45720" cy="685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1115568" y="1828800"/>
            <a:ext cx="3657600" cy="68580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A data model is a blueprint</a:t>
            </a:r>
          </a:p>
        </p:txBody>
      </p:sp>
      <p:sp>
        <p:nvSpPr>
          <p:cNvPr id="6" name="TextBox 6"/>
          <p:cNvSpPr txBox="1"/>
          <p:nvPr/>
        </p:nvSpPr>
        <p:spPr>
          <a:xfrm>
            <a:off x="4956048" y="1828800"/>
            <a:ext cx="6126480" cy="685800"/>
          </a:xfrm>
          <a:prstGeom prst="rect">
            <a:avLst/>
          </a:prstGeom>
          <a:noFill/>
        </p:spPr>
        <p:txBody>
          <a:bodyPr wrap="square" lIns="0" tIns="18288" rIns="0" bIns="18288" anchor="ctr">
            <a:spAutoFit/>
          </a:bodyPr>
          <a:lstStyle/>
          <a:p>
            <a:pPr algn="l">
              <a:spcAft>
                <a:spcPts val="400"/>
              </a:spcAft>
            </a:pPr>
            <a:r>
              <a:rPr sz="1600" b="0" i="0">
                <a:solidFill>
                  <a:srgbClr val="5A6472"/>
                </a:solidFill>
                <a:latin typeface="Times New Roman"/>
              </a:rPr>
              <a:t>Structure, relationships, constraints, operations</a:t>
            </a:r>
          </a:p>
        </p:txBody>
      </p:sp>
      <p:sp>
        <p:nvSpPr>
          <p:cNvPr id="7" name="Shape 7"/>
          <p:cNvSpPr/>
          <p:nvPr/>
        </p:nvSpPr>
        <p:spPr>
          <a:xfrm>
            <a:off x="841248" y="2606040"/>
            <a:ext cx="10515600" cy="68580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hape 8"/>
          <p:cNvSpPr/>
          <p:nvPr/>
        </p:nvSpPr>
        <p:spPr>
          <a:xfrm>
            <a:off x="841248" y="2606040"/>
            <a:ext cx="45720" cy="685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9"/>
          <p:cNvSpPr txBox="1"/>
          <p:nvPr/>
        </p:nvSpPr>
        <p:spPr>
          <a:xfrm>
            <a:off x="1115568" y="2606040"/>
            <a:ext cx="3657600" cy="68580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Hierarchical</a:t>
            </a:r>
          </a:p>
        </p:txBody>
      </p:sp>
      <p:sp>
        <p:nvSpPr>
          <p:cNvPr id="10" name="TextBox 10"/>
          <p:cNvSpPr txBox="1"/>
          <p:nvPr/>
        </p:nvSpPr>
        <p:spPr>
          <a:xfrm>
            <a:off x="4956048" y="2606040"/>
            <a:ext cx="6126480" cy="685800"/>
          </a:xfrm>
          <a:prstGeom prst="rect">
            <a:avLst/>
          </a:prstGeom>
          <a:noFill/>
        </p:spPr>
        <p:txBody>
          <a:bodyPr wrap="square" lIns="0" tIns="18288" rIns="0" bIns="18288" anchor="ctr">
            <a:spAutoFit/>
          </a:bodyPr>
          <a:lstStyle/>
          <a:p>
            <a:pPr algn="l">
              <a:spcAft>
                <a:spcPts val="400"/>
              </a:spcAft>
            </a:pPr>
            <a:r>
              <a:rPr sz="1600" b="0" i="0">
                <a:solidFill>
                  <a:srgbClr val="5A6472"/>
                </a:solidFill>
                <a:latin typeface="Times New Roman"/>
              </a:rPr>
              <a:t>A tree — one parent, many children</a:t>
            </a:r>
          </a:p>
        </p:txBody>
      </p:sp>
      <p:sp>
        <p:nvSpPr>
          <p:cNvPr id="11" name="Shape 11"/>
          <p:cNvSpPr/>
          <p:nvPr/>
        </p:nvSpPr>
        <p:spPr>
          <a:xfrm>
            <a:off x="841248" y="3383280"/>
            <a:ext cx="10515600" cy="685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2"/>
          <p:cNvSpPr/>
          <p:nvPr/>
        </p:nvSpPr>
        <p:spPr>
          <a:xfrm>
            <a:off x="841248" y="3383280"/>
            <a:ext cx="45720" cy="685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1115568" y="3383280"/>
            <a:ext cx="3657600" cy="68580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Network</a:t>
            </a:r>
          </a:p>
        </p:txBody>
      </p:sp>
      <p:sp>
        <p:nvSpPr>
          <p:cNvPr id="14" name="TextBox 14"/>
          <p:cNvSpPr txBox="1"/>
          <p:nvPr/>
        </p:nvSpPr>
        <p:spPr>
          <a:xfrm>
            <a:off x="4956048" y="3383280"/>
            <a:ext cx="6126480" cy="685800"/>
          </a:xfrm>
          <a:prstGeom prst="rect">
            <a:avLst/>
          </a:prstGeom>
          <a:noFill/>
        </p:spPr>
        <p:txBody>
          <a:bodyPr wrap="square" lIns="0" tIns="18288" rIns="0" bIns="18288" anchor="ctr">
            <a:spAutoFit/>
          </a:bodyPr>
          <a:lstStyle/>
          <a:p>
            <a:pPr algn="l">
              <a:spcAft>
                <a:spcPts val="400"/>
              </a:spcAft>
            </a:pPr>
            <a:r>
              <a:rPr sz="1600" b="0" i="0">
                <a:solidFill>
                  <a:srgbClr val="5A6472"/>
                </a:solidFill>
                <a:latin typeface="Times New Roman"/>
              </a:rPr>
              <a:t>A graph — links in any direction</a:t>
            </a:r>
          </a:p>
        </p:txBody>
      </p:sp>
      <p:sp>
        <p:nvSpPr>
          <p:cNvPr id="15" name="Shape 15"/>
          <p:cNvSpPr/>
          <p:nvPr/>
        </p:nvSpPr>
        <p:spPr>
          <a:xfrm>
            <a:off x="841248" y="4160520"/>
            <a:ext cx="10515600" cy="68580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hape 16"/>
          <p:cNvSpPr/>
          <p:nvPr/>
        </p:nvSpPr>
        <p:spPr>
          <a:xfrm>
            <a:off x="841248" y="4160520"/>
            <a:ext cx="45720" cy="68580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7"/>
          <p:cNvSpPr txBox="1"/>
          <p:nvPr/>
        </p:nvSpPr>
        <p:spPr>
          <a:xfrm>
            <a:off x="1115568" y="4160520"/>
            <a:ext cx="3657600" cy="68580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Object-Oriented</a:t>
            </a:r>
          </a:p>
        </p:txBody>
      </p:sp>
      <p:sp>
        <p:nvSpPr>
          <p:cNvPr id="18" name="TextBox 18"/>
          <p:cNvSpPr txBox="1"/>
          <p:nvPr/>
        </p:nvSpPr>
        <p:spPr>
          <a:xfrm>
            <a:off x="4956048" y="4160520"/>
            <a:ext cx="6126480" cy="685800"/>
          </a:xfrm>
          <a:prstGeom prst="rect">
            <a:avLst/>
          </a:prstGeom>
          <a:noFill/>
        </p:spPr>
        <p:txBody>
          <a:bodyPr wrap="square" lIns="0" tIns="18288" rIns="0" bIns="18288" anchor="ctr">
            <a:spAutoFit/>
          </a:bodyPr>
          <a:lstStyle/>
          <a:p>
            <a:pPr algn="l">
              <a:spcAft>
                <a:spcPts val="400"/>
              </a:spcAft>
            </a:pPr>
            <a:r>
              <a:rPr sz="1600" b="0" i="0">
                <a:solidFill>
                  <a:srgbClr val="5A6472"/>
                </a:solidFill>
                <a:latin typeface="Times New Roman"/>
              </a:rPr>
              <a:t>Objects — data plus behaviour</a:t>
            </a:r>
          </a:p>
        </p:txBody>
      </p:sp>
      <p:sp>
        <p:nvSpPr>
          <p:cNvPr id="19" name="Shape 19"/>
          <p:cNvSpPr/>
          <p:nvPr/>
        </p:nvSpPr>
        <p:spPr>
          <a:xfrm>
            <a:off x="841248" y="4937760"/>
            <a:ext cx="10515600" cy="685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hape 20"/>
          <p:cNvSpPr/>
          <p:nvPr/>
        </p:nvSpPr>
        <p:spPr>
          <a:xfrm>
            <a:off x="841248" y="4937760"/>
            <a:ext cx="45720" cy="6858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1"/>
          <p:cNvSpPr txBox="1"/>
          <p:nvPr/>
        </p:nvSpPr>
        <p:spPr>
          <a:xfrm>
            <a:off x="1115568" y="4937760"/>
            <a:ext cx="3657600" cy="685800"/>
          </a:xfrm>
          <a:prstGeom prst="rect">
            <a:avLst/>
          </a:prstGeom>
          <a:noFill/>
        </p:spPr>
        <p:txBody>
          <a:bodyPr wrap="square" lIns="0" tIns="18288" rIns="0" bIns="18288" anchor="ctr">
            <a:spAutoFit/>
          </a:bodyPr>
          <a:lstStyle/>
          <a:p>
            <a:pPr algn="l">
              <a:spcAft>
                <a:spcPts val="400"/>
              </a:spcAft>
            </a:pPr>
            <a:r>
              <a:rPr sz="1700" b="1" i="0">
                <a:solidFill>
                  <a:srgbClr val="0E2841"/>
                </a:solidFill>
                <a:latin typeface="Times New Roman"/>
              </a:rPr>
              <a:t>Relational</a:t>
            </a:r>
          </a:p>
        </p:txBody>
      </p:sp>
      <p:sp>
        <p:nvSpPr>
          <p:cNvPr id="22" name="TextBox 22"/>
          <p:cNvSpPr txBox="1"/>
          <p:nvPr/>
        </p:nvSpPr>
        <p:spPr>
          <a:xfrm>
            <a:off x="4956048" y="4937760"/>
            <a:ext cx="6126480" cy="685800"/>
          </a:xfrm>
          <a:prstGeom prst="rect">
            <a:avLst/>
          </a:prstGeom>
          <a:noFill/>
        </p:spPr>
        <p:txBody>
          <a:bodyPr wrap="square" lIns="0" tIns="18288" rIns="0" bIns="18288" anchor="ctr">
            <a:spAutoFit/>
          </a:bodyPr>
          <a:lstStyle/>
          <a:p>
            <a:pPr algn="l">
              <a:spcAft>
                <a:spcPts val="400"/>
              </a:spcAft>
            </a:pPr>
            <a:r>
              <a:rPr sz="1600" b="0" i="0">
                <a:solidFill>
                  <a:srgbClr val="5A6472"/>
                </a:solidFill>
                <a:latin typeface="Times New Roman"/>
              </a:rPr>
              <a:t>Tables — rows joined by keys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Exit Ticket</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Before you leave…</a:t>
            </a:r>
          </a:p>
        </p:txBody>
      </p:sp>
      <p:sp>
        <p:nvSpPr>
          <p:cNvPr id="4" name="Shape 4"/>
          <p:cNvSpPr/>
          <p:nvPr/>
        </p:nvSpPr>
        <p:spPr>
          <a:xfrm>
            <a:off x="841248" y="2103120"/>
            <a:ext cx="10515600" cy="1005840"/>
          </a:xfrm>
          <a:prstGeom prst="roundRect">
            <a:avLst>
              <a:gd name="adj" fmla="val 12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Node 5"/>
          <p:cNvSpPr/>
          <p:nvPr/>
        </p:nvSpPr>
        <p:spPr>
          <a:xfrm>
            <a:off x="1115568" y="2308860"/>
            <a:ext cx="59436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400" b="1" i="0">
                <a:solidFill>
                  <a:srgbClr val="FFFFFF"/>
                </a:solidFill>
                <a:latin typeface="Times New Roman"/>
              </a:rPr>
              <a:t>1</a:t>
            </a:r>
          </a:p>
        </p:txBody>
      </p:sp>
      <p:sp>
        <p:nvSpPr>
          <p:cNvPr id="6" name="TextBox 6"/>
          <p:cNvSpPr txBox="1"/>
          <p:nvPr/>
        </p:nvSpPr>
        <p:spPr>
          <a:xfrm>
            <a:off x="1938528" y="2308860"/>
            <a:ext cx="9144000" cy="594360"/>
          </a:xfrm>
          <a:prstGeom prst="rect">
            <a:avLst/>
          </a:prstGeom>
          <a:noFill/>
        </p:spPr>
        <p:txBody>
          <a:bodyPr wrap="square" lIns="0" tIns="18288" rIns="0" bIns="18288" anchor="ctr">
            <a:spAutoFit/>
          </a:bodyPr>
          <a:lstStyle/>
          <a:p>
            <a:pPr algn="l">
              <a:spcAft>
                <a:spcPts val="400"/>
              </a:spcAft>
            </a:pPr>
            <a:r>
              <a:rPr sz="1900" b="1" i="0">
                <a:solidFill>
                  <a:srgbClr val="0E2841"/>
                </a:solidFill>
                <a:latin typeface="Times New Roman"/>
              </a:rPr>
              <a:t>Name one app on your phone and the model behind it</a:t>
            </a:r>
          </a:p>
        </p:txBody>
      </p:sp>
      <p:sp>
        <p:nvSpPr>
          <p:cNvPr id="7" name="Shape 7"/>
          <p:cNvSpPr/>
          <p:nvPr/>
        </p:nvSpPr>
        <p:spPr>
          <a:xfrm>
            <a:off x="841248" y="3291840"/>
            <a:ext cx="10515600" cy="1005840"/>
          </a:xfrm>
          <a:prstGeom prst="roundRect">
            <a:avLst>
              <a:gd name="adj" fmla="val 12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Node 8"/>
          <p:cNvSpPr/>
          <p:nvPr/>
        </p:nvSpPr>
        <p:spPr>
          <a:xfrm>
            <a:off x="1115568" y="3497580"/>
            <a:ext cx="594360" cy="59436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r>
              <a:rPr sz="2400" b="1" i="0">
                <a:solidFill>
                  <a:srgbClr val="FFFFFF"/>
                </a:solidFill>
                <a:latin typeface="Times New Roman"/>
              </a:rPr>
              <a:t>2</a:t>
            </a:r>
          </a:p>
        </p:txBody>
      </p:sp>
      <p:sp>
        <p:nvSpPr>
          <p:cNvPr id="9" name="TextBox 9"/>
          <p:cNvSpPr txBox="1"/>
          <p:nvPr/>
        </p:nvSpPr>
        <p:spPr>
          <a:xfrm>
            <a:off x="1938528" y="3497580"/>
            <a:ext cx="9144000" cy="594360"/>
          </a:xfrm>
          <a:prstGeom prst="rect">
            <a:avLst/>
          </a:prstGeom>
          <a:noFill/>
        </p:spPr>
        <p:txBody>
          <a:bodyPr wrap="square" lIns="0" tIns="18288" rIns="0" bIns="18288" anchor="ctr">
            <a:spAutoFit/>
          </a:bodyPr>
          <a:lstStyle/>
          <a:p>
            <a:pPr algn="l">
              <a:spcAft>
                <a:spcPts val="400"/>
              </a:spcAft>
            </a:pPr>
            <a:r>
              <a:rPr sz="1900" b="1" i="0">
                <a:solidFill>
                  <a:srgbClr val="0E2841"/>
                </a:solidFill>
                <a:latin typeface="Times New Roman"/>
              </a:rPr>
              <a:t>Which model surprised you most, and why?</a:t>
            </a:r>
          </a:p>
        </p:txBody>
      </p:sp>
      <p:sp>
        <p:nvSpPr>
          <p:cNvPr id="10" name="Shape 10"/>
          <p:cNvSpPr/>
          <p:nvPr/>
        </p:nvSpPr>
        <p:spPr>
          <a:xfrm>
            <a:off x="841248" y="4754880"/>
            <a:ext cx="10515600" cy="731520"/>
          </a:xfrm>
          <a:prstGeom prst="roundRect">
            <a:avLst>
              <a:gd name="adj" fmla="val 7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1115568" y="4754880"/>
            <a:ext cx="9966960" cy="731520"/>
          </a:xfrm>
          <a:prstGeom prst="rect">
            <a:avLst/>
          </a:prstGeom>
          <a:noFill/>
        </p:spPr>
        <p:txBody>
          <a:bodyPr wrap="square" lIns="0" tIns="18288" rIns="0" bIns="18288" anchor="ctr">
            <a:spAutoFit/>
          </a:bodyPr>
          <a:lstStyle/>
          <a:p>
            <a:pPr algn="l">
              <a:spcAft>
                <a:spcPts val="400"/>
              </a:spcAft>
            </a:pPr>
            <a:r>
              <a:rPr sz="1700" b="1" i="0">
                <a:solidFill>
                  <a:srgbClr val="156082"/>
                </a:solidFill>
                <a:latin typeface="Times New Roman"/>
              </a:rPr>
              <a:t>Next:  Session 5 — The Entity–Relationship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References — Textbooks</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Latest editions</a:t>
            </a:r>
          </a:p>
        </p:txBody>
      </p:sp>
      <p:sp>
        <p:nvSpPr>
          <p:cNvPr id="4" name="Shape 4"/>
          <p:cNvSpPr/>
          <p:nvPr/>
        </p:nvSpPr>
        <p:spPr>
          <a:xfrm>
            <a:off x="841248" y="2011680"/>
            <a:ext cx="10515600" cy="731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hape 5"/>
          <p:cNvSpPr/>
          <p:nvPr/>
        </p:nvSpPr>
        <p:spPr>
          <a:xfrm>
            <a:off x="841248" y="2011680"/>
            <a:ext cx="45720" cy="7315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6"/>
          <p:cNvSpPr txBox="1"/>
          <p:nvPr/>
        </p:nvSpPr>
        <p:spPr>
          <a:xfrm>
            <a:off x="1115568" y="2103120"/>
            <a:ext cx="5486400" cy="548640"/>
          </a:xfrm>
          <a:prstGeom prst="rect">
            <a:avLst/>
          </a:prstGeom>
          <a:noFill/>
        </p:spPr>
        <p:txBody>
          <a:bodyPr wrap="square" lIns="0" tIns="18288" rIns="0" bIns="18288" anchor="ctr">
            <a:spAutoFit/>
          </a:bodyPr>
          <a:lstStyle/>
          <a:p>
            <a:pPr algn="l">
              <a:spcAft>
                <a:spcPts val="0"/>
              </a:spcAft>
            </a:pPr>
            <a:r>
              <a:rPr sz="1600" b="1" i="0">
                <a:solidFill>
                  <a:srgbClr val="0E2841"/>
                </a:solidFill>
                <a:latin typeface="Times New Roman"/>
              </a:rPr>
              <a:t>Database System Concepts</a:t>
            </a:r>
          </a:p>
          <a:p>
            <a:pPr algn="l">
              <a:spcAft>
                <a:spcPts val="0"/>
              </a:spcAft>
            </a:pPr>
            <a:r>
              <a:rPr sz="1300" b="0" i="0">
                <a:solidFill>
                  <a:srgbClr val="5A6472"/>
                </a:solidFill>
                <a:latin typeface="Times New Roman"/>
              </a:rPr>
              <a:t>A. Silberschatz, H. F. Korth, S. Sudarshan</a:t>
            </a:r>
          </a:p>
        </p:txBody>
      </p:sp>
      <p:sp>
        <p:nvSpPr>
          <p:cNvPr id="7" name="TextBox 7"/>
          <p:cNvSpPr txBox="1"/>
          <p:nvPr/>
        </p:nvSpPr>
        <p:spPr>
          <a:xfrm>
            <a:off x="6784848" y="2103120"/>
            <a:ext cx="4572000" cy="548640"/>
          </a:xfrm>
          <a:prstGeom prst="rect">
            <a:avLst/>
          </a:prstGeom>
          <a:noFill/>
        </p:spPr>
        <p:txBody>
          <a:bodyPr wrap="square" lIns="0" tIns="18288" rIns="0" bIns="18288" anchor="ctr">
            <a:spAutoFit/>
          </a:bodyPr>
          <a:lstStyle/>
          <a:p>
            <a:pPr algn="l">
              <a:spcAft>
                <a:spcPts val="0"/>
              </a:spcAft>
            </a:pPr>
            <a:r>
              <a:rPr sz="1300" b="1" i="0">
                <a:solidFill>
                  <a:srgbClr val="156082"/>
                </a:solidFill>
                <a:latin typeface="Times New Roman"/>
              </a:rPr>
              <a:t>7th Edition · McGraw-Hill · 2019</a:t>
            </a:r>
          </a:p>
          <a:p>
            <a:pPr algn="l">
              <a:spcAft>
                <a:spcPts val="0"/>
              </a:spcAft>
            </a:pPr>
            <a:r>
              <a:rPr sz="1000" b="0" i="0" u="sng">
                <a:solidFill>
                  <a:srgbClr val="156082"/>
                </a:solidFill>
                <a:latin typeface="Consolas"/>
                <a:hlinkClick r:id="rId3"/>
              </a:rPr>
              <a:t>db-book.com</a:t>
            </a:r>
          </a:p>
        </p:txBody>
      </p:sp>
      <p:sp>
        <p:nvSpPr>
          <p:cNvPr id="8" name="Shape 8"/>
          <p:cNvSpPr/>
          <p:nvPr/>
        </p:nvSpPr>
        <p:spPr>
          <a:xfrm>
            <a:off x="841248" y="2880360"/>
            <a:ext cx="10515600" cy="73152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hape 9"/>
          <p:cNvSpPr/>
          <p:nvPr/>
        </p:nvSpPr>
        <p:spPr>
          <a:xfrm>
            <a:off x="841248" y="2880360"/>
            <a:ext cx="45720" cy="7315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1115568" y="2971800"/>
            <a:ext cx="5486400" cy="548640"/>
          </a:xfrm>
          <a:prstGeom prst="rect">
            <a:avLst/>
          </a:prstGeom>
          <a:noFill/>
        </p:spPr>
        <p:txBody>
          <a:bodyPr wrap="square" lIns="0" tIns="18288" rIns="0" bIns="18288" anchor="ctr">
            <a:spAutoFit/>
          </a:bodyPr>
          <a:lstStyle/>
          <a:p>
            <a:pPr algn="l">
              <a:spcAft>
                <a:spcPts val="0"/>
              </a:spcAft>
            </a:pPr>
            <a:r>
              <a:rPr sz="1600" b="1" i="0">
                <a:solidFill>
                  <a:srgbClr val="0E2841"/>
                </a:solidFill>
                <a:latin typeface="Times New Roman"/>
              </a:rPr>
              <a:t>Fundamentals of Database Systems</a:t>
            </a:r>
          </a:p>
          <a:p>
            <a:pPr algn="l">
              <a:spcAft>
                <a:spcPts val="0"/>
              </a:spcAft>
            </a:pPr>
            <a:r>
              <a:rPr sz="1300" b="0" i="0">
                <a:solidFill>
                  <a:srgbClr val="5A6472"/>
                </a:solidFill>
                <a:latin typeface="Times New Roman"/>
              </a:rPr>
              <a:t>R. Elmasri, S. B. Navathe</a:t>
            </a:r>
          </a:p>
        </p:txBody>
      </p:sp>
      <p:sp>
        <p:nvSpPr>
          <p:cNvPr id="11" name="TextBox 11"/>
          <p:cNvSpPr txBox="1"/>
          <p:nvPr/>
        </p:nvSpPr>
        <p:spPr>
          <a:xfrm>
            <a:off x="6784848" y="2971800"/>
            <a:ext cx="4572000" cy="548640"/>
          </a:xfrm>
          <a:prstGeom prst="rect">
            <a:avLst/>
          </a:prstGeom>
          <a:noFill/>
        </p:spPr>
        <p:txBody>
          <a:bodyPr wrap="square" lIns="0" tIns="18288" rIns="0" bIns="18288" anchor="ctr">
            <a:spAutoFit/>
          </a:bodyPr>
          <a:lstStyle/>
          <a:p>
            <a:pPr algn="l">
              <a:spcAft>
                <a:spcPts val="0"/>
              </a:spcAft>
            </a:pPr>
            <a:r>
              <a:rPr sz="1300" b="1" i="0">
                <a:solidFill>
                  <a:srgbClr val="E97132"/>
                </a:solidFill>
                <a:latin typeface="Times New Roman"/>
              </a:rPr>
              <a:t>7th Edition · Pearson · 2016</a:t>
            </a:r>
          </a:p>
          <a:p>
            <a:pPr algn="l">
              <a:spcAft>
                <a:spcPts val="0"/>
              </a:spcAft>
            </a:pPr>
            <a:r>
              <a:rPr sz="1000" b="0" i="0" u="sng">
                <a:solidFill>
                  <a:srgbClr val="156082"/>
                </a:solidFill>
                <a:latin typeface="Consolas"/>
                <a:hlinkClick r:id="rId4"/>
              </a:rPr>
              <a:t>pearson.com › fundamentals-of-database-systems</a:t>
            </a:r>
          </a:p>
        </p:txBody>
      </p:sp>
      <p:sp>
        <p:nvSpPr>
          <p:cNvPr id="12" name="Shape 12"/>
          <p:cNvSpPr/>
          <p:nvPr/>
        </p:nvSpPr>
        <p:spPr>
          <a:xfrm>
            <a:off x="841248" y="3749040"/>
            <a:ext cx="10515600" cy="731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hape 13"/>
          <p:cNvSpPr/>
          <p:nvPr/>
        </p:nvSpPr>
        <p:spPr>
          <a:xfrm>
            <a:off x="841248" y="3749040"/>
            <a:ext cx="45720" cy="73152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1115568" y="3840480"/>
            <a:ext cx="5486400" cy="548640"/>
          </a:xfrm>
          <a:prstGeom prst="rect">
            <a:avLst/>
          </a:prstGeom>
          <a:noFill/>
        </p:spPr>
        <p:txBody>
          <a:bodyPr wrap="square" lIns="0" tIns="18288" rIns="0" bIns="18288" anchor="ctr">
            <a:spAutoFit/>
          </a:bodyPr>
          <a:lstStyle/>
          <a:p>
            <a:pPr algn="l">
              <a:spcAft>
                <a:spcPts val="0"/>
              </a:spcAft>
            </a:pPr>
            <a:r>
              <a:rPr sz="1600" b="1" i="0">
                <a:solidFill>
                  <a:srgbClr val="0E2841"/>
                </a:solidFill>
                <a:latin typeface="Times New Roman"/>
              </a:rPr>
              <a:t>Database Management Systems</a:t>
            </a:r>
          </a:p>
          <a:p>
            <a:pPr algn="l">
              <a:spcAft>
                <a:spcPts val="0"/>
              </a:spcAft>
            </a:pPr>
            <a:r>
              <a:rPr sz="1300" b="0" i="0">
                <a:solidFill>
                  <a:srgbClr val="5A6472"/>
                </a:solidFill>
                <a:latin typeface="Times New Roman"/>
              </a:rPr>
              <a:t>R. Ramakrishnan, J. Gehrke</a:t>
            </a:r>
          </a:p>
        </p:txBody>
      </p:sp>
      <p:sp>
        <p:nvSpPr>
          <p:cNvPr id="15" name="TextBox 15"/>
          <p:cNvSpPr txBox="1"/>
          <p:nvPr/>
        </p:nvSpPr>
        <p:spPr>
          <a:xfrm>
            <a:off x="6784848" y="3840480"/>
            <a:ext cx="4572000" cy="548640"/>
          </a:xfrm>
          <a:prstGeom prst="rect">
            <a:avLst/>
          </a:prstGeom>
          <a:noFill/>
        </p:spPr>
        <p:txBody>
          <a:bodyPr wrap="square" lIns="0" tIns="18288" rIns="0" bIns="18288" anchor="ctr">
            <a:spAutoFit/>
          </a:bodyPr>
          <a:lstStyle/>
          <a:p>
            <a:pPr algn="l">
              <a:spcAft>
                <a:spcPts val="0"/>
              </a:spcAft>
            </a:pPr>
            <a:r>
              <a:rPr sz="1300" b="1" i="0">
                <a:solidFill>
                  <a:srgbClr val="196B24"/>
                </a:solidFill>
                <a:latin typeface="Times New Roman"/>
              </a:rPr>
              <a:t>3rd Edition · McGraw-Hill · 2003</a:t>
            </a:r>
          </a:p>
          <a:p>
            <a:pPr algn="l">
              <a:spcAft>
                <a:spcPts val="0"/>
              </a:spcAft>
            </a:pPr>
            <a:r>
              <a:rPr sz="1000" b="0" i="0" u="sng">
                <a:solidFill>
                  <a:srgbClr val="156082"/>
                </a:solidFill>
                <a:latin typeface="Consolas"/>
                <a:hlinkClick r:id="rId5"/>
              </a:rPr>
              <a:t>pages.cs.wisc.edu/~dbbook</a:t>
            </a:r>
          </a:p>
        </p:txBody>
      </p:sp>
      <p:sp>
        <p:nvSpPr>
          <p:cNvPr id="16" name="Shape 16"/>
          <p:cNvSpPr/>
          <p:nvPr/>
        </p:nvSpPr>
        <p:spPr>
          <a:xfrm>
            <a:off x="841248" y="4617720"/>
            <a:ext cx="10515600" cy="73152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hape 17"/>
          <p:cNvSpPr/>
          <p:nvPr/>
        </p:nvSpPr>
        <p:spPr>
          <a:xfrm>
            <a:off x="841248" y="4617720"/>
            <a:ext cx="45720" cy="7315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8"/>
          <p:cNvSpPr txBox="1"/>
          <p:nvPr/>
        </p:nvSpPr>
        <p:spPr>
          <a:xfrm>
            <a:off x="1115568" y="4709160"/>
            <a:ext cx="5486400" cy="548640"/>
          </a:xfrm>
          <a:prstGeom prst="rect">
            <a:avLst/>
          </a:prstGeom>
          <a:noFill/>
        </p:spPr>
        <p:txBody>
          <a:bodyPr wrap="square" lIns="0" tIns="18288" rIns="0" bIns="18288" anchor="ctr">
            <a:spAutoFit/>
          </a:bodyPr>
          <a:lstStyle/>
          <a:p>
            <a:pPr algn="l">
              <a:spcAft>
                <a:spcPts val="0"/>
              </a:spcAft>
            </a:pPr>
            <a:r>
              <a:rPr sz="1600" b="1" i="0">
                <a:solidFill>
                  <a:srgbClr val="0E2841"/>
                </a:solidFill>
                <a:latin typeface="Times New Roman"/>
              </a:rPr>
              <a:t>An Introduction to Database Systems</a:t>
            </a:r>
          </a:p>
          <a:p>
            <a:pPr algn="l">
              <a:spcAft>
                <a:spcPts val="0"/>
              </a:spcAft>
            </a:pPr>
            <a:r>
              <a:rPr sz="1300" b="0" i="0">
                <a:solidFill>
                  <a:srgbClr val="5A6472"/>
                </a:solidFill>
                <a:latin typeface="Times New Roman"/>
              </a:rPr>
              <a:t>C. J. Date</a:t>
            </a:r>
          </a:p>
        </p:txBody>
      </p:sp>
      <p:sp>
        <p:nvSpPr>
          <p:cNvPr id="19" name="TextBox 19"/>
          <p:cNvSpPr txBox="1"/>
          <p:nvPr/>
        </p:nvSpPr>
        <p:spPr>
          <a:xfrm>
            <a:off x="6784848" y="4709160"/>
            <a:ext cx="4572000" cy="548640"/>
          </a:xfrm>
          <a:prstGeom prst="rect">
            <a:avLst/>
          </a:prstGeom>
          <a:noFill/>
        </p:spPr>
        <p:txBody>
          <a:bodyPr wrap="square" lIns="0" tIns="18288" rIns="0" bIns="18288" anchor="ctr">
            <a:spAutoFit/>
          </a:bodyPr>
          <a:lstStyle/>
          <a:p>
            <a:pPr algn="l">
              <a:spcAft>
                <a:spcPts val="0"/>
              </a:spcAft>
            </a:pPr>
            <a:r>
              <a:rPr sz="1300" b="1" i="0">
                <a:solidFill>
                  <a:srgbClr val="A02B93"/>
                </a:solidFill>
                <a:latin typeface="Times New Roman"/>
              </a:rPr>
              <a:t>8th Edition · Pearson · 2004</a:t>
            </a:r>
          </a:p>
          <a:p>
            <a:pPr algn="l">
              <a:spcAft>
                <a:spcPts val="0"/>
              </a:spcAft>
            </a:pPr>
            <a:r>
              <a:rPr sz="1000" b="0" i="0" u="sng">
                <a:solidFill>
                  <a:srgbClr val="156082"/>
                </a:solidFill>
                <a:latin typeface="Consolas"/>
                <a:hlinkClick r:id="rId6"/>
              </a:rPr>
              <a:t>pearson.com › introduction-to-database-systems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E2841"/>
                </a:solidFill>
                <a:latin typeface="Times New Roman"/>
              </a:rPr>
              <a:t>References — Further Reading</a:t>
            </a:r>
          </a:p>
        </p:txBody>
      </p:sp>
      <p:sp>
        <p:nvSpPr>
          <p:cNvPr id="3" name="TextBox 3"/>
          <p:cNvSpPr txBox="1"/>
          <p:nvPr/>
        </p:nvSpPr>
        <p:spPr>
          <a:xfrm>
            <a:off x="841248" y="1554480"/>
            <a:ext cx="10515600" cy="365760"/>
          </a:xfrm>
          <a:prstGeom prst="rect">
            <a:avLst/>
          </a:prstGeom>
          <a:noFill/>
        </p:spPr>
        <p:txBody>
          <a:bodyPr wrap="square" lIns="0" tIns="18288" rIns="0" bIns="18288" anchor="t">
            <a:spAutoFit/>
          </a:bodyPr>
          <a:lstStyle/>
          <a:p>
            <a:pPr algn="l">
              <a:spcAft>
                <a:spcPts val="400"/>
              </a:spcAft>
            </a:pPr>
            <a:r>
              <a:rPr sz="2400" b="1" i="0">
                <a:solidFill>
                  <a:srgbClr val="156082"/>
                </a:solidFill>
                <a:latin typeface="Times New Roman"/>
              </a:rPr>
              <a:t>Self-learning and documentation</a:t>
            </a:r>
          </a:p>
        </p:txBody>
      </p:sp>
      <p:sp>
        <p:nvSpPr>
          <p:cNvPr id="4" name="Shape 4"/>
          <p:cNvSpPr/>
          <p:nvPr/>
        </p:nvSpPr>
        <p:spPr>
          <a:xfrm>
            <a:off x="841248" y="2011680"/>
            <a:ext cx="10515600" cy="731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hape 5"/>
          <p:cNvSpPr/>
          <p:nvPr/>
        </p:nvSpPr>
        <p:spPr>
          <a:xfrm>
            <a:off x="841248" y="2011680"/>
            <a:ext cx="45720" cy="7315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6"/>
          <p:cNvSpPr txBox="1"/>
          <p:nvPr/>
        </p:nvSpPr>
        <p:spPr>
          <a:xfrm>
            <a:off x="1115568" y="2011680"/>
            <a:ext cx="2286000" cy="731520"/>
          </a:xfrm>
          <a:prstGeom prst="rect">
            <a:avLst/>
          </a:prstGeom>
          <a:noFill/>
        </p:spPr>
        <p:txBody>
          <a:bodyPr wrap="square" lIns="0" tIns="18288" rIns="0" bIns="18288" anchor="ctr">
            <a:spAutoFit/>
          </a:bodyPr>
          <a:lstStyle/>
          <a:p>
            <a:pPr algn="l">
              <a:spcAft>
                <a:spcPts val="400"/>
              </a:spcAft>
            </a:pPr>
            <a:r>
              <a:rPr sz="1700" b="1" i="0">
                <a:solidFill>
                  <a:srgbClr val="156082"/>
                </a:solidFill>
                <a:latin typeface="Times New Roman"/>
              </a:rPr>
              <a:t>NPTEL</a:t>
            </a:r>
          </a:p>
        </p:txBody>
      </p:sp>
      <p:sp>
        <p:nvSpPr>
          <p:cNvPr id="7" name="TextBox 7"/>
          <p:cNvSpPr txBox="1"/>
          <p:nvPr/>
        </p:nvSpPr>
        <p:spPr>
          <a:xfrm>
            <a:off x="3584448" y="2103120"/>
            <a:ext cx="7772400" cy="548640"/>
          </a:xfrm>
          <a:prstGeom prst="rect">
            <a:avLst/>
          </a:prstGeom>
          <a:noFill/>
        </p:spPr>
        <p:txBody>
          <a:bodyPr wrap="square" lIns="0" tIns="18288" rIns="0" bIns="18288" anchor="ctr">
            <a:spAutoFit/>
          </a:bodyPr>
          <a:lstStyle/>
          <a:p>
            <a:pPr algn="l">
              <a:spcAft>
                <a:spcPts val="0"/>
              </a:spcAft>
            </a:pPr>
            <a:r>
              <a:rPr sz="1400" b="0" i="0">
                <a:solidFill>
                  <a:srgbClr val="0E2841"/>
                </a:solidFill>
                <a:latin typeface="Times New Roman"/>
              </a:rPr>
              <a:t>Database Management System — full video course</a:t>
            </a:r>
          </a:p>
          <a:p>
            <a:pPr algn="l">
              <a:spcAft>
                <a:spcPts val="0"/>
              </a:spcAft>
            </a:pPr>
            <a:r>
              <a:rPr sz="1100" b="0" i="0" u="sng">
                <a:solidFill>
                  <a:srgbClr val="156082"/>
                </a:solidFill>
                <a:latin typeface="Consolas"/>
                <a:hlinkClick r:id="rId3"/>
              </a:rPr>
              <a:t>onlinecourses.nptel.ac.in/noc22_cs91/preview</a:t>
            </a:r>
          </a:p>
        </p:txBody>
      </p:sp>
      <p:sp>
        <p:nvSpPr>
          <p:cNvPr id="8" name="Shape 8"/>
          <p:cNvSpPr/>
          <p:nvPr/>
        </p:nvSpPr>
        <p:spPr>
          <a:xfrm>
            <a:off x="841248" y="2880360"/>
            <a:ext cx="10515600" cy="73152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hape 9"/>
          <p:cNvSpPr/>
          <p:nvPr/>
        </p:nvSpPr>
        <p:spPr>
          <a:xfrm>
            <a:off x="841248" y="2880360"/>
            <a:ext cx="45720" cy="73152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1115568" y="2880360"/>
            <a:ext cx="2286000" cy="731520"/>
          </a:xfrm>
          <a:prstGeom prst="rect">
            <a:avLst/>
          </a:prstGeom>
          <a:noFill/>
        </p:spPr>
        <p:txBody>
          <a:bodyPr wrap="square" lIns="0" tIns="18288" rIns="0" bIns="18288" anchor="ctr">
            <a:spAutoFit/>
          </a:bodyPr>
          <a:lstStyle/>
          <a:p>
            <a:pPr algn="l">
              <a:spcAft>
                <a:spcPts val="400"/>
              </a:spcAft>
            </a:pPr>
            <a:r>
              <a:rPr sz="1700" b="1" i="0">
                <a:solidFill>
                  <a:srgbClr val="196B24"/>
                </a:solidFill>
                <a:latin typeface="Times New Roman"/>
              </a:rPr>
              <a:t>PostgreSQL</a:t>
            </a:r>
          </a:p>
        </p:txBody>
      </p:sp>
      <p:sp>
        <p:nvSpPr>
          <p:cNvPr id="11" name="TextBox 11"/>
          <p:cNvSpPr txBox="1"/>
          <p:nvPr/>
        </p:nvSpPr>
        <p:spPr>
          <a:xfrm>
            <a:off x="3584448" y="2971800"/>
            <a:ext cx="7772400" cy="548640"/>
          </a:xfrm>
          <a:prstGeom prst="rect">
            <a:avLst/>
          </a:prstGeom>
          <a:noFill/>
        </p:spPr>
        <p:txBody>
          <a:bodyPr wrap="square" lIns="0" tIns="18288" rIns="0" bIns="18288" anchor="ctr">
            <a:spAutoFit/>
          </a:bodyPr>
          <a:lstStyle/>
          <a:p>
            <a:pPr algn="l">
              <a:spcAft>
                <a:spcPts val="0"/>
              </a:spcAft>
            </a:pPr>
            <a:r>
              <a:rPr sz="1400" b="0" i="0">
                <a:solidFill>
                  <a:srgbClr val="0E2841"/>
                </a:solidFill>
                <a:latin typeface="Times New Roman"/>
              </a:rPr>
              <a:t>Official documentation — the relational model in practice</a:t>
            </a:r>
          </a:p>
          <a:p>
            <a:pPr algn="l">
              <a:spcAft>
                <a:spcPts val="0"/>
              </a:spcAft>
            </a:pPr>
            <a:r>
              <a:rPr sz="1100" b="0" i="0" u="sng">
                <a:solidFill>
                  <a:srgbClr val="156082"/>
                </a:solidFill>
                <a:latin typeface="Consolas"/>
                <a:hlinkClick r:id="rId4"/>
              </a:rPr>
              <a:t>www.postgresql.org/docs/</a:t>
            </a:r>
          </a:p>
        </p:txBody>
      </p:sp>
      <p:sp>
        <p:nvSpPr>
          <p:cNvPr id="12" name="Shape 12"/>
          <p:cNvSpPr/>
          <p:nvPr/>
        </p:nvSpPr>
        <p:spPr>
          <a:xfrm>
            <a:off x="841248" y="3749040"/>
            <a:ext cx="10515600" cy="73152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hape 13"/>
          <p:cNvSpPr/>
          <p:nvPr/>
        </p:nvSpPr>
        <p:spPr>
          <a:xfrm>
            <a:off x="841248" y="3749040"/>
            <a:ext cx="45720" cy="7315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1115568" y="3749040"/>
            <a:ext cx="2286000" cy="731520"/>
          </a:xfrm>
          <a:prstGeom prst="rect">
            <a:avLst/>
          </a:prstGeom>
          <a:noFill/>
        </p:spPr>
        <p:txBody>
          <a:bodyPr wrap="square" lIns="0" tIns="18288" rIns="0" bIns="18288" anchor="ctr">
            <a:spAutoFit/>
          </a:bodyPr>
          <a:lstStyle/>
          <a:p>
            <a:pPr algn="l">
              <a:spcAft>
                <a:spcPts val="400"/>
              </a:spcAft>
            </a:pPr>
            <a:r>
              <a:rPr sz="1700" b="1" i="0">
                <a:solidFill>
                  <a:srgbClr val="E97132"/>
                </a:solidFill>
                <a:latin typeface="Times New Roman"/>
              </a:rPr>
              <a:t>Neo4j</a:t>
            </a:r>
          </a:p>
        </p:txBody>
      </p:sp>
      <p:sp>
        <p:nvSpPr>
          <p:cNvPr id="15" name="TextBox 15"/>
          <p:cNvSpPr txBox="1"/>
          <p:nvPr/>
        </p:nvSpPr>
        <p:spPr>
          <a:xfrm>
            <a:off x="3584448" y="3840480"/>
            <a:ext cx="7772400" cy="548640"/>
          </a:xfrm>
          <a:prstGeom prst="rect">
            <a:avLst/>
          </a:prstGeom>
          <a:noFill/>
        </p:spPr>
        <p:txBody>
          <a:bodyPr wrap="square" lIns="0" tIns="18288" rIns="0" bIns="18288" anchor="ctr">
            <a:spAutoFit/>
          </a:bodyPr>
          <a:lstStyle/>
          <a:p>
            <a:pPr algn="l">
              <a:spcAft>
                <a:spcPts val="0"/>
              </a:spcAft>
            </a:pPr>
            <a:r>
              <a:rPr sz="1400" b="0" i="0">
                <a:solidFill>
                  <a:srgbClr val="0E2841"/>
                </a:solidFill>
                <a:latin typeface="Times New Roman"/>
              </a:rPr>
              <a:t>Graph data modelling — the network model today</a:t>
            </a:r>
          </a:p>
          <a:p>
            <a:pPr algn="l">
              <a:spcAft>
                <a:spcPts val="0"/>
              </a:spcAft>
            </a:pPr>
            <a:r>
              <a:rPr sz="1100" b="0" i="0" u="sng">
                <a:solidFill>
                  <a:srgbClr val="156082"/>
                </a:solidFill>
                <a:latin typeface="Consolas"/>
                <a:hlinkClick r:id="rId5"/>
              </a:rPr>
              <a:t>neo4j.com/docs/getting-started/data-modeling/</a:t>
            </a:r>
          </a:p>
        </p:txBody>
      </p:sp>
      <p:sp>
        <p:nvSpPr>
          <p:cNvPr id="16" name="Shape 16"/>
          <p:cNvSpPr/>
          <p:nvPr/>
        </p:nvSpPr>
        <p:spPr>
          <a:xfrm>
            <a:off x="841248" y="4617720"/>
            <a:ext cx="10515600" cy="731520"/>
          </a:xfrm>
          <a:prstGeom prst="roundRect">
            <a:avLst>
              <a:gd name="adj" fmla="val 7000"/>
            </a:avLst>
          </a:prstGeom>
          <a:solidFill>
            <a:srgbClr val="F2F6FA"/>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hape 17"/>
          <p:cNvSpPr/>
          <p:nvPr/>
        </p:nvSpPr>
        <p:spPr>
          <a:xfrm>
            <a:off x="841248" y="4617720"/>
            <a:ext cx="45720" cy="7315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8"/>
          <p:cNvSpPr txBox="1"/>
          <p:nvPr/>
        </p:nvSpPr>
        <p:spPr>
          <a:xfrm>
            <a:off x="1115568" y="4617720"/>
            <a:ext cx="2286000" cy="731520"/>
          </a:xfrm>
          <a:prstGeom prst="rect">
            <a:avLst/>
          </a:prstGeom>
          <a:noFill/>
        </p:spPr>
        <p:txBody>
          <a:bodyPr wrap="square" lIns="0" tIns="18288" rIns="0" bIns="18288" anchor="ctr">
            <a:spAutoFit/>
          </a:bodyPr>
          <a:lstStyle/>
          <a:p>
            <a:pPr algn="l">
              <a:spcAft>
                <a:spcPts val="400"/>
              </a:spcAft>
            </a:pPr>
            <a:r>
              <a:rPr sz="1700" b="1" i="0">
                <a:solidFill>
                  <a:srgbClr val="A02B93"/>
                </a:solidFill>
                <a:latin typeface="Times New Roman"/>
              </a:rPr>
              <a:t>MongoDB</a:t>
            </a:r>
          </a:p>
        </p:txBody>
      </p:sp>
      <p:sp>
        <p:nvSpPr>
          <p:cNvPr id="19" name="TextBox 19"/>
          <p:cNvSpPr txBox="1"/>
          <p:nvPr/>
        </p:nvSpPr>
        <p:spPr>
          <a:xfrm>
            <a:off x="3584448" y="4709160"/>
            <a:ext cx="7772400" cy="548640"/>
          </a:xfrm>
          <a:prstGeom prst="rect">
            <a:avLst/>
          </a:prstGeom>
          <a:noFill/>
        </p:spPr>
        <p:txBody>
          <a:bodyPr wrap="square" lIns="0" tIns="18288" rIns="0" bIns="18288" anchor="ctr">
            <a:spAutoFit/>
          </a:bodyPr>
          <a:lstStyle/>
          <a:p>
            <a:pPr algn="l">
              <a:spcAft>
                <a:spcPts val="0"/>
              </a:spcAft>
            </a:pPr>
            <a:r>
              <a:rPr sz="1400" b="0" i="0">
                <a:solidFill>
                  <a:srgbClr val="0E2841"/>
                </a:solidFill>
                <a:latin typeface="Times New Roman"/>
              </a:rPr>
              <a:t>Document data modelling — hierarchy as JSON</a:t>
            </a:r>
          </a:p>
          <a:p>
            <a:pPr algn="l">
              <a:spcAft>
                <a:spcPts val="0"/>
              </a:spcAft>
            </a:pPr>
            <a:r>
              <a:rPr sz="1100" b="0" i="0" u="sng">
                <a:solidFill>
                  <a:srgbClr val="156082"/>
                </a:solidFill>
                <a:latin typeface="Consolas"/>
                <a:hlinkClick r:id="rId6"/>
              </a:rPr>
              <a:t>www.mongodb.com/docs/manual/data-modeling/</a:t>
            </a:r>
          </a:p>
        </p:txBody>
      </p:sp>
      <p:sp>
        <p:nvSpPr>
          <p:cNvPr id="20" name="Shape 20"/>
          <p:cNvSpPr/>
          <p:nvPr/>
        </p:nvSpPr>
        <p:spPr>
          <a:xfrm>
            <a:off x="841248" y="5486400"/>
            <a:ext cx="10515600" cy="594360"/>
          </a:xfrm>
          <a:prstGeom prst="roundRect">
            <a:avLst>
              <a:gd name="adj" fmla="val 7000"/>
            </a:avLst>
          </a:prstGeom>
          <a:solidFill>
            <a:srgbClr val="E8F2F8"/>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1"/>
          <p:cNvSpPr txBox="1"/>
          <p:nvPr/>
        </p:nvSpPr>
        <p:spPr>
          <a:xfrm>
            <a:off x="1115568" y="5486400"/>
            <a:ext cx="9966960" cy="594360"/>
          </a:xfrm>
          <a:prstGeom prst="rect">
            <a:avLst/>
          </a:prstGeom>
          <a:noFill/>
        </p:spPr>
        <p:txBody>
          <a:bodyPr wrap="square" lIns="0" tIns="18288" rIns="0" bIns="18288" anchor="ctr">
            <a:spAutoFit/>
          </a:bodyPr>
          <a:lstStyle/>
          <a:p>
            <a:pPr algn="l">
              <a:spcAft>
                <a:spcPts val="400"/>
              </a:spcAft>
            </a:pPr>
            <a:r>
              <a:rPr sz="1300" b="0" i="1">
                <a:solidFill>
                  <a:srgbClr val="5A6472"/>
                </a:solidFill>
                <a:latin typeface="Times New Roman"/>
              </a:rPr>
              <a:t>All links verified against publisher and vendor sites — please re-check editions before the next intake.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2362</Words>
  <Application>Microsoft Office PowerPoint</Application>
  <PresentationFormat>Widescreen</PresentationFormat>
  <Paragraphs>289</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Arial Black</vt:lpstr>
      <vt:lpstr>Calibri</vt:lpstr>
      <vt:lpstr>Consolas</vt:lpstr>
      <vt:lpstr>Times New Roman</vt:lpstr>
      <vt:lpstr>Verdana</vt:lpstr>
      <vt:lpstr>Office Theme</vt:lpstr>
      <vt:lpstr>PowerPoint Presentation</vt:lpstr>
      <vt:lpstr>PowerPoint Presentation</vt:lpstr>
      <vt:lpstr>Prior Knowledge Activation</vt:lpstr>
      <vt:lpstr>Session Outcomes</vt:lpstr>
      <vt:lpstr>Common Misconceptions</vt:lpstr>
      <vt:lpstr>What Is a Data Model?</vt:lpstr>
      <vt:lpstr>The Four Data Models</vt:lpstr>
      <vt:lpstr>Hierarchical Model</vt:lpstr>
      <vt:lpstr>Network Model</vt:lpstr>
      <vt:lpstr>Object-Oriented Model</vt:lpstr>
      <vt:lpstr>Relational Model</vt:lpstr>
      <vt:lpstr>The Four Models at a Glance</vt:lpstr>
      <vt:lpstr>Hands-on Task</vt:lpstr>
      <vt:lpstr>Real-Life Application</vt:lpstr>
      <vt:lpstr>Think – Pair – Share</vt:lpstr>
      <vt:lpstr>Check for Understanding</vt:lpstr>
      <vt:lpstr>Summary / Takeaways</vt:lpstr>
      <vt:lpstr>Exit Ticket</vt:lpstr>
      <vt:lpstr>References — Textbooks</vt:lpstr>
      <vt:lpstr>References — 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Rohini Kumari</dc:creator>
  <cp:lastModifiedBy>Mansi Kajal-Assistant Professor SOET</cp:lastModifiedBy>
  <cp:revision>22</cp:revision>
  <dcterms:created xsi:type="dcterms:W3CDTF">2025-12-08T16:36:19Z</dcterms:created>
  <dcterms:modified xsi:type="dcterms:W3CDTF">2026-08-01T13:10:57Z</dcterms:modified>
</cp:coreProperties>
</file>