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92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928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E1CE4-AFC7-717A-BB18-D0BE864A2309}" v="187" dt="2026-08-01T19:00:27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Kajal-Assistant Professor SOET" userId="S::mansi.kajal@krmangalam.edu.in::3c99de1c-7603-4b32-be41-7faffefca8f3" providerId="AD" clId="Web-{A0CE1CE4-AFC7-717A-BB18-D0BE864A2309}"/>
    <pc:docChg chg="addSld delSld modSld">
      <pc:chgData name="Mansi Kajal-Assistant Professor SOET" userId="S::mansi.kajal@krmangalam.edu.in::3c99de1c-7603-4b32-be41-7faffefca8f3" providerId="AD" clId="Web-{A0CE1CE4-AFC7-717A-BB18-D0BE864A2309}" dt="2026-08-01T19:00:27.805" v="177"/>
      <pc:docMkLst>
        <pc:docMk/>
      </pc:docMkLst>
      <pc:sldChg chg="delSp">
        <pc:chgData name="Mansi Kajal-Assistant Professor SOET" userId="S::mansi.kajal@krmangalam.edu.in::3c99de1c-7603-4b32-be41-7faffefca8f3" providerId="AD" clId="Web-{A0CE1CE4-AFC7-717A-BB18-D0BE864A2309}" dt="2026-08-01T18:54:00.286" v="10"/>
        <pc:sldMkLst>
          <pc:docMk/>
          <pc:sldMk cId="0" sldId="258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3:51.145" v="7"/>
          <ac:spMkLst>
            <pc:docMk/>
            <pc:sldMk cId="0" sldId="258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3:54.207" v="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3:57.286" v="9"/>
          <ac:spMkLst>
            <pc:docMk/>
            <pc:sldMk cId="0" sldId="258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4:00.286" v="10"/>
          <ac:spMkLst>
            <pc:docMk/>
            <pc:sldMk cId="0" sldId="258"/>
            <ac:spMk id="2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4:29.661" v="17"/>
        <pc:sldMkLst>
          <pc:docMk/>
          <pc:sldMk cId="0" sldId="259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4:08.130" v="11"/>
          <ac:spMkLst>
            <pc:docMk/>
            <pc:sldMk cId="0" sldId="259"/>
            <ac:spMk id="10" creationId="{00000000-0000-0000-0000-000000000000}"/>
          </ac:spMkLst>
        </pc:spChg>
        <pc:spChg chg="del mod">
          <ac:chgData name="Mansi Kajal-Assistant Professor SOET" userId="S::mansi.kajal@krmangalam.edu.in::3c99de1c-7603-4b32-be41-7faffefca8f3" providerId="AD" clId="Web-{A0CE1CE4-AFC7-717A-BB18-D0BE864A2309}" dt="2026-08-01T18:54:16.849" v="13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4:19.911" v="14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4:24.083" v="15"/>
          <ac:spMkLst>
            <pc:docMk/>
            <pc:sldMk cId="0" sldId="259"/>
            <ac:spMk id="2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4:26.818" v="16"/>
          <ac:spMkLst>
            <pc:docMk/>
            <pc:sldMk cId="0" sldId="259"/>
            <ac:spMk id="3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4:29.661" v="17"/>
          <ac:spMkLst>
            <pc:docMk/>
            <pc:sldMk cId="0" sldId="259"/>
            <ac:spMk id="3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4:49.287" v="31"/>
        <pc:sldMkLst>
          <pc:docMk/>
          <pc:sldMk cId="0" sldId="261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4:38.677" v="18"/>
          <ac:spMkLst>
            <pc:docMk/>
            <pc:sldMk cId="0" sldId="261"/>
            <ac:spMk id="17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4:49.287" v="31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5:00.146" v="33"/>
        <pc:sldMkLst>
          <pc:docMk/>
          <pc:sldMk cId="0" sldId="262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4:54.552" v="32"/>
          <ac:spMkLst>
            <pc:docMk/>
            <pc:sldMk cId="0" sldId="262"/>
            <ac:spMk id="24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5:00.146" v="33"/>
          <ac:spMkLst>
            <pc:docMk/>
            <pc:sldMk cId="0" sldId="262"/>
            <ac:spMk id="25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5:15.693" v="47"/>
        <pc:sldMkLst>
          <pc:docMk/>
          <pc:sldMk cId="0" sldId="263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5:05.974" v="34"/>
          <ac:spMkLst>
            <pc:docMk/>
            <pc:sldMk cId="0" sldId="263"/>
            <ac:spMk id="13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5:15.693" v="4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5:36.381" v="64"/>
        <pc:sldMkLst>
          <pc:docMk/>
          <pc:sldMk cId="0" sldId="264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5:22.256" v="48"/>
          <ac:spMkLst>
            <pc:docMk/>
            <pc:sldMk cId="0" sldId="264"/>
            <ac:spMk id="11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5:30.584" v="57"/>
          <ac:graphicFrameMkLst>
            <pc:docMk/>
            <pc:sldMk cId="0" sldId="264"/>
            <ac:graphicFrameMk id="10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5:36.381" v="64"/>
          <ac:graphicFrameMkLst>
            <pc:docMk/>
            <pc:sldMk cId="0" sldId="264"/>
            <ac:graphicFrameMk id="19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6:03.163" v="78"/>
        <pc:sldMkLst>
          <pc:docMk/>
          <pc:sldMk cId="0" sldId="265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5:54.897" v="65"/>
          <ac:spMkLst>
            <pc:docMk/>
            <pc:sldMk cId="0" sldId="265"/>
            <ac:spMk id="15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6:03.163" v="78"/>
          <ac:graphicFrameMkLst>
            <pc:docMk/>
            <pc:sldMk cId="0" sldId="265"/>
            <ac:graphicFrameMk id="11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6:32.147" v="102"/>
        <pc:sldMkLst>
          <pc:docMk/>
          <pc:sldMk cId="0" sldId="266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6:32.147" v="102"/>
          <ac:spMkLst>
            <pc:docMk/>
            <pc:sldMk cId="0" sldId="266"/>
            <ac:spMk id="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6:14.178" v="79"/>
          <ac:spMkLst>
            <pc:docMk/>
            <pc:sldMk cId="0" sldId="266"/>
            <ac:spMk id="14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6:20.585" v="88"/>
          <ac:graphicFrameMkLst>
            <pc:docMk/>
            <pc:sldMk cId="0" sldId="266"/>
            <ac:graphicFrameMk id="12" creationId="{00000000-0000-0000-0000-000000000000}"/>
          </ac:graphicFrameMkLst>
        </pc:graphicFrame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6:25.210" v="101"/>
          <ac:graphicFrameMkLst>
            <pc:docMk/>
            <pc:sldMk cId="0" sldId="266"/>
            <ac:graphicFrameMk id="23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7:08.367" v="120"/>
        <pc:sldMkLst>
          <pc:docMk/>
          <pc:sldMk cId="0" sldId="267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6:49.335" v="103"/>
          <ac:spMkLst>
            <pc:docMk/>
            <pc:sldMk cId="0" sldId="267"/>
            <ac:spMk id="6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7:08.367" v="120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7:26.555" v="139"/>
        <pc:sldMkLst>
          <pc:docMk/>
          <pc:sldMk cId="0" sldId="268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7:20.601" v="13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7:26.555" v="139"/>
          <ac:spMkLst>
            <pc:docMk/>
            <pc:sldMk cId="0" sldId="268"/>
            <ac:spMk id="17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7:15.492" v="13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7:55.806" v="143"/>
        <pc:sldMkLst>
          <pc:docMk/>
          <pc:sldMk cId="0" sldId="269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7:40.258" v="140"/>
          <ac:spMkLst>
            <pc:docMk/>
            <pc:sldMk cId="0" sldId="269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7:43.461" v="141"/>
          <ac:spMkLst>
            <pc:docMk/>
            <pc:sldMk cId="0" sldId="269"/>
            <ac:spMk id="1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7:49.602" v="142"/>
          <ac:spMkLst>
            <pc:docMk/>
            <pc:sldMk cId="0" sldId="269"/>
            <ac:spMk id="2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7:55.806" v="143"/>
          <ac:spMkLst>
            <pc:docMk/>
            <pc:sldMk cId="0" sldId="269"/>
            <ac:spMk id="21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8:08.041" v="147"/>
        <pc:sldMkLst>
          <pc:docMk/>
          <pc:sldMk cId="0" sldId="270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8:04.150" v="144"/>
          <ac:spMkLst>
            <pc:docMk/>
            <pc:sldMk cId="0" sldId="270"/>
            <ac:spMk id="24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08.041" v="147"/>
          <ac:spMkLst>
            <pc:docMk/>
            <pc:sldMk cId="0" sldId="270"/>
            <ac:spMk id="25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08.041" v="145"/>
          <ac:spMkLst>
            <pc:docMk/>
            <pc:sldMk cId="0" sldId="270"/>
            <ac:spMk id="27" creationId="{00000000-0000-0000-0000-000000000000}"/>
          </ac:spMkLst>
        </pc:spChg>
        <pc:picChg chg="del">
          <ac:chgData name="Mansi Kajal-Assistant Professor SOET" userId="S::mansi.kajal@krmangalam.edu.in::3c99de1c-7603-4b32-be41-7faffefca8f3" providerId="AD" clId="Web-{A0CE1CE4-AFC7-717A-BB18-D0BE864A2309}" dt="2026-08-01T18:58:08.041" v="146"/>
          <ac:picMkLst>
            <pc:docMk/>
            <pc:sldMk cId="0" sldId="270"/>
            <ac:picMk id="26" creationId="{00000000-0000-0000-0000-000000000000}"/>
          </ac:picMkLst>
        </pc:pic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8:15.745" v="148"/>
        <pc:sldMkLst>
          <pc:docMk/>
          <pc:sldMk cId="0" sldId="271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8:15.745" v="148"/>
          <ac:spMkLst>
            <pc:docMk/>
            <pc:sldMk cId="0" sldId="271"/>
            <ac:spMk id="15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8:29.997" v="150"/>
        <pc:sldMkLst>
          <pc:docMk/>
          <pc:sldMk cId="0" sldId="272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8:29.997" v="150"/>
          <ac:spMkLst>
            <pc:docMk/>
            <pc:sldMk cId="0" sldId="272"/>
            <ac:spMk id="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26.746" v="149"/>
          <ac:spMkLst>
            <pc:docMk/>
            <pc:sldMk cId="0" sldId="272"/>
            <ac:spMk id="16" creationId="{00000000-0000-0000-0000-000000000000}"/>
          </ac:spMkLst>
        </pc:spChg>
      </pc:sldChg>
      <pc:sldChg chg="addSp delSp">
        <pc:chgData name="Mansi Kajal-Assistant Professor SOET" userId="S::mansi.kajal@krmangalam.edu.in::3c99de1c-7603-4b32-be41-7faffefca8f3" providerId="AD" clId="Web-{A0CE1CE4-AFC7-717A-BB18-D0BE864A2309}" dt="2026-08-01T18:58:51.108" v="154"/>
        <pc:sldMkLst>
          <pc:docMk/>
          <pc:sldMk cId="0" sldId="273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8:44.388" v="153"/>
          <ac:spMkLst>
            <pc:docMk/>
            <pc:sldMk cId="0" sldId="273"/>
            <ac:spMk id="6" creationId="{00000000-0000-0000-0000-000000000000}"/>
          </ac:spMkLst>
        </pc:spChg>
        <pc:spChg chg="add del">
          <ac:chgData name="Mansi Kajal-Assistant Professor SOET" userId="S::mansi.kajal@krmangalam.edu.in::3c99de1c-7603-4b32-be41-7faffefca8f3" providerId="AD" clId="Web-{A0CE1CE4-AFC7-717A-BB18-D0BE864A2309}" dt="2026-08-01T18:58:43.154" v="152"/>
          <ac:spMkLst>
            <pc:docMk/>
            <pc:sldMk cId="0" sldId="273"/>
            <ac:spMk id="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51.108" v="154"/>
          <ac:spMkLst>
            <pc:docMk/>
            <pc:sldMk cId="0" sldId="273"/>
            <ac:spMk id="20" creationId="{00000000-0000-0000-0000-000000000000}"/>
          </ac:spMkLst>
        </pc:spChg>
      </pc:sldChg>
      <pc:sldChg chg="delSp modSp">
        <pc:chgData name="Mansi Kajal-Assistant Professor SOET" userId="S::mansi.kajal@krmangalam.edu.in::3c99de1c-7603-4b32-be41-7faffefca8f3" providerId="AD" clId="Web-{A0CE1CE4-AFC7-717A-BB18-D0BE864A2309}" dt="2026-08-01T18:59:06.375" v="172"/>
        <pc:sldMkLst>
          <pc:docMk/>
          <pc:sldMk cId="0" sldId="274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8:55.640" v="155"/>
          <ac:spMkLst>
            <pc:docMk/>
            <pc:sldMk cId="0" sldId="274"/>
            <ac:spMk id="7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59.953" v="159"/>
          <ac:spMkLst>
            <pc:docMk/>
            <pc:sldMk cId="0" sldId="274"/>
            <ac:spMk id="8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59.953" v="157"/>
          <ac:spMkLst>
            <pc:docMk/>
            <pc:sldMk cId="0" sldId="274"/>
            <ac:spMk id="10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8:59.953" v="156"/>
          <ac:spMkLst>
            <pc:docMk/>
            <pc:sldMk cId="0" sldId="274"/>
            <ac:spMk id="11" creationId="{00000000-0000-0000-0000-000000000000}"/>
          </ac:spMkLst>
        </pc:spChg>
        <pc:graphicFrameChg chg="mod modGraphic">
          <ac:chgData name="Mansi Kajal-Assistant Professor SOET" userId="S::mansi.kajal@krmangalam.edu.in::3c99de1c-7603-4b32-be41-7faffefca8f3" providerId="AD" clId="Web-{A0CE1CE4-AFC7-717A-BB18-D0BE864A2309}" dt="2026-08-01T18:59:06.375" v="172"/>
          <ac:graphicFrameMkLst>
            <pc:docMk/>
            <pc:sldMk cId="0" sldId="274"/>
            <ac:graphicFrameMk id="20" creationId="{00000000-0000-0000-0000-000000000000}"/>
          </ac:graphicFrameMkLst>
        </pc:graphicFrameChg>
        <pc:picChg chg="del">
          <ac:chgData name="Mansi Kajal-Assistant Professor SOET" userId="S::mansi.kajal@krmangalam.edu.in::3c99de1c-7603-4b32-be41-7faffefca8f3" providerId="AD" clId="Web-{A0CE1CE4-AFC7-717A-BB18-D0BE864A2309}" dt="2026-08-01T18:58:59.953" v="158"/>
          <ac:picMkLst>
            <pc:docMk/>
            <pc:sldMk cId="0" sldId="274"/>
            <ac:picMk id="9" creationId="{00000000-0000-0000-0000-000000000000}"/>
          </ac:picMkLst>
        </pc:pic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9:21.096" v="174"/>
        <pc:sldMkLst>
          <pc:docMk/>
          <pc:sldMk cId="0" sldId="275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9:21.096" v="174"/>
          <ac:spMkLst>
            <pc:docMk/>
            <pc:sldMk cId="0" sldId="275"/>
            <ac:spMk id="6" creationId="{00000000-0000-0000-0000-000000000000}"/>
          </ac:spMkLst>
        </pc:spChg>
        <pc:spChg chg="del">
          <ac:chgData name="Mansi Kajal-Assistant Professor SOET" userId="S::mansi.kajal@krmangalam.edu.in::3c99de1c-7603-4b32-be41-7faffefca8f3" providerId="AD" clId="Web-{A0CE1CE4-AFC7-717A-BB18-D0BE864A2309}" dt="2026-08-01T18:59:17.205" v="173"/>
          <ac:spMkLst>
            <pc:docMk/>
            <pc:sldMk cId="0" sldId="275"/>
            <ac:spMk id="33" creationId="{00000000-0000-0000-0000-000000000000}"/>
          </ac:spMkLst>
        </pc:spChg>
      </pc:sldChg>
      <pc:sldChg chg="delSp">
        <pc:chgData name="Mansi Kajal-Assistant Professor SOET" userId="S::mansi.kajal@krmangalam.edu.in::3c99de1c-7603-4b32-be41-7faffefca8f3" providerId="AD" clId="Web-{A0CE1CE4-AFC7-717A-BB18-D0BE864A2309}" dt="2026-08-01T18:59:32.800" v="175"/>
        <pc:sldMkLst>
          <pc:docMk/>
          <pc:sldMk cId="0" sldId="277"/>
        </pc:sldMkLst>
        <pc:spChg chg="del">
          <ac:chgData name="Mansi Kajal-Assistant Professor SOET" userId="S::mansi.kajal@krmangalam.edu.in::3c99de1c-7603-4b32-be41-7faffefca8f3" providerId="AD" clId="Web-{A0CE1CE4-AFC7-717A-BB18-D0BE864A2309}" dt="2026-08-01T18:59:32.800" v="175"/>
          <ac:spMkLst>
            <pc:docMk/>
            <pc:sldMk cId="0" sldId="277"/>
            <ac:spMk id="14" creationId="{00000000-0000-0000-0000-000000000000}"/>
          </ac:spMkLst>
        </pc:spChg>
      </pc:sldChg>
      <pc:sldChg chg="del">
        <pc:chgData name="Mansi Kajal-Assistant Professor SOET" userId="S::mansi.kajal@krmangalam.edu.in::3c99de1c-7603-4b32-be41-7faffefca8f3" providerId="AD" clId="Web-{A0CE1CE4-AFC7-717A-BB18-D0BE864A2309}" dt="2026-08-01T18:59:50.801" v="176"/>
        <pc:sldMkLst>
          <pc:docMk/>
          <pc:sldMk cId="0" sldId="280"/>
        </pc:sldMkLst>
      </pc:sldChg>
      <pc:sldChg chg="modSp">
        <pc:chgData name="Mansi Kajal-Assistant Professor SOET" userId="S::mansi.kajal@krmangalam.edu.in::3c99de1c-7603-4b32-be41-7faffefca8f3" providerId="AD" clId="Web-{A0CE1CE4-AFC7-717A-BB18-D0BE864A2309}" dt="2026-08-01T18:53:26.144" v="6" actId="20577"/>
        <pc:sldMkLst>
          <pc:docMk/>
          <pc:sldMk cId="2728511316" sldId="925"/>
        </pc:sldMkLst>
        <pc:spChg chg="mod">
          <ac:chgData name="Mansi Kajal-Assistant Professor SOET" userId="S::mansi.kajal@krmangalam.edu.in::3c99de1c-7603-4b32-be41-7faffefca8f3" providerId="AD" clId="Web-{A0CE1CE4-AFC7-717A-BB18-D0BE864A2309}" dt="2026-08-01T18:53:26.144" v="6" actId="20577"/>
          <ac:spMkLst>
            <pc:docMk/>
            <pc:sldMk cId="2728511316" sldId="925"/>
            <ac:spMk id="3" creationId="{0A7DA37A-11B2-EE8B-F6D4-23A07A6F9262}"/>
          </ac:spMkLst>
        </pc:spChg>
      </pc:sldChg>
      <pc:sldChg chg="add">
        <pc:chgData name="Mansi Kajal-Assistant Professor SOET" userId="S::mansi.kajal@krmangalam.edu.in::3c99de1c-7603-4b32-be41-7faffefca8f3" providerId="AD" clId="Web-{A0CE1CE4-AFC7-717A-BB18-D0BE864A2309}" dt="2026-08-01T19:00:27.805" v="177"/>
        <pc:sldMkLst>
          <pc:docMk/>
          <pc:sldMk cId="3868629981" sldId="9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296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TB1 is the primary text for this course; EER concepts sit in Chapter 8 of Silberschatz and Chapter 4 of Elmasri &amp; Navathe. Edition numbers should be re-checked against the library catalogue each semester before the deck is issued.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www.pearson.com/en-us/subject-catalog/p/introduction-to-database-systems-an/P200000003398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ages.cs.wisc.edu/~dbbook/" TargetMode="External"/><Relationship Id="rId5" Type="http://schemas.openxmlformats.org/officeDocument/2006/relationships/hyperlink" Target="https://www.pearson.com/en-us/subject-catalog/p/fundamentals-of-database-systems/P200000003546" TargetMode="External"/><Relationship Id="rId4" Type="http://schemas.openxmlformats.org/officeDocument/2006/relationships/hyperlink" Target="https://www.db-book.co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383" y="150275"/>
            <a:ext cx="6396065" cy="92087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A7DA37A-11B2-EE8B-F6D4-23A07A6F9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536" y="2734807"/>
            <a:ext cx="86409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>
              <a:buSzPct val="25000"/>
            </a:pP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Ms. Mansi, Dr. Rishika Ms. Megha Sharma, Dr. Reenu, Dr. Swati,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Dr.Neha</a:t>
            </a: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 </a:t>
            </a:r>
            <a:r>
              <a:rPr lang="en-US" sz="2400" kern="100" dirty="0" err="1">
                <a:latin typeface="Verdana"/>
                <a:ea typeface="Times New Roman" panose="02020603050405020304" pitchFamily="18" charset="0"/>
                <a:cs typeface="Times New Roman"/>
              </a:rPr>
              <a:t>kaushik</a:t>
            </a:r>
            <a:r>
              <a:rPr lang="en-US" sz="2400" kern="100" dirty="0">
                <a:latin typeface="Verdana"/>
                <a:ea typeface="Times New Roman" panose="02020603050405020304" pitchFamily="18" charset="0"/>
                <a:cs typeface="Times New Roman"/>
              </a:rPr>
              <a:t> </a:t>
            </a:r>
            <a:endParaRPr lang="en-US" sz="2400" kern="100" dirty="0">
              <a:solidFill>
                <a:srgbClr val="000000"/>
              </a:solidFill>
              <a:latin typeface="Verdana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BBDD341-9065-6500-56A4-3D760AE6D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3080" y="1663572"/>
            <a:ext cx="849694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IN" sz="3200" b="1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9D8B597-3B07-52D6-2F94-7B4B11AB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335" y="4293756"/>
            <a:ext cx="84969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Technology(SOET)</a:t>
            </a:r>
          </a:p>
          <a:p>
            <a:pPr lvl="0" algn="ctr">
              <a:buSzPct val="25000"/>
            </a:pP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 R. </a:t>
            </a:r>
            <a:r>
              <a:rPr lang="en-US" kern="10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kern="10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5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828800"/>
            <a:ext cx="2194560" cy="502920"/>
          </a:xfrm>
          <a:prstGeom prst="roundRect">
            <a:avLst>
              <a:gd name="adj" fmla="val 49091"/>
            </a:avLst>
          </a:prstGeom>
          <a:solidFill>
            <a:srgbClr val="F0A32E"/>
          </a:solidFill>
          <a:ln/>
        </p:spPr>
      </p:sp>
      <p:sp>
        <p:nvSpPr>
          <p:cNvPr id="3" name="Text 1"/>
          <p:cNvSpPr/>
          <p:nvPr/>
        </p:nvSpPr>
        <p:spPr>
          <a:xfrm>
            <a:off x="5001768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2560320"/>
            <a:ext cx="9628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&amp;</a:t>
            </a:r>
            <a:endParaRPr lang="en-US" sz="24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420624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•  Key  •  Entity  •  Referential  •  X → Y  •  Armstrong Axioms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4800600"/>
            <a:ext cx="9628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stop bad data before it enters Amazon, Paytm &amp; your bank</a:t>
            </a:r>
            <a:endParaRPr 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Session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64208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" y="184251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172200" y="137160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1664208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84251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60920" y="175564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041648"/>
            <a:ext cx="685800" cy="685800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" y="421995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axioms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6172200" y="374904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041648"/>
            <a:ext cx="685800" cy="6858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penc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421995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6092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— Our Roadmap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407408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3" name="Text 10"/>
          <p:cNvSpPr/>
          <p:nvPr/>
        </p:nvSpPr>
        <p:spPr>
          <a:xfrm>
            <a:off x="468172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681728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constraints?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8311896" y="137160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86216" y="1627632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8" name="Text 15"/>
          <p:cNvSpPr/>
          <p:nvPr/>
        </p:nvSpPr>
        <p:spPr>
          <a:xfrm>
            <a:off x="8586216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586216" y="23042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constraint types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77240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407408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81728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8" name="Text 25"/>
          <p:cNvSpPr/>
          <p:nvPr/>
        </p:nvSpPr>
        <p:spPr>
          <a:xfrm>
            <a:off x="4681728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681728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axioms</a:t>
            </a: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311896" y="3840480"/>
            <a:ext cx="3374136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586216" y="40965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3" name="Text 30"/>
          <p:cNvSpPr/>
          <p:nvPr/>
        </p:nvSpPr>
        <p:spPr>
          <a:xfrm>
            <a:off x="8586216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586216" y="4773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recap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9808" y="1453896"/>
            <a:ext cx="566928" cy="566928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09" y="1601297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380744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integrity constraints and explain why systems need them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267712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49808" y="2395728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09" y="2543129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322576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domain, key, entity and referential integrity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502920" y="3209544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09" y="3484961"/>
            <a:ext cx="272125" cy="2721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326440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interpret functional dependencies for simple relations</a:t>
            </a:r>
            <a:endParaRPr lang="en-US" dirty="0"/>
          </a:p>
        </p:txBody>
      </p:sp>
      <p:sp>
        <p:nvSpPr>
          <p:cNvPr id="18" name="Shape 12"/>
          <p:cNvSpPr/>
          <p:nvPr/>
        </p:nvSpPr>
        <p:spPr>
          <a:xfrm>
            <a:off x="502920" y="4151376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4279392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0" name="Image 4" descr="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09" y="4426793"/>
            <a:ext cx="272125" cy="27212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600200" y="4206240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Armstrong axioms to infer new dependencies</a:t>
            </a:r>
            <a:endParaRPr lang="en-US" dirty="0"/>
          </a:p>
        </p:txBody>
      </p:sp>
      <p:sp>
        <p:nvSpPr>
          <p:cNvPr id="22" name="Shape 15"/>
          <p:cNvSpPr/>
          <p:nvPr/>
        </p:nvSpPr>
        <p:spPr>
          <a:xfrm>
            <a:off x="502920" y="5093208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49808" y="522122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4" name="Image 5" descr="icons/cal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209" y="5368625"/>
            <a:ext cx="272125" cy="27212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148072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closure (X⁺) and dependency-reasoning questions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Review: Keys and Relations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relation</a:t>
            </a:r>
            <a:endParaRPr lang="en-US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295776"/>
              </p:ext>
            </p:extLst>
          </p:nvPr>
        </p:nvGraphicFramePr>
        <p:xfrm>
          <a:off x="777240" y="1828800"/>
          <a:ext cx="4023360" cy="16093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1645920"/>
            <a:ext cx="56235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291072" y="188366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2E75B6"/>
          </a:solidFill>
          <a:ln/>
        </p:spPr>
      </p:sp>
      <p:sp>
        <p:nvSpPr>
          <p:cNvPr id="10" name="Text 6"/>
          <p:cNvSpPr/>
          <p:nvPr/>
        </p:nvSpPr>
        <p:spPr>
          <a:xfrm>
            <a:off x="6583680" y="1645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is a table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035040" y="2514600"/>
            <a:ext cx="56235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91072" y="275234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2E7D5B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2514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uniquely identifies a tuple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6035040" y="3383280"/>
            <a:ext cx="56235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3621024"/>
            <a:ext cx="146304" cy="256032"/>
          </a:xfrm>
          <a:prstGeom prst="roundRect">
            <a:avLst>
              <a:gd name="adj" fmla="val 25000"/>
            </a:avLst>
          </a:prstGeom>
          <a:solidFill>
            <a:srgbClr val="F0A32E"/>
          </a:solidFill>
          <a:ln/>
        </p:spPr>
      </p:sp>
      <p:sp>
        <p:nvSpPr>
          <p:cNvPr id="16" name="Text 12"/>
          <p:cNvSpPr/>
          <p:nvPr/>
        </p:nvSpPr>
        <p:spPr>
          <a:xfrm>
            <a:off x="6583680" y="33832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connect related tables</a:t>
            </a: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777240" y="4846320"/>
            <a:ext cx="603504" cy="603504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9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003231"/>
            <a:ext cx="289682" cy="28968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681728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upgrade: keys tell us WHICH row — constraints and FDs add the RULES that keep every row correct. The same jump every junior engineer makes in their first schema review.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Integrity Constraints?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37760" y="2788920"/>
            <a:ext cx="2331720" cy="13716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27889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828800" y="146304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28800" y="1984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values only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138160" y="146304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2E7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138160" y="1984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identifiers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1554480" y="448056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F0A3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554480" y="45902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554480" y="5001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primary keys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7955280" y="4480560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25400">
            <a:solidFill>
              <a:srgbClr val="B23A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459028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955280" y="5001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broken table links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977640" y="2286000"/>
            <a:ext cx="118872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6995160" y="2286000"/>
            <a:ext cx="1188720" cy="6858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3749040" y="3977640"/>
            <a:ext cx="137160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040880" y="3977640"/>
            <a:ext cx="1051560" cy="5029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Constraint: Only Allowed Values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table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47517"/>
              </p:ext>
            </p:extLst>
          </p:nvPr>
        </p:nvGraphicFramePr>
        <p:xfrm>
          <a:off x="777240" y="1783080"/>
          <a:ext cx="402336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CourseID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Credits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Semester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DB201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PY110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AI300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0" y="1463040"/>
            <a:ext cx="5989320" cy="1965960"/>
          </a:xfrm>
          <a:prstGeom prst="roundRect">
            <a:avLst>
              <a:gd name="adj" fmla="val 418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rules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943600" y="19659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must be numeric (1–6)</a:t>
            </a:r>
            <a:endParaRPr lang="en-US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must be between 1 and 8</a:t>
            </a:r>
            <a:endParaRPr lang="en-US" dirty="0"/>
          </a:p>
          <a:p>
            <a:pPr marL="152400" indent="-152400">
              <a:buSzPct val="100000"/>
              <a:buChar char="•"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CourseID must follow the text pattern LLNNN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669280" y="3611880"/>
            <a:ext cx="5989320" cy="777240"/>
          </a:xfrm>
          <a:prstGeom prst="roundRect">
            <a:avLst>
              <a:gd name="adj" fmla="val 10588"/>
            </a:avLst>
          </a:prstGeom>
          <a:solidFill>
            <a:srgbClr val="FBF1F2"/>
          </a:solidFill>
          <a:ln w="15875">
            <a:solidFill>
              <a:srgbClr val="E8C6CB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0" y="36118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Rejected:  Credits = "four"   |   Semester = 10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777240" y="4892040"/>
            <a:ext cx="603504" cy="603504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15" name="Image 1" descr="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04895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75488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SQL this is a CHECK constraint: Zomato enforces rating BETWEEN 1 AND 5, Flipkart enforces pincode ~ six digits, banks enforce amount &gt; 0 — the database rejects bad data even if the app forgets to.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Constraint: No Duplicate Identifiers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STUDENT rows</a:t>
            </a: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4651"/>
              </p:ext>
            </p:extLst>
          </p:nvPr>
        </p:nvGraphicFramePr>
        <p:xfrm>
          <a:off x="777240" y="1828800"/>
          <a:ext cx="3017520" cy="153619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751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rows</a:t>
            </a:r>
            <a:endParaRPr lang="en-US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496742"/>
              </p:ext>
            </p:extLst>
          </p:nvPr>
        </p:nvGraphicFramePr>
        <p:xfrm>
          <a:off x="6675120" y="1828800"/>
          <a:ext cx="3017520" cy="115214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3A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Anil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6675120" y="3200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tuples share RollNo = 101 — the system can no longer point to one student.</a:t>
            </a:r>
            <a:endParaRPr lang="en-US" dirty="0"/>
          </a:p>
        </p:txBody>
      </p:sp>
      <p:sp>
        <p:nvSpPr>
          <p:cNvPr id="12" name="Shape 7"/>
          <p:cNvSpPr/>
          <p:nvPr/>
        </p:nvSpPr>
        <p:spPr>
          <a:xfrm>
            <a:off x="777240" y="448056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4637471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00200" y="4434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twin: idempotency keys in payments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600200" y="489204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double-tap “Pay” on GPay, a unique transaction key makes the second attempt a duplicate — the key constraint rejects it and you are charged once. UNIQUE indexes silently save crores every day.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Integrity: Primary Keys Are Never NULL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table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411766"/>
              </p:ext>
            </p:extLst>
          </p:nvPr>
        </p:nvGraphicFramePr>
        <p:xfrm>
          <a:off x="777240" y="1783080"/>
          <a:ext cx="402336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EmpID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EmpName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Sara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HR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Nitin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NULL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Riya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Sales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row rejected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5669280" y="1463040"/>
            <a:ext cx="598932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9436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dirty="0"/>
          </a:p>
        </p:txBody>
      </p:sp>
      <p:sp>
        <p:nvSpPr>
          <p:cNvPr id="7" name="Text 7"/>
          <p:cNvSpPr/>
          <p:nvPr/>
        </p:nvSpPr>
        <p:spPr>
          <a:xfrm>
            <a:off x="5943600" y="193852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key must always contain a real value — never NULL.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669280" y="2880360"/>
            <a:ext cx="5989320" cy="123444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943600" y="3017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943600" y="335584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key means “identity unknown” — the row can never be found, updated or referenced.</a:t>
            </a: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777240" y="4709160"/>
            <a:ext cx="603504" cy="603504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7" name="Image 1" descr="icons/c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4866071"/>
            <a:ext cx="289682" cy="2896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57200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an Amazon order with order_id = NULL: no tracking page, no refund, no invoice — the row exists but nobody can ever reach it. That is why every serious DBMS enforces this automatically on PRIMARY KEY columns.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Integrity: No Broken Links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(parent)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572049"/>
              </p:ext>
            </p:extLst>
          </p:nvPr>
        </p:nvGraphicFramePr>
        <p:xfrm>
          <a:off x="777240" y="1783080"/>
          <a:ext cx="356616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DeptName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Computer Science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Electronics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MBA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Management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9494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(child)</a:t>
            </a:r>
            <a:endParaRPr lang="en-US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546866"/>
              </p:ext>
            </p:extLst>
          </p:nvPr>
        </p:nvGraphicFramePr>
        <p:xfrm>
          <a:off x="6949440" y="1783080"/>
          <a:ext cx="3749040" cy="153619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BIO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4663440" y="2377440"/>
            <a:ext cx="2011680" cy="457200"/>
          </a:xfrm>
          <a:prstGeom prst="leftArrow">
            <a:avLst/>
          </a:prstGeom>
          <a:solidFill>
            <a:srgbClr val="F0A32E"/>
          </a:solidFill>
          <a:ln/>
        </p:spPr>
      </p:sp>
      <p:sp>
        <p:nvSpPr>
          <p:cNvPr id="11" name="Text 6"/>
          <p:cNvSpPr/>
          <p:nvPr/>
        </p:nvSpPr>
        <p:spPr>
          <a:xfrm>
            <a:off x="45262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exist in parent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822960" y="3977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is rejected — it does not exist in DEPARTMENT.DeptID. The DBMS refuses the row.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77240" y="5239512"/>
            <a:ext cx="603504" cy="603504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1" descr="icons/fil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396423"/>
            <a:ext cx="289682" cy="2896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51206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example: Netflix cannot let a watch-history row point to a deleted profile. Referential integrity (or its microservice equivalent) keeps 300M+ accounts free of orphan rows.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Dependency: X → 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means: if two tuples agree on X, they must also agree on Y.  “X determines Y.”</a:t>
            </a:r>
            <a:endParaRPr lang="en-US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230990"/>
              </p:ext>
            </p:extLst>
          </p:nvPr>
        </p:nvGraphicFramePr>
        <p:xfrm>
          <a:off x="777240" y="2606040"/>
          <a:ext cx="5394960" cy="16093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RollNo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Name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DeptName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Asha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Computer Sc.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Rahul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ECE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Electronics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Meera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CSE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Computer Sc.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675120" y="274320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7512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RollNo → Name, DeptID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6675120" y="342900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DeptID → DeptName</a:t>
            </a:r>
            <a:endParaRPr lang="en-US" dirty="0"/>
          </a:p>
        </p:txBody>
      </p:sp>
      <p:sp>
        <p:nvSpPr>
          <p:cNvPr id="8" name="Text 9"/>
          <p:cNvSpPr/>
          <p:nvPr/>
        </p:nvSpPr>
        <p:spPr>
          <a:xfrm>
            <a:off x="6675120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101 &amp; 103 agree on DeptID = CSE, so they MUST agree on DeptName — and they do.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502920" y="4892040"/>
            <a:ext cx="1118311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5138928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6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295839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98348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FDs daily: type a PIN code and the form auto-fills City &amp; State (PIN → City, State). Enter an IFSC code and the bank branch appears (IFSC → Branch). Autofill = functional dependency.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FDs From Data: BOOK Table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81541"/>
              </p:ext>
            </p:extLst>
          </p:nvPr>
        </p:nvGraphicFramePr>
        <p:xfrm>
          <a:off x="777240" y="1554480"/>
          <a:ext cx="5943600" cy="1609344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ISBN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Title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PublisherID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PublisherName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9781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DBMS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P10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TechPress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9782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SQL Lab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P10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TechPress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9783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AI Intro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P20</a:t>
                      </a:r>
                      <a:endParaRPr lang="en-US" sz="14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DataBooks</a:t>
                      </a:r>
                      <a:endParaRPr lang="en-US" sz="14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1417320"/>
            <a:ext cx="4709160" cy="1828800"/>
          </a:xfrm>
          <a:prstGeom prst="roundRect">
            <a:avLst>
              <a:gd name="adj" fmla="val 4500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22376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FDs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7223760" y="1920240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23760" y="19202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ISBN → Title, PublisherID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7223760" y="2514600"/>
            <a:ext cx="416052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223760" y="25146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PublisherID → PublisherName</a:t>
            </a:r>
            <a:endParaRPr lang="en-US" dirty="0"/>
          </a:p>
        </p:txBody>
      </p:sp>
      <p:sp>
        <p:nvSpPr>
          <p:cNvPr id="6" name="Shape 10"/>
          <p:cNvSpPr/>
          <p:nvPr/>
        </p:nvSpPr>
        <p:spPr>
          <a:xfrm>
            <a:off x="777240" y="3931920"/>
            <a:ext cx="566928" cy="566928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5" name="Image 1" descr="icons/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407932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3794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→ ISBN is NOT valid: two different books can share the title “DBMS”. An FD must hold for every possible row — not just today’s data.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77240" y="5239512"/>
            <a:ext cx="566928" cy="56692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9" name="Image 2" descr="icons/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5386913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54480" y="5120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trap at Amazon: product_name → price fails (many sellers, many prices for one name); ASIN → product details holds — that’s why every listing has an ASIN.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Functional Dependencies Matter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20240" y="1645920"/>
            <a:ext cx="713232" cy="713232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680" y="1831360"/>
            <a:ext cx="342351" cy="3423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5603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redundancy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407408" y="137160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24728" y="1645920"/>
            <a:ext cx="713232" cy="713232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3" name="Image 2" descr="icons/wa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168" y="183136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25603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anomalies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8311896" y="1371600"/>
            <a:ext cx="3538728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729216" y="1645920"/>
            <a:ext cx="713232" cy="713232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3" descr="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4656" y="1831360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86216" y="25603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normalization</a:t>
            </a:r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777240" y="4617720"/>
            <a:ext cx="621792" cy="62179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3" name="Image 4" descr="icons/build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906" y="4779386"/>
            <a:ext cx="298460" cy="2984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60020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pattern: a company renames “Computer Science” to “Computing”. If DeptName is stored in 40,000 student rows, one missed row = two names for one department. Data teams at MNCs run FD-based profiling (dbt tests, Great Expectations) to catch exactly this.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Axioms: The FD Logic Engine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74520" y="1645920"/>
            <a:ext cx="777240" cy="7772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1874520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77240" y="310896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 ⊆ X, then X → Y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“obvious subset” rule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4407408" y="137160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79008" y="1645920"/>
            <a:ext cx="777240" cy="77724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4" name="Text 11"/>
          <p:cNvSpPr/>
          <p:nvPr/>
        </p:nvSpPr>
        <p:spPr>
          <a:xfrm>
            <a:off x="5779008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681728" y="26060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681728" y="310896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Y, then XZ → YZ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681728" y="370332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same baggage to both sides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8311896" y="137160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83496" y="1645920"/>
            <a:ext cx="777240" cy="777240"/>
          </a:xfrm>
          <a:prstGeom prst="ellipse">
            <a:avLst/>
          </a:prstGeom>
          <a:solidFill>
            <a:srgbClr val="F0A32E"/>
          </a:solidFill>
          <a:ln/>
        </p:spPr>
      </p:sp>
      <p:sp>
        <p:nvSpPr>
          <p:cNvPr id="20" name="Text 17"/>
          <p:cNvSpPr/>
          <p:nvPr/>
        </p:nvSpPr>
        <p:spPr>
          <a:xfrm>
            <a:off x="9683496" y="1645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8586216" y="260604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Transitivity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586216" y="3108960"/>
            <a:ext cx="2990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A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 and Y → Z, then X → Z</a:t>
            </a: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8586216" y="370332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 arrows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1: Reflexivity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11183112" cy="868680"/>
          </a:xfrm>
          <a:prstGeom prst="roundRect">
            <a:avLst>
              <a:gd name="adj" fmla="val 9474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 is a subset of X, then X → Y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188720" y="260604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{RollNo, Name} → Name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492240" y="2606040"/>
            <a:ext cx="45720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{A, B, C} → {A, C}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2920" y="3429000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3584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true?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tuples match on the whole left side, they automatically match on any piece of it — knowing your full address obviously tells you your city.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777240" y="5102352"/>
            <a:ext cx="603504" cy="603504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7" name="Image 1" descr="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5259263"/>
            <a:ext cx="289682" cy="2896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00200" y="4983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Is {EmpID, DeptID} → EmpID true by reflexivity?  (Answer aloud in 5 seconds.)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2: Augmentation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Y, then XZ → YZ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280160" y="2697480"/>
            <a:ext cx="384048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2697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RollNo → DeptID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486400" y="2743200"/>
            <a:ext cx="1005840" cy="384048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Sem to both sides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6766560" y="2697480"/>
            <a:ext cx="475488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2697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{RollNo, Sem} → {DeptID, Sem}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88620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977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RollNo already determines DeptID, then attaching the same extra attribute (Sem) to both sides cannot break it — the dependency survives with baggage.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777240" y="5330952"/>
            <a:ext cx="566928" cy="566928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1" descr="icons/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5478353"/>
            <a:ext cx="272125" cy="2721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5448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version: PIN → City, so {PIN, HouseNo} → {City, HouseNo} — your full address form still auto-fills the city.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 3: Transitivity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 and Y → Z, then X → Z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554480" y="2834640"/>
            <a:ext cx="1554480" cy="594360"/>
          </a:xfrm>
          <a:prstGeom prst="rect">
            <a:avLst/>
          </a:prstGeom>
          <a:solidFill>
            <a:srgbClr val="1F4E79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5448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EmpID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349240" y="2834640"/>
            <a:ext cx="1554480" cy="594360"/>
          </a:xfrm>
          <a:prstGeom prst="rect">
            <a:avLst/>
          </a:prstGeom>
          <a:solidFill>
            <a:srgbClr val="2E75B6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924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DeptID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9144000" y="2834640"/>
            <a:ext cx="1737360" cy="594360"/>
          </a:xfrm>
          <a:prstGeom prst="rect">
            <a:avLst/>
          </a:prstGeom>
          <a:solidFill>
            <a:srgbClr val="2E7D5B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0" y="2834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DeptName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291840" y="2944368"/>
            <a:ext cx="1874520" cy="384048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5" name="Shape 12"/>
          <p:cNvSpPr/>
          <p:nvPr/>
        </p:nvSpPr>
        <p:spPr>
          <a:xfrm>
            <a:off x="7086600" y="2944368"/>
            <a:ext cx="1874520" cy="384048"/>
          </a:xfrm>
          <a:prstGeom prst="rightArrow">
            <a:avLst/>
          </a:prstGeom>
          <a:solidFill>
            <a:srgbClr val="F0A32E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08660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023360" y="4069080"/>
            <a:ext cx="4114800" cy="457200"/>
          </a:xfrm>
          <a:prstGeom prst="roundRect">
            <a:avLst>
              <a:gd name="adj" fmla="val 24000"/>
            </a:avLst>
          </a:prstGeom>
          <a:solidFill>
            <a:srgbClr val="F7F9FC"/>
          </a:solidFill>
          <a:ln w="19050">
            <a:solidFill>
              <a:srgbClr val="2E7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2336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∴ EmpID → DeptName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77240" y="5276088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3" name="Image 1" descr="icons/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41" y="5423489"/>
            <a:ext cx="272125" cy="2721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554480" y="5120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systems use this daily: EmpID → DeptID and DeptID → DeptName, so a payslip prints the department name from just the employee ID — no one types it.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Rules: Shortcuts From the Axioms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658414"/>
              </p:ext>
            </p:extLst>
          </p:nvPr>
        </p:nvGraphicFramePr>
        <p:xfrm>
          <a:off x="777240" y="1554480"/>
          <a:ext cx="10607040" cy="2560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Form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Union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X → Y  and  X → Z    ⇒    X → YZ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Combine right sides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Decomposition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X → YZ    ⇒    X → Y  and  X → Z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Split right sides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 err="1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Pseudotransitivity</a:t>
                      </a:r>
                      <a:endParaRPr lang="en-US" sz="1600" err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X → Y  and  YZ → W    ⇒    XZ → W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Chain with a helper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Attribute Closure A⁺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280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 R(A, B, C, D) with FDs:   A → B,   B → C,   AC → D.   Find A⁺.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7406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2350008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17320" y="22402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7492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A⁺ = {A}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02920" y="3044952"/>
            <a:ext cx="7406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315468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417320" y="30449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→ B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074920" y="30449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A⁺ = {A, B}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3849624"/>
            <a:ext cx="7406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9808" y="3959352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7"/>
          <p:cNvSpPr/>
          <p:nvPr/>
        </p:nvSpPr>
        <p:spPr>
          <a:xfrm>
            <a:off x="74980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417320" y="384962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 → C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74920" y="384962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A⁺ = {A, B, C}</a:t>
            </a: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02920" y="4654296"/>
            <a:ext cx="74066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49808" y="4764024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4764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1417320" y="465429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AC → D (A and C now present)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074920" y="465429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A⁺ = {A, B, C, D}</a:t>
            </a: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8183880" y="2240280"/>
            <a:ext cx="3502152" cy="2990088"/>
          </a:xfrm>
          <a:prstGeom prst="roundRect">
            <a:avLst>
              <a:gd name="adj" fmla="val 2752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509760" y="251460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30" name="Image 1" descr="icons/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68" y="2692908"/>
            <a:ext cx="329184" cy="32918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8412480" y="37947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A⁺ covers all attributes, so A is a candidate key of R.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STUDENT(RollNo, Name, DeptID, DeptName), given RollNo → DeptID and DeptID → DeptName — what new FD follows, and by which axiom?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347472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70332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D5B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{A, B} → C, can we say {A, B, D} → {C, D}? Which axiom supports it?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02920" y="5577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— 4 minutes. Answers on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Practice: Expected Answers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1848551"/>
            <a:ext cx="289682" cy="289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155448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RollNo → DeptName, by TRANSITIVITY (chain the two given arrows).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502920" y="28346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3108960"/>
            <a:ext cx="603504" cy="60350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2" name="Image 2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151" y="3265871"/>
            <a:ext cx="289682" cy="2896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97180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2: 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{A, B, D} → {C, D}, by AUGMENTATION (add D to both sides).</a:t>
            </a:r>
            <a:endParaRPr lang="en-US" dirty="0"/>
          </a:p>
        </p:txBody>
      </p:sp>
      <p:sp>
        <p:nvSpPr>
          <p:cNvPr id="15" name="Shape 10"/>
          <p:cNvSpPr/>
          <p:nvPr/>
        </p:nvSpPr>
        <p:spPr>
          <a:xfrm>
            <a:off x="777240" y="4663440"/>
            <a:ext cx="621792" cy="621792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6" name="Image 3" descr="icons/c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825106"/>
            <a:ext cx="298460" cy="298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00200" y="4617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1600200" y="5029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online shopping system, give ONE domain constraint and ONE referential-integrity rule. (Hint: think product ratings and order → customer links.)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Quiz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09344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600200" y="146304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constraint prevents invalid values like Semester = 10?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02920" y="253288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24912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724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00200" y="2578608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constraint prevents NULL primary keys?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02920" y="364845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840480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40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600200" y="3694176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Y, does XZ → YZ always hold?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4764024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956048"/>
            <a:ext cx="566928" cy="566928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956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600200" y="4809744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→ B and B → C, what can we infer?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the next slide — commit to yours first!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Quiz: Answers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73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600200" y="14904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constraint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1673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269480" y="149047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integrity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02920" y="265176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9077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0A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600200" y="27249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by augmentation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172200" y="2651760"/>
            <a:ext cx="5440680" cy="1051560"/>
          </a:xfrm>
          <a:prstGeom prst="roundRect">
            <a:avLst>
              <a:gd name="adj" fmla="val 7826"/>
            </a:avLst>
          </a:prstGeom>
          <a:solidFill>
            <a:srgbClr val="F0F7F3"/>
          </a:solidFill>
          <a:ln w="15875">
            <a:solidFill>
              <a:srgbClr val="C4DEC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46520" y="290779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269480" y="2724912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C — by transitivity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02920" y="4206240"/>
            <a:ext cx="11183112" cy="1691640"/>
          </a:xfrm>
          <a:prstGeom prst="roundRect">
            <a:avLst>
              <a:gd name="adj" fmla="val 4865"/>
            </a:avLst>
          </a:prstGeom>
          <a:solidFill>
            <a:srgbClr val="F4F7FB"/>
          </a:solidFill>
          <a:ln w="15875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526280"/>
            <a:ext cx="658368" cy="658368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20" name="Image 1" descr="icons/ti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6" y="4697456"/>
            <a:ext cx="316017" cy="31601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645920" y="44805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645920" y="4937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functional dependency and ONE integrity constraint for a LIBRARY database. Example shapes: ISBN → Title;  member_id in ISSUE must exist in MEMBER.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6032"/>
            <a:ext cx="224028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&amp; FDs | Database Management Systems | K.R. Mangalam University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475720" y="6419088"/>
            <a:ext cx="411480" cy="329184"/>
          </a:xfrm>
          <a:prstGeom prst="roundRect">
            <a:avLst>
              <a:gd name="adj" fmla="val 22222"/>
            </a:avLst>
          </a:prstGeom>
          <a:solidFill>
            <a:srgbClr val="1F4E7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28016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408176"/>
            <a:ext cx="585216" cy="585216"/>
          </a:xfrm>
          <a:prstGeom prst="ellipse">
            <a:avLst/>
          </a:prstGeom>
          <a:solidFill>
            <a:srgbClr val="2E75B6"/>
          </a:solidFill>
          <a:ln/>
        </p:spPr>
      </p:sp>
      <p:pic>
        <p:nvPicPr>
          <p:cNvPr id="8" name="Image 1" descr="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676" y="1560332"/>
            <a:ext cx="280904" cy="280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3533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846320" y="135331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valid — domain, key, entity, referential</a:t>
            </a: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02920" y="224028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368296"/>
            <a:ext cx="585216" cy="58521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2" descr="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676" y="2520452"/>
            <a:ext cx="280904" cy="280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231343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846320" y="231343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how one attribute set determines another (X → Y)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1520" y="3328416"/>
            <a:ext cx="585216" cy="585216"/>
          </a:xfrm>
          <a:prstGeom prst="ellipse">
            <a:avLst/>
          </a:prstGeom>
          <a:solidFill>
            <a:srgbClr val="F0A32E"/>
          </a:solidFill>
          <a:ln/>
        </p:spPr>
      </p:sp>
      <p:pic>
        <p:nvPicPr>
          <p:cNvPr id="18" name="Image 3" descr="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76" y="3480572"/>
            <a:ext cx="280904" cy="2809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327355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 axioms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4846320" y="327355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reflexivity, augmentation, transitivity — sound &amp; complete inference</a:t>
            </a:r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502920" y="416052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1520" y="4288536"/>
            <a:ext cx="585216" cy="585216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23" name="Image 4" descr="icons/cal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676" y="4440692"/>
            <a:ext cx="280904" cy="28090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554480" y="423367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(X⁺)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846320" y="423367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that finds keys and powers normalization</a:t>
            </a:r>
            <a:endParaRPr lang="en-US" dirty="0"/>
          </a:p>
        </p:txBody>
      </p:sp>
      <p:sp>
        <p:nvSpPr>
          <p:cNvPr id="26" name="Shape 19"/>
          <p:cNvSpPr/>
          <p:nvPr/>
        </p:nvSpPr>
        <p:spPr>
          <a:xfrm>
            <a:off x="502920" y="5120640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5875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B0B7C3">
                <a:alpha val="3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31520" y="5248656"/>
            <a:ext cx="585216" cy="58521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8" name="Image 5" descr="icons/site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676" y="5400812"/>
            <a:ext cx="280904" cy="28090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554480" y="519379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846320" y="519379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FDs drive normal forms (2NF, 3NF, BCNF) in the coming sessions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060AA"/>
          </a:solidFill>
          <a:ln/>
        </p:spPr>
      </p:sp>
      <p:pic>
        <p:nvPicPr>
          <p:cNvPr id="3" name="Image 0" descr="assets/kr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88" y="237744"/>
            <a:ext cx="1737360" cy="2505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" y="548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— Text Books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841248" y="187452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1874520"/>
            <a:ext cx="109728" cy="9144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1207008" y="1965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System Concepts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07008" y="22768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Silberschatz, H. F. Korth, S. Sudarshan  ·  McGraw-Hill</a:t>
            </a:r>
            <a:endParaRPr lang="en-US" sz="1200" dirty="0"/>
          </a:p>
        </p:txBody>
      </p:sp>
      <p:sp>
        <p:nvSpPr>
          <p:cNvPr id="10" name="Text 7">
            <a:hlinkClick r:id="rId4"/>
          </p:cNvPr>
          <p:cNvSpPr/>
          <p:nvPr/>
        </p:nvSpPr>
        <p:spPr>
          <a:xfrm>
            <a:off x="1207008" y="25146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https://www.db-book.com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42248" y="2093976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2" name="Text 9"/>
          <p:cNvSpPr/>
          <p:nvPr/>
        </p:nvSpPr>
        <p:spPr>
          <a:xfrm>
            <a:off x="8842248" y="20939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2019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41248" y="290779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" y="2907792"/>
            <a:ext cx="109728" cy="914400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15" name="Text 12"/>
          <p:cNvSpPr/>
          <p:nvPr/>
        </p:nvSpPr>
        <p:spPr>
          <a:xfrm>
            <a:off x="1207008" y="29992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Fundamentals of Database Systems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207008" y="33101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Elmasri, S. B. Navathe  ·  Pearson</a:t>
            </a:r>
            <a:endParaRPr lang="en-US" sz="1200" dirty="0"/>
          </a:p>
        </p:txBody>
      </p:sp>
      <p:sp>
        <p:nvSpPr>
          <p:cNvPr id="17" name="Text 14">
            <a:hlinkClick r:id="rId5"/>
          </p:cNvPr>
          <p:cNvSpPr/>
          <p:nvPr/>
        </p:nvSpPr>
        <p:spPr>
          <a:xfrm>
            <a:off x="1207008" y="35478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https://www.pearson.com/en-us/subject-catalog/p/fundamentals-of-database-systems/P200000003546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42248" y="3127248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19" name="Text 16"/>
          <p:cNvSpPr/>
          <p:nvPr/>
        </p:nvSpPr>
        <p:spPr>
          <a:xfrm>
            <a:off x="8842248" y="312724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7th Ed.  2016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" y="39410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41248" y="3941064"/>
            <a:ext cx="109728" cy="914400"/>
          </a:xfrm>
          <a:prstGeom prst="rect">
            <a:avLst/>
          </a:prstGeom>
          <a:solidFill>
            <a:srgbClr val="196B24"/>
          </a:solidFill>
          <a:ln/>
        </p:spPr>
      </p:sp>
      <p:sp>
        <p:nvSpPr>
          <p:cNvPr id="22" name="Text 19"/>
          <p:cNvSpPr/>
          <p:nvPr/>
        </p:nvSpPr>
        <p:spPr>
          <a:xfrm>
            <a:off x="1207008" y="4032504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Management Systems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1207008" y="434340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Ramakrishnan, J. Gehrke  ·  McGraw-Hill</a:t>
            </a:r>
            <a:endParaRPr lang="en-US" sz="1200" dirty="0"/>
          </a:p>
        </p:txBody>
      </p:sp>
      <p:sp>
        <p:nvSpPr>
          <p:cNvPr id="24" name="Text 21">
            <a:hlinkClick r:id="rId6"/>
          </p:cNvPr>
          <p:cNvSpPr/>
          <p:nvPr/>
        </p:nvSpPr>
        <p:spPr>
          <a:xfrm>
            <a:off x="1207008" y="458114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196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https://pages.cs.wisc.edu/~dbbook/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42248" y="4160520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26" name="Text 23"/>
          <p:cNvSpPr/>
          <p:nvPr/>
        </p:nvSpPr>
        <p:spPr>
          <a:xfrm>
            <a:off x="8842248" y="4160520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3rd Ed.  2003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41248" y="4974336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1248" y="4974336"/>
            <a:ext cx="109728" cy="914400"/>
          </a:xfrm>
          <a:prstGeom prst="rect">
            <a:avLst/>
          </a:prstGeom>
          <a:solidFill>
            <a:srgbClr val="A02B93"/>
          </a:solidFill>
          <a:ln/>
        </p:spPr>
      </p:sp>
      <p:sp>
        <p:nvSpPr>
          <p:cNvPr id="29" name="Text 26"/>
          <p:cNvSpPr/>
          <p:nvPr/>
        </p:nvSpPr>
        <p:spPr>
          <a:xfrm>
            <a:off x="1207008" y="50657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E284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Introduction to Database Systems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1207008" y="537667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J. Date  ·  Pearson</a:t>
            </a:r>
            <a:endParaRPr lang="en-US" sz="1200" dirty="0"/>
          </a:p>
        </p:txBody>
      </p:sp>
      <p:sp>
        <p:nvSpPr>
          <p:cNvPr id="31" name="Text 28">
            <a:hlinkClick r:id="rId7"/>
          </p:cNvPr>
          <p:cNvSpPr/>
          <p:nvPr/>
        </p:nvSpPr>
        <p:spPr>
          <a:xfrm>
            <a:off x="1207008" y="561441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u="sng" dirty="0">
                <a:solidFill>
                  <a:srgbClr val="A02B93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https://www.pearson.com/en-us/subject-catalog/p/introduction-to-database-systems-an/P200000003398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842248" y="5193792"/>
            <a:ext cx="2148840" cy="475488"/>
          </a:xfrm>
          <a:prstGeom prst="roundRect">
            <a:avLst>
              <a:gd name="adj" fmla="val 23077"/>
            </a:avLst>
          </a:prstGeom>
          <a:solidFill>
            <a:srgbClr val="E8F2F8"/>
          </a:solidFill>
          <a:ln/>
        </p:spPr>
      </p:sp>
      <p:sp>
        <p:nvSpPr>
          <p:cNvPr id="33" name="Text 30"/>
          <p:cNvSpPr/>
          <p:nvPr/>
        </p:nvSpPr>
        <p:spPr>
          <a:xfrm>
            <a:off x="8842248" y="519379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560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8th Ed.  2003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68629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2468880"/>
            <a:ext cx="9628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737360" y="370332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challenge: find one FD hiding in any app form you fill this week (hint: what auto-completes?).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737360" y="6126480"/>
            <a:ext cx="8714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2533</Words>
  <Application>Microsoft Office PowerPoint</Application>
  <PresentationFormat>Widescreen</PresentationFormat>
  <Paragraphs>415</Paragraphs>
  <Slides>27</Slides>
  <Notes>27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Mansi Kajal-Assistant Professor SOET</cp:lastModifiedBy>
  <cp:revision>45</cp:revision>
  <dcterms:created xsi:type="dcterms:W3CDTF">2026-07-19T09:54:25Z</dcterms:created>
  <dcterms:modified xsi:type="dcterms:W3CDTF">2026-08-01T19:00:28Z</dcterms:modified>
</cp:coreProperties>
</file>