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90" r:id="rId2"/>
    <p:sldId id="29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04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objectives aloud. Objectives 1, 2 and 4 are assessed directly in the quiz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blocks. Blocks 1-3 are roughly the first half of the session, blocks 4-6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in pairs. Push them to name the *links* between these four groups, not just the groups — that sets up foreign keys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from Session 2. Keep it to three minutes — this is activation, not re-teaching.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left column first, then the right. Each right-hand row is the direct answer to the pain on its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word 'relational' — the relationships between tables are the defining feature, not the tables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rows that matter most in an interview are 'Relationship handling' and 'Integrity rules'. Every RDBMS is a DBMS; the reverse is not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minutes. Expected answers: duplicate rows, inconsistent updates, slow joins across log files, no referential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normalization story in one slide. Ask them to name the redundancy before you reveal the 'After'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Enrollment is a junction/bridge table. Point out that its foreign keys are what stop an enrollment existing for a student who was never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the important one: real systems are polyglot. Netflix is not 'a NoSQL company' — it picks per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off-by-one: there are 13 rules because Codd started at Rule 0. Students routinely get this wrong in exams.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rule, then the worked example. Students remember the examples, not the rule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exam trap: 'Which commercial DBMS satisfies all 12 rules?' Answer: none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replaces the relational model — they sit beside it. Descriptions and example engines added for clarity; adjust to your syllabus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Architectures change — treat these as illustrative of the pattern rather than a current inventory of each company's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sectors, one common requirement: money or safety depends on the data being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would a partial failure look like to the customer? That is the intuition behind atomicity.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and telecom both carry compliance obligations — a good place to mention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prepare the library/hospital schema before placement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(1) RDBMS. (2) Rule 2, Guaranteed Access. (3) e.g. HostelRoom for a day scholar. (4) RDBMS — ACID transactions and access control. (5) Banking, e-commerce, telecom billing,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minutes in groups, three minutes per group to present. Check for a foreign key in every design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on the warm-up: PhonePe needs every one of these four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Editions updated: Silberschatz is now in its 7th edition and Elmasri &amp; Navathe in its 7th. Verify against the current syllabus copy before circulating.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Codd's 1970 paper is short and readable — worth setting as optional reading alongside the rules slides. All links verified against publisher and vendor sites; re-check before each new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exit tickets. Next session moves into keys, constraints and relational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32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9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ptel.ac.in/courses/106105175" TargetMode="External"/><Relationship Id="rId5" Type="http://schemas.openxmlformats.org/officeDocument/2006/relationships/image" Target="../media/image47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hyperlink" Target="https://docs.aws.amazon.com/AmazonRDS/latest/AuroraUserGuide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47.png"/><Relationship Id="rId12" Type="http://schemas.openxmlformats.org/officeDocument/2006/relationships/hyperlink" Target="https://dev.mysql.com/doc/refman/8.4/en/" TargetMode="External"/><Relationship Id="rId2" Type="http://schemas.openxmlformats.org/officeDocument/2006/relationships/notesSlide" Target="../notesSlides/notesSlide32.xml"/><Relationship Id="rId16" Type="http://schemas.openxmlformats.org/officeDocument/2006/relationships/hyperlink" Target="https://learn.mongodb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bass.dev/" TargetMode="External"/><Relationship Id="rId11" Type="http://schemas.openxmlformats.org/officeDocument/2006/relationships/hyperlink" Target="https://www.postgresql.org/docs/current/" TargetMode="External"/><Relationship Id="rId5" Type="http://schemas.openxmlformats.org/officeDocument/2006/relationships/hyperlink" Target="https://dataintensive.net/" TargetMode="External"/><Relationship Id="rId15" Type="http://schemas.openxmlformats.org/officeDocument/2006/relationships/hyperlink" Target="https://www.cockroachlabs.com/docs/" TargetMode="External"/><Relationship Id="rId10" Type="http://schemas.openxmlformats.org/officeDocument/2006/relationships/hyperlink" Target="https://dl.acm.org/doi/10.1145/362384.362685" TargetMode="External"/><Relationship Id="rId4" Type="http://schemas.openxmlformats.org/officeDocument/2006/relationships/image" Target="../media/image48.png"/><Relationship Id="rId9" Type="http://schemas.openxmlformats.org/officeDocument/2006/relationships/hyperlink" Target="https://nptel.ac.in/courses/106105175" TargetMode="External"/><Relationship Id="rId14" Type="http://schemas.openxmlformats.org/officeDocument/2006/relationships/hyperlink" Target="https://cloud.google.com/spanner/docs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rmu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1" descr="krm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62" y="149962"/>
            <a:ext cx="6397142" cy="9208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83994" y="1600200"/>
            <a:ext cx="8494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E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2697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1E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Mansi, Dr. Rishika, Ms. Megha Sharma, Dr. Reenu, Dr. Swati,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E31E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Surabhi, Dr. Neha Kaushik, Dr. Deepika Garg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819656" y="4251960"/>
            <a:ext cx="8494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Faculty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School of Engineering &amp; Technology (SOET)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K. R. Mangalam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65960"/>
            <a:ext cx="12191695" cy="292608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548640"/>
            <a:ext cx="1005840" cy="1005840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4" name="Text 2"/>
          <p:cNvSpPr/>
          <p:nvPr/>
        </p:nvSpPr>
        <p:spPr>
          <a:xfrm>
            <a:off x="5592928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1691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DBMS vs RDBMS, E. F. Codd's 12 Rules &amp; Industry Significance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Netflix, Amazon, PayPal &amp; Swiggy pick the right database engine before writing a single query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80160" y="397764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9" name="Image 0" descr="/home/claude/work/icons/layers_2E75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1148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DBMS vs RDBMS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0" y="397764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12" name="Image 1" descr="/home/claude/work/icons/scale_2E7D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1148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Codd's 12 Rules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397764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15" name="Image 2" descr="/home/claude/work/icons/briefcase_B23A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1148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Significance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1323015" y="6382512"/>
            <a:ext cx="411480" cy="329184"/>
          </a:xfrm>
          <a:prstGeom prst="roundRect">
            <a:avLst>
              <a:gd name="adj" fmla="val 19444"/>
            </a:avLst>
          </a:prstGeom>
          <a:solidFill>
            <a:srgbClr val="1F4E79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3015" y="63825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0" descr="s1_unpacked/ppt/media/image5.png">
            <a:extLst>
              <a:ext uri="{FF2B5EF4-FFF2-40B4-BE49-F238E27FC236}">
                <a16:creationId xmlns:a16="http://schemas.microsoft.com/office/drawing/2014/main" id="{EA516FEF-D7F8-4312-EBD8-F6712FDBAD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" y="6062472"/>
            <a:ext cx="22402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1755648"/>
            <a:ext cx="530352" cy="53035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7" name="Image 1" descr="/home/claude/s3/icons/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123" y="1882932"/>
            <a:ext cx="275783" cy="275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0838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DBMS &amp; RDBMS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30838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core difference with real product examples, not just theory.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32767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25375" y="1755648"/>
            <a:ext cx="530352" cy="530352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Image 2" descr="/home/claude/s3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660" y="1882932"/>
            <a:ext cx="275783" cy="2757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5375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Codd's 12 Rules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725375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 why relational engines still follow (and bend) these rules.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27304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19912" y="1755648"/>
            <a:ext cx="530352" cy="53035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7" name="Image 3" descr="/home/claude/s3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197" y="1882932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9912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Industry Adoption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19912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where banks, e-commerce &amp; OTT platforms use RDBMS today.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38230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30838" y="4096512"/>
            <a:ext cx="530352" cy="530352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pic>
        <p:nvPicPr>
          <p:cNvPr id="22" name="Image 4" descr="/home/claude/s3/icons/k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8123" y="4223796"/>
            <a:ext cx="275783" cy="2757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30838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Keys &amp; Relations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130838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Spot primary keys, foreign keys and table relationships confidently.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32767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725375" y="4096512"/>
            <a:ext cx="530352" cy="53035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Image 5" descr="/home/claude/s3/icons/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660" y="4223796"/>
            <a:ext cx="275783" cy="27578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25375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Modern Engines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4725375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RDBMS concepts to Aurora, CockroachDB, Spanner &amp; more.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027304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19912" y="4096512"/>
            <a:ext cx="530352" cy="530352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32" name="Image 6" descr="/home/claude/s3/icons/troph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7197" y="4223796"/>
            <a:ext cx="275783" cy="27578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19912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Crack Interview Questions</a:t>
            </a:r>
            <a:endParaRPr lang="en-US" sz="1550" dirty="0"/>
          </a:p>
        </p:txBody>
      </p:sp>
      <p:sp>
        <p:nvSpPr>
          <p:cNvPr id="34" name="Text 25"/>
          <p:cNvSpPr/>
          <p:nvPr/>
        </p:nvSpPr>
        <p:spPr>
          <a:xfrm>
            <a:off x="8319912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 DBMS vs RDBMS, ACID &amp; normalization questions with confidence.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 — Our Roadmap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1755648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3083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0838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0838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meaning, and why the distinction still matters in production systems.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2767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25375" y="1755648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5375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25375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Data Pain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725375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breaks when apps like food-delivery platforms rely on flat files.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27304" y="1481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19912" y="1755648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1991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19912" y="2395728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 &amp; Keys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19912" y="2779776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Tables, primary / foreign keys, and how relationships are enforced.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38230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EFF4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30838" y="4096512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0838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30838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12 Rules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130838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rules that define what "truly relational" means — with examples.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432767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EFF4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5375" y="4096512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5375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725375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Database Landscape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4725375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NoSQL, NewSQL, cloud-native &amp; vector databases used by top MNCs.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27304" y="382219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EFF4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19912" y="4096512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19912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319912" y="4736592"/>
            <a:ext cx="27350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&amp; Careers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8319912" y="5120640"/>
            <a:ext cx="27350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Banking, e-commerce, healthtech use cases plus interview relevance.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Warm-Up: You Are the Database Architect</a:t>
            </a:r>
            <a:endParaRPr lang="en-US" sz="3200" dirty="0"/>
          </a:p>
        </p:txBody>
      </p:sp>
      <p:pic>
        <p:nvPicPr>
          <p:cNvPr id="6" name="Image 1" descr="/home/claude/s3/icons/helpCircl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16367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2902" y="1444752"/>
            <a:ext cx="94120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PhonePe / UPI processes billions of transactions a month. What must its database remember — and how does it all stay consistent?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38230" y="2487168"/>
            <a:ext cx="2421583" cy="2487168"/>
          </a:xfrm>
          <a:prstGeom prst="roundRect">
            <a:avLst>
              <a:gd name="adj" fmla="val 264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765558" y="2761488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Image 2" descr="/home/claude/s3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621" y="2897551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4534" y="3529584"/>
            <a:ext cx="21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 Users &amp; Accounts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021110" y="3986784"/>
            <a:ext cx="2055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Name, phone, linked bank accounts, KYC status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534133" y="2487168"/>
            <a:ext cx="2421583" cy="2487168"/>
          </a:xfrm>
          <a:prstGeom prst="roundRect">
            <a:avLst>
              <a:gd name="adj" fmla="val 264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461460" y="2761488"/>
            <a:ext cx="566928" cy="5669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5" name="Image 3" descr="/home/claude/s3/icons/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523" y="2897551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80437" y="3529584"/>
            <a:ext cx="21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 Merchants &amp; Wallets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3717013" y="3986784"/>
            <a:ext cx="2055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 details, wallet balances, offers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230036" y="2487168"/>
            <a:ext cx="2421583" cy="2487168"/>
          </a:xfrm>
          <a:prstGeom prst="roundRect">
            <a:avLst>
              <a:gd name="adj" fmla="val 264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157363" y="2761488"/>
            <a:ext cx="566928" cy="5669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0" name="Image 4" descr="/home/claude/s3/icons/sync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426" y="2897551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76340" y="3529584"/>
            <a:ext cx="21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 Transactions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412916" y="3986784"/>
            <a:ext cx="2055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Amount, timestamp, status, sender &amp; receiver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925938" y="2487168"/>
            <a:ext cx="2421583" cy="2487168"/>
          </a:xfrm>
          <a:prstGeom prst="roundRect">
            <a:avLst>
              <a:gd name="adj" fmla="val 264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853266" y="2761488"/>
            <a:ext cx="566928" cy="5669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25" name="Image 5" descr="/home/claude/s3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329" y="2897551"/>
            <a:ext cx="294803" cy="2948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72242" y="3529584"/>
            <a:ext cx="21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 Fraud &amp; Risk Checks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9108818" y="3986784"/>
            <a:ext cx="2055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ID, risk score, transaction limits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Recall: What Is a DBMS?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4956048" cy="2395728"/>
          </a:xfrm>
          <a:prstGeom prst="roundRect">
            <a:avLst>
              <a:gd name="adj" fmla="val 267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1700784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7" name="Image 1" descr="/home/claude/s3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34" y="1823679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70918" y="1700784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Meaning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30838" y="2395728"/>
            <a:ext cx="4370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time Instagram loads your feed or Swiggy shows a restaurant menu, a DBMS is answering that request in milliseconds.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14318" y="1444752"/>
            <a:ext cx="5233203" cy="2395728"/>
          </a:xfrm>
          <a:prstGeom prst="roundRect">
            <a:avLst>
              <a:gd name="adj" fmla="val 267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6926" y="1700784"/>
            <a:ext cx="512064" cy="51206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Image 2" descr="/home/claude/s3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822" y="182367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7006" y="1700784"/>
            <a:ext cx="40444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Organizations Use It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443502" y="2478024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81246" y="2377440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scattered, duplicate files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43502" y="2825496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81246" y="2724912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 data safely among many users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43502" y="3172968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81246" y="3072384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security, backup &amp; recovery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43502" y="3520440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81246" y="3419856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and update information instantly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38230" y="4078224"/>
            <a:ext cx="10509291" cy="1481328"/>
          </a:xfrm>
          <a:prstGeom prst="roundRect">
            <a:avLst>
              <a:gd name="adj" fmla="val 4321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3" name="Image 3" descr="/home/claude/s3/icons/mobile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126" y="433425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24614" y="42976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examples around you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67414" y="4773168"/>
            <a:ext cx="9850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Zomato (order data), Paytm (payment data), LinkedIn (profile &amp; connection data) and college ERPs (student data) — all powered by a DBMS underneath.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We Need Data Management Systems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094625" cy="512064"/>
          </a:xfrm>
          <a:prstGeom prst="roundRect">
            <a:avLst>
              <a:gd name="adj" fmla="val 17857"/>
            </a:avLst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8230" y="1444752"/>
            <a:ext cx="50946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We Use Only Files / Spreadsheets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52896" y="1444752"/>
            <a:ext cx="5094625" cy="512064"/>
          </a:xfrm>
          <a:prstGeom prst="roundRect">
            <a:avLst>
              <a:gd name="adj" fmla="val 17857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52896" y="1444752"/>
            <a:ext cx="50946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 Modern DBMS Improves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8230" y="2139696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10" name="Image 1" descr="/home/claude/s3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23408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96598" y="2139696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entries pile up fast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52896" y="2139696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13" name="Image 2" descr="/home/claude/s3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234086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11264" y="2139696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Central, governed control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38230" y="2944368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16" name="Image 3" descr="/home/claude/s3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3145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96598" y="2944368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 becomes painfully slow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252896" y="2944368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19" name="Image 4" descr="/home/claude/s3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314553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11264" y="2944368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Fine-grained controlled access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838230" y="3749040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5" descr="/home/claude/s3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395020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96598" y="3749040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Updates go inconsistent across copies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252896" y="3749040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5" name="Image 6" descr="/home/claude/s3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395020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11264" y="3749040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retrieval at massive scale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838230" y="4553712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8" name="Image 7" descr="/home/claude/s3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475488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496598" y="4553712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backup stay weak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6252896" y="4553712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31" name="Image 8" descr="/home/claude/s3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475488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11264" y="4553712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backup &amp; recovery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838230" y="5358384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34" name="Image 9" descr="/home/claude/s3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555955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496598" y="5358384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Multi-user access turns risky</a:t>
            </a:r>
            <a:endParaRPr lang="en-US" sz="1350" dirty="0"/>
          </a:p>
        </p:txBody>
      </p:sp>
      <p:sp>
        <p:nvSpPr>
          <p:cNvPr id="36" name="Shape 24"/>
          <p:cNvSpPr/>
          <p:nvPr/>
        </p:nvSpPr>
        <p:spPr>
          <a:xfrm>
            <a:off x="6252896" y="5358384"/>
            <a:ext cx="5094625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37" name="Image 10" descr="/home/claude/s3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555955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911264" y="5358384"/>
            <a:ext cx="42259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Seamless sharing across teams</a:t>
            </a:r>
            <a:endParaRPr lang="en-US" sz="1350" dirty="0"/>
          </a:p>
        </p:txBody>
      </p:sp>
      <p:sp>
        <p:nvSpPr>
          <p:cNvPr id="39" name="Text 26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an RDBMS?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4956048" cy="2395728"/>
          </a:xfrm>
          <a:prstGeom prst="roundRect">
            <a:avLst>
              <a:gd name="adj" fmla="val 267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1700784"/>
            <a:ext cx="512064" cy="51206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7" name="Image 1" descr="/home/claude/s3/icon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34" y="1823679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70918" y="1700784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30838" y="23774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RDBMS stores data in tables (rows &amp; columns).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30838" y="2798064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you will meet in industry: PostgreSQL, MySQL, Oracle, SQL Server and Amazon Aurora.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14318" y="1444752"/>
            <a:ext cx="5233203" cy="2395728"/>
          </a:xfrm>
          <a:prstGeom prst="roundRect">
            <a:avLst>
              <a:gd name="adj" fmla="val 267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6926" y="1700784"/>
            <a:ext cx="512064" cy="51206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3" name="Image 2" descr="/home/claude/s3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822" y="1823679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7006" y="1700784"/>
            <a:ext cx="40444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43502" y="2478024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81246" y="2377440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 become meaningful, not scattered lookups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43502" y="2825496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81246" y="2724912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reduces redundancy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43502" y="3172968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81246" y="3072384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rules are enforced automatically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43502" y="3520440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81246" y="3419856"/>
            <a:ext cx="4373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 keep business data consistent (ACID)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38230" y="4078224"/>
            <a:ext cx="10509291" cy="1481328"/>
          </a:xfrm>
          <a:prstGeom prst="roundRect">
            <a:avLst>
              <a:gd name="adj" fmla="val 4321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4" name="Image 3" descr="/home/claude/s3/icons/cloud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126" y="433425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24614" y="42976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reality check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67414" y="4773168"/>
            <a:ext cx="9850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cloud-native RDBMS today — Amazon Aurora, Google Cloud SQL, Azure SQL — are managed services, so engineers focus on schema and queries, not server maintenance.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at a Glance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168737"/>
              </p:ext>
            </p:extLst>
          </p:nvPr>
        </p:nvGraphicFramePr>
        <p:xfrm>
          <a:off x="838230" y="1481328"/>
          <a:ext cx="10509382" cy="4224528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DBMS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RDBMS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Storage model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Files or simple structures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Related tables with keys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Relationship handling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 or manual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Built-in via primary / foreign keys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Redundancy control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 chance of duplication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Normalization reduces repetition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Integrity rules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Basic checks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Strong constraints &amp; consistency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 / single-user systems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Multi-user, enterprise &amp; cloud-ready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Real examples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XML stores, simple desktop DBs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MySQL, PostgreSQL, Oracle, Aurora, CockroachDB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System vs DBMS vs RDBMS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3320217" cy="3127248"/>
          </a:xfrm>
          <a:prstGeom prst="roundRect">
            <a:avLst>
              <a:gd name="adj" fmla="val 2047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44475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s3/icons/b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686" y="157276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8310" y="1444752"/>
            <a:ext cx="24972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System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112550" y="2340864"/>
            <a:ext cx="109728" cy="1097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50294" y="2212848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Separate, scattered files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112550" y="2907792"/>
            <a:ext cx="109728" cy="1097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50294" y="2779776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Repeated data everywhere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12550" y="3474720"/>
            <a:ext cx="109728" cy="1097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50294" y="3346704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Hard, slow searching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112550" y="4041648"/>
            <a:ext cx="109728" cy="1097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50294" y="3913632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sharing across teams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32767" y="1444752"/>
            <a:ext cx="3320217" cy="3127248"/>
          </a:xfrm>
          <a:prstGeom prst="roundRect">
            <a:avLst>
              <a:gd name="adj" fmla="val 2047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32767" y="144475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/home/claude/s3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223" y="157276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72847" y="1444752"/>
            <a:ext cx="24972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707087" y="2340864"/>
            <a:ext cx="109728" cy="1097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44831" y="2212848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storage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707087" y="2907792"/>
            <a:ext cx="109728" cy="1097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44831" y="2779776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security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707087" y="3474720"/>
            <a:ext cx="109728" cy="1097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44831" y="3346704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manual effort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707087" y="4041648"/>
            <a:ext cx="109728" cy="1097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944831" y="3913632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still lack relations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027304" y="1444752"/>
            <a:ext cx="3320217" cy="3127248"/>
          </a:xfrm>
          <a:prstGeom prst="roundRect">
            <a:avLst>
              <a:gd name="adj" fmla="val 2047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27304" y="144475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3" descr="/home/claude/s3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760" y="1572768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67384" y="1444752"/>
            <a:ext cx="24972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301624" y="2340864"/>
            <a:ext cx="109728" cy="1097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539368" y="2212848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 + keys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301624" y="2907792"/>
            <a:ext cx="109728" cy="1097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539368" y="2779776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queries (SQL)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8301624" y="3474720"/>
            <a:ext cx="109728" cy="1097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539368" y="3346704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Consistency + transactions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8301624" y="4041648"/>
            <a:ext cx="109728" cy="1097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539368" y="3913632"/>
            <a:ext cx="253383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to millions of users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838230" y="4773168"/>
            <a:ext cx="10509291" cy="822960"/>
          </a:xfrm>
          <a:prstGeom prst="roundRect">
            <a:avLst>
              <a:gd name="adj" fmla="val 7778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42" name="Image 4" descr="/home/claude/s3/icons/user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550" y="4974336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569750" y="4773168"/>
            <a:ext cx="95034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Think-pair-share:  </a:t>
            </a: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problems disappear when Netflix moves viewing history from separate logs to linked tables?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Organization Example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93781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FDF0F0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93781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s3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98" y="206582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1734" y="1937812"/>
            <a:ext cx="25338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Before: Flat File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75974" y="2632756"/>
            <a:ext cx="2844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Students.xlsx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75974" y="2925364"/>
            <a:ext cx="284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Columns: Student name, Course name, Instructor, Fee status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5974" y="3528868"/>
            <a:ext cx="28447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94262" y="4031788"/>
            <a:ext cx="100584" cy="100584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13718" y="3931204"/>
            <a:ext cx="26069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name repeated 500+ times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94262" y="4434124"/>
            <a:ext cx="100584" cy="100584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13718" y="4333540"/>
            <a:ext cx="26069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Instructor updates needed everywhere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094262" y="4836460"/>
            <a:ext cx="100584" cy="100584"/>
          </a:xfrm>
          <a:prstGeom prst="ellipse">
            <a:avLst/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13718" y="4735876"/>
            <a:ext cx="26069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Fee-status copy errors creep in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432767" y="193781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32767" y="193781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/home/claude/s3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935" y="206582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36271" y="1937812"/>
            <a:ext cx="25338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After: Relational Tables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652223" y="2687620"/>
            <a:ext cx="2881305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43663" y="2687620"/>
            <a:ext cx="26984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Students(StudentID, Name, CourseID)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652223" y="3309412"/>
            <a:ext cx="2881305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43663" y="3309412"/>
            <a:ext cx="26984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Courses(CourseID, CourseName, InstructorID)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652223" y="3931204"/>
            <a:ext cx="2881305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43663" y="3931204"/>
            <a:ext cx="26984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Fees(StudentID, Amount, Status)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670511" y="4607860"/>
            <a:ext cx="284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course update now changes data everywhere — consistently, instantly.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027304" y="193781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27304" y="1937812"/>
            <a:ext cx="3320217" cy="566928"/>
          </a:xfrm>
          <a:prstGeom prst="roundRect">
            <a:avLst>
              <a:gd name="adj" fmla="val 16129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3" descr="/home/claude/s3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472" y="2065828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30808" y="1937812"/>
            <a:ext cx="25338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Parallel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265048" y="2724196"/>
            <a:ext cx="284472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exactly how Flipkart normalizes Product, Seller and Inventory tables — one price update reflects across every listing instantly.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Keys, Tables &amp; Relationships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857130"/>
            <a:ext cx="3289737" cy="3054096"/>
          </a:xfrm>
          <a:prstGeom prst="roundRect">
            <a:avLst>
              <a:gd name="adj" fmla="val 2096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857130"/>
            <a:ext cx="3289737" cy="512064"/>
          </a:xfrm>
          <a:prstGeom prst="roundRect">
            <a:avLst>
              <a:gd name="adj" fmla="val 17857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8230" y="1857130"/>
            <a:ext cx="328973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84534" y="2424058"/>
            <a:ext cx="2997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StudentID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39398" y="2917834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0838" y="2917834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|   Asha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39398" y="3484762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0838" y="3484762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 |   Rohan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39398" y="4051690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0838" y="4051690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|   Neha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48007" y="1857130"/>
            <a:ext cx="3289737" cy="3054096"/>
          </a:xfrm>
          <a:prstGeom prst="roundRect">
            <a:avLst>
              <a:gd name="adj" fmla="val 2096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48007" y="1857130"/>
            <a:ext cx="3289737" cy="512064"/>
          </a:xfrm>
          <a:prstGeom prst="roundRect">
            <a:avLst>
              <a:gd name="adj" fmla="val 17857"/>
            </a:avLst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8007" y="1857130"/>
            <a:ext cx="328973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Enrollment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94311" y="2424058"/>
            <a:ext cx="2997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EnrollID  ·  FK: StudentID, CourseID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49175" y="2917834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40615" y="2917834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E11   |   101 | C01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649175" y="3484762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40615" y="3484762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E12   |   103 | C03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57784" y="1857130"/>
            <a:ext cx="3289737" cy="3054096"/>
          </a:xfrm>
          <a:prstGeom prst="roundRect">
            <a:avLst>
              <a:gd name="adj" fmla="val 2096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57784" y="1857130"/>
            <a:ext cx="3289737" cy="512064"/>
          </a:xfrm>
          <a:prstGeom prst="roundRect">
            <a:avLst>
              <a:gd name="adj" fmla="val 17857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57784" y="1857130"/>
            <a:ext cx="328973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04088" y="2424058"/>
            <a:ext cx="2997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CourseID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58952" y="2917834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50392" y="2917834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   |   DBMS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258952" y="3484762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50392" y="3484762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C02   |   OS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58952" y="4051690"/>
            <a:ext cx="288740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50392" y="4051690"/>
            <a:ext cx="2704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C03   |   Python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807927" y="3338458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dash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417704" y="3338458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dash"/>
            <a:headEnd type="triangle"/>
            <a:tailEnd type="none"/>
          </a:ln>
        </p:spPr>
      </p:sp>
      <p:sp>
        <p:nvSpPr>
          <p:cNvPr id="35" name="Text 32"/>
          <p:cNvSpPr/>
          <p:nvPr/>
        </p:nvSpPr>
        <p:spPr>
          <a:xfrm>
            <a:off x="3807927" y="302756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FK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37744" y="302756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FK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by Use Cases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63040"/>
            <a:ext cx="2286000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7958" y="146304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24230" y="1463040"/>
            <a:ext cx="1691640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33958" y="146304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Fit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15870" y="1463040"/>
            <a:ext cx="2514600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25598" y="1463040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30470" y="1463040"/>
            <a:ext cx="4017051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40198" y="1463040"/>
            <a:ext cx="37975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8230" y="1993392"/>
            <a:ext cx="22860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7958" y="199339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contact list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24230" y="1993392"/>
            <a:ext cx="169164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0534" y="2185416"/>
            <a:ext cx="1399032" cy="384048"/>
          </a:xfrm>
          <a:prstGeom prst="roundRect">
            <a:avLst>
              <a:gd name="adj" fmla="val 33333"/>
            </a:avLst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0534" y="2185416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15870" y="1993392"/>
            <a:ext cx="25146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25598" y="1993392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data, simple ops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30470" y="1993392"/>
            <a:ext cx="4017051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40198" y="1993392"/>
            <a:ext cx="3797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phone contacts app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38230" y="2761488"/>
            <a:ext cx="2286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7958" y="2761488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ERP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124230" y="2761488"/>
            <a:ext cx="1691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70534" y="2953512"/>
            <a:ext cx="1399032" cy="384048"/>
          </a:xfrm>
          <a:prstGeom prst="roundRect">
            <a:avLst>
              <a:gd name="adj" fmla="val 33333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70534" y="2953512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815870" y="2761488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5598" y="2761488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linked modules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330470" y="2761488"/>
            <a:ext cx="4017051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40198" y="2761488"/>
            <a:ext cx="3797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Students, attendance, exams &amp; fees share data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38230" y="3529584"/>
            <a:ext cx="22860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7958" y="3529584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shopping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124230" y="3529584"/>
            <a:ext cx="169164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70534" y="3721608"/>
            <a:ext cx="1399032" cy="384048"/>
          </a:xfrm>
          <a:prstGeom prst="roundRect">
            <a:avLst>
              <a:gd name="adj" fmla="val 33333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70534" y="372160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815870" y="3529584"/>
            <a:ext cx="25146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5598" y="3529584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Orders need consistency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330470" y="3529584"/>
            <a:ext cx="4017051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40198" y="3529584"/>
            <a:ext cx="3797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Amazon / Flipkart: cart, payment, inventory, shipping stay in sync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8230" y="4297680"/>
            <a:ext cx="2286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7958" y="4297680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124230" y="4297680"/>
            <a:ext cx="1691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70534" y="4489704"/>
            <a:ext cx="1399032" cy="384048"/>
          </a:xfrm>
          <a:prstGeom prst="roundRect">
            <a:avLst>
              <a:gd name="adj" fmla="val 33333"/>
            </a:avLst>
          </a:prstGeom>
          <a:solidFill>
            <a:srgbClr val="196B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70534" y="448970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815870" y="4297680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25598" y="4297680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order + payment state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330470" y="4297680"/>
            <a:ext cx="4017051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40198" y="4297680"/>
            <a:ext cx="3797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Swiggy / Zomato: order, rider &amp; restaurant status update together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38230" y="5065776"/>
            <a:ext cx="22860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47958" y="5065776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OTT streaming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3124230" y="5065776"/>
            <a:ext cx="169164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270534" y="5257800"/>
            <a:ext cx="1399032" cy="384048"/>
          </a:xfrm>
          <a:prstGeom prst="roundRect">
            <a:avLst>
              <a:gd name="adj" fmla="val 33333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270534" y="525780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 + NoSQL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4815870" y="5065776"/>
            <a:ext cx="2514600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925598" y="506577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vs. viewing history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7330470" y="5065776"/>
            <a:ext cx="4017051" cy="768096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440198" y="5065776"/>
            <a:ext cx="37975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Netflix: RDBMS for billing, Cassandra for watch history at scale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Codd's Rules Matter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167414" y="1719072"/>
            <a:ext cx="566928" cy="566928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7" name="Image 1" descr="/home/claude/s3/icons/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477" y="18551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62358" y="1719072"/>
            <a:ext cx="9137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Question Codd Asked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03990" y="2249424"/>
            <a:ext cx="97777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Edgar F. Codd proposed 13 rules (numbered 0–12) to protect the original idea of relational databases: can a system manage data using tables, keys, constraints and relational operations — consistently, every time?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38230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363485" y="3675888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Image 2" descr="/home/claude/s3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158" y="3807562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8230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2620259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5513" y="3675888"/>
            <a:ext cx="548640" cy="5486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6" name="Image 3" descr="/home/claude/s3/icons/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187" y="3807562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20259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4402287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927542" y="3675888"/>
            <a:ext cx="548640" cy="548640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20" name="Image 4" descr="/home/claude/s3/icons/ba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215" y="3807562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02287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184316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709570" y="3675888"/>
            <a:ext cx="548640" cy="548640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Image 5" descr="/home/claude/s3/icons/boo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1244" y="3807562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84316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Catalog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7966344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491598" y="3675888"/>
            <a:ext cx="548640" cy="548640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pic>
        <p:nvPicPr>
          <p:cNvPr id="28" name="Image 6" descr="/home/claude/s3/icon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3272" y="3807562"/>
            <a:ext cx="285293" cy="28529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66344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9748373" y="3419856"/>
            <a:ext cx="1599148" cy="1572768"/>
          </a:xfrm>
          <a:prstGeom prst="roundRect">
            <a:avLst>
              <a:gd name="adj" fmla="val 407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10273627" y="3675888"/>
            <a:ext cx="548640" cy="54864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2" name="Image 7" descr="/home/claude/s3/icons/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5301" y="3807562"/>
            <a:ext cx="285293" cy="28529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748373" y="4352544"/>
            <a:ext cx="159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Views</a:t>
            </a:r>
            <a:endParaRPr lang="en-US" sz="1450" dirty="0"/>
          </a:p>
        </p:txBody>
      </p:sp>
      <p:sp>
        <p:nvSpPr>
          <p:cNvPr id="35" name="Text 25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Foundation, Information &amp; Access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20766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Rule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277157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"relational" system must manage data through relational capabilities — no hidden shortcuts.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493008"/>
            <a:ext cx="2771577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602736"/>
            <a:ext cx="2442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77142" y="3877056"/>
            <a:ext cx="24423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vendor claiming "relational" must still support normal table-based operations.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32767" y="144475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7087" y="1700784"/>
            <a:ext cx="566928" cy="5669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7087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02031" y="1700784"/>
            <a:ext cx="20766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Rule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7087" y="2414016"/>
            <a:ext cx="277157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information must appear as values inside table cells.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07087" y="3493008"/>
            <a:ext cx="2771577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1679" y="3602736"/>
            <a:ext cx="2442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71679" y="3877056"/>
            <a:ext cx="24423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name and fee status live in table columns, not buried in app code.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27304" y="1444752"/>
            <a:ext cx="3320217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01624" y="1700784"/>
            <a:ext cx="566928" cy="5669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01624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996568" y="1700784"/>
            <a:ext cx="20766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Guaranteed Access Rule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01624" y="2414016"/>
            <a:ext cx="277157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value must be reachable via table name + primary key + column name.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301624" y="3493008"/>
            <a:ext cx="2771577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66216" y="3602736"/>
            <a:ext cx="2442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66216" y="3877056"/>
            <a:ext cx="24423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Neha's phone via Students table + StudentID + Phone.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30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 0-2 establish what it even means to store data relationally.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Nulls &amp; Catalog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Systematic Treatment of Nulls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or inapplicable data must be handled consistently.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77142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student without hostel allocation gets HostelRoom = NULL — never inconsistent text like "N/A" in one place and blank in another.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30036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4356" y="1700784"/>
            <a:ext cx="566928" cy="566928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43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99300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Online Catalog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04356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Metadata should be queryable just like normal data.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04356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8948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68948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DBA queries table definitions, column names or constraints directly from system catalog views — no separate documentation needed.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 is not zero and not an empty string — it means "unknown or not applicable".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Query Language &amp; Views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Comprehensive Data Sublanguage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language must support definition, queries, updates, views, integrity, authorization and transactions.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77142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lets us CREATE, SELECT, UPDATE, GRANT, COMMIT and ROLLBACK — all in one language.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0036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4356" y="1700784"/>
            <a:ext cx="566928" cy="5669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43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99300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Updating Rule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4356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 view can logically be updated, the system must allow it.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04356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8948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8948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HR view showing active employees should let HR update phone numbers directly when it is safe to do so.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6 is the one commercial engines satisfy least completely — updatable views have real restrictions.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Set Operations &amp; Data Independence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High-Level Insert, Update, Delete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Operations should work on entire sets of rows, not one record at a time.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77142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 stipend by 10% for all interns using a single UPDATE query — not a loop.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0036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4356" y="1700784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43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99300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Data Independence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4356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Storage-level changes must never break applications.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04356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8948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8948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Migrating a table to a new disk, or adding an index in Aurora, should never force app-code changes.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7 is why SQL is declarative — you describe the result, not the loop.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Logical Independence &amp; Integrity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Logical Data Independence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logical changes should not break existing applications.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77142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a StudentEmail column should not break an attendance report that never uses 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0036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4356" y="1700784"/>
            <a:ext cx="566928" cy="5669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43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99300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Independence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4356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Constraints must live inside the database, not only inside the application.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04356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8948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8948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NOT NULL or CHECK rule on salary works even if data arrives from a different app.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10 is the argument against putting all validation in application code.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Rules: Distribution &amp; Non-Subversion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700784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255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7494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Independence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12550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should work the same way whether data sits in one location or many.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12550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7142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77142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bank teller queries a customer balance without caring which regional server actually stores 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0036" y="1444752"/>
            <a:ext cx="5117485" cy="3310128"/>
          </a:xfrm>
          <a:prstGeom prst="roundRect">
            <a:avLst>
              <a:gd name="adj" fmla="val 1934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4356" y="1700784"/>
            <a:ext cx="566928" cy="566928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435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99300" y="1700784"/>
            <a:ext cx="3873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Non-Subversion Rule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4356" y="2414016"/>
            <a:ext cx="4568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Low-level access must never bypass relational constraints.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04356" y="3291840"/>
            <a:ext cx="456884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8948" y="3401568"/>
            <a:ext cx="4239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68948" y="3675888"/>
            <a:ext cx="423966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backdoor process may insert duplicate primary keys by skipping normal validation rules.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8230" y="4956048"/>
            <a:ext cx="10509291" cy="713232"/>
          </a:xfrm>
          <a:prstGeom prst="roundRect">
            <a:avLst>
              <a:gd name="adj" fmla="val 8974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2" name="Image 1" descr="/home/claude/s3/icons/bulb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50" y="512064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1462" y="4956048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11 is exactly what Google Spanner and CockroachDB market themselves on today.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Modern Systems Follow These Rules Fully?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094625" cy="2615184"/>
          </a:xfrm>
          <a:prstGeom prst="roundRect">
            <a:avLst>
              <a:gd name="adj" fmla="val 2448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1719072"/>
            <a:ext cx="530352" cy="530352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Image 1" descr="/home/claude/s3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123" y="1846356"/>
            <a:ext cx="275783" cy="275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9206" y="1719072"/>
            <a:ext cx="38693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Compliance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30838" y="2395728"/>
            <a:ext cx="4509409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like Oracle, PostgreSQL, SQL Server and MySQL closely follow the relational model using tables, schemas, keys and views — but none satisfies all thirteen rules completely. Codd's rules remain the idealistic gold standard rather than a certification.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52896" y="1444752"/>
            <a:ext cx="5094625" cy="2615184"/>
          </a:xfrm>
          <a:prstGeom prst="roundRect">
            <a:avLst>
              <a:gd name="adj" fmla="val 2448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45504" y="1719072"/>
            <a:ext cx="530352" cy="53035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Image 2" descr="/home/claude/s3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788" y="1846356"/>
            <a:ext cx="275783" cy="2757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03872" y="1719072"/>
            <a:ext cx="38693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Use This in Class / Interviews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45504" y="2395728"/>
            <a:ext cx="4509409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rules as an evaluation framework — to assess design quality, justify architecture choices, and debug data-integrity issues.</a:t>
            </a:r>
            <a:endParaRPr lang="en-US" sz="1400" dirty="0"/>
          </a:p>
        </p:txBody>
      </p:sp>
      <p:pic>
        <p:nvPicPr>
          <p:cNvPr id="16" name="Image 3" descr="/home/claude/s3/icons/networ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126" y="455371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2902" y="45171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Still the benchmark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67414" y="4974336"/>
            <a:ext cx="9850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 NewSQL engines like Google Cloud Spanner and CockroachDB are judged against these same relational rules.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Beyond RDBMS: Database Innovations Industry Uses Today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550" y="1682496"/>
            <a:ext cx="493776" cy="49377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7" name="Image 1" descr="/home/claude/s3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057" y="1801002"/>
            <a:ext cx="256764" cy="2567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16054" y="1682496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NoSQL Databases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12550" y="2286000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documents, key-value and wide-column stores for huge, loosely structured data.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12550" y="3072384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· Cassandra · Redis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32767" y="144475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7087" y="1682496"/>
            <a:ext cx="493776" cy="493776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3" name="Image 2" descr="/home/claude/s3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594" y="1801002"/>
            <a:ext cx="256764" cy="256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10591" y="1682496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NewSQL / Distributed SQL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707087" y="2286000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guarantees and SQL, spread across many nodes and regions.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707087" y="3072384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Spanner · CockroachDB · TiDB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27304" y="1444752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1624" y="1682496"/>
            <a:ext cx="493776" cy="49377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Image 3" descr="/home/claude/s3/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130" y="1801002"/>
            <a:ext cx="256764" cy="2567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05128" y="1682496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Cloud-Native RDBMS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301624" y="2286000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 relational engines that scale storage and compute automatically.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01624" y="3072384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Aurora · Cloud SQL · Azure SQL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38230" y="3767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112550" y="4005072"/>
            <a:ext cx="493776" cy="493776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pic>
        <p:nvPicPr>
          <p:cNvPr id="25" name="Image 4" descr="/home/claude/s3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057" y="4123578"/>
            <a:ext cx="256764" cy="2567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16054" y="4005072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Databases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112550" y="4608576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embeddings so AI features can search by meaning, not exact match.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12550" y="5394960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Pinecone · Milvus · pgvector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432767" y="3767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7087" y="4005072"/>
            <a:ext cx="493776" cy="493776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31" name="Image 5" descr="/home/claude/s3/icons/bo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5594" y="4123578"/>
            <a:ext cx="256764" cy="2567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10591" y="4005072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Analytics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4707087" y="4608576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 analytical queries on live data within seconds of it arriving.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707087" y="5394960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ClickHouse · Druid · BigQuery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027304" y="3767328"/>
            <a:ext cx="3320217" cy="2048256"/>
          </a:xfrm>
          <a:prstGeom prst="roundRect">
            <a:avLst>
              <a:gd name="adj" fmla="val 3125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301624" y="4005072"/>
            <a:ext cx="493776" cy="493776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7" name="Image 6" descr="/home/claude/s3/icon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0130" y="4123578"/>
            <a:ext cx="256764" cy="25676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905128" y="4005072"/>
            <a:ext cx="21680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Multi-Model Engines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8301624" y="4608576"/>
            <a:ext cx="277157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engine serving relational, document, graph and key-value workloads.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8301624" y="5394960"/>
            <a:ext cx="27715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· ArangoDB · Cosmos DB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Top Companies Pick Their Database Engine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81328"/>
            <a:ext cx="2103120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6246" y="14813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41350" y="1481328"/>
            <a:ext cx="3200400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9366" y="1481328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Engine(s)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41750" y="1481328"/>
            <a:ext cx="5205771" cy="5303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9766" y="1481328"/>
            <a:ext cx="49497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Choice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8230" y="2011680"/>
            <a:ext cx="210312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6246" y="2011680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941350" y="2011680"/>
            <a:ext cx="320040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9366" y="20116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Cassandra + MySQL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41750" y="2011680"/>
            <a:ext cx="5205771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9766" y="2011680"/>
            <a:ext cx="49497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Cassandra for viewing history at global scale; MySQL for billing consistency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8230" y="2798064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6246" y="2798064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Amazon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941350" y="2798064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9366" y="2798064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+ Aurora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41750" y="2798064"/>
            <a:ext cx="5205771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9766" y="2798064"/>
            <a:ext cx="49497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DynamoDB for cart / session speed; Aurora (relational) for order &amp; payment integrity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38230" y="3584448"/>
            <a:ext cx="210312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6246" y="3584448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Uber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941350" y="3584448"/>
            <a:ext cx="320040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69366" y="3584448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(Schemaless) + PostgreSQL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41750" y="3584448"/>
            <a:ext cx="5205771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9766" y="3584448"/>
            <a:ext cx="49497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Sharded relational storage under the hood for trip &amp; payment consistency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38230" y="4370832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6246" y="4370832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PayPal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941350" y="4370832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69366" y="4370832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+ PostgreSQL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41750" y="4370832"/>
            <a:ext cx="5205771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9766" y="4370832"/>
            <a:ext cx="49497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ACID guarantees required for regulated financial transactions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38230" y="5157216"/>
            <a:ext cx="210312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6246" y="5157216"/>
            <a:ext cx="1847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Swiggy / Zomato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941350" y="5157216"/>
            <a:ext cx="3200400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69366" y="5157216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+ Redis + Elasticsearch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141750" y="5157216"/>
            <a:ext cx="5205771" cy="786384"/>
          </a:xfrm>
          <a:prstGeom prst="rect">
            <a:avLst/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69766" y="5157216"/>
            <a:ext cx="49497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core for orders, cache for speed, search for restaurant discovery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Significance of RDBMS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254600" y="2468880"/>
            <a:ext cx="1682496" cy="1682496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54600" y="2468880"/>
            <a:ext cx="1682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38230" y="148132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9398" y="1764792"/>
            <a:ext cx="512064" cy="51206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1" descr="/home/claude/s3/icons/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294" y="188768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1190" y="1645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&amp; Fintech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61190" y="19933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Accounts, transactions, audit trails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48358" y="2020824"/>
            <a:ext cx="1106241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8230" y="267004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39398" y="2953512"/>
            <a:ext cx="512064" cy="512064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5" name="Image 2" descr="/home/claude/s3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94" y="3076407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61190" y="2834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 / CRM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61190" y="31821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Employees, vendors, payroll, tickets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148358" y="3209544"/>
            <a:ext cx="1106241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8230" y="385876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39398" y="4142232"/>
            <a:ext cx="512064" cy="512064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Image 3" descr="/home/claude/s3/icons/c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294" y="426512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1190" y="4023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61190" y="437083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Catalogue, orders, payments, delivery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148358" y="4398264"/>
            <a:ext cx="1106241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37393" y="148132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38561" y="1764792"/>
            <a:ext cx="512064" cy="512064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pic>
        <p:nvPicPr>
          <p:cNvPr id="27" name="Image 4" descr="/home/claude/s3/icons/mobi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456" y="1887687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60353" y="1645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Telecom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860353" y="19933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Subscribers, plans, usage, billing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937096" y="2020824"/>
            <a:ext cx="1100298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37393" y="267004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38561" y="2953512"/>
            <a:ext cx="512064" cy="512064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33" name="Image 5" descr="/home/claude/s3/icons/hospita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1456" y="3076407"/>
            <a:ext cx="266273" cy="26627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353" y="2834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860353" y="31821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Patients, doctors, appointments, bills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937096" y="3209544"/>
            <a:ext cx="1100298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037393" y="3858768"/>
            <a:ext cx="3310128" cy="1078992"/>
          </a:xfrm>
          <a:prstGeom prst="roundRect">
            <a:avLst>
              <a:gd name="adj" fmla="val 5932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238561" y="4142232"/>
            <a:ext cx="512064" cy="51206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9" name="Image 6" descr="/home/claude/s3/icons/gra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1456" y="4265127"/>
            <a:ext cx="266273" cy="26627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860353" y="4023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EdTech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8860353" y="437083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Students, courses, attendance, fees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937096" y="4398264"/>
            <a:ext cx="1100298" cy="0"/>
          </a:xfrm>
          <a:prstGeom prst="line">
            <a:avLst/>
          </a:prstGeom>
          <a:noFill/>
          <a:ln w="19050">
            <a:solidFill>
              <a:srgbClr val="D2DCE6"/>
            </a:solidFill>
            <a:prstDash val="solid"/>
          </a:ln>
        </p:spPr>
      </p:sp>
      <p:pic>
        <p:nvPicPr>
          <p:cNvPr id="44" name="Image 7" descr="/home/claude/s3/icons/sparkles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50" y="5340096"/>
            <a:ext cx="310896" cy="31089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551462" y="5175504"/>
            <a:ext cx="95217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reason it stays central:  </a:t>
            </a: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data + consistency + transactions + reporting support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47" name="Text 37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Industry Examples 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094625" cy="4059936"/>
          </a:xfrm>
          <a:prstGeom prst="roundRect">
            <a:avLst>
              <a:gd name="adj" fmla="val 1577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444752"/>
            <a:ext cx="5094625" cy="603504"/>
          </a:xfrm>
          <a:prstGeom prst="roundRect">
            <a:avLst>
              <a:gd name="adj" fmla="val 15152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s3/icons/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1591056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3174" y="1444752"/>
            <a:ext cx="42168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Banking: UPI Transfers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30838" y="2231136"/>
            <a:ext cx="4509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130838" y="2523744"/>
            <a:ext cx="4509409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58854" y="2523744"/>
            <a:ext cx="4253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Customers, Accounts, Transactions, Loans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30838" y="3218688"/>
            <a:ext cx="4509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30838" y="3511296"/>
            <a:ext cx="450940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₹5,000 moves via UPI, one account is debited, another credited, and a log is written. If any step fails, the whole transaction rolls back — this is exactly why ACID support matters.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52896" y="1444752"/>
            <a:ext cx="5094625" cy="4059936"/>
          </a:xfrm>
          <a:prstGeom prst="roundRect">
            <a:avLst>
              <a:gd name="adj" fmla="val 1577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52896" y="1444752"/>
            <a:ext cx="5094625" cy="603504"/>
          </a:xfrm>
          <a:prstGeom prst="roundRect">
            <a:avLst>
              <a:gd name="adj" fmla="val 15152"/>
            </a:avLst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/home/claude/s3/icons/c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159105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7840" y="1444752"/>
            <a:ext cx="42168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E-Commerce: Flipkart / Amazon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45504" y="2231136"/>
            <a:ext cx="4509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545504" y="2523744"/>
            <a:ext cx="4509409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3520" y="2523744"/>
            <a:ext cx="4253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2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Customers, Products, Orders, Payments, Delivery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45504" y="3218688"/>
            <a:ext cx="4509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45504" y="3511296"/>
            <a:ext cx="450940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Buying a phone must reduce inventory, save payment, create an order and update shipping — all synchronized by the RDBMS in one transaction.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Industry Examples II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094625" cy="4059936"/>
          </a:xfrm>
          <a:prstGeom prst="roundRect">
            <a:avLst>
              <a:gd name="adj" fmla="val 1577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444752"/>
            <a:ext cx="5094625" cy="603504"/>
          </a:xfrm>
          <a:prstGeom prst="roundRect">
            <a:avLst>
              <a:gd name="adj" fmla="val 15152"/>
            </a:avLst>
          </a:prstGeom>
          <a:solidFill>
            <a:srgbClr val="C030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s3/icons/hospit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1591056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3174" y="1444752"/>
            <a:ext cx="42168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 + EdTech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112550" y="2267712"/>
            <a:ext cx="4545985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77142" y="2395728"/>
            <a:ext cx="4216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77142" y="2706624"/>
            <a:ext cx="42168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Hospital systems (Practo-style) link Patients, Doctors, Appointments, Bills &amp; Prescriptions — a wrong link can affect treatment.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112550" y="3895344"/>
            <a:ext cx="4545985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77142" y="4023360"/>
            <a:ext cx="4216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EdTech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77142" y="4334256"/>
            <a:ext cx="42168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EdTech platforms (BYJU'S-style) keep Students, Courses, Attendance, Exams &amp; Fees consistent across departments.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52896" y="1444752"/>
            <a:ext cx="5094625" cy="4059936"/>
          </a:xfrm>
          <a:prstGeom prst="roundRect">
            <a:avLst>
              <a:gd name="adj" fmla="val 1577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2896" y="1444752"/>
            <a:ext cx="5094625" cy="603504"/>
          </a:xfrm>
          <a:prstGeom prst="roundRect">
            <a:avLst>
              <a:gd name="adj" fmla="val 15152"/>
            </a:avLst>
          </a:prstGeom>
          <a:solidFill>
            <a:srgbClr val="A02B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/home/claude/s3/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15910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7840" y="1444752"/>
            <a:ext cx="42168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Telecom + Enterprise Systems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527216" y="2267712"/>
            <a:ext cx="4545985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91808" y="2395728"/>
            <a:ext cx="4216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Telecom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691808" y="2706624"/>
            <a:ext cx="42168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Telecom operators (Jio / Airtel-style) track Subscribers, Plans, Usage &amp; Billing.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27216" y="3895344"/>
            <a:ext cx="4545985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91808" y="4023360"/>
            <a:ext cx="4216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 / CRM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91808" y="4334256"/>
            <a:ext cx="42168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 and CRM platforms connect Employees, Vendors, Orders, Payroll &amp; Support tickets — relational queries drive manager dashboards and decisions.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&amp; Interview Relevance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2036424"/>
            <a:ext cx="5094625" cy="2962656"/>
          </a:xfrm>
          <a:prstGeom prst="roundRect">
            <a:avLst>
              <a:gd name="adj" fmla="val 216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838" y="2310744"/>
            <a:ext cx="530352" cy="53035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7" name="Image 1" descr="/home/claude/s3/icon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123" y="2438028"/>
            <a:ext cx="275783" cy="275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9206" y="2310744"/>
            <a:ext cx="38693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Value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30838" y="2987400"/>
            <a:ext cx="45094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Interviewers often ask: DBMS vs RDBMS, primary vs foreign key, normalization, and ACID.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30838" y="3755496"/>
            <a:ext cx="45094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developers, data analysts, QA engineers and cloud engineers all work with relational data daily.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52896" y="2036424"/>
            <a:ext cx="5094625" cy="2962656"/>
          </a:xfrm>
          <a:prstGeom prst="roundRect">
            <a:avLst>
              <a:gd name="adj" fmla="val 2160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45504" y="2310744"/>
            <a:ext cx="530352" cy="53035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3" name="Image 2" descr="/home/claude/s3/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788" y="2438028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03872" y="2310744"/>
            <a:ext cx="38693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Answer Well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45504" y="2987400"/>
            <a:ext cx="45094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prompt: "Design a library or hospital database."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63792" y="3517752"/>
            <a:ext cx="310896" cy="31089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63792" y="351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002704" y="3481176"/>
            <a:ext cx="40522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entities, keys, relationships &amp; constraints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63792" y="3974952"/>
            <a:ext cx="310896" cy="31089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63792" y="397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002704" y="3938376"/>
            <a:ext cx="40522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Mention transactions for payment, booking or stock updates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63792" y="4432152"/>
            <a:ext cx="310896" cy="31089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63792" y="443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002704" y="4395576"/>
            <a:ext cx="40522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simple, concrete examples throughout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Quiz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81328"/>
            <a:ext cx="10509291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4262" y="1655064"/>
            <a:ext cx="438912" cy="43891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4262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16054" y="1481328"/>
            <a:ext cx="93571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system uses related tables and keys: DBMS or RDBMS?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8230" y="2359152"/>
            <a:ext cx="10509291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4262" y="2532888"/>
            <a:ext cx="438912" cy="43891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4262" y="2532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16054" y="2359152"/>
            <a:ext cx="93571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of Codd's rules says every value must be reachable by table name, key &amp; column?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8230" y="3236976"/>
            <a:ext cx="10509291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4262" y="3410712"/>
            <a:ext cx="438912" cy="438912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4262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716054" y="3236976"/>
            <a:ext cx="93571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real example of a NULL value in a college database.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8230" y="4114800"/>
            <a:ext cx="10509291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4262" y="4288536"/>
            <a:ext cx="438912" cy="438912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4262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716054" y="4114800"/>
            <a:ext cx="93571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is safer for online payments: file system or RDBMS? Why?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38230" y="4992624"/>
            <a:ext cx="10509291" cy="786384"/>
          </a:xfrm>
          <a:prstGeom prst="roundRect">
            <a:avLst>
              <a:gd name="adj" fmla="val 814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4262" y="5166360"/>
            <a:ext cx="438912" cy="438912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4262" y="5166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716054" y="4992624"/>
            <a:ext cx="93571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modern industry where transactions and consistency are business-critical.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Activity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3320217" cy="2286000"/>
          </a:xfrm>
          <a:prstGeom prst="roundRect">
            <a:avLst>
              <a:gd name="adj" fmla="val 280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96587" y="1719072"/>
            <a:ext cx="603504" cy="60350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7" name="Image 1" descr="/home/claude/s3/icons/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428" y="186391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1110" y="2468880"/>
            <a:ext cx="2954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A: Banking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057686" y="2852928"/>
            <a:ext cx="28813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3 tables + keys for a UPI-style payment system.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32767" y="1444752"/>
            <a:ext cx="3320217" cy="2286000"/>
          </a:xfrm>
          <a:prstGeom prst="roundRect">
            <a:avLst>
              <a:gd name="adj" fmla="val 280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91124" y="1719072"/>
            <a:ext cx="603504" cy="603504"/>
          </a:xfrm>
          <a:prstGeom prst="ellipse">
            <a:avLst/>
          </a:prstGeom>
          <a:solidFill>
            <a:srgbClr val="C03030"/>
          </a:solidFill>
          <a:ln w="12700">
            <a:solidFill>
              <a:srgbClr val="C03030"/>
            </a:solidFill>
            <a:prstDash val="solid"/>
          </a:ln>
        </p:spPr>
      </p:sp>
      <p:pic>
        <p:nvPicPr>
          <p:cNvPr id="12" name="Image 2" descr="/home/claude/s3/icons/hospit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965" y="186391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5647" y="2468880"/>
            <a:ext cx="2954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B: Hospital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52223" y="2852928"/>
            <a:ext cx="28813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3 tables + keys for a Practo-style appointment system.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27304" y="1444752"/>
            <a:ext cx="3320217" cy="2286000"/>
          </a:xfrm>
          <a:prstGeom prst="roundRect">
            <a:avLst>
              <a:gd name="adj" fmla="val 280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385661" y="1719072"/>
            <a:ext cx="603504" cy="603504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7" name="Image 3" descr="/home/claude/s3/icons/gr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0502" y="186391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10184" y="2468880"/>
            <a:ext cx="2954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C: College ERP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46760" y="2852928"/>
            <a:ext cx="28813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3 tables + keys for student, course &amp; fee tracking.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38230" y="3968496"/>
            <a:ext cx="10509291" cy="1700784"/>
          </a:xfrm>
          <a:prstGeom prst="roundRect">
            <a:avLst>
              <a:gd name="adj" fmla="val 3763"/>
            </a:avLst>
          </a:prstGeom>
          <a:solidFill>
            <a:srgbClr val="EFF7E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149126" y="4133088"/>
            <a:ext cx="98874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1149126" y="4572000"/>
            <a:ext cx="3173913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3" name="Image 4" descr="/home/claude/s3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006" y="48646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79478" y="4572000"/>
            <a:ext cx="249725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 entities identified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505919" y="4572000"/>
            <a:ext cx="3173913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6" name="Image 5" descr="/home/claude/s3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799" y="486460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36271" y="4572000"/>
            <a:ext cx="249725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primary keys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7862712" y="4572000"/>
            <a:ext cx="3173913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29" name="Image 6" descr="/home/claude/s3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592" y="486460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93064" y="4572000"/>
            <a:ext cx="249725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least one foreign key linking tables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Summary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81328"/>
            <a:ext cx="5094625" cy="1975104"/>
          </a:xfrm>
          <a:prstGeom prst="roundRect">
            <a:avLst>
              <a:gd name="adj" fmla="val 3241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9126" y="1773936"/>
            <a:ext cx="566928" cy="56692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7" name="Image 1" descr="/home/claude/s3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189" y="1909999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4070" y="1773936"/>
            <a:ext cx="3777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149126" y="2505456"/>
            <a:ext cx="44728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Manages data, but may not strongly enforce table-based relationships.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52896" y="1481328"/>
            <a:ext cx="5094625" cy="1975104"/>
          </a:xfrm>
          <a:prstGeom prst="roundRect">
            <a:avLst>
              <a:gd name="adj" fmla="val 3241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63792" y="1773936"/>
            <a:ext cx="566928" cy="56692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Image 2" descr="/home/claude/s3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855" y="1909999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8736" y="1773936"/>
            <a:ext cx="3777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563792" y="2505456"/>
            <a:ext cx="44728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data in related tables with keys, SQL, and integrity rules.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38230" y="3749040"/>
            <a:ext cx="5094625" cy="1975104"/>
          </a:xfrm>
          <a:prstGeom prst="roundRect">
            <a:avLst>
              <a:gd name="adj" fmla="val 3241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49126" y="4041648"/>
            <a:ext cx="566928" cy="5669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7" name="Image 3" descr="/home/claude/s3/icons/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189" y="4177711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44070" y="4041648"/>
            <a:ext cx="3777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Rules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1149126" y="4773168"/>
            <a:ext cx="44728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framework to test how truly relational a system is.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52896" y="3749040"/>
            <a:ext cx="5094625" cy="1975104"/>
          </a:xfrm>
          <a:prstGeom prst="roundRect">
            <a:avLst>
              <a:gd name="adj" fmla="val 3241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63792" y="4041648"/>
            <a:ext cx="566928" cy="566928"/>
          </a:xfrm>
          <a:prstGeom prst="ellipse">
            <a:avLst/>
          </a:prstGeom>
          <a:solidFill>
            <a:srgbClr val="A02B93"/>
          </a:solidFill>
          <a:ln w="12700">
            <a:solidFill>
              <a:srgbClr val="A02B93"/>
            </a:solidFill>
            <a:prstDash val="solid"/>
          </a:ln>
        </p:spPr>
      </p:sp>
      <p:pic>
        <p:nvPicPr>
          <p:cNvPr id="22" name="Image 4" descr="/home/claude/s3/icons/briefc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855" y="4177711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58736" y="4041648"/>
            <a:ext cx="3777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Significance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6563792" y="4773168"/>
            <a:ext cx="44728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RDBMS and modern engines power consistency, scale &amp; reporting everywhere.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Supporting Materials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444752"/>
            <a:ext cx="5094625" cy="4114800"/>
          </a:xfrm>
          <a:prstGeom prst="roundRect">
            <a:avLst>
              <a:gd name="adj" fmla="val 1556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230" y="1444752"/>
            <a:ext cx="5094625" cy="585216"/>
          </a:xfrm>
          <a:prstGeom prst="roundRect">
            <a:avLst>
              <a:gd name="adj" fmla="val 15625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s3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74" y="158191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14886" y="1444752"/>
            <a:ext cx="423508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Prescribed Text Books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094262" y="2231136"/>
            <a:ext cx="4582561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8854" y="2542032"/>
            <a:ext cx="347472" cy="34747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58854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734342" y="2322576"/>
            <a:ext cx="3905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34342" y="2670048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Silberschatz, Korth &amp; Sudarshan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734342" y="2889504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Edition · McGraw-Hill, 2019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94262" y="3310128"/>
            <a:ext cx="4582561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58854" y="3621024"/>
            <a:ext cx="347472" cy="34747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58854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734342" y="3401568"/>
            <a:ext cx="3905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734342" y="3749040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Elmasri &amp; Navathe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734342" y="3968496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Edition · Pearson, 2016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94262" y="4389120"/>
            <a:ext cx="4582561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258854" y="4700016"/>
            <a:ext cx="347472" cy="34747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258854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734342" y="4480560"/>
            <a:ext cx="3905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Principles of Database and Knowledge-Base Systems, Vol. 1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734342" y="4828032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D. Ullman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734342" y="5047488"/>
            <a:ext cx="39059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Science Press, 1988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52896" y="1444752"/>
            <a:ext cx="5094625" cy="4114800"/>
          </a:xfrm>
          <a:prstGeom prst="roundRect">
            <a:avLst>
              <a:gd name="adj" fmla="val 1556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52896" y="1444752"/>
            <a:ext cx="5094625" cy="585216"/>
          </a:xfrm>
          <a:prstGeom prst="roundRect">
            <a:avLst>
              <a:gd name="adj" fmla="val 15625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2" descr="/home/claude/s3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40" y="1581912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29552" y="1444752"/>
            <a:ext cx="423508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Self-Learning Component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6527216" y="2212848"/>
            <a:ext cx="45459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NPTEL — Database Management Systems</a:t>
            </a:r>
            <a:endParaRPr lang="en-US" sz="1350" dirty="0"/>
          </a:p>
        </p:txBody>
      </p:sp>
      <p:sp>
        <p:nvSpPr>
          <p:cNvPr id="32" name="Text 27">
            <a:hlinkClick r:id="rId6"/>
          </p:cNvPr>
          <p:cNvSpPr/>
          <p:nvPr/>
        </p:nvSpPr>
        <p:spPr>
          <a:xfrm>
            <a:off x="6527216" y="2505456"/>
            <a:ext cx="45459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nptel.ac.in/courses/106105175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508928" y="2962656"/>
            <a:ext cx="4582561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710096" y="3145536"/>
            <a:ext cx="41802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PLEASE NOTE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710096" y="3493008"/>
            <a:ext cx="41802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1)  Students are expected to complete self-learning components independently.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2)  At least 5–10% of the end-term examination will be drawn from these self-learning components.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88786"/>
            <a:ext cx="12191695" cy="567660"/>
          </a:xfrm>
          <a:prstGeom prst="rect">
            <a:avLst/>
          </a:prstGeom>
          <a:solidFill>
            <a:srgbClr val="0060A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0" y="555498"/>
            <a:ext cx="105092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Reading, Links &amp; Self-Learning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8230" y="1389888"/>
            <a:ext cx="4956048" cy="512064"/>
          </a:xfrm>
          <a:prstGeom prst="roundRect">
            <a:avLst>
              <a:gd name="adj" fmla="val 17857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/home/claude/s3/icons/book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686" y="149047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8310" y="1389888"/>
            <a:ext cx="4133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Industry Reading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838230" y="2029968"/>
            <a:ext cx="4956048" cy="731520"/>
          </a:xfrm>
          <a:prstGeom prst="roundRect">
            <a:avLst>
              <a:gd name="adj" fmla="val 875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39398" y="2340864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77142" y="206654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Designing Data-Intensive Applications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277142" y="2304288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Martin Kleppmann · O'Reilly, 2017</a:t>
            </a:r>
            <a:endParaRPr lang="en-US" sz="1050" dirty="0"/>
          </a:p>
        </p:txBody>
      </p:sp>
      <p:sp>
        <p:nvSpPr>
          <p:cNvPr id="12" name="Text 8">
            <a:hlinkClick r:id="rId5"/>
          </p:cNvPr>
          <p:cNvSpPr/>
          <p:nvPr/>
        </p:nvSpPr>
        <p:spPr>
          <a:xfrm>
            <a:off x="1277142" y="2514600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dataintensive.net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8230" y="2816352"/>
            <a:ext cx="4956048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39398" y="3127248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77142" y="285292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Internals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277142" y="309067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Alex Petrov · O'Reilly, 2019</a:t>
            </a:r>
            <a:endParaRPr lang="en-US" sz="1050" dirty="0"/>
          </a:p>
        </p:txBody>
      </p:sp>
      <p:sp>
        <p:nvSpPr>
          <p:cNvPr id="17" name="Text 13">
            <a:hlinkClick r:id="rId6"/>
          </p:cNvPr>
          <p:cNvSpPr/>
          <p:nvPr/>
        </p:nvSpPr>
        <p:spPr>
          <a:xfrm>
            <a:off x="1277142" y="330098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databass.dev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38230" y="3602736"/>
            <a:ext cx="4956048" cy="731520"/>
          </a:xfrm>
          <a:prstGeom prst="roundRect">
            <a:avLst>
              <a:gd name="adj" fmla="val 875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39398" y="3913632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77142" y="363931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SQL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277142" y="387705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Alan Beaulieu · 3rd Ed., O'Reilly, 2020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277142" y="4087368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ISBN 978-1492057611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38230" y="4389120"/>
            <a:ext cx="4956048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39398" y="4700016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277142" y="44256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in 10 Minutes a Day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277142" y="4663440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 Forta · 5th Ed., Pearson, 2019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277142" y="4873752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ISBN 978-0135182794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38230" y="5175504"/>
            <a:ext cx="4956048" cy="731520"/>
          </a:xfrm>
          <a:prstGeom prst="roundRect">
            <a:avLst>
              <a:gd name="adj" fmla="val 8750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39398" y="5486400"/>
            <a:ext cx="109728" cy="10972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77142" y="521208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MongoDB: The Definitive Guide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277142" y="5449824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Bradshaw, Brazil &amp; Chodorow · 3rd Ed., 2019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277142" y="566013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ISBN 978-1491954461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114318" y="1389888"/>
            <a:ext cx="5233203" cy="512064"/>
          </a:xfrm>
          <a:prstGeom prst="roundRect">
            <a:avLst>
              <a:gd name="adj" fmla="val 17857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2" descr="/home/claude/s3/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774" y="1490472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54398" y="1389888"/>
            <a:ext cx="44102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Resources &amp; Documentation</a:t>
            </a:r>
            <a:endParaRPr lang="en-US" sz="1550" dirty="0"/>
          </a:p>
        </p:txBody>
      </p:sp>
      <p:sp>
        <p:nvSpPr>
          <p:cNvPr id="36" name="Shape 31"/>
          <p:cNvSpPr/>
          <p:nvPr/>
        </p:nvSpPr>
        <p:spPr>
          <a:xfrm>
            <a:off x="6114318" y="2029968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37" name="Image 3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2167128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608094" y="2029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NPTEL — Database Management Systems</a:t>
            </a:r>
            <a:endParaRPr lang="en-US" sz="1150" dirty="0"/>
          </a:p>
        </p:txBody>
      </p:sp>
      <p:sp>
        <p:nvSpPr>
          <p:cNvPr id="39" name="Text 33">
            <a:hlinkClick r:id="rId9"/>
          </p:cNvPr>
          <p:cNvSpPr/>
          <p:nvPr/>
        </p:nvSpPr>
        <p:spPr>
          <a:xfrm>
            <a:off x="9369582" y="2029968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nptel.ac.in/courses/106105175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114318" y="2551176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41" name="Image 4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2688336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608094" y="25511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Codd's original 1970 paper (ACM)</a:t>
            </a:r>
            <a:endParaRPr lang="en-US" sz="1150" dirty="0"/>
          </a:p>
        </p:txBody>
      </p:sp>
      <p:sp>
        <p:nvSpPr>
          <p:cNvPr id="43" name="Text 36">
            <a:hlinkClick r:id="rId10"/>
          </p:cNvPr>
          <p:cNvSpPr/>
          <p:nvPr/>
        </p:nvSpPr>
        <p:spPr>
          <a:xfrm>
            <a:off x="9369582" y="2551176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dl.acm.org/doi/10.1145/362384.362685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114318" y="3072384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45" name="Image 5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3209544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08094" y="30723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official documentation</a:t>
            </a:r>
            <a:endParaRPr lang="en-US" sz="1150" dirty="0"/>
          </a:p>
        </p:txBody>
      </p:sp>
      <p:sp>
        <p:nvSpPr>
          <p:cNvPr id="47" name="Text 39">
            <a:hlinkClick r:id="rId11"/>
          </p:cNvPr>
          <p:cNvSpPr/>
          <p:nvPr/>
        </p:nvSpPr>
        <p:spPr>
          <a:xfrm>
            <a:off x="9369582" y="3072384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postgresql.org/docs/current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114318" y="3593592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49" name="Image 6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3730752"/>
            <a:ext cx="201168" cy="20116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608094" y="3593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8.4 reference manual</a:t>
            </a:r>
            <a:endParaRPr lang="en-US" sz="1150" dirty="0"/>
          </a:p>
        </p:txBody>
      </p:sp>
      <p:sp>
        <p:nvSpPr>
          <p:cNvPr id="51" name="Text 42">
            <a:hlinkClick r:id="rId12"/>
          </p:cNvPr>
          <p:cNvSpPr/>
          <p:nvPr/>
        </p:nvSpPr>
        <p:spPr>
          <a:xfrm>
            <a:off x="9369582" y="3593592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dev.mysql.com/doc/refman/8.4/en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114318" y="4114800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53" name="Image 7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4251960"/>
            <a:ext cx="201168" cy="20116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608094" y="4114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Amazon Aurora user guide</a:t>
            </a:r>
            <a:endParaRPr lang="en-US" sz="1150" dirty="0"/>
          </a:p>
        </p:txBody>
      </p:sp>
      <p:sp>
        <p:nvSpPr>
          <p:cNvPr id="55" name="Text 45">
            <a:hlinkClick r:id="rId13"/>
          </p:cNvPr>
          <p:cNvSpPr/>
          <p:nvPr/>
        </p:nvSpPr>
        <p:spPr>
          <a:xfrm>
            <a:off x="9369582" y="4114800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docs.aws.amazon.com — Aurora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114318" y="4636008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57" name="Image 8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4773168"/>
            <a:ext cx="201168" cy="20116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608094" y="46360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Cloud Spanner documentation</a:t>
            </a:r>
            <a:endParaRPr lang="en-US" sz="1150" dirty="0"/>
          </a:p>
        </p:txBody>
      </p:sp>
      <p:sp>
        <p:nvSpPr>
          <p:cNvPr id="59" name="Text 48">
            <a:hlinkClick r:id="rId14"/>
          </p:cNvPr>
          <p:cNvSpPr/>
          <p:nvPr/>
        </p:nvSpPr>
        <p:spPr>
          <a:xfrm>
            <a:off x="9369582" y="4636008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cloud.google.com/spanner/docs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114318" y="5157216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E8F2F8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61" name="Image 9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5294376"/>
            <a:ext cx="201168" cy="201168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608094" y="51572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CockroachDB documentation</a:t>
            </a:r>
            <a:endParaRPr lang="en-US" sz="1150" dirty="0"/>
          </a:p>
        </p:txBody>
      </p:sp>
      <p:sp>
        <p:nvSpPr>
          <p:cNvPr id="63" name="Text 51">
            <a:hlinkClick r:id="rId15"/>
          </p:cNvPr>
          <p:cNvSpPr/>
          <p:nvPr/>
        </p:nvSpPr>
        <p:spPr>
          <a:xfrm>
            <a:off x="9369582" y="5157216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cockroachlabs.com/docs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6114318" y="5678424"/>
            <a:ext cx="5233203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pic>
        <p:nvPicPr>
          <p:cNvPr id="65" name="Image 10" descr="/home/claude/s3/icons/lin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198" y="5815584"/>
            <a:ext cx="201168" cy="20116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6608094" y="5678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University — free courses</a:t>
            </a:r>
            <a:endParaRPr lang="en-US" sz="1150" dirty="0"/>
          </a:p>
        </p:txBody>
      </p:sp>
      <p:sp>
        <p:nvSpPr>
          <p:cNvPr id="67" name="Text 54">
            <a:hlinkClick r:id="rId16"/>
          </p:cNvPr>
          <p:cNvSpPr/>
          <p:nvPr/>
        </p:nvSpPr>
        <p:spPr>
          <a:xfrm>
            <a:off x="9369582" y="5678424"/>
            <a:ext cx="17950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learn.mongodb.com</a:t>
            </a:r>
            <a:endParaRPr lang="en-US" sz="1000" dirty="0"/>
          </a:p>
        </p:txBody>
      </p:sp>
      <p:sp>
        <p:nvSpPr>
          <p:cNvPr id="68" name="Text 55"/>
          <p:cNvSpPr/>
          <p:nvPr/>
        </p:nvSpPr>
        <p:spPr>
          <a:xfrm>
            <a:off x="838230" y="6288786"/>
            <a:ext cx="859536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   |   Database Management Systems   |   K. R. Mangalam University</a:t>
            </a:r>
            <a:endParaRPr lang="en-US" sz="1050" dirty="0"/>
          </a:p>
        </p:txBody>
      </p:sp>
      <p:sp>
        <p:nvSpPr>
          <p:cNvPr id="69" name="Text 56"/>
          <p:cNvSpPr/>
          <p:nvPr/>
        </p:nvSpPr>
        <p:spPr>
          <a:xfrm>
            <a:off x="10433121" y="6288786"/>
            <a:ext cx="914400" cy="56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s3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949" y="239756"/>
            <a:ext cx="1697492" cy="3158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67248" y="1481328"/>
            <a:ext cx="822960" cy="82296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Image 1" descr="/home/claude/s3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58" y="1678838"/>
            <a:ext cx="427939" cy="4279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8230" y="2487168"/>
            <a:ext cx="105092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38230" y="3291840"/>
            <a:ext cx="10509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vs RDBMS, Codd's 12 Rules &amp; Industry Significance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743200" y="4041648"/>
            <a:ext cx="6705295" cy="1371600"/>
          </a:xfrm>
          <a:prstGeom prst="roundRect">
            <a:avLst>
              <a:gd name="adj" fmla="val 5333"/>
            </a:avLst>
          </a:prstGeom>
          <a:solidFill>
            <a:srgbClr val="1E3040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0" y="420624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EXIT TICKET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17520" y="4553712"/>
            <a:ext cx="6156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one sentence, explain why a food-delivery or payments platform needs an RDBMS.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30" y="5760720"/>
            <a:ext cx="10509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9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 of Engineering &amp; Technology  ·  K. R. Mangalam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4064</Words>
  <Application>Microsoft Office PowerPoint</Application>
  <PresentationFormat>Widescreen</PresentationFormat>
  <Paragraphs>581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Courier New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K. R. Mangalam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— Session 3</dc:title>
  <dc:subject>DBMS vs RDBMS, Codd's 12 Rules &amp; Industry Significance</dc:subject>
  <dc:creator>School of Engineering &amp; Technology, K. R. Mangalam University</dc:creator>
  <cp:lastModifiedBy>Mansi Kajal-Assistant Professor SOET</cp:lastModifiedBy>
  <cp:revision>5</cp:revision>
  <dcterms:created xsi:type="dcterms:W3CDTF">2026-08-01T05:18:12Z</dcterms:created>
  <dcterms:modified xsi:type="dcterms:W3CDTF">2026-08-01T05:54:46Z</dcterms:modified>
</cp:coreProperties>
</file>