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1" autoAdjust="0"/>
    <p:restoredTop sz="94610"/>
  </p:normalViewPr>
  <p:slideViewPr>
    <p:cSldViewPr snapToGrid="0" snapToObjects="1">
      <p:cViewPr>
        <p:scale>
          <a:sx n="92" d="100"/>
          <a:sy n="92" d="100"/>
        </p:scale>
        <p:origin x="106" y="-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014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6 of the DBMS course. Today: the Extended ER (EER) model. Every idea answers one question — how do we model what a single entity rectangle cannot? Keep theory light; anchor each concept to a system the students already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to three minutes. Put a basic ER diagram from Session 5 back on screen and ask the three questions. Expected: no, one rectangle cannot; the is-a hierarchy has no notation yet; and a relationship cannot currently take part in another relationship. Do not resolve them — today's session answers all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map to CO2 — modelling data for a given application. Bloom's Level 3 (Apply): students must draw an EER diagram themselves and justify each constraint, not merely name the 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(1) Bottom-up and top-down produce the same ISA hierarchy; only the order of discovery differs, which is why exam questions ask which direction was used. (2) Schema reviews reject subclasses that add nothing — a subclass needs its own attribute or its own rule. (3) Aggregation exists precisely because a plain relationship cannot itself be an endpoint of another relationship.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concrete failures of basic ER, each pointing at the EER tool that fixes it. Do not define the three tools yet — the next slides do that. The point here is that EER is not extra notation for its own sake; every symbol answers a modelling problem you can state in one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Bottom-up. Start from what already exists — UPI, Card, Wallet all record a transaction id, an amount and a status. Lift the common three into Payment_Method and leave only the distinctive fields below: VPA for UPI, card network and last-4 for Card, provider for Wallet. The d inside the triangle marks the subclasses disjoint.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Top-down. Account alone is too broad to express the rules the bank actually enforces. Interest_Rate belongs only to Savings, Overdraft_Limit only to Current, while Acc_No and Balance stay on the superclass and are inherited by both. Ask the class which other subclass a bank might add — Salary, NRI, Fixed Deposit.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common exam question on EER. The finished diagram looks identical either way; what differs is whether the designer started from the subclasses or from the superclass. Give them the rule of thumb: which way is the arrow moving — up to combine, or down to divide?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the two questions are independent: a hierarchy can be disjoint-and-total, disjoint-and-partial, overlap-and-total, or overlap-and-partial. Work the university example aloud — Person to Student or Employee is overlap, because a research scholar is both; whether it is total depends on whether campus visitors are stored as Persons.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this one out loud. Read the double line as 'every vehicle in the fleet must be one of these three types' and the d as 'and never two at once'. Ask what would change if Uber added a hybrid category that is both Car and Truck — the d would become an 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move: Manager is not linked to Employee alone or Project alone, but to the Works_On relationship treated as a single object. Draw the dashed box on the board first, then attach Monitors to the box rather than to either rectangle. Insurance claim review has exactly this shape — an auditor approves the Treats(Doctor, Patient)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category differs from a subclass: a subclass has ONE superclass, a category draws its members from the UNION of several. The giveaway phrase in a requirement is 'OR' — a payee can be a person or a merchant or a government body. Library systems like Koha and UPI's payee model both use this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ideas share this slide because they combine in real schemas. Dependent has no key of its own and borrows Emp_ID from Employee. Separately, Employee specializes into Faculty and Staff, and both inherit Emp_ID — so a dependent can hang off either without changing the identification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minutes. Circulate while they draw. Errors to watch for: marking the hierarchy disjoint when research scholars exist; attaching the audit to Student or Course instead of to the aggregated registration; and forgetting to write d or o inside the triangle at all. Fast finishers: add Library_Member as a category over Student, Faculty and Alumnus.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EER directly to code they will write. A Django model with a parent class and two child classes IS a specialization hierarchy, and Django's three inheritance strategies are the three classic ways of mapping ISA to tables. That mapping is the bridge from this session to their web-development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no single right answer, which is the point — it depends on the business rule Netflix chooses. A stand-up special is arguably both a Movie and a Documentary, which pushes towards overlap; a docuseries sits between Series and Documentary. Total or partial depends on whether every catalogue item must have a type. Reward students who name a title that breaks their own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(1) FALSE — it is generalization, because the design moved bottom-up from three specific classes to one general class. (2) TRUE — that is exactly what the o inside the triangle means. (3) TRUE — this is what separates a category from an ordinary subclass, which has only one superclass. Link answer 1 back to the comparison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in three minutes and close the loop on the three opening questions: one rectangle cannot hold Amazon's catalogue, ISA gives us the is-a hierarchy, and aggregation lets a relationship join another relationship. Reading: TB1 Chapter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 on a slip. Question 1 checks the direction rule. Question 2 is the Level-3 check — look for 'when a relationship itself must take part in another relationship'. Question 3 tests transfer. Read the slips before Session 7 and open with the most common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TB1 is the primary text for this course; EER concepts sit in Chapter 8 of Silberschatz and Chapter 4 of Elmasri &amp; Navathe. Edition numbers should be re-checked against the library catalogue each semester before the deck is issued.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Django and PostgreSQL links are deliberately included — they show EER hierarchies as working code and settle the recurring question of whether any of this is used in practice. NPTEL remains the formal self-learning component and carries exam weight.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home challenge and reminding students the exit-ticket slips are collected on the way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www.pearson.com/en-us/subject-catalog/p/introduction-to-database-systems-an/P200000003398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ages.cs.wisc.edu/~dbbook/" TargetMode="External"/><Relationship Id="rId5" Type="http://schemas.openxmlformats.org/officeDocument/2006/relationships/hyperlink" Target="https://www.pearson.com/en-us/subject-catalog/p/fundamentals-of-database-systems/P200000003546" TargetMode="External"/><Relationship Id="rId4" Type="http://schemas.openxmlformats.org/officeDocument/2006/relationships/hyperlink" Target="https://www.db-book.com" TargetMode="Externa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djangoproject.com/en/stable/topics/db/models/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onlinecourses.nptel.ac.in/noc22_cs91/preview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v.mysql.com/doc/workbench/en/" TargetMode="External"/><Relationship Id="rId5" Type="http://schemas.openxmlformats.org/officeDocument/2006/relationships/hyperlink" Target="https://app.diagrams.net" TargetMode="External"/><Relationship Id="rId4" Type="http://schemas.openxmlformats.org/officeDocument/2006/relationships/hyperlink" Target="https://dbdiagram.io" TargetMode="External"/><Relationship Id="rId9" Type="http://schemas.openxmlformats.org/officeDocument/2006/relationships/hyperlink" Target="https://www.postgresql.org/docs/current/tutorial-inheritance.html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060AA"/>
          </a:solidFill>
          <a:ln/>
        </p:spPr>
      </p:sp>
      <p:pic>
        <p:nvPicPr>
          <p:cNvPr id="3" name="Image 0" descr="assets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237744"/>
            <a:ext cx="1737360" cy="2505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1783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E971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6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41248" y="2121408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ER Model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841248" y="301752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Generalization  ·  Specialization  ·  Aggregation  ·  Category Types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41248" y="340156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Amazon, Uber and Razorpay model what one rectangle cannot hold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41248" y="3968496"/>
            <a:ext cx="1371600" cy="27432"/>
          </a:xfrm>
          <a:prstGeom prst="rect">
            <a:avLst/>
          </a:prstGeom>
          <a:solidFill>
            <a:srgbClr val="D2DCE6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42062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Ms. Mansi  ·  Dr. Rishika  ·  Ms. Megha Sharma  ·  Dr. Reenu</a:t>
            </a:r>
            <a:endParaRPr lang="en-US" sz="12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Swati  ·  Dr. Neha Kaushik  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41248" y="4919472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Faculty, School of Engineering &amp; Technology (SOET)</a:t>
            </a:r>
            <a:endParaRPr lang="en-US" sz="11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K. R. Mangalam University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060AA"/>
          </a:solidFill>
          <a:ln/>
        </p:spPr>
      </p:sp>
      <p:pic>
        <p:nvPicPr>
          <p:cNvPr id="3" name="Image 0" descr="assets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237744"/>
            <a:ext cx="1737360" cy="2505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548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Prior Knowledge Activation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41248" y="12984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Last session you drew diagrams built from these four pieces: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41248" y="178308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1E3040"/>
          </a:solidFill>
          <a:ln/>
        </p:spPr>
      </p:sp>
      <p:sp>
        <p:nvSpPr>
          <p:cNvPr id="7" name="Text 4"/>
          <p:cNvSpPr/>
          <p:nvPr/>
        </p:nvSpPr>
        <p:spPr>
          <a:xfrm>
            <a:off x="1252728" y="178308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  ▭         Attribute  ⬭         Relationship  ◇         Key  ___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41248" y="3108960"/>
            <a:ext cx="334670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" y="3108960"/>
            <a:ext cx="109728" cy="16002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0" name="Shape 7"/>
          <p:cNvSpPr/>
          <p:nvPr/>
        </p:nvSpPr>
        <p:spPr>
          <a:xfrm>
            <a:off x="1225296" y="3355848"/>
            <a:ext cx="402336" cy="402336"/>
          </a:xfrm>
          <a:prstGeom prst="ellipse">
            <a:avLst/>
          </a:prstGeom>
          <a:solidFill>
            <a:srgbClr val="156082"/>
          </a:solidFill>
          <a:ln/>
        </p:spPr>
      </p:sp>
      <p:sp>
        <p:nvSpPr>
          <p:cNvPr id="11" name="Text 8"/>
          <p:cNvSpPr/>
          <p:nvPr/>
        </p:nvSpPr>
        <p:spPr>
          <a:xfrm>
            <a:off x="1225296" y="3355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25296" y="3877056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one Product rectangle hold books, phones and groceries?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425696" y="3108960"/>
            <a:ext cx="334670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25696" y="3108960"/>
            <a:ext cx="109728" cy="1600200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15" name="Shape 12"/>
          <p:cNvSpPr/>
          <p:nvPr/>
        </p:nvSpPr>
        <p:spPr>
          <a:xfrm>
            <a:off x="4809744" y="3355848"/>
            <a:ext cx="402336" cy="402336"/>
          </a:xfrm>
          <a:prstGeom prst="ellipse">
            <a:avLst/>
          </a:prstGeom>
          <a:solidFill>
            <a:srgbClr val="E97132"/>
          </a:solidFill>
          <a:ln/>
        </p:spPr>
      </p:sp>
      <p:sp>
        <p:nvSpPr>
          <p:cNvPr id="16" name="Text 13"/>
          <p:cNvSpPr/>
          <p:nvPr/>
        </p:nvSpPr>
        <p:spPr>
          <a:xfrm>
            <a:off x="4809744" y="3355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809744" y="3877056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 we draw “a Car is a Vehicle”?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010144" y="3108960"/>
            <a:ext cx="334670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10144" y="3108960"/>
            <a:ext cx="109728" cy="1600200"/>
          </a:xfrm>
          <a:prstGeom prst="rect">
            <a:avLst/>
          </a:prstGeom>
          <a:solidFill>
            <a:srgbClr val="196B24"/>
          </a:solidFill>
          <a:ln/>
        </p:spPr>
      </p:sp>
      <p:sp>
        <p:nvSpPr>
          <p:cNvPr id="20" name="Shape 17"/>
          <p:cNvSpPr/>
          <p:nvPr/>
        </p:nvSpPr>
        <p:spPr>
          <a:xfrm>
            <a:off x="8394192" y="3355848"/>
            <a:ext cx="402336" cy="402336"/>
          </a:xfrm>
          <a:prstGeom prst="ellipse">
            <a:avLst/>
          </a:prstGeom>
          <a:solidFill>
            <a:srgbClr val="196B24"/>
          </a:solidFill>
          <a:ln/>
        </p:spPr>
      </p:sp>
      <p:sp>
        <p:nvSpPr>
          <p:cNvPr id="21" name="Text 18"/>
          <p:cNvSpPr/>
          <p:nvPr/>
        </p:nvSpPr>
        <p:spPr>
          <a:xfrm>
            <a:off x="8394192" y="3355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394192" y="3877056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a relationship join another relationship?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060AA"/>
          </a:solidFill>
          <a:ln/>
        </p:spPr>
      </p:sp>
      <p:pic>
        <p:nvPicPr>
          <p:cNvPr id="3" name="Image 0" descr="assets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237744"/>
            <a:ext cx="1737360" cy="2505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548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Outcomes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41248" y="12984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 the end of this session you will be able to: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41248" y="187452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874520"/>
            <a:ext cx="109728" cy="86868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Shape 5"/>
          <p:cNvSpPr/>
          <p:nvPr/>
        </p:nvSpPr>
        <p:spPr>
          <a:xfrm>
            <a:off x="1225296" y="2103120"/>
            <a:ext cx="411480" cy="411480"/>
          </a:xfrm>
          <a:prstGeom prst="ellipse">
            <a:avLst/>
          </a:prstGeom>
          <a:solidFill>
            <a:srgbClr val="156082"/>
          </a:solidFill>
          <a:ln/>
        </p:spPr>
      </p:sp>
      <p:sp>
        <p:nvSpPr>
          <p:cNvPr id="9" name="Text 6"/>
          <p:cNvSpPr/>
          <p:nvPr/>
        </p:nvSpPr>
        <p:spPr>
          <a:xfrm>
            <a:off x="1225296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892808" y="2002536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Distinguish generalization from specialization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892808" y="235000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 say which direction the design moved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41248" y="292608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41248" y="2926080"/>
            <a:ext cx="109728" cy="868680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14" name="Shape 11"/>
          <p:cNvSpPr/>
          <p:nvPr/>
        </p:nvSpPr>
        <p:spPr>
          <a:xfrm>
            <a:off x="1225296" y="3154680"/>
            <a:ext cx="411480" cy="411480"/>
          </a:xfrm>
          <a:prstGeom prst="ellipse">
            <a:avLst/>
          </a:prstGeom>
          <a:solidFill>
            <a:srgbClr val="E97132"/>
          </a:solidFill>
          <a:ln/>
        </p:spPr>
      </p:sp>
      <p:sp>
        <p:nvSpPr>
          <p:cNvPr id="15" name="Text 12"/>
          <p:cNvSpPr/>
          <p:nvPr/>
        </p:nvSpPr>
        <p:spPr>
          <a:xfrm>
            <a:off x="1225296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892808" y="3054096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disjoint / overlap and total / partial constraints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892808" y="340156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reading them straight from a business rule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41248" y="397764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1248" y="3977640"/>
            <a:ext cx="109728" cy="868680"/>
          </a:xfrm>
          <a:prstGeom prst="rect">
            <a:avLst/>
          </a:prstGeom>
          <a:solidFill>
            <a:srgbClr val="196B24"/>
          </a:solidFill>
          <a:ln/>
        </p:spPr>
      </p:sp>
      <p:sp>
        <p:nvSpPr>
          <p:cNvPr id="20" name="Shape 17"/>
          <p:cNvSpPr/>
          <p:nvPr/>
        </p:nvSpPr>
        <p:spPr>
          <a:xfrm>
            <a:off x="1225296" y="4206240"/>
            <a:ext cx="411480" cy="411480"/>
          </a:xfrm>
          <a:prstGeom prst="ellipse">
            <a:avLst/>
          </a:prstGeom>
          <a:solidFill>
            <a:srgbClr val="196B24"/>
          </a:solidFill>
          <a:ln/>
        </p:spPr>
      </p:sp>
      <p:sp>
        <p:nvSpPr>
          <p:cNvPr id="21" name="Text 18"/>
          <p:cNvSpPr/>
          <p:nvPr/>
        </p:nvSpPr>
        <p:spPr>
          <a:xfrm>
            <a:off x="1225296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892808" y="4105656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Draw EER diagrams using ISA, aggregation and categories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1892808" y="445312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a real platform of your choice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41248" y="5212080"/>
            <a:ext cx="2926080" cy="475488"/>
          </a:xfrm>
          <a:prstGeom prst="roundRect">
            <a:avLst>
              <a:gd name="adj" fmla="val 38462"/>
            </a:avLst>
          </a:prstGeom>
          <a:solidFill>
            <a:srgbClr val="E8F2F8"/>
          </a:solidFill>
          <a:ln/>
        </p:spPr>
      </p:sp>
      <p:sp>
        <p:nvSpPr>
          <p:cNvPr id="25" name="Text 22"/>
          <p:cNvSpPr/>
          <p:nvPr/>
        </p:nvSpPr>
        <p:spPr>
          <a:xfrm>
            <a:off x="841248" y="521208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CO2   |   Bloom's L3 (Apply)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060AA"/>
          </a:solidFill>
          <a:ln/>
        </p:spPr>
      </p:sp>
      <p:pic>
        <p:nvPicPr>
          <p:cNvPr id="3" name="Image 0" descr="assets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237744"/>
            <a:ext cx="1737360" cy="2505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548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Common Misconceptions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115568" y="15727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✗   Myth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601968" y="15727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96B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  Fact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41248" y="210312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FDF0F0"/>
          </a:solidFill>
          <a:ln w="12700">
            <a:solidFill>
              <a:srgbClr val="F3D9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61288" y="21031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Generalization and specialization are opposites in result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27648" y="210312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EFF7EF"/>
          </a:solidFill>
          <a:ln w="12700">
            <a:solidFill>
              <a:srgbClr val="D6E8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47688" y="21031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hierarchy — only the design direction differs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870448" y="21031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41248" y="320040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FDF0F0"/>
          </a:solidFill>
          <a:ln w="12700">
            <a:solidFill>
              <a:srgbClr val="F3D9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61288" y="320040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subclass may be created whenever it seems tidy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327648" y="320040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EFF7EF"/>
          </a:solidFill>
          <a:ln w="12700">
            <a:solidFill>
              <a:srgbClr val="D6E8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47688" y="320040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subclass must earn its place with an attribute or rule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870448" y="32004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41248" y="429768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FDF0F0"/>
          </a:solidFill>
          <a:ln w="12700">
            <a:solidFill>
              <a:srgbClr val="F3D9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61288" y="429768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Aggregation is just another relationship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327648" y="429768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EFF7EF"/>
          </a:solidFill>
          <a:ln w="12700">
            <a:solidFill>
              <a:srgbClr val="D6E8D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47688" y="429768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turns a relationship into an object other links can reach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870448" y="429768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060AA"/>
          </a:solidFill>
          <a:ln/>
        </p:spPr>
      </p:sp>
      <p:pic>
        <p:nvPicPr>
          <p:cNvPr id="3" name="Image 0" descr="assets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237744"/>
            <a:ext cx="1737360" cy="2505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548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Basic ER Falls Short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41248" y="1737360"/>
            <a:ext cx="3346704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41248" y="1737360"/>
            <a:ext cx="3346704" cy="10972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7" name="Text 4"/>
          <p:cNvSpPr/>
          <p:nvPr/>
        </p:nvSpPr>
        <p:spPr>
          <a:xfrm>
            <a:off x="1115568" y="2029968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Shared attributes repeat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115568" y="2743200"/>
            <a:ext cx="2798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Car, Bus and Truck each store Reg_No, Colour, Owner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15568" y="3822192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solved by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115568" y="4096512"/>
            <a:ext cx="2798064" cy="548640"/>
          </a:xfrm>
          <a:prstGeom prst="roundRect">
            <a:avLst>
              <a:gd name="adj" fmla="val 20000"/>
            </a:avLst>
          </a:prstGeom>
          <a:solidFill>
            <a:srgbClr val="E8F2F8"/>
          </a:solidFill>
          <a:ln/>
        </p:spPr>
      </p:sp>
      <p:sp>
        <p:nvSpPr>
          <p:cNvPr id="11" name="Text 8"/>
          <p:cNvSpPr/>
          <p:nvPr/>
        </p:nvSpPr>
        <p:spPr>
          <a:xfrm>
            <a:off x="1115568" y="4096512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Generalization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425696" y="1737360"/>
            <a:ext cx="3346704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25696" y="1737360"/>
            <a:ext cx="3346704" cy="109728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14" name="Text 11"/>
          <p:cNvSpPr/>
          <p:nvPr/>
        </p:nvSpPr>
        <p:spPr>
          <a:xfrm>
            <a:off x="4700016" y="2029968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Subclasses need own rules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4700016" y="2743200"/>
            <a:ext cx="2798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a savings account earns interest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00016" y="3822192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solved by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700016" y="4096512"/>
            <a:ext cx="2798064" cy="548640"/>
          </a:xfrm>
          <a:prstGeom prst="roundRect">
            <a:avLst>
              <a:gd name="adj" fmla="val 20000"/>
            </a:avLst>
          </a:prstGeom>
          <a:solidFill>
            <a:srgbClr val="E8F2F8"/>
          </a:solidFill>
          <a:ln/>
        </p:spPr>
      </p:sp>
      <p:sp>
        <p:nvSpPr>
          <p:cNvPr id="18" name="Text 15"/>
          <p:cNvSpPr/>
          <p:nvPr/>
        </p:nvSpPr>
        <p:spPr>
          <a:xfrm>
            <a:off x="4700016" y="4096512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71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Specialization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010144" y="1737360"/>
            <a:ext cx="3346704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10144" y="1737360"/>
            <a:ext cx="3346704" cy="109728"/>
          </a:xfrm>
          <a:prstGeom prst="rect">
            <a:avLst/>
          </a:prstGeom>
          <a:solidFill>
            <a:srgbClr val="196B24"/>
          </a:solidFill>
          <a:ln/>
        </p:spPr>
      </p:sp>
      <p:sp>
        <p:nvSpPr>
          <p:cNvPr id="21" name="Text 18"/>
          <p:cNvSpPr/>
          <p:nvPr/>
        </p:nvSpPr>
        <p:spPr>
          <a:xfrm>
            <a:off x="8284464" y="2029968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relationship must be an object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8284464" y="2743200"/>
            <a:ext cx="2798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manager reviews an employee–project assignment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284464" y="3822192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solved by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284464" y="4096512"/>
            <a:ext cx="2798064" cy="548640"/>
          </a:xfrm>
          <a:prstGeom prst="roundRect">
            <a:avLst>
              <a:gd name="adj" fmla="val 20000"/>
            </a:avLst>
          </a:prstGeom>
          <a:solidFill>
            <a:srgbClr val="E8F2F8"/>
          </a:solidFill>
          <a:ln/>
        </p:spPr>
      </p:sp>
      <p:sp>
        <p:nvSpPr>
          <p:cNvPr id="25" name="Text 22"/>
          <p:cNvSpPr/>
          <p:nvPr/>
        </p:nvSpPr>
        <p:spPr>
          <a:xfrm>
            <a:off x="8284464" y="4096512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6B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Aggregation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41248" y="5303520"/>
            <a:ext cx="10515600" cy="566928"/>
          </a:xfrm>
          <a:prstGeom prst="roundRect">
            <a:avLst>
              <a:gd name="adj" fmla="val 16129"/>
            </a:avLst>
          </a:prstGeom>
          <a:solidFill>
            <a:srgbClr val="E8F2F8"/>
          </a:solidFill>
          <a:ln/>
        </p:spPr>
      </p:sp>
      <p:sp>
        <p:nvSpPr>
          <p:cNvPr id="27" name="Text 24"/>
          <p:cNvSpPr/>
          <p:nvPr/>
        </p:nvSpPr>
        <p:spPr>
          <a:xfrm>
            <a:off x="1161288" y="530352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Amazon models Product once, then specializes it into Book, Electronics and Grocery — each with its own attributes.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060AA"/>
          </a:solidFill>
          <a:ln/>
        </p:spPr>
      </p:sp>
      <p:pic>
        <p:nvPicPr>
          <p:cNvPr id="3" name="Image 0" descr="assets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237744"/>
            <a:ext cx="1737360" cy="2505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548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Generalization: Bottom-Up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41248" y="12984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Several entity sets share structure — lift it into one superclass.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41248" y="178308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783080"/>
            <a:ext cx="109728" cy="96012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5"/>
          <p:cNvSpPr/>
          <p:nvPr/>
        </p:nvSpPr>
        <p:spPr>
          <a:xfrm>
            <a:off x="1188720" y="19019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Direction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88720" y="22128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many specific classes  →  one general class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1248" y="288036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" y="2880360"/>
            <a:ext cx="109728" cy="960120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12" name="Text 9"/>
          <p:cNvSpPr/>
          <p:nvPr/>
        </p:nvSpPr>
        <p:spPr>
          <a:xfrm>
            <a:off x="1188720" y="29992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971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Goal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88720" y="33101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shared attributes exactly once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41248" y="4023360"/>
            <a:ext cx="4754880" cy="731520"/>
          </a:xfrm>
          <a:prstGeom prst="roundRect">
            <a:avLst>
              <a:gd name="adj" fmla="val 15000"/>
            </a:avLst>
          </a:prstGeom>
          <a:solidFill>
            <a:srgbClr val="1E3040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40233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F2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GeneraLization  =  cLimb up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44768" y="178308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64808" y="1938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Razorpay checkout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744968" y="2359152"/>
            <a:ext cx="2057400" cy="603504"/>
          </a:xfrm>
          <a:prstGeom prst="rect">
            <a:avLst/>
          </a:prstGeom>
          <a:solidFill>
            <a:srgbClr val="FFFFFF"/>
          </a:solidFill>
          <a:ln w="22225">
            <a:solidFill>
              <a:srgbClr val="0E284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44968" y="2359152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Payment_Method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744968" y="2962656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superclass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485632" y="3255264"/>
            <a:ext cx="566928" cy="475488"/>
          </a:xfrm>
          <a:prstGeom prst="triangle">
            <a:avLst/>
          </a:prstGeom>
          <a:solidFill>
            <a:srgbClr val="FFFFFF"/>
          </a:solidFill>
          <a:ln w="20320">
            <a:solidFill>
              <a:srgbClr val="15608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85632" y="3416930"/>
            <a:ext cx="566928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769096" y="2962656"/>
            <a:ext cx="0" cy="292608"/>
          </a:xfrm>
          <a:prstGeom prst="line">
            <a:avLst/>
          </a:prstGeom>
          <a:noFill/>
          <a:ln w="19050">
            <a:solidFill>
              <a:srgbClr val="15608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56248" y="4224528"/>
            <a:ext cx="1325880" cy="548640"/>
          </a:xfrm>
          <a:prstGeom prst="rect">
            <a:avLst/>
          </a:prstGeom>
          <a:solidFill>
            <a:srgbClr val="FFFFFF"/>
          </a:solidFill>
          <a:ln w="22225">
            <a:solidFill>
              <a:srgbClr val="15608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56248" y="422452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UPI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214616" y="4224528"/>
            <a:ext cx="1554480" cy="0"/>
          </a:xfrm>
          <a:prstGeom prst="line">
            <a:avLst/>
          </a:prstGeom>
          <a:noFill/>
          <a:ln w="19050">
            <a:solidFill>
              <a:srgbClr val="15608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129016" y="4224528"/>
            <a:ext cx="1325880" cy="548640"/>
          </a:xfrm>
          <a:prstGeom prst="rect">
            <a:avLst/>
          </a:prstGeom>
          <a:solidFill>
            <a:srgbClr val="FFFFFF"/>
          </a:solidFill>
          <a:ln w="22225">
            <a:solidFill>
              <a:srgbClr val="15608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129016" y="422452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Card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787384" y="4224528"/>
            <a:ext cx="0" cy="0"/>
          </a:xfrm>
          <a:prstGeom prst="line">
            <a:avLst/>
          </a:prstGeom>
          <a:noFill/>
          <a:ln w="19050">
            <a:solidFill>
              <a:srgbClr val="15608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701784" y="4224528"/>
            <a:ext cx="1325880" cy="548640"/>
          </a:xfrm>
          <a:prstGeom prst="rect">
            <a:avLst/>
          </a:prstGeom>
          <a:solidFill>
            <a:srgbClr val="FFFFFF"/>
          </a:solidFill>
          <a:ln w="22225">
            <a:solidFill>
              <a:srgbClr val="15608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701784" y="422452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Wallet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0360152" y="4224528"/>
            <a:ext cx="0" cy="0"/>
          </a:xfrm>
          <a:prstGeom prst="line">
            <a:avLst/>
          </a:prstGeom>
          <a:noFill/>
          <a:ln w="19050">
            <a:solidFill>
              <a:srgbClr val="15608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64808" y="48463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lower-level entity sets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841248" y="55321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Shared Txn_ID, Amount and Status live once in Payment_Method — gateways carry 100+ methods without 100 copies of “Amount”.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060AA"/>
          </a:solidFill>
          <a:ln/>
        </p:spPr>
      </p:sp>
      <p:pic>
        <p:nvPicPr>
          <p:cNvPr id="3" name="Image 0" descr="assets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237744"/>
            <a:ext cx="1737360" cy="2505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548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Specialization: Top-Down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41248" y="12984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broad class hides different rules — split it into subclasses.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41248" y="178308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783080"/>
            <a:ext cx="109728" cy="960120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8" name="Text 5"/>
          <p:cNvSpPr/>
          <p:nvPr/>
        </p:nvSpPr>
        <p:spPr>
          <a:xfrm>
            <a:off x="1188720" y="19019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971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Direction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88720" y="22128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general class  →  focused subclasses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1248" y="288036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" y="2880360"/>
            <a:ext cx="109728" cy="96012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2" name="Text 9"/>
          <p:cNvSpPr/>
          <p:nvPr/>
        </p:nvSpPr>
        <p:spPr>
          <a:xfrm>
            <a:off x="1188720" y="29992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Inheritance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88720" y="331012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subclass carries the superclass attributes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41248" y="4023360"/>
            <a:ext cx="4754880" cy="731520"/>
          </a:xfrm>
          <a:prstGeom prst="roundRect">
            <a:avLst>
              <a:gd name="adj" fmla="val 15000"/>
            </a:avLst>
          </a:prstGeom>
          <a:solidFill>
            <a:srgbClr val="1E3040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40233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F2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SpeciaLization  =  sLice down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44768" y="178308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64808" y="1938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banking — HDFC / SBI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510528" y="2304288"/>
            <a:ext cx="1188720" cy="43891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5608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10528" y="230428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Acc_No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9939528" y="2304288"/>
            <a:ext cx="1188720" cy="43891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5608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939528" y="230428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Balance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927848" y="2331720"/>
            <a:ext cx="1737360" cy="566928"/>
          </a:xfrm>
          <a:prstGeom prst="rect">
            <a:avLst/>
          </a:prstGeom>
          <a:solidFill>
            <a:srgbClr val="FFFFFF"/>
          </a:solidFill>
          <a:ln w="22225">
            <a:solidFill>
              <a:srgbClr val="0E284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27848" y="23317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Account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699248" y="2542032"/>
            <a:ext cx="228600" cy="54864"/>
          </a:xfrm>
          <a:prstGeom prst="line">
            <a:avLst/>
          </a:prstGeom>
          <a:noFill/>
          <a:ln w="19050">
            <a:solidFill>
              <a:srgbClr val="0E284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665208" y="2596896"/>
            <a:ext cx="274320" cy="0"/>
          </a:xfrm>
          <a:prstGeom prst="line">
            <a:avLst/>
          </a:prstGeom>
          <a:noFill/>
          <a:ln w="19050">
            <a:solidFill>
              <a:srgbClr val="0E284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513064" y="3182112"/>
            <a:ext cx="566928" cy="475488"/>
          </a:xfrm>
          <a:prstGeom prst="triangle">
            <a:avLst/>
          </a:prstGeom>
          <a:solidFill>
            <a:srgbClr val="FFFFFF"/>
          </a:solidFill>
          <a:ln w="20320">
            <a:solidFill>
              <a:srgbClr val="E9713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513064" y="3343778"/>
            <a:ext cx="566928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71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796528" y="2898648"/>
            <a:ext cx="0" cy="283464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601968" y="4133088"/>
            <a:ext cx="1874520" cy="566928"/>
          </a:xfrm>
          <a:prstGeom prst="rect">
            <a:avLst/>
          </a:prstGeom>
          <a:solidFill>
            <a:srgbClr val="FFFFFF"/>
          </a:solidFill>
          <a:ln w="22225">
            <a:solidFill>
              <a:srgbClr val="E9713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601968" y="413308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71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Savings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9116568" y="4133088"/>
            <a:ext cx="1874520" cy="566928"/>
          </a:xfrm>
          <a:prstGeom prst="rect">
            <a:avLst/>
          </a:prstGeom>
          <a:solidFill>
            <a:srgbClr val="FFFFFF"/>
          </a:solidFill>
          <a:ln w="22225">
            <a:solidFill>
              <a:srgbClr val="E9713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116568" y="413308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71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Current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7543800" y="4133088"/>
            <a:ext cx="1252728" cy="0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796528" y="3657600"/>
            <a:ext cx="1261872" cy="475488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601968" y="47548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Interest_Rate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9116568" y="47548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Overdraft_Limit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841248" y="55321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savings accounts earn interest; only current accounts allow overdraft. Specialization makes both rules explicit.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060AA"/>
          </a:solidFill>
          <a:ln/>
        </p:spPr>
      </p:sp>
      <p:pic>
        <p:nvPicPr>
          <p:cNvPr id="3" name="Image 0" descr="assets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237744"/>
            <a:ext cx="1737360" cy="2505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548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Generalization vs Specialization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41248" y="1691640"/>
            <a:ext cx="50749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41248" y="1691640"/>
            <a:ext cx="5074920" cy="10972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7" name="Text 4"/>
          <p:cNvSpPr/>
          <p:nvPr/>
        </p:nvSpPr>
        <p:spPr>
          <a:xfrm>
            <a:off x="1133856" y="19202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GENERALIZATION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33856" y="2395728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505456" y="2395728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bottom-up — specific to general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33856" y="299923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Starts from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505456" y="2999232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several existing entity sets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33856" y="3602736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505456" y="3602736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remove repeated attributes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33856" y="420624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505456" y="4206240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Car, Bus, Truck  →  Vehicle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81928" y="1691640"/>
            <a:ext cx="50749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81928" y="1691640"/>
            <a:ext cx="5074920" cy="109728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18" name="Text 15"/>
          <p:cNvSpPr/>
          <p:nvPr/>
        </p:nvSpPr>
        <p:spPr>
          <a:xfrm>
            <a:off x="6574536" y="19202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E971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SPECIALIZATION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574536" y="2395728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946136" y="2395728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top-down — general to specific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574536" y="299923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Starts from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946136" y="2999232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broad entity set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574536" y="3602736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Goal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946136" y="3602736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capture distinct rules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574536" y="420624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946136" y="4206240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  →  Faculty, Admin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41248" y="5257800"/>
            <a:ext cx="10515600" cy="658368"/>
          </a:xfrm>
          <a:prstGeom prst="roundRect">
            <a:avLst>
              <a:gd name="adj" fmla="val 13889"/>
            </a:avLst>
          </a:prstGeom>
          <a:solidFill>
            <a:srgbClr val="E8F2F8"/>
          </a:solidFill>
          <a:ln/>
        </p:spPr>
      </p:sp>
      <p:sp>
        <p:nvSpPr>
          <p:cNvPr id="28" name="Text 25"/>
          <p:cNvSpPr/>
          <p:nvPr/>
        </p:nvSpPr>
        <p:spPr>
          <a:xfrm>
            <a:off x="1161288" y="525780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 produce the same ISA hierarchy — only the direction of discovery differs. In an exam, name the direction, not the picture.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060AA"/>
          </a:solidFill>
          <a:ln/>
        </p:spPr>
      </p:sp>
      <p:pic>
        <p:nvPicPr>
          <p:cNvPr id="3" name="Image 0" descr="assets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237744"/>
            <a:ext cx="1737360" cy="2505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548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Constraints on a Hierarchy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41248" y="12984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independent questions must be answered for every ISA triangle.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41248" y="1810512"/>
            <a:ext cx="507492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810512"/>
            <a:ext cx="109728" cy="153619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5"/>
          <p:cNvSpPr/>
          <p:nvPr/>
        </p:nvSpPr>
        <p:spPr>
          <a:xfrm>
            <a:off x="1188720" y="19385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kern="0" spc="150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DISJOINT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4818888" y="1938528"/>
            <a:ext cx="731520" cy="365760"/>
          </a:xfrm>
          <a:prstGeom prst="roundRect">
            <a:avLst>
              <a:gd name="adj" fmla="val 30000"/>
            </a:avLst>
          </a:prstGeom>
          <a:solidFill>
            <a:srgbClr val="E8F2F8"/>
          </a:solidFill>
          <a:ln/>
        </p:spPr>
      </p:sp>
      <p:sp>
        <p:nvSpPr>
          <p:cNvPr id="10" name="Text 7"/>
          <p:cNvSpPr/>
          <p:nvPr/>
        </p:nvSpPr>
        <p:spPr>
          <a:xfrm>
            <a:off x="4818888" y="19385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88720" y="232257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entity belongs to at most one subclass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88720" y="268833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vehicle is a Car OR a Bus — never both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81928" y="1810512"/>
            <a:ext cx="507492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81928" y="1810512"/>
            <a:ext cx="109728" cy="153619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15" name="Text 12"/>
          <p:cNvSpPr/>
          <p:nvPr/>
        </p:nvSpPr>
        <p:spPr>
          <a:xfrm>
            <a:off x="6629400" y="19385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kern="0" spc="150" dirty="0">
                <a:solidFill>
                  <a:srgbClr val="E971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OVERLAP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10259568" y="1938528"/>
            <a:ext cx="731520" cy="365760"/>
          </a:xfrm>
          <a:prstGeom prst="roundRect">
            <a:avLst>
              <a:gd name="adj" fmla="val 30000"/>
            </a:avLst>
          </a:prstGeom>
          <a:solidFill>
            <a:srgbClr val="E8F2F8"/>
          </a:solidFill>
          <a:ln/>
        </p:spPr>
      </p:sp>
      <p:sp>
        <p:nvSpPr>
          <p:cNvPr id="17" name="Text 14"/>
          <p:cNvSpPr/>
          <p:nvPr/>
        </p:nvSpPr>
        <p:spPr>
          <a:xfrm>
            <a:off x="10259568" y="19385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71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629400" y="232257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entity may belong to several subclasses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629400" y="268833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Amazon account can be Buyer AND Seller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41248" y="3593592"/>
            <a:ext cx="507492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41248" y="3593592"/>
            <a:ext cx="109728" cy="1536192"/>
          </a:xfrm>
          <a:prstGeom prst="rect">
            <a:avLst/>
          </a:prstGeom>
          <a:solidFill>
            <a:srgbClr val="196B24"/>
          </a:solidFill>
          <a:ln/>
        </p:spPr>
      </p:sp>
      <p:sp>
        <p:nvSpPr>
          <p:cNvPr id="22" name="Text 19"/>
          <p:cNvSpPr/>
          <p:nvPr/>
        </p:nvSpPr>
        <p:spPr>
          <a:xfrm>
            <a:off x="1188720" y="37216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kern="0" spc="150" dirty="0">
                <a:solidFill>
                  <a:srgbClr val="196B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</a:t>
            </a:r>
            <a:endParaRPr lang="en-US" sz="1550" dirty="0"/>
          </a:p>
        </p:txBody>
      </p:sp>
      <p:sp>
        <p:nvSpPr>
          <p:cNvPr id="23" name="Shape 20"/>
          <p:cNvSpPr/>
          <p:nvPr/>
        </p:nvSpPr>
        <p:spPr>
          <a:xfrm>
            <a:off x="4818888" y="3721608"/>
            <a:ext cx="731520" cy="365760"/>
          </a:xfrm>
          <a:prstGeom prst="roundRect">
            <a:avLst>
              <a:gd name="adj" fmla="val 30000"/>
            </a:avLst>
          </a:prstGeom>
          <a:solidFill>
            <a:srgbClr val="E8F2F8"/>
          </a:solidFill>
          <a:ln/>
        </p:spPr>
      </p:sp>
      <p:sp>
        <p:nvSpPr>
          <p:cNvPr id="24" name="Text 21"/>
          <p:cNvSpPr/>
          <p:nvPr/>
        </p:nvSpPr>
        <p:spPr>
          <a:xfrm>
            <a:off x="4818888" y="37216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6B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═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188720" y="410565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superclass entity must join a subclass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188720" y="447141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Payment is UPI, Card or Wallet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281928" y="3593592"/>
            <a:ext cx="507492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281928" y="3593592"/>
            <a:ext cx="109728" cy="1536192"/>
          </a:xfrm>
          <a:prstGeom prst="rect">
            <a:avLst/>
          </a:prstGeom>
          <a:solidFill>
            <a:srgbClr val="A02B93"/>
          </a:solidFill>
          <a:ln/>
        </p:spPr>
      </p:sp>
      <p:sp>
        <p:nvSpPr>
          <p:cNvPr id="29" name="Text 26"/>
          <p:cNvSpPr/>
          <p:nvPr/>
        </p:nvSpPr>
        <p:spPr>
          <a:xfrm>
            <a:off x="6629400" y="37216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kern="0" spc="150" dirty="0">
                <a:solidFill>
                  <a:srgbClr val="A02B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PARTIAL</a:t>
            </a:r>
            <a:endParaRPr lang="en-US" sz="1550" dirty="0"/>
          </a:p>
        </p:txBody>
      </p:sp>
      <p:sp>
        <p:nvSpPr>
          <p:cNvPr id="30" name="Shape 27"/>
          <p:cNvSpPr/>
          <p:nvPr/>
        </p:nvSpPr>
        <p:spPr>
          <a:xfrm>
            <a:off x="10259568" y="3721608"/>
            <a:ext cx="731520" cy="365760"/>
          </a:xfrm>
          <a:prstGeom prst="roundRect">
            <a:avLst>
              <a:gd name="adj" fmla="val 30000"/>
            </a:avLst>
          </a:prstGeom>
          <a:solidFill>
            <a:srgbClr val="E8F2F8"/>
          </a:solidFill>
          <a:ln/>
        </p:spPr>
      </p:sp>
      <p:sp>
        <p:nvSpPr>
          <p:cNvPr id="31" name="Text 28"/>
          <p:cNvSpPr/>
          <p:nvPr/>
        </p:nvSpPr>
        <p:spPr>
          <a:xfrm>
            <a:off x="10259568" y="37216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02B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─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629400" y="410565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some entities may join no subclass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629400" y="447141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Some Persons are neither Student nor Employee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41248" y="550468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 or o is written inside the triangle  ·  a double line to the triangle means total participation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060AA"/>
          </a:solidFill>
          <a:ln/>
        </p:spPr>
      </p:sp>
      <p:pic>
        <p:nvPicPr>
          <p:cNvPr id="3" name="Image 0" descr="assets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237744"/>
            <a:ext cx="1737360" cy="2505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548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Worked Example: Uber's Fleet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41248" y="1645920"/>
            <a:ext cx="10515600" cy="3703320"/>
          </a:xfrm>
          <a:prstGeom prst="roundRect">
            <a:avLst>
              <a:gd name="adj" fmla="val 1975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75888" y="1874520"/>
            <a:ext cx="1371600" cy="493776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560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75888" y="187452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Reg_No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150608" y="1874520"/>
            <a:ext cx="1371600" cy="493776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560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50608" y="187452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Colour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184648" y="2651760"/>
            <a:ext cx="1828800" cy="621792"/>
          </a:xfrm>
          <a:prstGeom prst="rect">
            <a:avLst/>
          </a:prstGeom>
          <a:solidFill>
            <a:srgbClr val="FFFFFF"/>
          </a:solidFill>
          <a:ln w="22225">
            <a:solidFill>
              <a:srgbClr val="0E284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84648" y="265176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Vehicle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47488" y="2212848"/>
            <a:ext cx="320040" cy="438912"/>
          </a:xfrm>
          <a:prstGeom prst="line">
            <a:avLst/>
          </a:prstGeom>
          <a:noFill/>
          <a:ln w="19050">
            <a:solidFill>
              <a:srgbClr val="0E284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30568" y="2651760"/>
            <a:ext cx="320040" cy="0"/>
          </a:xfrm>
          <a:prstGeom prst="line">
            <a:avLst/>
          </a:prstGeom>
          <a:noFill/>
          <a:ln w="19050">
            <a:solidFill>
              <a:srgbClr val="0E284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97296" y="3584448"/>
            <a:ext cx="603504" cy="512064"/>
          </a:xfrm>
          <a:prstGeom prst="triangle">
            <a:avLst/>
          </a:prstGeom>
          <a:solidFill>
            <a:srgbClr val="FFFFFF"/>
          </a:solidFill>
          <a:ln w="20320">
            <a:solidFill>
              <a:srgbClr val="0E284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97296" y="3758550"/>
            <a:ext cx="603504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99048" y="3232404"/>
            <a:ext cx="0" cy="310896"/>
          </a:xfrm>
          <a:prstGeom prst="line">
            <a:avLst/>
          </a:prstGeom>
          <a:noFill/>
          <a:ln w="19050">
            <a:solidFill>
              <a:srgbClr val="0E284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99048" y="3314700"/>
            <a:ext cx="0" cy="310896"/>
          </a:xfrm>
          <a:prstGeom prst="line">
            <a:avLst/>
          </a:prstGeom>
          <a:noFill/>
          <a:ln w="19050">
            <a:solidFill>
              <a:srgbClr val="0E284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10528" y="36393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 +  disjoint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15768" y="4434840"/>
            <a:ext cx="1554480" cy="566928"/>
          </a:xfrm>
          <a:prstGeom prst="rect">
            <a:avLst/>
          </a:prstGeom>
          <a:solidFill>
            <a:srgbClr val="FFFFFF"/>
          </a:solidFill>
          <a:ln w="22225">
            <a:solidFill>
              <a:srgbClr val="0E284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15768" y="44348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493008" y="4434840"/>
            <a:ext cx="2606040" cy="0"/>
          </a:xfrm>
          <a:prstGeom prst="line">
            <a:avLst/>
          </a:prstGeom>
          <a:noFill/>
          <a:ln w="19050">
            <a:solidFill>
              <a:srgbClr val="0E284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15768" y="50292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Seats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230368" y="4434840"/>
            <a:ext cx="1554480" cy="566928"/>
          </a:xfrm>
          <a:prstGeom prst="rect">
            <a:avLst/>
          </a:prstGeom>
          <a:solidFill>
            <a:srgbClr val="FFFFFF"/>
          </a:solidFill>
          <a:ln w="22225">
            <a:solidFill>
              <a:srgbClr val="0E284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30368" y="44348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007608" y="4434840"/>
            <a:ext cx="91440" cy="0"/>
          </a:xfrm>
          <a:prstGeom prst="line">
            <a:avLst/>
          </a:prstGeom>
          <a:noFill/>
          <a:ln w="19050">
            <a:solidFill>
              <a:srgbClr val="0E284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230368" y="50292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Route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744968" y="4434840"/>
            <a:ext cx="1554480" cy="566928"/>
          </a:xfrm>
          <a:prstGeom prst="rect">
            <a:avLst/>
          </a:prstGeom>
          <a:solidFill>
            <a:srgbClr val="FFFFFF"/>
          </a:solidFill>
          <a:ln w="22225">
            <a:solidFill>
              <a:srgbClr val="0E284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44968" y="44348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Truck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8522208" y="4434840"/>
            <a:ext cx="0" cy="0"/>
          </a:xfrm>
          <a:prstGeom prst="line">
            <a:avLst/>
          </a:prstGeom>
          <a:noFill/>
          <a:ln w="19050">
            <a:solidFill>
              <a:srgbClr val="0E284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44968" y="50292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Load_Limit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841248" y="5532120"/>
            <a:ext cx="10515600" cy="603504"/>
          </a:xfrm>
          <a:prstGeom prst="roundRect">
            <a:avLst>
              <a:gd name="adj" fmla="val 15152"/>
            </a:avLst>
          </a:prstGeom>
          <a:solidFill>
            <a:srgbClr val="E8F2F8"/>
          </a:solidFill>
          <a:ln/>
        </p:spPr>
      </p:sp>
      <p:sp>
        <p:nvSpPr>
          <p:cNvPr id="32" name="Text 29"/>
          <p:cNvSpPr/>
          <p:nvPr/>
        </p:nvSpPr>
        <p:spPr>
          <a:xfrm>
            <a:off x="1161288" y="5532120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Reg_No, Colour and Owner are stored once in Vehicle. UberGo cars, shuttle buses and freight trucks keep only their own fields.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060AA"/>
          </a:solidFill>
          <a:ln/>
        </p:spPr>
      </p:sp>
      <p:pic>
        <p:nvPicPr>
          <p:cNvPr id="3" name="Image 0" descr="assets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237744"/>
            <a:ext cx="1737360" cy="2505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548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Aggregation: A Relationship as an Object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41248" y="12984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the thing being reviewed is itself a relationship.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41248" y="1783080"/>
            <a:ext cx="6126480" cy="3429000"/>
          </a:xfrm>
          <a:prstGeom prst="roundRect">
            <a:avLst>
              <a:gd name="adj" fmla="val 2133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344168" y="2697480"/>
            <a:ext cx="1508760" cy="566928"/>
          </a:xfrm>
          <a:prstGeom prst="rect">
            <a:avLst/>
          </a:prstGeom>
          <a:solidFill>
            <a:srgbClr val="FFFFFF"/>
          </a:solidFill>
          <a:ln w="22225">
            <a:solidFill>
              <a:srgbClr val="0E284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44168" y="269748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73168" y="2697480"/>
            <a:ext cx="1508760" cy="566928"/>
          </a:xfrm>
          <a:prstGeom prst="rect">
            <a:avLst/>
          </a:prstGeom>
          <a:solidFill>
            <a:srgbClr val="FFFFFF"/>
          </a:solidFill>
          <a:ln w="22225">
            <a:solidFill>
              <a:srgbClr val="0E284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73168" y="269748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172968" y="2578608"/>
            <a:ext cx="1325880" cy="804672"/>
          </a:xfrm>
          <a:prstGeom prst="diamond">
            <a:avLst/>
          </a:prstGeom>
          <a:solidFill>
            <a:srgbClr val="FFFFFF"/>
          </a:solidFill>
          <a:ln w="22225">
            <a:solidFill>
              <a:srgbClr val="E971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72968" y="2578608"/>
            <a:ext cx="1325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971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Works_On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852928" y="2980944"/>
            <a:ext cx="320040" cy="0"/>
          </a:xfrm>
          <a:prstGeom prst="line">
            <a:avLst/>
          </a:prstGeom>
          <a:noFill/>
          <a:ln w="19050">
            <a:solidFill>
              <a:srgbClr val="0E284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98848" y="2980944"/>
            <a:ext cx="274320" cy="0"/>
          </a:xfrm>
          <a:prstGeom prst="line">
            <a:avLst/>
          </a:prstGeom>
          <a:noFill/>
          <a:ln w="19050">
            <a:solidFill>
              <a:srgbClr val="0E284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61288" y="2468880"/>
            <a:ext cx="5303520" cy="1051560"/>
          </a:xfrm>
          <a:prstGeom prst="roundRect">
            <a:avLst>
              <a:gd name="adj" fmla="val 5217"/>
            </a:avLst>
          </a:prstGeom>
          <a:ln w="17780">
            <a:solidFill>
              <a:srgbClr val="A02B93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1161288" y="353872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02B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aggregated as one unit — “the assignment”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172968" y="4572000"/>
            <a:ext cx="1508760" cy="566928"/>
          </a:xfrm>
          <a:prstGeom prst="rect">
            <a:avLst/>
          </a:prstGeom>
          <a:solidFill>
            <a:srgbClr val="FFFFFF"/>
          </a:solidFill>
          <a:ln w="22225">
            <a:solidFill>
              <a:srgbClr val="A02B9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172968" y="457200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02B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Manager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291840" y="3749040"/>
            <a:ext cx="1280160" cy="658368"/>
          </a:xfrm>
          <a:prstGeom prst="diamond">
            <a:avLst/>
          </a:prstGeom>
          <a:solidFill>
            <a:srgbClr val="FFFFFF"/>
          </a:solidFill>
          <a:ln w="22225">
            <a:solidFill>
              <a:srgbClr val="A02B9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91840" y="374904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02B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Monitors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931920" y="4407408"/>
            <a:ext cx="0" cy="164592"/>
          </a:xfrm>
          <a:prstGeom prst="line">
            <a:avLst/>
          </a:prstGeom>
          <a:noFill/>
          <a:ln w="19050">
            <a:solidFill>
              <a:srgbClr val="A02B9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33488" y="17830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333488" y="1783080"/>
            <a:ext cx="109728" cy="10515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24" name="Text 21"/>
          <p:cNvSpPr/>
          <p:nvPr/>
        </p:nvSpPr>
        <p:spPr>
          <a:xfrm>
            <a:off x="7680960" y="191109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Jira / Azure Boards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680960" y="2221992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manager reviews a developer–sprint assignment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333488" y="2953512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333488" y="2953512"/>
            <a:ext cx="109728" cy="1051560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28" name="Text 25"/>
          <p:cNvSpPr/>
          <p:nvPr/>
        </p:nvSpPr>
        <p:spPr>
          <a:xfrm>
            <a:off x="7680960" y="30815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Health insurance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680960" y="3392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auditor approves a doctor–treats–patient event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333488" y="4123944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333488" y="4123944"/>
            <a:ext cx="109728" cy="1051560"/>
          </a:xfrm>
          <a:prstGeom prst="rect">
            <a:avLst/>
          </a:prstGeom>
          <a:solidFill>
            <a:srgbClr val="196B24"/>
          </a:solidFill>
          <a:ln/>
        </p:spPr>
      </p:sp>
      <p:sp>
        <p:nvSpPr>
          <p:cNvPr id="32" name="Text 29"/>
          <p:cNvSpPr/>
          <p:nvPr/>
        </p:nvSpPr>
        <p:spPr>
          <a:xfrm>
            <a:off x="7680960" y="42519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E-commerce refunds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680960" y="4562856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refund is raised against a customer–bought–product event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41248" y="539496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Spot the pattern: the thing being reviewed, audited or refunded is itself a relationship.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060AA"/>
          </a:solidFill>
          <a:ln/>
        </p:spPr>
      </p:sp>
      <p:pic>
        <p:nvPicPr>
          <p:cNvPr id="3" name="Image 0" descr="assets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237744"/>
            <a:ext cx="1737360" cy="2505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548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Category / Union Type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41248" y="12984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role played by members of different entity sets.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41248" y="1783080"/>
            <a:ext cx="6126480" cy="3429000"/>
          </a:xfrm>
          <a:prstGeom prst="roundRect">
            <a:avLst>
              <a:gd name="adj" fmla="val 2133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25296" y="2084832"/>
            <a:ext cx="1572768" cy="548640"/>
          </a:xfrm>
          <a:prstGeom prst="rect">
            <a:avLst/>
          </a:prstGeom>
          <a:solidFill>
            <a:srgbClr val="FFFFFF"/>
          </a:solidFill>
          <a:ln w="22225">
            <a:solidFill>
              <a:srgbClr val="0E284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25296" y="208483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011680" y="2633472"/>
            <a:ext cx="2075688" cy="384048"/>
          </a:xfrm>
          <a:prstGeom prst="line">
            <a:avLst/>
          </a:prstGeom>
          <a:noFill/>
          <a:ln w="19050">
            <a:solidFill>
              <a:srgbClr val="0E284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99816" y="2084832"/>
            <a:ext cx="1572768" cy="548640"/>
          </a:xfrm>
          <a:prstGeom prst="rect">
            <a:avLst/>
          </a:prstGeom>
          <a:solidFill>
            <a:srgbClr val="FFFFFF"/>
          </a:solidFill>
          <a:ln w="22225">
            <a:solidFill>
              <a:srgbClr val="0E284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99816" y="208483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886200" y="2633472"/>
            <a:ext cx="201168" cy="384048"/>
          </a:xfrm>
          <a:prstGeom prst="line">
            <a:avLst/>
          </a:prstGeom>
          <a:noFill/>
          <a:ln w="19050">
            <a:solidFill>
              <a:srgbClr val="0E284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74336" y="2084832"/>
            <a:ext cx="1572768" cy="548640"/>
          </a:xfrm>
          <a:prstGeom prst="rect">
            <a:avLst/>
          </a:prstGeom>
          <a:solidFill>
            <a:srgbClr val="FFFFFF"/>
          </a:solidFill>
          <a:ln w="22225">
            <a:solidFill>
              <a:srgbClr val="0E284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74336" y="208483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Alumnus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760720" y="2633472"/>
            <a:ext cx="0" cy="384048"/>
          </a:xfrm>
          <a:prstGeom prst="line">
            <a:avLst/>
          </a:prstGeom>
          <a:noFill/>
          <a:ln w="19050">
            <a:solidFill>
              <a:srgbClr val="0E284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86200" y="3017520"/>
            <a:ext cx="402336" cy="402336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96B2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86200" y="3017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96B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∪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087368" y="3419856"/>
            <a:ext cx="0" cy="292608"/>
          </a:xfrm>
          <a:prstGeom prst="line">
            <a:avLst/>
          </a:prstGeom>
          <a:noFill/>
          <a:ln w="19050">
            <a:solidFill>
              <a:srgbClr val="196B2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172968" y="3712464"/>
            <a:ext cx="1828800" cy="566928"/>
          </a:xfrm>
          <a:prstGeom prst="rect">
            <a:avLst/>
          </a:prstGeom>
          <a:solidFill>
            <a:srgbClr val="FFFFFF"/>
          </a:solidFill>
          <a:ln w="22225">
            <a:solidFill>
              <a:srgbClr val="196B2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172968" y="37124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6B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Library_Member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321808" y="3675888"/>
            <a:ext cx="1188720" cy="640080"/>
          </a:xfrm>
          <a:prstGeom prst="diamond">
            <a:avLst/>
          </a:prstGeom>
          <a:solidFill>
            <a:srgbClr val="FFFFFF"/>
          </a:solidFill>
          <a:ln w="22225">
            <a:solidFill>
              <a:srgbClr val="E9713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21808" y="3675888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971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Borrows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001768" y="3995928"/>
            <a:ext cx="320040" cy="0"/>
          </a:xfrm>
          <a:prstGeom prst="line">
            <a:avLst/>
          </a:prstGeom>
          <a:noFill/>
          <a:ln w="19050">
            <a:solidFill>
              <a:srgbClr val="0E284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367528" y="4572000"/>
            <a:ext cx="109728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0E284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67528" y="45720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Book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916168" y="4315968"/>
            <a:ext cx="0" cy="256032"/>
          </a:xfrm>
          <a:prstGeom prst="line">
            <a:avLst/>
          </a:prstGeom>
          <a:noFill/>
          <a:ln w="19050">
            <a:solidFill>
              <a:srgbClr val="0E284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225296" y="4754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∪  =  union of several superclasses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333488" y="17830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333488" y="1783080"/>
            <a:ext cx="109728" cy="10515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30" name="Text 27"/>
          <p:cNvSpPr/>
          <p:nvPr/>
        </p:nvSpPr>
        <p:spPr>
          <a:xfrm>
            <a:off x="7680960" y="191109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Library member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680960" y="2221992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OR Employee OR Alumnus can borrow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333488" y="2953512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333488" y="2953512"/>
            <a:ext cx="109728" cy="1051560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34" name="Text 31"/>
          <p:cNvSpPr/>
          <p:nvPr/>
        </p:nvSpPr>
        <p:spPr>
          <a:xfrm>
            <a:off x="7680960" y="30815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UPI payee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7680960" y="3392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Person OR a Merchant OR a Government body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7333488" y="4123944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333488" y="4123944"/>
            <a:ext cx="109728" cy="1051560"/>
          </a:xfrm>
          <a:prstGeom prst="rect">
            <a:avLst/>
          </a:prstGeom>
          <a:solidFill>
            <a:srgbClr val="196B24"/>
          </a:solidFill>
          <a:ln/>
        </p:spPr>
      </p:sp>
      <p:sp>
        <p:nvSpPr>
          <p:cNvPr id="38" name="Text 35"/>
          <p:cNvSpPr/>
          <p:nvPr/>
        </p:nvSpPr>
        <p:spPr>
          <a:xfrm>
            <a:off x="7680960" y="42519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Marketplace seller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7680960" y="4562856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Individual OR a registered Company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841248" y="539496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Without a category, Borrows would be drawn three times — once per superclass.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060AA"/>
          </a:solidFill>
          <a:ln/>
        </p:spPr>
      </p:sp>
      <p:pic>
        <p:nvPicPr>
          <p:cNvPr id="3" name="Image 0" descr="assets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237744"/>
            <a:ext cx="1737360" cy="2505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548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Weak Entities and Inheritance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41248" y="173736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41248" y="1737360"/>
            <a:ext cx="109728" cy="100584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7" name="Text 4"/>
          <p:cNvSpPr/>
          <p:nvPr/>
        </p:nvSpPr>
        <p:spPr>
          <a:xfrm>
            <a:off x="1188720" y="186537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Weak entity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8720" y="21945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key of its own — identified through its owner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41248" y="292608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1248" y="2926080"/>
            <a:ext cx="109728" cy="1005840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30540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971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Inheritance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88720" y="33832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subclasses still carry the superclass key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41248" y="4114800"/>
            <a:ext cx="4754880" cy="731520"/>
          </a:xfrm>
          <a:prstGeom prst="roundRect">
            <a:avLst>
              <a:gd name="adj" fmla="val 15000"/>
            </a:avLst>
          </a:prstGeom>
          <a:solidFill>
            <a:srgbClr val="1E3040"/>
          </a:solidFill>
          <a:ln/>
        </p:spPr>
      </p:sp>
      <p:sp>
        <p:nvSpPr>
          <p:cNvPr id="14" name="Text 11"/>
          <p:cNvSpPr/>
          <p:nvPr/>
        </p:nvSpPr>
        <p:spPr>
          <a:xfrm>
            <a:off x="841248" y="41148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Dependent  =  ( Emp_ID , Dep_Name 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44768" y="173736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F2F6FA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64808" y="1883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Corporate HR — SAP / Workday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64808" y="2267712"/>
            <a:ext cx="1188720" cy="43891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5608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64808" y="226771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Emp_ID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601968" y="2944368"/>
            <a:ext cx="1691640" cy="566928"/>
          </a:xfrm>
          <a:prstGeom prst="rect">
            <a:avLst/>
          </a:prstGeom>
          <a:solidFill>
            <a:srgbClr val="FFFFFF"/>
          </a:solidFill>
          <a:ln w="22225">
            <a:solidFill>
              <a:srgbClr val="0E284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01968" y="29443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059168" y="2706624"/>
            <a:ext cx="274320" cy="237744"/>
          </a:xfrm>
          <a:prstGeom prst="line">
            <a:avLst/>
          </a:prstGeom>
          <a:noFill/>
          <a:ln w="19050">
            <a:solidFill>
              <a:srgbClr val="0E284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567928" y="2926080"/>
            <a:ext cx="1005840" cy="603504"/>
          </a:xfrm>
          <a:prstGeom prst="diamond">
            <a:avLst/>
          </a:prstGeom>
          <a:solidFill>
            <a:srgbClr val="FFFFFF"/>
          </a:solidFill>
          <a:ln w="22225">
            <a:solidFill>
              <a:srgbClr val="E9713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67928" y="2926080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971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293608" y="3227832"/>
            <a:ext cx="274320" cy="0"/>
          </a:xfrm>
          <a:prstGeom prst="line">
            <a:avLst/>
          </a:prstGeom>
          <a:noFill/>
          <a:ln w="19050">
            <a:solidFill>
              <a:srgbClr val="0E284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784080" y="2880360"/>
            <a:ext cx="1453896" cy="694944"/>
          </a:xfrm>
          <a:prstGeom prst="rect">
            <a:avLst/>
          </a:prstGeom>
          <a:ln w="19050">
            <a:solidFill>
              <a:srgbClr val="E9713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848088" y="2944368"/>
            <a:ext cx="1325880" cy="566928"/>
          </a:xfrm>
          <a:prstGeom prst="rect">
            <a:avLst/>
          </a:prstGeom>
          <a:solidFill>
            <a:srgbClr val="FFFFFF"/>
          </a:solidFill>
          <a:ln w="22225">
            <a:solidFill>
              <a:srgbClr val="E9713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848088" y="294436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71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Dependent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9573768" y="3227832"/>
            <a:ext cx="210312" cy="0"/>
          </a:xfrm>
          <a:prstGeom prst="line">
            <a:avLst/>
          </a:prstGeom>
          <a:noFill/>
          <a:ln w="19050">
            <a:solidFill>
              <a:srgbClr val="0E284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168896" y="3840480"/>
            <a:ext cx="548640" cy="457200"/>
          </a:xfrm>
          <a:prstGeom prst="triangle">
            <a:avLst/>
          </a:prstGeom>
          <a:solidFill>
            <a:srgbClr val="FFFFFF"/>
          </a:solidFill>
          <a:ln w="20320">
            <a:solidFill>
              <a:srgbClr val="0E284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168896" y="3995928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7443216" y="3511296"/>
            <a:ext cx="0" cy="329184"/>
          </a:xfrm>
          <a:prstGeom prst="line">
            <a:avLst/>
          </a:prstGeom>
          <a:noFill/>
          <a:ln w="19050">
            <a:solidFill>
              <a:srgbClr val="0E284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64808" y="4572000"/>
            <a:ext cx="118872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0E284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64808" y="45720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Faculty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065008" y="4572000"/>
            <a:ext cx="118872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0E284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065008" y="45720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Staff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059168" y="4572000"/>
            <a:ext cx="384048" cy="0"/>
          </a:xfrm>
          <a:prstGeom prst="line">
            <a:avLst/>
          </a:prstGeom>
          <a:noFill/>
          <a:ln w="19050">
            <a:solidFill>
              <a:srgbClr val="0E2841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443216" y="4297680"/>
            <a:ext cx="1216152" cy="274320"/>
          </a:xfrm>
          <a:prstGeom prst="line">
            <a:avLst/>
          </a:prstGeom>
          <a:noFill/>
          <a:ln w="19050">
            <a:solidFill>
              <a:srgbClr val="0E284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345168" y="4480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 inherit Emp_ID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841248" y="548640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dependent is identified only as Emp_ID + Dep_Name — the same shape HR suites use for insurance records.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060AA"/>
          </a:solidFill>
          <a:ln/>
        </p:spPr>
      </p:sp>
      <p:pic>
        <p:nvPicPr>
          <p:cNvPr id="3" name="Image 0" descr="assets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237744"/>
            <a:ext cx="1737360" cy="2505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548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Hands-on Task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41248" y="12984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Draw the EER diagram for a university ERP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41248" y="1874520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874520"/>
            <a:ext cx="109728" cy="9144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Shape 5"/>
          <p:cNvSpPr/>
          <p:nvPr/>
        </p:nvSpPr>
        <p:spPr>
          <a:xfrm>
            <a:off x="1225296" y="2130552"/>
            <a:ext cx="411480" cy="411480"/>
          </a:xfrm>
          <a:prstGeom prst="ellipse">
            <a:avLst/>
          </a:prstGeom>
          <a:solidFill>
            <a:srgbClr val="156082"/>
          </a:solidFill>
          <a:ln/>
        </p:spPr>
      </p:sp>
      <p:sp>
        <p:nvSpPr>
          <p:cNvPr id="9" name="Text 6"/>
          <p:cNvSpPr/>
          <p:nvPr/>
        </p:nvSpPr>
        <p:spPr>
          <a:xfrm>
            <a:off x="1225296" y="2130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892808" y="202082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Specialize Person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892808" y="23682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into Student, Faculty and Staff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41248" y="2971800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41248" y="2971800"/>
            <a:ext cx="109728" cy="914400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14" name="Shape 11"/>
          <p:cNvSpPr/>
          <p:nvPr/>
        </p:nvSpPr>
        <p:spPr>
          <a:xfrm>
            <a:off x="1225296" y="3227832"/>
            <a:ext cx="411480" cy="411480"/>
          </a:xfrm>
          <a:prstGeom prst="ellipse">
            <a:avLst/>
          </a:prstGeom>
          <a:solidFill>
            <a:srgbClr val="E97132"/>
          </a:solidFill>
          <a:ln/>
        </p:spPr>
      </p:sp>
      <p:sp>
        <p:nvSpPr>
          <p:cNvPr id="15" name="Text 12"/>
          <p:cNvSpPr/>
          <p:nvPr/>
        </p:nvSpPr>
        <p:spPr>
          <a:xfrm>
            <a:off x="1225296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892808" y="311810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 both constraints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1892808" y="34655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disjoint or overlap  ·  total or partial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41248" y="4069080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1248" y="4069080"/>
            <a:ext cx="109728" cy="914400"/>
          </a:xfrm>
          <a:prstGeom prst="rect">
            <a:avLst/>
          </a:prstGeom>
          <a:solidFill>
            <a:srgbClr val="196B24"/>
          </a:solidFill>
          <a:ln/>
        </p:spPr>
      </p:sp>
      <p:sp>
        <p:nvSpPr>
          <p:cNvPr id="20" name="Shape 17"/>
          <p:cNvSpPr/>
          <p:nvPr/>
        </p:nvSpPr>
        <p:spPr>
          <a:xfrm>
            <a:off x="1225296" y="4325112"/>
            <a:ext cx="411480" cy="411480"/>
          </a:xfrm>
          <a:prstGeom prst="ellipse">
            <a:avLst/>
          </a:prstGeom>
          <a:solidFill>
            <a:srgbClr val="196B24"/>
          </a:solidFill>
          <a:ln/>
        </p:spPr>
      </p:sp>
      <p:sp>
        <p:nvSpPr>
          <p:cNvPr id="21" name="Text 18"/>
          <p:cNvSpPr/>
          <p:nvPr/>
        </p:nvSpPr>
        <p:spPr>
          <a:xfrm>
            <a:off x="1225296" y="4325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892808" y="421538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one aggregation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1892808" y="45628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committee audits a Student–Course registration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104888" y="1874520"/>
            <a:ext cx="4251960" cy="3108960"/>
          </a:xfrm>
          <a:prstGeom prst="roundRect">
            <a:avLst>
              <a:gd name="adj" fmla="val 2941"/>
            </a:avLst>
          </a:prstGeom>
          <a:solidFill>
            <a:srgbClr val="1E3040"/>
          </a:solidFill>
          <a:ln/>
        </p:spPr>
      </p:sp>
      <p:sp>
        <p:nvSpPr>
          <p:cNvPr id="25" name="Text 22"/>
          <p:cNvSpPr/>
          <p:nvPr/>
        </p:nvSpPr>
        <p:spPr>
          <a:xfrm>
            <a:off x="7470648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E971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470648" y="2468880"/>
            <a:ext cx="3611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  ──ISA(o)──  Student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Faculty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Staff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 scholar = Student + Employee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so the constraint is OVERLAP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Audits( Committee, Registration )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where Registration = aggregate of</a:t>
            </a:r>
            <a:endParaRPr lang="en-US" sz="10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E8F2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Student ──Registers── Course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41248" y="523036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Ten minutes on paper, then two pairs present at the board.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060AA"/>
          </a:solidFill>
          <a:ln/>
        </p:spPr>
      </p:sp>
      <p:pic>
        <p:nvPicPr>
          <p:cNvPr id="3" name="Image 0" descr="assets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237744"/>
            <a:ext cx="1737360" cy="2505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548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Application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41248" y="1783080"/>
            <a:ext cx="2432304" cy="324612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41248" y="1783080"/>
            <a:ext cx="2432304" cy="10972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205740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ORM inheritance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27432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Hibernate, Django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97280" y="3429000"/>
            <a:ext cx="1965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ISA maps to single-table, joined or table-per-class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511296" y="1783080"/>
            <a:ext cx="2432304" cy="324612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11296" y="1783080"/>
            <a:ext cx="2432304" cy="109728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12" name="Text 9"/>
          <p:cNvSpPr/>
          <p:nvPr/>
        </p:nvSpPr>
        <p:spPr>
          <a:xfrm>
            <a:off x="3767328" y="205740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971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SQL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767328" y="27432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PostgreSQL, Aurora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767328" y="3429000"/>
            <a:ext cx="1965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Native table inheritance; subtypes share a parent table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181344" y="1783080"/>
            <a:ext cx="2432304" cy="324612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81344" y="1783080"/>
            <a:ext cx="2432304" cy="109728"/>
          </a:xfrm>
          <a:prstGeom prst="rect">
            <a:avLst/>
          </a:prstGeom>
          <a:solidFill>
            <a:srgbClr val="196B24"/>
          </a:solidFill>
          <a:ln/>
        </p:spPr>
      </p:sp>
      <p:sp>
        <p:nvSpPr>
          <p:cNvPr id="17" name="Text 14"/>
          <p:cNvSpPr/>
          <p:nvPr/>
        </p:nvSpPr>
        <p:spPr>
          <a:xfrm>
            <a:off x="6437376" y="205740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96B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Document stores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37376" y="27432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437376" y="3429000"/>
            <a:ext cx="1965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Movie / Series / Documentary as polymorphic documents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851392" y="1783080"/>
            <a:ext cx="2432304" cy="324612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851392" y="1783080"/>
            <a:ext cx="2432304" cy="109728"/>
          </a:xfrm>
          <a:prstGeom prst="rect">
            <a:avLst/>
          </a:prstGeom>
          <a:solidFill>
            <a:srgbClr val="A02B93"/>
          </a:solidFill>
          <a:ln/>
        </p:spPr>
      </p:sp>
      <p:sp>
        <p:nvSpPr>
          <p:cNvPr id="22" name="Text 19"/>
          <p:cNvSpPr/>
          <p:nvPr/>
        </p:nvSpPr>
        <p:spPr>
          <a:xfrm>
            <a:off x="9107424" y="205740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02B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AI-era modelling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9107424" y="27432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text-to-schema copilots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9107424" y="3429000"/>
            <a:ext cx="1965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proposes superclass hierarchies; engineers judge them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841248" y="5349240"/>
            <a:ext cx="10515600" cy="566928"/>
          </a:xfrm>
          <a:prstGeom prst="roundRect">
            <a:avLst>
              <a:gd name="adj" fmla="val 16129"/>
            </a:avLst>
          </a:prstGeom>
          <a:solidFill>
            <a:srgbClr val="E8F2F8"/>
          </a:solidFill>
          <a:ln/>
        </p:spPr>
      </p:sp>
      <p:sp>
        <p:nvSpPr>
          <p:cNvPr id="26" name="Text 23"/>
          <p:cNvSpPr/>
          <p:nvPr/>
        </p:nvSpPr>
        <p:spPr>
          <a:xfrm>
            <a:off x="1161288" y="534924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EER is the grammar behind OOP inheritance, ORMs and microservice data design — learn it once, reuse it everywhere.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060AA"/>
          </a:solidFill>
          <a:ln/>
        </p:spPr>
      </p:sp>
      <p:pic>
        <p:nvPicPr>
          <p:cNvPr id="3" name="Image 0" descr="assets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237744"/>
            <a:ext cx="1737360" cy="2505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548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Think – Pair – Share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41248" y="173736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1E3040"/>
          </a:solidFill>
          <a:ln/>
        </p:spPr>
      </p:sp>
      <p:sp>
        <p:nvSpPr>
          <p:cNvPr id="6" name="Text 3"/>
          <p:cNvSpPr/>
          <p:nvPr/>
        </p:nvSpPr>
        <p:spPr>
          <a:xfrm>
            <a:off x="1252728" y="173736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E8F2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Netflix splits Content into Movie, Series and Documentary.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E8F2F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that hierarchy disjoint or overlapping — and is it total or partial?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41248" y="3063240"/>
            <a:ext cx="3346704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41248" y="3063240"/>
            <a:ext cx="3346704" cy="10972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9" name="Shape 6"/>
          <p:cNvSpPr/>
          <p:nvPr/>
        </p:nvSpPr>
        <p:spPr>
          <a:xfrm>
            <a:off x="1133856" y="3401568"/>
            <a:ext cx="457200" cy="457200"/>
          </a:xfrm>
          <a:prstGeom prst="ellipse">
            <a:avLst/>
          </a:prstGeom>
          <a:solidFill>
            <a:srgbClr val="156082"/>
          </a:solidFill>
          <a:ln/>
        </p:spPr>
      </p:sp>
      <p:sp>
        <p:nvSpPr>
          <p:cNvPr id="10" name="Text 7"/>
          <p:cNvSpPr/>
          <p:nvPr/>
        </p:nvSpPr>
        <p:spPr>
          <a:xfrm>
            <a:off x="1133856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33856" y="40416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Think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133856" y="44439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your own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944368" y="340156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min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425696" y="3063240"/>
            <a:ext cx="3346704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25696" y="3063240"/>
            <a:ext cx="3346704" cy="109728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16" name="Shape 13"/>
          <p:cNvSpPr/>
          <p:nvPr/>
        </p:nvSpPr>
        <p:spPr>
          <a:xfrm>
            <a:off x="4718304" y="3401568"/>
            <a:ext cx="457200" cy="457200"/>
          </a:xfrm>
          <a:prstGeom prst="ellipse">
            <a:avLst/>
          </a:prstGeom>
          <a:solidFill>
            <a:srgbClr val="E97132"/>
          </a:solidFill>
          <a:ln/>
        </p:spPr>
      </p:sp>
      <p:sp>
        <p:nvSpPr>
          <p:cNvPr id="17" name="Text 14"/>
          <p:cNvSpPr/>
          <p:nvPr/>
        </p:nvSpPr>
        <p:spPr>
          <a:xfrm>
            <a:off x="4718304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718304" y="40416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Pair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718304" y="44439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 a neighbour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528816" y="340156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min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010144" y="3063240"/>
            <a:ext cx="3346704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10144" y="3063240"/>
            <a:ext cx="3346704" cy="109728"/>
          </a:xfrm>
          <a:prstGeom prst="rect">
            <a:avLst/>
          </a:prstGeom>
          <a:solidFill>
            <a:srgbClr val="196B24"/>
          </a:solidFill>
          <a:ln/>
        </p:spPr>
      </p:sp>
      <p:sp>
        <p:nvSpPr>
          <p:cNvPr id="23" name="Shape 20"/>
          <p:cNvSpPr/>
          <p:nvPr/>
        </p:nvSpPr>
        <p:spPr>
          <a:xfrm>
            <a:off x="8302752" y="3401568"/>
            <a:ext cx="457200" cy="457200"/>
          </a:xfrm>
          <a:prstGeom prst="ellipse">
            <a:avLst/>
          </a:prstGeom>
          <a:solidFill>
            <a:srgbClr val="196B24"/>
          </a:solidFill>
          <a:ln/>
        </p:spPr>
      </p:sp>
      <p:sp>
        <p:nvSpPr>
          <p:cNvPr id="24" name="Text 21"/>
          <p:cNvSpPr/>
          <p:nvPr/>
        </p:nvSpPr>
        <p:spPr>
          <a:xfrm>
            <a:off x="8302752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302752" y="40416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Share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8302752" y="44439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 the class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10113264" y="340156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min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060AA"/>
          </a:solidFill>
          <a:ln/>
        </p:spPr>
      </p:sp>
      <p:pic>
        <p:nvPicPr>
          <p:cNvPr id="3" name="Image 0" descr="assets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237744"/>
            <a:ext cx="1737360" cy="2505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548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 for Understanding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41248" y="12984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True or False?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41248" y="196596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09728" cy="96012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Shape 5"/>
          <p:cNvSpPr/>
          <p:nvPr/>
        </p:nvSpPr>
        <p:spPr>
          <a:xfrm>
            <a:off x="1225296" y="2240280"/>
            <a:ext cx="411480" cy="411480"/>
          </a:xfrm>
          <a:prstGeom prst="ellipse">
            <a:avLst/>
          </a:prstGeom>
          <a:solidFill>
            <a:srgbClr val="156082"/>
          </a:solidFill>
          <a:ln/>
        </p:spPr>
      </p:sp>
      <p:sp>
        <p:nvSpPr>
          <p:cNvPr id="9" name="Text 6"/>
          <p:cNvSpPr/>
          <p:nvPr/>
        </p:nvSpPr>
        <p:spPr>
          <a:xfrm>
            <a:off x="1225296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892808" y="196596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Vehicle created from Car, Bus and Truck is specialization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8019288" y="2203704"/>
            <a:ext cx="1463040" cy="493776"/>
          </a:xfrm>
          <a:prstGeom prst="roundRect">
            <a:avLst>
              <a:gd name="adj" fmla="val 22222"/>
            </a:avLst>
          </a:prstGeom>
          <a:solidFill>
            <a:srgbClr val="EFF7EF"/>
          </a:solidFill>
          <a:ln/>
        </p:spPr>
      </p:sp>
      <p:sp>
        <p:nvSpPr>
          <p:cNvPr id="12" name="Text 9"/>
          <p:cNvSpPr/>
          <p:nvPr/>
        </p:nvSpPr>
        <p:spPr>
          <a:xfrm>
            <a:off x="8019288" y="2203704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6B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710928" y="2203704"/>
            <a:ext cx="1463040" cy="493776"/>
          </a:xfrm>
          <a:prstGeom prst="roundRect">
            <a:avLst>
              <a:gd name="adj" fmla="val 22222"/>
            </a:avLst>
          </a:prstGeom>
          <a:solidFill>
            <a:srgbClr val="FDF0F0"/>
          </a:solidFill>
          <a:ln/>
        </p:spPr>
      </p:sp>
      <p:sp>
        <p:nvSpPr>
          <p:cNvPr id="14" name="Text 11"/>
          <p:cNvSpPr/>
          <p:nvPr/>
        </p:nvSpPr>
        <p:spPr>
          <a:xfrm>
            <a:off x="9710928" y="2203704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False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41248" y="315468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1248" y="3154680"/>
            <a:ext cx="109728" cy="960120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17" name="Shape 14"/>
          <p:cNvSpPr/>
          <p:nvPr/>
        </p:nvSpPr>
        <p:spPr>
          <a:xfrm>
            <a:off x="1225296" y="3429000"/>
            <a:ext cx="411480" cy="411480"/>
          </a:xfrm>
          <a:prstGeom prst="ellipse">
            <a:avLst/>
          </a:prstGeom>
          <a:solidFill>
            <a:srgbClr val="E97132"/>
          </a:solidFill>
          <a:ln/>
        </p:spPr>
      </p:sp>
      <p:sp>
        <p:nvSpPr>
          <p:cNvPr id="18" name="Text 15"/>
          <p:cNvSpPr/>
          <p:nvPr/>
        </p:nvSpPr>
        <p:spPr>
          <a:xfrm>
            <a:off x="1225296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892808" y="315468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overlapping hierarchy lets one entity sit in two subclasses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8019288" y="3392424"/>
            <a:ext cx="1463040" cy="493776"/>
          </a:xfrm>
          <a:prstGeom prst="roundRect">
            <a:avLst>
              <a:gd name="adj" fmla="val 22222"/>
            </a:avLst>
          </a:prstGeom>
          <a:solidFill>
            <a:srgbClr val="EFF7EF"/>
          </a:solidFill>
          <a:ln/>
        </p:spPr>
      </p:sp>
      <p:sp>
        <p:nvSpPr>
          <p:cNvPr id="21" name="Text 18"/>
          <p:cNvSpPr/>
          <p:nvPr/>
        </p:nvSpPr>
        <p:spPr>
          <a:xfrm>
            <a:off x="8019288" y="3392424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6B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710928" y="3392424"/>
            <a:ext cx="1463040" cy="493776"/>
          </a:xfrm>
          <a:prstGeom prst="roundRect">
            <a:avLst>
              <a:gd name="adj" fmla="val 22222"/>
            </a:avLst>
          </a:prstGeom>
          <a:solidFill>
            <a:srgbClr val="FDF0F0"/>
          </a:solidFill>
          <a:ln/>
        </p:spPr>
      </p:sp>
      <p:sp>
        <p:nvSpPr>
          <p:cNvPr id="23" name="Text 20"/>
          <p:cNvSpPr/>
          <p:nvPr/>
        </p:nvSpPr>
        <p:spPr>
          <a:xfrm>
            <a:off x="9710928" y="3392424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False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41248" y="434340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41248" y="4343400"/>
            <a:ext cx="109728" cy="960120"/>
          </a:xfrm>
          <a:prstGeom prst="rect">
            <a:avLst/>
          </a:prstGeom>
          <a:solidFill>
            <a:srgbClr val="196B24"/>
          </a:solidFill>
          <a:ln/>
        </p:spPr>
      </p:sp>
      <p:sp>
        <p:nvSpPr>
          <p:cNvPr id="26" name="Shape 23"/>
          <p:cNvSpPr/>
          <p:nvPr/>
        </p:nvSpPr>
        <p:spPr>
          <a:xfrm>
            <a:off x="1225296" y="4617720"/>
            <a:ext cx="411480" cy="411480"/>
          </a:xfrm>
          <a:prstGeom prst="ellipse">
            <a:avLst/>
          </a:prstGeom>
          <a:solidFill>
            <a:srgbClr val="196B24"/>
          </a:solidFill>
          <a:ln/>
        </p:spPr>
      </p:sp>
      <p:sp>
        <p:nvSpPr>
          <p:cNvPr id="27" name="Text 24"/>
          <p:cNvSpPr/>
          <p:nvPr/>
        </p:nvSpPr>
        <p:spPr>
          <a:xfrm>
            <a:off x="1225296" y="4617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892808" y="434340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category draws its members from several superclasses</a:t>
            </a:r>
            <a:endParaRPr lang="en-US" sz="1550" dirty="0"/>
          </a:p>
        </p:txBody>
      </p:sp>
      <p:sp>
        <p:nvSpPr>
          <p:cNvPr id="29" name="Shape 26"/>
          <p:cNvSpPr/>
          <p:nvPr/>
        </p:nvSpPr>
        <p:spPr>
          <a:xfrm>
            <a:off x="8019288" y="4581144"/>
            <a:ext cx="1463040" cy="493776"/>
          </a:xfrm>
          <a:prstGeom prst="roundRect">
            <a:avLst>
              <a:gd name="adj" fmla="val 22222"/>
            </a:avLst>
          </a:prstGeom>
          <a:solidFill>
            <a:srgbClr val="EFF7EF"/>
          </a:solidFill>
          <a:ln/>
        </p:spPr>
      </p:sp>
      <p:sp>
        <p:nvSpPr>
          <p:cNvPr id="30" name="Text 27"/>
          <p:cNvSpPr/>
          <p:nvPr/>
        </p:nvSpPr>
        <p:spPr>
          <a:xfrm>
            <a:off x="8019288" y="4581144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6B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True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9710928" y="4581144"/>
            <a:ext cx="1463040" cy="493776"/>
          </a:xfrm>
          <a:prstGeom prst="roundRect">
            <a:avLst>
              <a:gd name="adj" fmla="val 22222"/>
            </a:avLst>
          </a:prstGeom>
          <a:solidFill>
            <a:srgbClr val="FDF0F0"/>
          </a:solidFill>
          <a:ln/>
        </p:spPr>
      </p:sp>
      <p:sp>
        <p:nvSpPr>
          <p:cNvPr id="32" name="Text 29"/>
          <p:cNvSpPr/>
          <p:nvPr/>
        </p:nvSpPr>
        <p:spPr>
          <a:xfrm>
            <a:off x="9710928" y="4581144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False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060AA"/>
          </a:solidFill>
          <a:ln/>
        </p:spPr>
      </p:sp>
      <p:pic>
        <p:nvPicPr>
          <p:cNvPr id="3" name="Image 0" descr="assets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237744"/>
            <a:ext cx="1737360" cy="2505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548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Summary / Takeaways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41248" y="1645920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41248" y="1645920"/>
            <a:ext cx="109728" cy="73152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7" name="Text 4"/>
          <p:cNvSpPr/>
          <p:nvPr/>
        </p:nvSpPr>
        <p:spPr>
          <a:xfrm>
            <a:off x="1188720" y="1645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Generalization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133088" y="16459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bottom-up — Car, Bus, Truck rise into Vehicle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41248" y="2514600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1248" y="2514600"/>
            <a:ext cx="109728" cy="731520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2514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971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Specialization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133088" y="25146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top-down — Account splits into Savings and Current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41248" y="3383280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1248" y="3383280"/>
            <a:ext cx="109728" cy="731520"/>
          </a:xfrm>
          <a:prstGeom prst="rect">
            <a:avLst/>
          </a:prstGeom>
          <a:solidFill>
            <a:srgbClr val="196B24"/>
          </a:solidFill>
          <a:ln/>
        </p:spPr>
      </p:sp>
      <p:sp>
        <p:nvSpPr>
          <p:cNvPr id="15" name="Text 12"/>
          <p:cNvSpPr/>
          <p:nvPr/>
        </p:nvSpPr>
        <p:spPr>
          <a:xfrm>
            <a:off x="1188720" y="33832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96B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Constraints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133088" y="33832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 or o in the triangle  ·  double line means total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41248" y="4251960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41248" y="4251960"/>
            <a:ext cx="109728" cy="731520"/>
          </a:xfrm>
          <a:prstGeom prst="rect">
            <a:avLst/>
          </a:prstGeom>
          <a:solidFill>
            <a:srgbClr val="A02B93"/>
          </a:solidFill>
          <a:ln/>
        </p:spPr>
      </p:sp>
      <p:sp>
        <p:nvSpPr>
          <p:cNvPr id="19" name="Text 16"/>
          <p:cNvSpPr/>
          <p:nvPr/>
        </p:nvSpPr>
        <p:spPr>
          <a:xfrm>
            <a:off x="1188720" y="42519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02B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Aggregation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133088" y="42519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relationship treated as one object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841248" y="5120640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41248" y="5120640"/>
            <a:ext cx="109728" cy="731520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23" name="Text 20"/>
          <p:cNvSpPr/>
          <p:nvPr/>
        </p:nvSpPr>
        <p:spPr>
          <a:xfrm>
            <a:off x="1188720" y="5120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9ED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Category / weak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133088" y="51206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role from many superclasses  ·  keys borrowed from an owner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060AA"/>
          </a:solidFill>
          <a:ln/>
        </p:spPr>
      </p:sp>
      <p:pic>
        <p:nvPicPr>
          <p:cNvPr id="3" name="Image 0" descr="assets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237744"/>
            <a:ext cx="1737360" cy="2505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548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Exit Ticket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41248" y="12984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Before you leave…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41248" y="192024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20240"/>
            <a:ext cx="109728" cy="9144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Shape 5"/>
          <p:cNvSpPr/>
          <p:nvPr/>
        </p:nvSpPr>
        <p:spPr>
          <a:xfrm>
            <a:off x="1225296" y="2176272"/>
            <a:ext cx="411480" cy="411480"/>
          </a:xfrm>
          <a:prstGeom prst="ellipse">
            <a:avLst/>
          </a:prstGeom>
          <a:solidFill>
            <a:srgbClr val="156082"/>
          </a:solidFill>
          <a:ln/>
        </p:spPr>
      </p:sp>
      <p:sp>
        <p:nvSpPr>
          <p:cNvPr id="9" name="Text 6"/>
          <p:cNvSpPr/>
          <p:nvPr/>
        </p:nvSpPr>
        <p:spPr>
          <a:xfrm>
            <a:off x="1225296" y="2176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892808" y="192024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Employee into Faculty and Staff — which direction is that?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841248" y="301752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41248" y="3017520"/>
            <a:ext cx="109728" cy="914400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13" name="Shape 10"/>
          <p:cNvSpPr/>
          <p:nvPr/>
        </p:nvSpPr>
        <p:spPr>
          <a:xfrm>
            <a:off x="1225296" y="3273552"/>
            <a:ext cx="411480" cy="411480"/>
          </a:xfrm>
          <a:prstGeom prst="ellipse">
            <a:avLst/>
          </a:prstGeom>
          <a:solidFill>
            <a:srgbClr val="E97132"/>
          </a:solidFill>
          <a:ln/>
        </p:spPr>
      </p:sp>
      <p:sp>
        <p:nvSpPr>
          <p:cNvPr id="14" name="Text 11"/>
          <p:cNvSpPr/>
          <p:nvPr/>
        </p:nvSpPr>
        <p:spPr>
          <a:xfrm>
            <a:off x="1225296" y="3273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892808" y="301752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a one-line rule for when aggregation is needed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841248" y="411480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1248" y="4114800"/>
            <a:ext cx="109728" cy="914400"/>
          </a:xfrm>
          <a:prstGeom prst="rect">
            <a:avLst/>
          </a:prstGeom>
          <a:solidFill>
            <a:srgbClr val="196B24"/>
          </a:solidFill>
          <a:ln/>
        </p:spPr>
      </p:sp>
      <p:sp>
        <p:nvSpPr>
          <p:cNvPr id="18" name="Shape 15"/>
          <p:cNvSpPr/>
          <p:nvPr/>
        </p:nvSpPr>
        <p:spPr>
          <a:xfrm>
            <a:off x="1225296" y="4370832"/>
            <a:ext cx="411480" cy="411480"/>
          </a:xfrm>
          <a:prstGeom prst="ellipse">
            <a:avLst/>
          </a:prstGeom>
          <a:solidFill>
            <a:srgbClr val="196B24"/>
          </a:solidFill>
          <a:ln/>
        </p:spPr>
      </p:sp>
      <p:sp>
        <p:nvSpPr>
          <p:cNvPr id="19" name="Text 16"/>
          <p:cNvSpPr/>
          <p:nvPr/>
        </p:nvSpPr>
        <p:spPr>
          <a:xfrm>
            <a:off x="1225296" y="4370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892808" y="411480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one category / union type from an app you use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841248" y="5230368"/>
            <a:ext cx="10515600" cy="603504"/>
          </a:xfrm>
          <a:prstGeom prst="roundRect">
            <a:avLst>
              <a:gd name="adj" fmla="val 15152"/>
            </a:avLst>
          </a:prstGeom>
          <a:solidFill>
            <a:srgbClr val="E8F2F8"/>
          </a:solidFill>
          <a:ln/>
        </p:spPr>
      </p:sp>
      <p:sp>
        <p:nvSpPr>
          <p:cNvPr id="22" name="Text 19"/>
          <p:cNvSpPr/>
          <p:nvPr/>
        </p:nvSpPr>
        <p:spPr>
          <a:xfrm>
            <a:off x="1161288" y="5230368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Next: Session 7 — Mapping an EER Diagram onto Relational Tables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060AA"/>
          </a:solidFill>
          <a:ln/>
        </p:spPr>
      </p:sp>
      <p:pic>
        <p:nvPicPr>
          <p:cNvPr id="3" name="Image 0" descr="assets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237744"/>
            <a:ext cx="1737360" cy="2505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548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 — Text Books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841248" y="187452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874520"/>
            <a:ext cx="109728" cy="9144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5"/>
          <p:cNvSpPr/>
          <p:nvPr/>
        </p:nvSpPr>
        <p:spPr>
          <a:xfrm>
            <a:off x="1207008" y="196596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System Concepts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207008" y="227685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Silberschatz, H. F. Korth, S. Sudarshan  ·  McGraw-Hill</a:t>
            </a:r>
            <a:endParaRPr lang="en-US" sz="1200" dirty="0"/>
          </a:p>
        </p:txBody>
      </p:sp>
      <p:sp>
        <p:nvSpPr>
          <p:cNvPr id="10" name="Text 7">
            <a:hlinkClick r:id="rId4"/>
          </p:cNvPr>
          <p:cNvSpPr/>
          <p:nvPr/>
        </p:nvSpPr>
        <p:spPr>
          <a:xfrm>
            <a:off x="1207008" y="251460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u="sng" dirty="0">
                <a:solidFill>
                  <a:srgbClr val="15608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https://www.db-book.com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842248" y="2093976"/>
            <a:ext cx="2148840" cy="475488"/>
          </a:xfrm>
          <a:prstGeom prst="roundRect">
            <a:avLst>
              <a:gd name="adj" fmla="val 23077"/>
            </a:avLst>
          </a:prstGeom>
          <a:solidFill>
            <a:srgbClr val="E8F2F8"/>
          </a:solidFill>
          <a:ln/>
        </p:spPr>
      </p:sp>
      <p:sp>
        <p:nvSpPr>
          <p:cNvPr id="12" name="Text 9"/>
          <p:cNvSpPr/>
          <p:nvPr/>
        </p:nvSpPr>
        <p:spPr>
          <a:xfrm>
            <a:off x="8842248" y="209397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7th Ed.  2019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41248" y="2907792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1248" y="2907792"/>
            <a:ext cx="109728" cy="914400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15" name="Text 12"/>
          <p:cNvSpPr/>
          <p:nvPr/>
        </p:nvSpPr>
        <p:spPr>
          <a:xfrm>
            <a:off x="1207008" y="2999232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Fundamentals of Database Systems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207008" y="331012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R. Elmasri, S. B. Navathe  ·  Pearson</a:t>
            </a:r>
            <a:endParaRPr lang="en-US" sz="1200" dirty="0"/>
          </a:p>
        </p:txBody>
      </p:sp>
      <p:sp>
        <p:nvSpPr>
          <p:cNvPr id="17" name="Text 14">
            <a:hlinkClick r:id="rId5"/>
          </p:cNvPr>
          <p:cNvSpPr/>
          <p:nvPr/>
        </p:nvSpPr>
        <p:spPr>
          <a:xfrm>
            <a:off x="1207008" y="3547872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u="sng" dirty="0">
                <a:solidFill>
                  <a:srgbClr val="E9713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https://www.pearson.com/en-us/subject-catalog/p/fundamentals-of-database-systems/P200000003546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842248" y="3127248"/>
            <a:ext cx="2148840" cy="475488"/>
          </a:xfrm>
          <a:prstGeom prst="roundRect">
            <a:avLst>
              <a:gd name="adj" fmla="val 23077"/>
            </a:avLst>
          </a:prstGeom>
          <a:solidFill>
            <a:srgbClr val="E8F2F8"/>
          </a:solidFill>
          <a:ln/>
        </p:spPr>
      </p:sp>
      <p:sp>
        <p:nvSpPr>
          <p:cNvPr id="19" name="Text 16"/>
          <p:cNvSpPr/>
          <p:nvPr/>
        </p:nvSpPr>
        <p:spPr>
          <a:xfrm>
            <a:off x="8842248" y="312724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7th Ed.  2016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41248" y="3941064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41248" y="3941064"/>
            <a:ext cx="109728" cy="914400"/>
          </a:xfrm>
          <a:prstGeom prst="rect">
            <a:avLst/>
          </a:prstGeom>
          <a:solidFill>
            <a:srgbClr val="196B24"/>
          </a:solidFill>
          <a:ln/>
        </p:spPr>
      </p:sp>
      <p:sp>
        <p:nvSpPr>
          <p:cNvPr id="22" name="Text 19"/>
          <p:cNvSpPr/>
          <p:nvPr/>
        </p:nvSpPr>
        <p:spPr>
          <a:xfrm>
            <a:off x="1207008" y="4032504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Management Systems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1207008" y="434340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R. Ramakrishnan, J. Gehrke  ·  McGraw-Hill</a:t>
            </a:r>
            <a:endParaRPr lang="en-US" sz="1200" dirty="0"/>
          </a:p>
        </p:txBody>
      </p:sp>
      <p:sp>
        <p:nvSpPr>
          <p:cNvPr id="24" name="Text 21">
            <a:hlinkClick r:id="rId6"/>
          </p:cNvPr>
          <p:cNvSpPr/>
          <p:nvPr/>
        </p:nvSpPr>
        <p:spPr>
          <a:xfrm>
            <a:off x="1207008" y="4581144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u="sng" dirty="0">
                <a:solidFill>
                  <a:srgbClr val="196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https://pages.cs.wisc.edu/~dbbook/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842248" y="4160520"/>
            <a:ext cx="2148840" cy="475488"/>
          </a:xfrm>
          <a:prstGeom prst="roundRect">
            <a:avLst>
              <a:gd name="adj" fmla="val 23077"/>
            </a:avLst>
          </a:prstGeom>
          <a:solidFill>
            <a:srgbClr val="E8F2F8"/>
          </a:solidFill>
          <a:ln/>
        </p:spPr>
      </p:sp>
      <p:sp>
        <p:nvSpPr>
          <p:cNvPr id="26" name="Text 23"/>
          <p:cNvSpPr/>
          <p:nvPr/>
        </p:nvSpPr>
        <p:spPr>
          <a:xfrm>
            <a:off x="8842248" y="416052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3rd Ed.  2003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841248" y="4974336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41248" y="4974336"/>
            <a:ext cx="109728" cy="914400"/>
          </a:xfrm>
          <a:prstGeom prst="rect">
            <a:avLst/>
          </a:prstGeom>
          <a:solidFill>
            <a:srgbClr val="A02B93"/>
          </a:solidFill>
          <a:ln/>
        </p:spPr>
      </p:sp>
      <p:sp>
        <p:nvSpPr>
          <p:cNvPr id="29" name="Text 26"/>
          <p:cNvSpPr/>
          <p:nvPr/>
        </p:nvSpPr>
        <p:spPr>
          <a:xfrm>
            <a:off x="1207008" y="5065776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Introduction to Database Systems</a:t>
            </a:r>
            <a:endParaRPr lang="en-US" sz="1550" dirty="0"/>
          </a:p>
        </p:txBody>
      </p:sp>
      <p:sp>
        <p:nvSpPr>
          <p:cNvPr id="30" name="Text 27"/>
          <p:cNvSpPr/>
          <p:nvPr/>
        </p:nvSpPr>
        <p:spPr>
          <a:xfrm>
            <a:off x="1207008" y="537667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J. Date  ·  Pearson</a:t>
            </a:r>
            <a:endParaRPr lang="en-US" sz="1200" dirty="0"/>
          </a:p>
        </p:txBody>
      </p:sp>
      <p:sp>
        <p:nvSpPr>
          <p:cNvPr id="31" name="Text 28">
            <a:hlinkClick r:id="rId7"/>
          </p:cNvPr>
          <p:cNvSpPr/>
          <p:nvPr/>
        </p:nvSpPr>
        <p:spPr>
          <a:xfrm>
            <a:off x="1207008" y="5614416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u="sng" dirty="0">
                <a:solidFill>
                  <a:srgbClr val="A02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https://www.pearson.com/en-us/subject-catalog/p/introduction-to-database-systems-an/P200000003398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842248" y="5193792"/>
            <a:ext cx="2148840" cy="475488"/>
          </a:xfrm>
          <a:prstGeom prst="roundRect">
            <a:avLst>
              <a:gd name="adj" fmla="val 23077"/>
            </a:avLst>
          </a:prstGeom>
          <a:solidFill>
            <a:srgbClr val="E8F2F8"/>
          </a:solidFill>
          <a:ln/>
        </p:spPr>
      </p:sp>
      <p:sp>
        <p:nvSpPr>
          <p:cNvPr id="33" name="Text 30"/>
          <p:cNvSpPr/>
          <p:nvPr/>
        </p:nvSpPr>
        <p:spPr>
          <a:xfrm>
            <a:off x="8842248" y="519379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8th Ed.  2003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841248" y="592531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Chapter map for this session:  TB1 Ch. 8  ·  TB2 Ch. 4  ·  TB3 Ch. 2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060AA"/>
          </a:solidFill>
          <a:ln/>
        </p:spPr>
      </p:sp>
      <p:pic>
        <p:nvPicPr>
          <p:cNvPr id="3" name="Image 0" descr="assets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237744"/>
            <a:ext cx="1737360" cy="2505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548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Further Reading, Tools &amp; Self-Learning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41248" y="16276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EER drawing tools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41248" y="2011680"/>
            <a:ext cx="4983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2011680"/>
            <a:ext cx="109728" cy="9144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5"/>
          <p:cNvSpPr/>
          <p:nvPr/>
        </p:nvSpPr>
        <p:spPr>
          <a:xfrm>
            <a:off x="1207008" y="21031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dbdiagram.io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207008" y="23957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 → ERD in seconds</a:t>
            </a:r>
            <a:endParaRPr lang="en-US" sz="1150" dirty="0"/>
          </a:p>
        </p:txBody>
      </p:sp>
      <p:sp>
        <p:nvSpPr>
          <p:cNvPr id="10" name="Text 7">
            <a:hlinkClick r:id="rId4"/>
          </p:cNvPr>
          <p:cNvSpPr/>
          <p:nvPr/>
        </p:nvSpPr>
        <p:spPr>
          <a:xfrm>
            <a:off x="1207008" y="26517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u="sng" dirty="0">
                <a:solidFill>
                  <a:srgbClr val="15608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https://dbdiagram.io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41248" y="3044952"/>
            <a:ext cx="4983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41248" y="3044952"/>
            <a:ext cx="109728" cy="914400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13" name="Text 10"/>
          <p:cNvSpPr/>
          <p:nvPr/>
        </p:nvSpPr>
        <p:spPr>
          <a:xfrm>
            <a:off x="1207008" y="313639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diagrams.net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207008" y="34290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ISA triangles and union circles</a:t>
            </a:r>
            <a:endParaRPr lang="en-US" sz="1150" dirty="0"/>
          </a:p>
        </p:txBody>
      </p:sp>
      <p:sp>
        <p:nvSpPr>
          <p:cNvPr id="15" name="Text 12">
            <a:hlinkClick r:id="rId5"/>
          </p:cNvPr>
          <p:cNvSpPr/>
          <p:nvPr/>
        </p:nvSpPr>
        <p:spPr>
          <a:xfrm>
            <a:off x="1207008" y="368503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u="sng" dirty="0">
                <a:solidFill>
                  <a:srgbClr val="E9713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https://app.diagrams.net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41248" y="4078224"/>
            <a:ext cx="4983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1248" y="4078224"/>
            <a:ext cx="109728" cy="914400"/>
          </a:xfrm>
          <a:prstGeom prst="rect">
            <a:avLst/>
          </a:prstGeom>
          <a:solidFill>
            <a:srgbClr val="196B24"/>
          </a:solidFill>
          <a:ln/>
        </p:spPr>
      </p:sp>
      <p:sp>
        <p:nvSpPr>
          <p:cNvPr id="18" name="Text 15"/>
          <p:cNvSpPr/>
          <p:nvPr/>
        </p:nvSpPr>
        <p:spPr>
          <a:xfrm>
            <a:off x="1207008" y="416966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MySQL Workbench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207008" y="44622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reverse-engineer a live schema</a:t>
            </a:r>
            <a:endParaRPr lang="en-US" sz="1150" dirty="0"/>
          </a:p>
        </p:txBody>
      </p:sp>
      <p:sp>
        <p:nvSpPr>
          <p:cNvPr id="20" name="Text 17">
            <a:hlinkClick r:id="rId6"/>
          </p:cNvPr>
          <p:cNvSpPr/>
          <p:nvPr/>
        </p:nvSpPr>
        <p:spPr>
          <a:xfrm>
            <a:off x="1207008" y="471830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u="sng" dirty="0">
                <a:solidFill>
                  <a:srgbClr val="196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https://dev.mysql.com/doc/workbench/en/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373368" y="16276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Self-learning component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373368" y="2011680"/>
            <a:ext cx="4983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73368" y="2011680"/>
            <a:ext cx="109728" cy="914400"/>
          </a:xfrm>
          <a:prstGeom prst="rect">
            <a:avLst/>
          </a:prstGeom>
          <a:solidFill>
            <a:srgbClr val="A02B93"/>
          </a:solidFill>
          <a:ln/>
        </p:spPr>
      </p:sp>
      <p:sp>
        <p:nvSpPr>
          <p:cNvPr id="24" name="Text 21"/>
          <p:cNvSpPr/>
          <p:nvPr/>
        </p:nvSpPr>
        <p:spPr>
          <a:xfrm>
            <a:off x="6739128" y="21031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NPTEL — Database Management Systems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739128" y="23957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12-week certified course</a:t>
            </a:r>
            <a:endParaRPr lang="en-US" sz="1150" dirty="0"/>
          </a:p>
        </p:txBody>
      </p:sp>
      <p:sp>
        <p:nvSpPr>
          <p:cNvPr id="26" name="Text 23">
            <a:hlinkClick r:id="rId7"/>
          </p:cNvPr>
          <p:cNvSpPr/>
          <p:nvPr/>
        </p:nvSpPr>
        <p:spPr>
          <a:xfrm>
            <a:off x="6739128" y="26517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u="sng" dirty="0">
                <a:solidFill>
                  <a:srgbClr val="A02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https://onlinecourses.nptel.ac.in/noc22_cs91/preview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373368" y="3044952"/>
            <a:ext cx="4983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373368" y="3044952"/>
            <a:ext cx="109728" cy="914400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29" name="Text 26"/>
          <p:cNvSpPr/>
          <p:nvPr/>
        </p:nvSpPr>
        <p:spPr>
          <a:xfrm>
            <a:off x="6739128" y="313639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Django — Model inheritance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6739128" y="34290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ISA mapped to real tables</a:t>
            </a:r>
            <a:endParaRPr lang="en-US" sz="1150" dirty="0"/>
          </a:p>
        </p:txBody>
      </p:sp>
      <p:sp>
        <p:nvSpPr>
          <p:cNvPr id="31" name="Text 28">
            <a:hlinkClick r:id="rId8"/>
          </p:cNvPr>
          <p:cNvSpPr/>
          <p:nvPr/>
        </p:nvSpPr>
        <p:spPr>
          <a:xfrm>
            <a:off x="6739128" y="368503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u="sng" dirty="0">
                <a:solidFill>
                  <a:srgbClr val="0F9ED5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https://docs.djangoproject.com/en/stable/topics/db/models/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373368" y="4078224"/>
            <a:ext cx="4983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373368" y="4078224"/>
            <a:ext cx="109728" cy="9144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34" name="Text 31"/>
          <p:cNvSpPr/>
          <p:nvPr/>
        </p:nvSpPr>
        <p:spPr>
          <a:xfrm>
            <a:off x="6739128" y="416966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PostgreSQL — Table inheritance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6739128" y="44622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native superclass / subclass support</a:t>
            </a:r>
            <a:endParaRPr lang="en-US" sz="1150" dirty="0"/>
          </a:p>
        </p:txBody>
      </p:sp>
      <p:sp>
        <p:nvSpPr>
          <p:cNvPr id="36" name="Text 33">
            <a:hlinkClick r:id="rId9"/>
          </p:cNvPr>
          <p:cNvSpPr/>
          <p:nvPr/>
        </p:nvSpPr>
        <p:spPr>
          <a:xfrm>
            <a:off x="6739128" y="471830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u="sng" dirty="0">
                <a:solidFill>
                  <a:srgbClr val="15608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https://www.postgresql.org/docs/current/tutorial-inheritance.html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060AA"/>
          </a:solidFill>
          <a:ln/>
        </p:spPr>
      </p:sp>
      <p:pic>
        <p:nvPicPr>
          <p:cNvPr id="3" name="Image 0" descr="assets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237744"/>
            <a:ext cx="1737360" cy="2505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2148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Shape 2"/>
          <p:cNvSpPr/>
          <p:nvPr/>
        </p:nvSpPr>
        <p:spPr>
          <a:xfrm>
            <a:off x="841248" y="3200400"/>
            <a:ext cx="1371600" cy="27432"/>
          </a:xfrm>
          <a:prstGeom prst="rect">
            <a:avLst/>
          </a:prstGeom>
          <a:solidFill>
            <a:srgbClr val="D2DCE6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" y="34747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 challenge: draw an EER diagram for Netflix content —</a:t>
            </a:r>
            <a:r>
              <a:rPr lang="en-US" sz="1500" dirty="0"/>
              <a:t> </a:t>
            </a: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ISA triangle, its constraint marked, and one aggregation.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1248" y="513892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Extended ER Model  |  Database Management Systems  |  K. R. Mangalam University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2877</Words>
  <Application>Microsoft Office PowerPoint</Application>
  <PresentationFormat>Widescreen</PresentationFormat>
  <Paragraphs>360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DBMS Session 6 — Extended ER Model</dc:title>
  <dc:subject>PptxGenJS Presentation</dc:subject>
  <dc:creator>K. R. Mangalam University</dc:creator>
  <cp:lastModifiedBy>Mansi Kajal-Assistant Professor SOET</cp:lastModifiedBy>
  <cp:revision>7</cp:revision>
  <dcterms:created xsi:type="dcterms:W3CDTF">2026-08-01T18:07:58Z</dcterms:created>
  <dcterms:modified xsi:type="dcterms:W3CDTF">2026-08-01T18:14:15Z</dcterms:modified>
</cp:coreProperties>
</file>