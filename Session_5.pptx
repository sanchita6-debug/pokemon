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1" autoAdjust="0"/>
    <p:restoredTop sz="94610"/>
  </p:normalViewPr>
  <p:slideViewPr>
    <p:cSldViewPr snapToGrid="0" snapToObjects="1">
      <p:cViewPr>
        <p:scale>
          <a:sx n="92" d="100"/>
          <a:sy n="92" d="100"/>
        </p:scale>
        <p:origin x="10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9864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5 of the DBMS course. Today: the ER model — entities, attributes, relationships, cardinality and participation. Keep theory light; every idea is tied to an app the students already use.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 three minutes. Put a simple relational table back on screen and ask the three questions. Expected: a designer decided the columns; CustID links the two tables; an ER diagram is drawn before any table. Do not resolve them fully — today's session answers all three properly.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to CO2 — modelling data for a given application. Bloom's Level 3 (Apply): by the end students must draw an ER diagram themselves, not merely describe the notation.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Actions like 'places' or 'contains' are relationships — draw them as diamonds, never as rectangles. (2) Composite splits one value into parts (Address); multivalued holds many values of the same kind (Skills). (3) Every M:N link is resolved into a junction table when the ERD becomes a schema — WatchHistory, Enrollment, OrderItem.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notation on one slide. Rectangles hold the things, ovals hold their properties, diamonds hold the verbs that connect them. Underlined RollNo and CourseID are key attributes. Grade hangs off the diamond because it belongs to the pair, not to Student alone or Course alone.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entity is a single thing; an entity set is the type. Students often blur the two — insist on the row/table analogy. Netflix has one User entity set containing hundreds of millions of User entities, all sharing the same attributes with different values.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types, one slide. Age is simple. Address splits into House No, Street, City, State, PIN — Flipkart stores it in parts so couriers can sort by PIN. Skills on LinkedIn is multivalued. Uber's driver rating is derived from all trip ratings, never typed in. Keys students already carry: UPI ID, PAN, Aadhaar, Roll No.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Weak entities are where students lose marks in exams. The test is simple: can you name this thing uniquely without mentioning its owner? Line item 2 of which order? — so Order_Item is weak. ItemNo is the partial key, shown with a dashed underline in exam notation.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Degree counts the entity sets involved, not how many entities. Unary is the one students forget — an employee managing employees is still one entity set. Ternary relationships are rare but appear in supply-chain and project-allocation systems; if you can split one cleanly into two binaries, usually you should.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read the business rule as a full sentence in both directions — that single habit prevents most cardinality mistakes. In SQL, 1:N becomes a foreign key on the many side, and every M:N becomes a junction table. Netflix mines exactly that junction table to power 'Because you watched…'.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in plain words: can this entity exist without this relationship? If no, participation is total. An order cannot exist without the customer who placed it, so the Order side is total. A customer can install the app and never order, so the Customer side is partial. Total participation is enforced later as a NOT NULL foreign key.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one out loud. One student enrols in many courses; one course holds many students — so M:N. Ask where Grade should live: not on Student (which course?), not on Course (which student?), but on the relationship. When this ERD becomes tables, Enrollment turns into a junction table carrying RollNo, CourseID, Semester and Grade.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Circulate while they draw. Errors to watch for and use as teaching moments: drawing 'Books' as a rectangle instead of a diamond; putting Date on Patient rather than on Appointment; missing the derived Age; and getting the 1:N direction backwards. Fast finishers: add a Prescription weak entity owned by Appointment.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notation still matters in 2026. The storage engine changed; the modelling step did not. Even schemaless document stores need an up-front decision about what to embed and what to reference, and that decision is an ER decision.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them to: Delivery side is total (a delivery cannot exist without a rider), Rider side is partial (an idle rider still exists). The enforcing rule is a NOT NULL foreign key on the delivery table. Push back on anyone who answers 'both total' — ask them what happens to a rider on their first day.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FALSE — a derived attribute is computed on demand from stored data, like Age from DOB or Uber's driver rating from trip ratings. (2) TRUE — an M:N link cannot be represented by a foreign key alone, so it always resolves to a junction table. (3) FALSE — a weak entity has only a partial key and needs the owner's key to be identified. Link answer 3 back to the misconceptions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three minutes and close the loop on the three opening questions: a designer decided the columns, CustID is the relationship made concrete, and the ER diagram is what gets drawn before any table. Next session maps ERDs onto tables. Reading: TB1 Chapter 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on a slip. Question 1 checks they can spot a multivalued attribute in the wild — expect phone numbers, saved addresses, skills. Question 2 checks participation. Question 3 is the Level-3 check. Read the slips before Session 6 and spend the first two minutes on the most common gap.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TB1 is the primary text for this course. Edition numbers should be re-checked against the library catalogue each semester before the deck is issued.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at dbdiagram.io first — the barrier to a first ERD is lowest there. The NPTEL course is the formal self-learning component and carries exam weight.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home challenge and reminding students the exit-ticket slips are collected on the way out.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pearson.com/en-us/subject-catalog/p/introduction-to-database-systems-an/P200000003398"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pages.cs.wisc.edu/~dbbook/" TargetMode="External"/><Relationship Id="rId5" Type="http://schemas.openxmlformats.org/officeDocument/2006/relationships/hyperlink" Target="https://www.pearson.com/en-us/subject-catalog/p/fundamentals-of-database-systems/P200000003546" TargetMode="External"/><Relationship Id="rId4" Type="http://schemas.openxmlformats.org/officeDocument/2006/relationships/hyperlink" Target="https://www.db-book.com"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cs.stanford.edu/people/widom/DB-mooc.html" TargetMode="External"/><Relationship Id="rId3" Type="http://schemas.openxmlformats.org/officeDocument/2006/relationships/image" Target="../media/image1.png"/><Relationship Id="rId7" Type="http://schemas.openxmlformats.org/officeDocument/2006/relationships/hyperlink" Target="https://onlinecourses.nptel.ac.in/noc22_cs91/preview"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dev.mysql.com/doc/workbench/en/" TargetMode="External"/><Relationship Id="rId5" Type="http://schemas.openxmlformats.org/officeDocument/2006/relationships/hyperlink" Target="https://app.diagrams.net" TargetMode="External"/><Relationship Id="rId4" Type="http://schemas.openxmlformats.org/officeDocument/2006/relationships/hyperlink" Target="https://dbdiagram.io" TargetMode="External"/><Relationship Id="rId9" Type="http://schemas.openxmlformats.org/officeDocument/2006/relationships/hyperlink" Target="https://www.w3schools.com/sql/"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1783080"/>
            <a:ext cx="5486400" cy="292608"/>
          </a:xfrm>
          <a:prstGeom prst="rect">
            <a:avLst/>
          </a:prstGeom>
          <a:noFill/>
          <a:ln/>
        </p:spPr>
        <p:txBody>
          <a:bodyPr wrap="square" lIns="0" tIns="0" rIns="0" bIns="0" rtlCol="0" anchor="ctr"/>
          <a:lstStyle/>
          <a:p>
            <a:pPr marL="0" indent="0" algn="l">
              <a:buNone/>
            </a:pPr>
            <a:r>
              <a:rPr lang="en-US" sz="1400" b="1" kern="0" spc="300" dirty="0">
                <a:solidFill>
                  <a:srgbClr val="E97132"/>
                </a:solidFill>
                <a:latin typeface="Times New Roman" pitchFamily="34" charset="0"/>
                <a:ea typeface="Times New Roman" pitchFamily="34" charset="-122"/>
                <a:cs typeface="Times New Roman" pitchFamily="34" charset="-120"/>
              </a:rPr>
              <a:t>SESSION 5</a:t>
            </a:r>
            <a:endParaRPr lang="en-US" sz="1400" dirty="0"/>
          </a:p>
        </p:txBody>
      </p:sp>
      <p:sp>
        <p:nvSpPr>
          <p:cNvPr id="5" name="Text 2"/>
          <p:cNvSpPr/>
          <p:nvPr/>
        </p:nvSpPr>
        <p:spPr>
          <a:xfrm>
            <a:off x="841248" y="2121408"/>
            <a:ext cx="7863840" cy="868680"/>
          </a:xfrm>
          <a:prstGeom prst="rect">
            <a:avLst/>
          </a:prstGeom>
          <a:noFill/>
          <a:ln/>
        </p:spPr>
        <p:txBody>
          <a:bodyPr wrap="square" lIns="0" tIns="0" rIns="0" bIns="0" rtlCol="0" anchor="ctr"/>
          <a:lstStyle/>
          <a:p>
            <a:pPr marL="0" indent="0" algn="l">
              <a:buNone/>
            </a:pPr>
            <a:r>
              <a:rPr lang="en-US" sz="4600" b="1" dirty="0">
                <a:solidFill>
                  <a:srgbClr val="0E2841"/>
                </a:solidFill>
                <a:latin typeface="Times New Roman" pitchFamily="34" charset="0"/>
                <a:ea typeface="Times New Roman" pitchFamily="34" charset="-122"/>
                <a:cs typeface="Times New Roman" pitchFamily="34" charset="-120"/>
              </a:rPr>
              <a:t>The ER Model</a:t>
            </a:r>
            <a:endParaRPr lang="en-US" sz="4600" dirty="0"/>
          </a:p>
        </p:txBody>
      </p:sp>
      <p:sp>
        <p:nvSpPr>
          <p:cNvPr id="6" name="Text 3"/>
          <p:cNvSpPr/>
          <p:nvPr/>
        </p:nvSpPr>
        <p:spPr>
          <a:xfrm>
            <a:off x="841248" y="3017520"/>
            <a:ext cx="8229600" cy="329184"/>
          </a:xfrm>
          <a:prstGeom prst="rect">
            <a:avLst/>
          </a:prstGeom>
          <a:noFill/>
          <a:ln/>
        </p:spPr>
        <p:txBody>
          <a:bodyPr wrap="square" lIns="0" tIns="0" rIns="0" bIns="0" rtlCol="0" anchor="ctr"/>
          <a:lstStyle/>
          <a:p>
            <a:pPr marL="0" indent="0" algn="l">
              <a:buNone/>
            </a:pPr>
            <a:r>
              <a:rPr lang="en-US" sz="1700" dirty="0">
                <a:solidFill>
                  <a:srgbClr val="156082"/>
                </a:solidFill>
                <a:latin typeface="Times New Roman" pitchFamily="34" charset="0"/>
                <a:ea typeface="Times New Roman" pitchFamily="34" charset="-122"/>
                <a:cs typeface="Times New Roman" pitchFamily="34" charset="-120"/>
              </a:rPr>
              <a:t>Entities  ·  Attributes  ·  Cardinality  ·  Participation</a:t>
            </a:r>
            <a:endParaRPr lang="en-US" sz="1700" dirty="0"/>
          </a:p>
        </p:txBody>
      </p:sp>
      <p:sp>
        <p:nvSpPr>
          <p:cNvPr id="7" name="Text 4"/>
          <p:cNvSpPr/>
          <p:nvPr/>
        </p:nvSpPr>
        <p:spPr>
          <a:xfrm>
            <a:off x="841248" y="3401568"/>
            <a:ext cx="8686800" cy="310896"/>
          </a:xfrm>
          <a:prstGeom prst="rect">
            <a:avLst/>
          </a:prstGeom>
          <a:noFill/>
          <a:ln/>
        </p:spPr>
        <p:txBody>
          <a:bodyPr wrap="square" lIns="0" tIns="0" rIns="0" bIns="0" rtlCol="0" anchor="ctr"/>
          <a:lstStyle/>
          <a:p>
            <a:pPr marL="0" indent="0" algn="l">
              <a:buNone/>
            </a:pPr>
            <a:r>
              <a:rPr lang="en-US" sz="1350" i="1" dirty="0">
                <a:solidFill>
                  <a:srgbClr val="5A6472"/>
                </a:solidFill>
                <a:latin typeface="Times New Roman" pitchFamily="34" charset="0"/>
                <a:ea typeface="Times New Roman" pitchFamily="34" charset="-122"/>
                <a:cs typeface="Times New Roman" pitchFamily="34" charset="-120"/>
              </a:rPr>
              <a:t>How Netflix, Amazon and Swiggy design data before writing a single table</a:t>
            </a:r>
            <a:endParaRPr lang="en-US" sz="1350" dirty="0"/>
          </a:p>
        </p:txBody>
      </p:sp>
      <p:sp>
        <p:nvSpPr>
          <p:cNvPr id="8" name="Shape 5"/>
          <p:cNvSpPr/>
          <p:nvPr/>
        </p:nvSpPr>
        <p:spPr>
          <a:xfrm>
            <a:off x="841248" y="3968496"/>
            <a:ext cx="1371600" cy="27432"/>
          </a:xfrm>
          <a:prstGeom prst="rect">
            <a:avLst/>
          </a:prstGeom>
          <a:solidFill>
            <a:srgbClr val="D2DCE6"/>
          </a:solidFill>
          <a:ln/>
        </p:spPr>
      </p:sp>
      <p:sp>
        <p:nvSpPr>
          <p:cNvPr id="9" name="Text 6"/>
          <p:cNvSpPr/>
          <p:nvPr/>
        </p:nvSpPr>
        <p:spPr>
          <a:xfrm>
            <a:off x="841248" y="4206240"/>
            <a:ext cx="8229600" cy="658368"/>
          </a:xfrm>
          <a:prstGeom prst="rect">
            <a:avLst/>
          </a:prstGeom>
          <a:noFill/>
          <a:ln/>
        </p:spPr>
        <p:txBody>
          <a:bodyPr wrap="square" lIns="0" tIns="0" rIns="0" bIns="0" rtlCol="0" anchor="ctr"/>
          <a:lstStyle/>
          <a:p>
            <a:pPr marL="0" indent="0" algn="l">
              <a:lnSpc>
                <a:spcPct val="130000"/>
              </a:lnSpc>
              <a:buNone/>
            </a:pPr>
            <a:r>
              <a:rPr lang="en-US" sz="1250" dirty="0">
                <a:solidFill>
                  <a:srgbClr val="2B2B2B"/>
                </a:solidFill>
                <a:latin typeface="Times New Roman" pitchFamily="34" charset="0"/>
                <a:ea typeface="Times New Roman" pitchFamily="34" charset="-122"/>
                <a:cs typeface="Times New Roman" pitchFamily="34" charset="-120"/>
              </a:rPr>
              <a:t>Ms. Mansi  ·  Dr. Rishika  ·  Ms. Megha Sharma  ·  Dr. Reenu</a:t>
            </a:r>
            <a:endParaRPr lang="en-US" sz="1250" dirty="0"/>
          </a:p>
          <a:p>
            <a:pPr marL="0" indent="0" algn="l">
              <a:lnSpc>
                <a:spcPct val="130000"/>
              </a:lnSpc>
              <a:buNone/>
            </a:pPr>
            <a:r>
              <a:rPr lang="en-US" sz="1250" dirty="0">
                <a:solidFill>
                  <a:srgbClr val="2B2B2B"/>
                </a:solidFill>
                <a:latin typeface="Times New Roman" pitchFamily="34" charset="0"/>
                <a:ea typeface="Times New Roman" pitchFamily="34" charset="-122"/>
                <a:cs typeface="Times New Roman" pitchFamily="34" charset="-120"/>
              </a:rPr>
              <a:t>Dr. Swati  ·  Dr. Neha Kaushik  </a:t>
            </a:r>
            <a:endParaRPr lang="en-US" sz="1250" dirty="0"/>
          </a:p>
        </p:txBody>
      </p:sp>
      <p:sp>
        <p:nvSpPr>
          <p:cNvPr id="10" name="Text 7"/>
          <p:cNvSpPr/>
          <p:nvPr/>
        </p:nvSpPr>
        <p:spPr>
          <a:xfrm>
            <a:off x="841248" y="4919472"/>
            <a:ext cx="8229600" cy="585216"/>
          </a:xfrm>
          <a:prstGeom prst="rect">
            <a:avLst/>
          </a:prstGeom>
          <a:noFill/>
          <a:ln/>
        </p:spPr>
        <p:txBody>
          <a:bodyPr wrap="square" lIns="0" tIns="0" rIns="0" bIns="0" rtlCol="0" anchor="ctr"/>
          <a:lstStyle/>
          <a:p>
            <a:pPr marL="0" indent="0" algn="l">
              <a:lnSpc>
                <a:spcPct val="125000"/>
              </a:lnSpc>
              <a:buNone/>
            </a:pPr>
            <a:r>
              <a:rPr lang="en-US" sz="1150" dirty="0">
                <a:solidFill>
                  <a:srgbClr val="5A6472"/>
                </a:solidFill>
                <a:latin typeface="Times New Roman" pitchFamily="34" charset="0"/>
                <a:ea typeface="Times New Roman" pitchFamily="34" charset="-122"/>
                <a:cs typeface="Times New Roman" pitchFamily="34" charset="-120"/>
              </a:rPr>
              <a:t>Faculty, School of Engineering &amp; Technology (SOET)</a:t>
            </a:r>
            <a:endParaRPr lang="en-US" sz="1150" dirty="0"/>
          </a:p>
          <a:p>
            <a:pPr marL="0" indent="0" algn="l">
              <a:lnSpc>
                <a:spcPct val="125000"/>
              </a:lnSpc>
              <a:buNone/>
            </a:pPr>
            <a:r>
              <a:rPr lang="en-US" sz="1150" dirty="0">
                <a:solidFill>
                  <a:srgbClr val="5A6472"/>
                </a:solidFill>
                <a:latin typeface="Times New Roman" pitchFamily="34" charset="0"/>
                <a:ea typeface="Times New Roman" pitchFamily="34" charset="-122"/>
                <a:cs typeface="Times New Roman" pitchFamily="34" charset="-120"/>
              </a:rPr>
              <a:t>K. R. Mangalam University</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Prior Knowledge Activation</a:t>
            </a:r>
            <a:endParaRPr lang="en-US" sz="3200" dirty="0"/>
          </a:p>
        </p:txBody>
      </p:sp>
      <p:sp>
        <p:nvSpPr>
          <p:cNvPr id="5" name="Text 2"/>
          <p:cNvSpPr/>
          <p:nvPr/>
        </p:nvSpPr>
        <p:spPr>
          <a:xfrm>
            <a:off x="841248" y="1298448"/>
            <a:ext cx="10515600" cy="310896"/>
          </a:xfrm>
          <a:prstGeom prst="rect">
            <a:avLst/>
          </a:prstGeom>
          <a:noFill/>
          <a:ln/>
        </p:spPr>
        <p:txBody>
          <a:bodyPr wrap="square" lIns="0" tIns="0" rIns="0" bIns="0" rtlCol="0" anchor="ctr"/>
          <a:lstStyle/>
          <a:p>
            <a:pPr marL="0" indent="0" algn="l">
              <a:buNone/>
            </a:pPr>
            <a:r>
              <a:rPr lang="en-US" sz="1500" i="1" dirty="0">
                <a:solidFill>
                  <a:srgbClr val="5A6472"/>
                </a:solidFill>
                <a:latin typeface="Times New Roman" pitchFamily="34" charset="0"/>
                <a:ea typeface="Times New Roman" pitchFamily="34" charset="-122"/>
                <a:cs typeface="Times New Roman" pitchFamily="34" charset="-120"/>
              </a:rPr>
              <a:t>Last session you worked with tables that looked like this:</a:t>
            </a:r>
            <a:endParaRPr lang="en-US" sz="1500" dirty="0"/>
          </a:p>
        </p:txBody>
      </p:sp>
      <p:sp>
        <p:nvSpPr>
          <p:cNvPr id="6" name="Shape 3"/>
          <p:cNvSpPr/>
          <p:nvPr/>
        </p:nvSpPr>
        <p:spPr>
          <a:xfrm>
            <a:off x="841248" y="1783080"/>
            <a:ext cx="10515600" cy="1097280"/>
          </a:xfrm>
          <a:prstGeom prst="roundRect">
            <a:avLst>
              <a:gd name="adj" fmla="val 8333"/>
            </a:avLst>
          </a:prstGeom>
          <a:solidFill>
            <a:srgbClr val="1E3040"/>
          </a:solidFill>
          <a:ln/>
        </p:spPr>
      </p:sp>
      <p:sp>
        <p:nvSpPr>
          <p:cNvPr id="7" name="Text 4"/>
          <p:cNvSpPr/>
          <p:nvPr/>
        </p:nvSpPr>
        <p:spPr>
          <a:xfrm>
            <a:off x="1252728" y="1783080"/>
            <a:ext cx="9692640" cy="1097280"/>
          </a:xfrm>
          <a:prstGeom prst="rect">
            <a:avLst/>
          </a:prstGeom>
          <a:noFill/>
          <a:ln/>
        </p:spPr>
        <p:txBody>
          <a:bodyPr wrap="square" lIns="0" tIns="0" rIns="0" bIns="0" rtlCol="0" anchor="ctr"/>
          <a:lstStyle/>
          <a:p>
            <a:pPr marL="0" indent="0" algn="l">
              <a:lnSpc>
                <a:spcPct val="145000"/>
              </a:lnSpc>
              <a:buNone/>
            </a:pPr>
            <a:r>
              <a:rPr lang="en-US" sz="1700" dirty="0">
                <a:solidFill>
                  <a:srgbClr val="E8F2F8"/>
                </a:solidFill>
                <a:latin typeface="Consolas" pitchFamily="34" charset="0"/>
                <a:ea typeface="Consolas" pitchFamily="34" charset="-122"/>
                <a:cs typeface="Consolas" pitchFamily="34" charset="-120"/>
              </a:rPr>
              <a:t>Customer ( CustID, Name, Phone, City )</a:t>
            </a:r>
            <a:endParaRPr lang="en-US" sz="1700" dirty="0"/>
          </a:p>
          <a:p>
            <a:pPr marL="0" indent="0" algn="l">
              <a:lnSpc>
                <a:spcPct val="145000"/>
              </a:lnSpc>
              <a:buNone/>
            </a:pPr>
            <a:r>
              <a:rPr lang="en-US" sz="1700" dirty="0">
                <a:solidFill>
                  <a:srgbClr val="E8F2F8"/>
                </a:solidFill>
                <a:latin typeface="Consolas" pitchFamily="34" charset="0"/>
                <a:ea typeface="Consolas" pitchFamily="34" charset="-122"/>
                <a:cs typeface="Consolas" pitchFamily="34" charset="-120"/>
              </a:rPr>
              <a:t>Order    ( OrderID, CustID, Amount, Status )</a:t>
            </a:r>
            <a:endParaRPr lang="en-US" sz="1700" dirty="0"/>
          </a:p>
        </p:txBody>
      </p:sp>
      <p:sp>
        <p:nvSpPr>
          <p:cNvPr id="8" name="Shape 5"/>
          <p:cNvSpPr/>
          <p:nvPr/>
        </p:nvSpPr>
        <p:spPr>
          <a:xfrm>
            <a:off x="841248" y="3246120"/>
            <a:ext cx="3346704" cy="1417320"/>
          </a:xfrm>
          <a:prstGeom prst="roundRect">
            <a:avLst>
              <a:gd name="adj" fmla="val 5161"/>
            </a:avLst>
          </a:prstGeom>
          <a:solidFill>
            <a:srgbClr val="FFFFFF"/>
          </a:solidFill>
          <a:ln w="12700">
            <a:solidFill>
              <a:srgbClr val="D2DCE6"/>
            </a:solidFill>
            <a:prstDash val="solid"/>
          </a:ln>
        </p:spPr>
      </p:sp>
      <p:sp>
        <p:nvSpPr>
          <p:cNvPr id="9" name="Shape 6"/>
          <p:cNvSpPr/>
          <p:nvPr/>
        </p:nvSpPr>
        <p:spPr>
          <a:xfrm>
            <a:off x="841248" y="3246120"/>
            <a:ext cx="109728" cy="1417320"/>
          </a:xfrm>
          <a:prstGeom prst="rect">
            <a:avLst/>
          </a:prstGeom>
          <a:solidFill>
            <a:srgbClr val="156082"/>
          </a:solidFill>
          <a:ln/>
        </p:spPr>
      </p:sp>
      <p:sp>
        <p:nvSpPr>
          <p:cNvPr id="10" name="Shape 7"/>
          <p:cNvSpPr/>
          <p:nvPr/>
        </p:nvSpPr>
        <p:spPr>
          <a:xfrm>
            <a:off x="1225296" y="3493008"/>
            <a:ext cx="402336" cy="402336"/>
          </a:xfrm>
          <a:prstGeom prst="ellipse">
            <a:avLst/>
          </a:prstGeom>
          <a:solidFill>
            <a:srgbClr val="156082"/>
          </a:solidFill>
          <a:ln/>
        </p:spPr>
      </p:sp>
      <p:sp>
        <p:nvSpPr>
          <p:cNvPr id="11" name="Text 8"/>
          <p:cNvSpPr/>
          <p:nvPr/>
        </p:nvSpPr>
        <p:spPr>
          <a:xfrm>
            <a:off x="1225296" y="349300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12" name="Text 9"/>
          <p:cNvSpPr/>
          <p:nvPr/>
        </p:nvSpPr>
        <p:spPr>
          <a:xfrm>
            <a:off x="1225296" y="4041648"/>
            <a:ext cx="2697480" cy="502920"/>
          </a:xfrm>
          <a:prstGeom prst="rect">
            <a:avLst/>
          </a:prstGeom>
          <a:noFill/>
          <a:ln/>
        </p:spPr>
        <p:txBody>
          <a:bodyPr wrap="square" lIns="0" tIns="0" rIns="0" bIns="0" rtlCol="0" anchor="ctr"/>
          <a:lstStyle/>
          <a:p>
            <a:pPr marL="0" indent="0" algn="l">
              <a:buNone/>
            </a:pPr>
            <a:r>
              <a:rPr lang="en-US" sz="1500" b="1" dirty="0">
                <a:solidFill>
                  <a:srgbClr val="0E2841"/>
                </a:solidFill>
                <a:latin typeface="Times New Roman" pitchFamily="34" charset="0"/>
                <a:ea typeface="Times New Roman" pitchFamily="34" charset="-122"/>
                <a:cs typeface="Times New Roman" pitchFamily="34" charset="-120"/>
              </a:rPr>
              <a:t>Who decided these columns?</a:t>
            </a:r>
            <a:endParaRPr lang="en-US" sz="1500" dirty="0"/>
          </a:p>
        </p:txBody>
      </p:sp>
      <p:sp>
        <p:nvSpPr>
          <p:cNvPr id="13" name="Shape 10"/>
          <p:cNvSpPr/>
          <p:nvPr/>
        </p:nvSpPr>
        <p:spPr>
          <a:xfrm>
            <a:off x="4425696" y="3246120"/>
            <a:ext cx="3346704" cy="1417320"/>
          </a:xfrm>
          <a:prstGeom prst="roundRect">
            <a:avLst>
              <a:gd name="adj" fmla="val 5161"/>
            </a:avLst>
          </a:prstGeom>
          <a:solidFill>
            <a:srgbClr val="FFFFFF"/>
          </a:solidFill>
          <a:ln w="12700">
            <a:solidFill>
              <a:srgbClr val="D2DCE6"/>
            </a:solidFill>
            <a:prstDash val="solid"/>
          </a:ln>
        </p:spPr>
      </p:sp>
      <p:sp>
        <p:nvSpPr>
          <p:cNvPr id="14" name="Shape 11"/>
          <p:cNvSpPr/>
          <p:nvPr/>
        </p:nvSpPr>
        <p:spPr>
          <a:xfrm>
            <a:off x="4425696" y="3246120"/>
            <a:ext cx="109728" cy="1417320"/>
          </a:xfrm>
          <a:prstGeom prst="rect">
            <a:avLst/>
          </a:prstGeom>
          <a:solidFill>
            <a:srgbClr val="E97132"/>
          </a:solidFill>
          <a:ln/>
        </p:spPr>
      </p:sp>
      <p:sp>
        <p:nvSpPr>
          <p:cNvPr id="15" name="Shape 12"/>
          <p:cNvSpPr/>
          <p:nvPr/>
        </p:nvSpPr>
        <p:spPr>
          <a:xfrm>
            <a:off x="4809744" y="3493008"/>
            <a:ext cx="402336" cy="402336"/>
          </a:xfrm>
          <a:prstGeom prst="ellipse">
            <a:avLst/>
          </a:prstGeom>
          <a:solidFill>
            <a:srgbClr val="E97132"/>
          </a:solidFill>
          <a:ln/>
        </p:spPr>
      </p:sp>
      <p:sp>
        <p:nvSpPr>
          <p:cNvPr id="16" name="Text 13"/>
          <p:cNvSpPr/>
          <p:nvPr/>
        </p:nvSpPr>
        <p:spPr>
          <a:xfrm>
            <a:off x="4809744" y="349300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7" name="Text 14"/>
          <p:cNvSpPr/>
          <p:nvPr/>
        </p:nvSpPr>
        <p:spPr>
          <a:xfrm>
            <a:off x="4809744" y="4041648"/>
            <a:ext cx="2697480" cy="502920"/>
          </a:xfrm>
          <a:prstGeom prst="rect">
            <a:avLst/>
          </a:prstGeom>
          <a:noFill/>
          <a:ln/>
        </p:spPr>
        <p:txBody>
          <a:bodyPr wrap="square" lIns="0" tIns="0" rIns="0" bIns="0" rtlCol="0" anchor="ctr"/>
          <a:lstStyle/>
          <a:p>
            <a:pPr marL="0" indent="0" algn="l">
              <a:buNone/>
            </a:pPr>
            <a:r>
              <a:rPr lang="en-US" sz="1500" b="1" dirty="0">
                <a:solidFill>
                  <a:srgbClr val="0E2841"/>
                </a:solidFill>
                <a:latin typeface="Times New Roman" pitchFamily="34" charset="0"/>
                <a:ea typeface="Times New Roman" pitchFamily="34" charset="-122"/>
                <a:cs typeface="Times New Roman" pitchFamily="34" charset="-120"/>
              </a:rPr>
              <a:t>How do the two tables connect?</a:t>
            </a:r>
            <a:endParaRPr lang="en-US" sz="1500" dirty="0"/>
          </a:p>
        </p:txBody>
      </p:sp>
      <p:sp>
        <p:nvSpPr>
          <p:cNvPr id="18" name="Shape 15"/>
          <p:cNvSpPr/>
          <p:nvPr/>
        </p:nvSpPr>
        <p:spPr>
          <a:xfrm>
            <a:off x="8010144" y="3246120"/>
            <a:ext cx="3346704" cy="1417320"/>
          </a:xfrm>
          <a:prstGeom prst="roundRect">
            <a:avLst>
              <a:gd name="adj" fmla="val 5161"/>
            </a:avLst>
          </a:prstGeom>
          <a:solidFill>
            <a:srgbClr val="FFFFFF"/>
          </a:solidFill>
          <a:ln w="12700">
            <a:solidFill>
              <a:srgbClr val="D2DCE6"/>
            </a:solidFill>
            <a:prstDash val="solid"/>
          </a:ln>
        </p:spPr>
      </p:sp>
      <p:sp>
        <p:nvSpPr>
          <p:cNvPr id="19" name="Shape 16"/>
          <p:cNvSpPr/>
          <p:nvPr/>
        </p:nvSpPr>
        <p:spPr>
          <a:xfrm>
            <a:off x="8010144" y="3246120"/>
            <a:ext cx="109728" cy="1417320"/>
          </a:xfrm>
          <a:prstGeom prst="rect">
            <a:avLst/>
          </a:prstGeom>
          <a:solidFill>
            <a:srgbClr val="196B24"/>
          </a:solidFill>
          <a:ln/>
        </p:spPr>
      </p:sp>
      <p:sp>
        <p:nvSpPr>
          <p:cNvPr id="20" name="Shape 17"/>
          <p:cNvSpPr/>
          <p:nvPr/>
        </p:nvSpPr>
        <p:spPr>
          <a:xfrm>
            <a:off x="8394192" y="3493008"/>
            <a:ext cx="402336" cy="402336"/>
          </a:xfrm>
          <a:prstGeom prst="ellipse">
            <a:avLst/>
          </a:prstGeom>
          <a:solidFill>
            <a:srgbClr val="196B24"/>
          </a:solidFill>
          <a:ln/>
        </p:spPr>
      </p:sp>
      <p:sp>
        <p:nvSpPr>
          <p:cNvPr id="21" name="Text 18"/>
          <p:cNvSpPr/>
          <p:nvPr/>
        </p:nvSpPr>
        <p:spPr>
          <a:xfrm>
            <a:off x="8394192" y="349300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22" name="Text 19"/>
          <p:cNvSpPr/>
          <p:nvPr/>
        </p:nvSpPr>
        <p:spPr>
          <a:xfrm>
            <a:off x="8394192" y="4041648"/>
            <a:ext cx="2697480" cy="502920"/>
          </a:xfrm>
          <a:prstGeom prst="rect">
            <a:avLst/>
          </a:prstGeom>
          <a:noFill/>
          <a:ln/>
        </p:spPr>
        <p:txBody>
          <a:bodyPr wrap="square" lIns="0" tIns="0" rIns="0" bIns="0" rtlCol="0" anchor="ctr"/>
          <a:lstStyle/>
          <a:p>
            <a:pPr marL="0" indent="0" algn="l">
              <a:buNone/>
            </a:pPr>
            <a:r>
              <a:rPr lang="en-US" sz="1500" b="1" dirty="0">
                <a:solidFill>
                  <a:srgbClr val="0E2841"/>
                </a:solidFill>
                <a:latin typeface="Times New Roman" pitchFamily="34" charset="0"/>
                <a:ea typeface="Times New Roman" pitchFamily="34" charset="-122"/>
                <a:cs typeface="Times New Roman" pitchFamily="34" charset="-120"/>
              </a:rPr>
              <a:t>What is drawn before a table exists?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Session Outcomes</a:t>
            </a:r>
            <a:endParaRPr lang="en-US" sz="3200" dirty="0"/>
          </a:p>
        </p:txBody>
      </p:sp>
      <p:sp>
        <p:nvSpPr>
          <p:cNvPr id="5" name="Text 2"/>
          <p:cNvSpPr/>
          <p:nvPr/>
        </p:nvSpPr>
        <p:spPr>
          <a:xfrm>
            <a:off x="841248" y="1298448"/>
            <a:ext cx="10515600" cy="310896"/>
          </a:xfrm>
          <a:prstGeom prst="rect">
            <a:avLst/>
          </a:prstGeom>
          <a:noFill/>
          <a:ln/>
        </p:spPr>
        <p:txBody>
          <a:bodyPr wrap="square" lIns="0" tIns="0" rIns="0" bIns="0" rtlCol="0" anchor="ctr"/>
          <a:lstStyle/>
          <a:p>
            <a:pPr marL="0" indent="0" algn="l">
              <a:buNone/>
            </a:pPr>
            <a:r>
              <a:rPr lang="en-US" sz="1500" i="1" dirty="0">
                <a:solidFill>
                  <a:srgbClr val="5A6472"/>
                </a:solidFill>
                <a:latin typeface="Times New Roman" pitchFamily="34" charset="0"/>
                <a:ea typeface="Times New Roman" pitchFamily="34" charset="-122"/>
                <a:cs typeface="Times New Roman" pitchFamily="34" charset="-120"/>
              </a:rPr>
              <a:t>By the end of this session you will be able to:</a:t>
            </a:r>
            <a:endParaRPr lang="en-US" sz="1500" dirty="0"/>
          </a:p>
        </p:txBody>
      </p:sp>
      <p:sp>
        <p:nvSpPr>
          <p:cNvPr id="6" name="Shape 3"/>
          <p:cNvSpPr/>
          <p:nvPr/>
        </p:nvSpPr>
        <p:spPr>
          <a:xfrm>
            <a:off x="841248" y="1874520"/>
            <a:ext cx="10515600" cy="868680"/>
          </a:xfrm>
          <a:prstGeom prst="roundRect">
            <a:avLst>
              <a:gd name="adj" fmla="val 8421"/>
            </a:avLst>
          </a:prstGeom>
          <a:solidFill>
            <a:srgbClr val="FFFFFF"/>
          </a:solidFill>
          <a:ln w="12700">
            <a:solidFill>
              <a:srgbClr val="D2DCE6"/>
            </a:solidFill>
            <a:prstDash val="solid"/>
          </a:ln>
        </p:spPr>
      </p:sp>
      <p:sp>
        <p:nvSpPr>
          <p:cNvPr id="7" name="Shape 4"/>
          <p:cNvSpPr/>
          <p:nvPr/>
        </p:nvSpPr>
        <p:spPr>
          <a:xfrm>
            <a:off x="841248" y="1874520"/>
            <a:ext cx="109728" cy="868680"/>
          </a:xfrm>
          <a:prstGeom prst="rect">
            <a:avLst/>
          </a:prstGeom>
          <a:solidFill>
            <a:srgbClr val="156082"/>
          </a:solidFill>
          <a:ln/>
        </p:spPr>
      </p:sp>
      <p:sp>
        <p:nvSpPr>
          <p:cNvPr id="8" name="Shape 5"/>
          <p:cNvSpPr/>
          <p:nvPr/>
        </p:nvSpPr>
        <p:spPr>
          <a:xfrm>
            <a:off x="1225296" y="2103120"/>
            <a:ext cx="411480" cy="411480"/>
          </a:xfrm>
          <a:prstGeom prst="ellipse">
            <a:avLst/>
          </a:prstGeom>
          <a:solidFill>
            <a:srgbClr val="156082"/>
          </a:solidFill>
          <a:ln/>
        </p:spPr>
      </p:sp>
      <p:sp>
        <p:nvSpPr>
          <p:cNvPr id="9" name="Text 6"/>
          <p:cNvSpPr/>
          <p:nvPr/>
        </p:nvSpPr>
        <p:spPr>
          <a:xfrm>
            <a:off x="1225296" y="21031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10" name="Text 7"/>
          <p:cNvSpPr/>
          <p:nvPr/>
        </p:nvSpPr>
        <p:spPr>
          <a:xfrm>
            <a:off x="1892808" y="2002536"/>
            <a:ext cx="5852160" cy="347472"/>
          </a:xfrm>
          <a:prstGeom prst="rect">
            <a:avLst/>
          </a:prstGeom>
          <a:noFill/>
          <a:ln/>
        </p:spPr>
        <p:txBody>
          <a:bodyPr wrap="square" lIns="0" tIns="0" rIns="0" bIns="0" rtlCol="0" anchor="ctr"/>
          <a:lstStyle/>
          <a:p>
            <a:pPr marL="0" indent="0" algn="l">
              <a:buNone/>
            </a:pPr>
            <a:r>
              <a:rPr lang="en-US" sz="1700" b="1" dirty="0">
                <a:solidFill>
                  <a:srgbClr val="0E2841"/>
                </a:solidFill>
                <a:latin typeface="Times New Roman" pitchFamily="34" charset="0"/>
                <a:ea typeface="Times New Roman" pitchFamily="34" charset="-122"/>
                <a:cs typeface="Times New Roman" pitchFamily="34" charset="-120"/>
              </a:rPr>
              <a:t>Identify entities, attributes and relationships</a:t>
            </a:r>
            <a:endParaRPr lang="en-US" sz="1700" dirty="0"/>
          </a:p>
        </p:txBody>
      </p:sp>
      <p:sp>
        <p:nvSpPr>
          <p:cNvPr id="11" name="Text 8"/>
          <p:cNvSpPr/>
          <p:nvPr/>
        </p:nvSpPr>
        <p:spPr>
          <a:xfrm>
            <a:off x="1892808" y="2350008"/>
            <a:ext cx="5852160" cy="292608"/>
          </a:xfrm>
          <a:prstGeom prst="rect">
            <a:avLst/>
          </a:prstGeom>
          <a:noFill/>
          <a:ln/>
        </p:spPr>
        <p:txBody>
          <a:bodyPr wrap="square" lIns="0" tIns="0" rIns="0" bIns="0" rtlCol="0" anchor="ctr"/>
          <a:lstStyle/>
          <a:p>
            <a:pPr marL="0" indent="0" algn="l">
              <a:buNone/>
            </a:pPr>
            <a:r>
              <a:rPr lang="en-US" sz="1300" dirty="0">
                <a:solidFill>
                  <a:srgbClr val="5A6472"/>
                </a:solidFill>
                <a:latin typeface="Times New Roman" pitchFamily="34" charset="0"/>
                <a:ea typeface="Times New Roman" pitchFamily="34" charset="-122"/>
                <a:cs typeface="Times New Roman" pitchFamily="34" charset="-120"/>
              </a:rPr>
              <a:t>in any real application</a:t>
            </a:r>
            <a:endParaRPr lang="en-US" sz="1300" dirty="0"/>
          </a:p>
        </p:txBody>
      </p:sp>
      <p:sp>
        <p:nvSpPr>
          <p:cNvPr id="12" name="Shape 9"/>
          <p:cNvSpPr/>
          <p:nvPr/>
        </p:nvSpPr>
        <p:spPr>
          <a:xfrm>
            <a:off x="841248" y="2926080"/>
            <a:ext cx="10515600" cy="868680"/>
          </a:xfrm>
          <a:prstGeom prst="roundRect">
            <a:avLst>
              <a:gd name="adj" fmla="val 8421"/>
            </a:avLst>
          </a:prstGeom>
          <a:solidFill>
            <a:srgbClr val="FFFFFF"/>
          </a:solidFill>
          <a:ln w="12700">
            <a:solidFill>
              <a:srgbClr val="D2DCE6"/>
            </a:solidFill>
            <a:prstDash val="solid"/>
          </a:ln>
        </p:spPr>
      </p:sp>
      <p:sp>
        <p:nvSpPr>
          <p:cNvPr id="13" name="Shape 10"/>
          <p:cNvSpPr/>
          <p:nvPr/>
        </p:nvSpPr>
        <p:spPr>
          <a:xfrm>
            <a:off x="841248" y="2926080"/>
            <a:ext cx="109728" cy="868680"/>
          </a:xfrm>
          <a:prstGeom prst="rect">
            <a:avLst/>
          </a:prstGeom>
          <a:solidFill>
            <a:srgbClr val="E97132"/>
          </a:solidFill>
          <a:ln/>
        </p:spPr>
      </p:sp>
      <p:sp>
        <p:nvSpPr>
          <p:cNvPr id="14" name="Shape 11"/>
          <p:cNvSpPr/>
          <p:nvPr/>
        </p:nvSpPr>
        <p:spPr>
          <a:xfrm>
            <a:off x="1225296" y="3154680"/>
            <a:ext cx="411480" cy="411480"/>
          </a:xfrm>
          <a:prstGeom prst="ellipse">
            <a:avLst/>
          </a:prstGeom>
          <a:solidFill>
            <a:srgbClr val="E97132"/>
          </a:solidFill>
          <a:ln/>
        </p:spPr>
      </p:sp>
      <p:sp>
        <p:nvSpPr>
          <p:cNvPr id="15" name="Text 12"/>
          <p:cNvSpPr/>
          <p:nvPr/>
        </p:nvSpPr>
        <p:spPr>
          <a:xfrm>
            <a:off x="1225296" y="31546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6" name="Text 13"/>
          <p:cNvSpPr/>
          <p:nvPr/>
        </p:nvSpPr>
        <p:spPr>
          <a:xfrm>
            <a:off x="1892808" y="3054096"/>
            <a:ext cx="5852160" cy="347472"/>
          </a:xfrm>
          <a:prstGeom prst="rect">
            <a:avLst/>
          </a:prstGeom>
          <a:noFill/>
          <a:ln/>
        </p:spPr>
        <p:txBody>
          <a:bodyPr wrap="square" lIns="0" tIns="0" rIns="0" bIns="0" rtlCol="0" anchor="ctr"/>
          <a:lstStyle/>
          <a:p>
            <a:pPr marL="0" indent="0" algn="l">
              <a:buNone/>
            </a:pPr>
            <a:r>
              <a:rPr lang="en-US" sz="1700" b="1" dirty="0">
                <a:solidFill>
                  <a:srgbClr val="0E2841"/>
                </a:solidFill>
                <a:latin typeface="Times New Roman" pitchFamily="34" charset="0"/>
                <a:ea typeface="Times New Roman" pitchFamily="34" charset="-122"/>
                <a:cs typeface="Times New Roman" pitchFamily="34" charset="-120"/>
              </a:rPr>
              <a:t>Choose the correct cardinality and participation</a:t>
            </a:r>
            <a:endParaRPr lang="en-US" sz="1700" dirty="0"/>
          </a:p>
        </p:txBody>
      </p:sp>
      <p:sp>
        <p:nvSpPr>
          <p:cNvPr id="17" name="Text 14"/>
          <p:cNvSpPr/>
          <p:nvPr/>
        </p:nvSpPr>
        <p:spPr>
          <a:xfrm>
            <a:off x="1892808" y="3401568"/>
            <a:ext cx="5852160" cy="292608"/>
          </a:xfrm>
          <a:prstGeom prst="rect">
            <a:avLst/>
          </a:prstGeom>
          <a:noFill/>
          <a:ln/>
        </p:spPr>
        <p:txBody>
          <a:bodyPr wrap="square" lIns="0" tIns="0" rIns="0" bIns="0" rtlCol="0" anchor="ctr"/>
          <a:lstStyle/>
          <a:p>
            <a:pPr marL="0" indent="0" algn="l">
              <a:buNone/>
            </a:pPr>
            <a:r>
              <a:rPr lang="en-US" sz="1300" dirty="0">
                <a:solidFill>
                  <a:srgbClr val="5A6472"/>
                </a:solidFill>
                <a:latin typeface="Times New Roman" pitchFamily="34" charset="0"/>
                <a:ea typeface="Times New Roman" pitchFamily="34" charset="-122"/>
                <a:cs typeface="Times New Roman" pitchFamily="34" charset="-120"/>
              </a:rPr>
              <a:t>from a written business rule</a:t>
            </a:r>
            <a:endParaRPr lang="en-US" sz="1300" dirty="0"/>
          </a:p>
        </p:txBody>
      </p:sp>
      <p:sp>
        <p:nvSpPr>
          <p:cNvPr id="18" name="Shape 15"/>
          <p:cNvSpPr/>
          <p:nvPr/>
        </p:nvSpPr>
        <p:spPr>
          <a:xfrm>
            <a:off x="841248" y="3977640"/>
            <a:ext cx="10515600" cy="868680"/>
          </a:xfrm>
          <a:prstGeom prst="roundRect">
            <a:avLst>
              <a:gd name="adj" fmla="val 8421"/>
            </a:avLst>
          </a:prstGeom>
          <a:solidFill>
            <a:srgbClr val="FFFFFF"/>
          </a:solidFill>
          <a:ln w="12700">
            <a:solidFill>
              <a:srgbClr val="D2DCE6"/>
            </a:solidFill>
            <a:prstDash val="solid"/>
          </a:ln>
        </p:spPr>
      </p:sp>
      <p:sp>
        <p:nvSpPr>
          <p:cNvPr id="19" name="Shape 16"/>
          <p:cNvSpPr/>
          <p:nvPr/>
        </p:nvSpPr>
        <p:spPr>
          <a:xfrm>
            <a:off x="841248" y="3977640"/>
            <a:ext cx="109728" cy="868680"/>
          </a:xfrm>
          <a:prstGeom prst="rect">
            <a:avLst/>
          </a:prstGeom>
          <a:solidFill>
            <a:srgbClr val="196B24"/>
          </a:solidFill>
          <a:ln/>
        </p:spPr>
      </p:sp>
      <p:sp>
        <p:nvSpPr>
          <p:cNvPr id="20" name="Shape 17"/>
          <p:cNvSpPr/>
          <p:nvPr/>
        </p:nvSpPr>
        <p:spPr>
          <a:xfrm>
            <a:off x="1225296" y="4206240"/>
            <a:ext cx="411480" cy="411480"/>
          </a:xfrm>
          <a:prstGeom prst="ellipse">
            <a:avLst/>
          </a:prstGeom>
          <a:solidFill>
            <a:srgbClr val="196B24"/>
          </a:solidFill>
          <a:ln/>
        </p:spPr>
      </p:sp>
      <p:sp>
        <p:nvSpPr>
          <p:cNvPr id="21" name="Text 18"/>
          <p:cNvSpPr/>
          <p:nvPr/>
        </p:nvSpPr>
        <p:spPr>
          <a:xfrm>
            <a:off x="1225296" y="42062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22" name="Text 19"/>
          <p:cNvSpPr/>
          <p:nvPr/>
        </p:nvSpPr>
        <p:spPr>
          <a:xfrm>
            <a:off x="1892808" y="4105656"/>
            <a:ext cx="5852160" cy="347472"/>
          </a:xfrm>
          <a:prstGeom prst="rect">
            <a:avLst/>
          </a:prstGeom>
          <a:noFill/>
          <a:ln/>
        </p:spPr>
        <p:txBody>
          <a:bodyPr wrap="square" lIns="0" tIns="0" rIns="0" bIns="0" rtlCol="0" anchor="ctr"/>
          <a:lstStyle/>
          <a:p>
            <a:pPr marL="0" indent="0" algn="l">
              <a:buNone/>
            </a:pPr>
            <a:r>
              <a:rPr lang="en-US" sz="1700" b="1" dirty="0">
                <a:solidFill>
                  <a:srgbClr val="0E2841"/>
                </a:solidFill>
                <a:latin typeface="Times New Roman" pitchFamily="34" charset="0"/>
                <a:ea typeface="Times New Roman" pitchFamily="34" charset="-122"/>
                <a:cs typeface="Times New Roman" pitchFamily="34" charset="-120"/>
              </a:rPr>
              <a:t>Draw a complete ER diagram</a:t>
            </a:r>
            <a:endParaRPr lang="en-US" sz="1700" dirty="0"/>
          </a:p>
        </p:txBody>
      </p:sp>
      <p:sp>
        <p:nvSpPr>
          <p:cNvPr id="23" name="Text 20"/>
          <p:cNvSpPr/>
          <p:nvPr/>
        </p:nvSpPr>
        <p:spPr>
          <a:xfrm>
            <a:off x="1892808" y="4453128"/>
            <a:ext cx="5852160" cy="292608"/>
          </a:xfrm>
          <a:prstGeom prst="rect">
            <a:avLst/>
          </a:prstGeom>
          <a:noFill/>
          <a:ln/>
        </p:spPr>
        <p:txBody>
          <a:bodyPr wrap="square" lIns="0" tIns="0" rIns="0" bIns="0" rtlCol="0" anchor="ctr"/>
          <a:lstStyle/>
          <a:p>
            <a:pPr marL="0" indent="0" algn="l">
              <a:buNone/>
            </a:pPr>
            <a:r>
              <a:rPr lang="en-US" sz="1300" dirty="0">
                <a:solidFill>
                  <a:srgbClr val="5A6472"/>
                </a:solidFill>
                <a:latin typeface="Times New Roman" pitchFamily="34" charset="0"/>
                <a:ea typeface="Times New Roman" pitchFamily="34" charset="-122"/>
                <a:cs typeface="Times New Roman" pitchFamily="34" charset="-120"/>
              </a:rPr>
              <a:t>for a streaming, e-commerce or delivery platform</a:t>
            </a:r>
            <a:endParaRPr lang="en-US" sz="1300" dirty="0"/>
          </a:p>
        </p:txBody>
      </p:sp>
      <p:sp>
        <p:nvSpPr>
          <p:cNvPr id="24" name="Shape 21"/>
          <p:cNvSpPr/>
          <p:nvPr/>
        </p:nvSpPr>
        <p:spPr>
          <a:xfrm>
            <a:off x="841248" y="5212080"/>
            <a:ext cx="2926080" cy="475488"/>
          </a:xfrm>
          <a:prstGeom prst="roundRect">
            <a:avLst>
              <a:gd name="adj" fmla="val 38462"/>
            </a:avLst>
          </a:prstGeom>
          <a:solidFill>
            <a:srgbClr val="E8F2F8"/>
          </a:solidFill>
          <a:ln/>
        </p:spPr>
      </p:sp>
      <p:sp>
        <p:nvSpPr>
          <p:cNvPr id="25" name="Text 22"/>
          <p:cNvSpPr/>
          <p:nvPr/>
        </p:nvSpPr>
        <p:spPr>
          <a:xfrm>
            <a:off x="841248" y="5212080"/>
            <a:ext cx="2926080" cy="475488"/>
          </a:xfrm>
          <a:prstGeom prst="rect">
            <a:avLst/>
          </a:prstGeom>
          <a:noFill/>
          <a:ln/>
        </p:spPr>
        <p:txBody>
          <a:bodyPr wrap="square" lIns="0" tIns="0" rIns="0" bIns="0" rtlCol="0" anchor="ctr"/>
          <a:lstStyle/>
          <a:p>
            <a:pPr marL="0" indent="0" algn="ctr">
              <a:buNone/>
            </a:pPr>
            <a:r>
              <a:rPr lang="en-US" sz="1300" b="1" dirty="0">
                <a:solidFill>
                  <a:srgbClr val="156082"/>
                </a:solidFill>
                <a:latin typeface="Times New Roman" pitchFamily="34" charset="0"/>
                <a:ea typeface="Times New Roman" pitchFamily="34" charset="-122"/>
                <a:cs typeface="Times New Roman" pitchFamily="34" charset="-120"/>
              </a:rPr>
              <a:t>CO2   |   Bloom's L3 (Apply)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Common Misconceptions</a:t>
            </a:r>
            <a:endParaRPr lang="en-US" sz="3200" dirty="0"/>
          </a:p>
        </p:txBody>
      </p:sp>
      <p:sp>
        <p:nvSpPr>
          <p:cNvPr id="5" name="Text 2"/>
          <p:cNvSpPr/>
          <p:nvPr/>
        </p:nvSpPr>
        <p:spPr>
          <a:xfrm>
            <a:off x="1115568" y="1572768"/>
            <a:ext cx="4754880" cy="365760"/>
          </a:xfrm>
          <a:prstGeom prst="rect">
            <a:avLst/>
          </a:prstGeom>
          <a:noFill/>
          <a:ln/>
        </p:spPr>
        <p:txBody>
          <a:bodyPr wrap="square" lIns="0" tIns="0" rIns="0" bIns="0" rtlCol="0" anchor="ctr"/>
          <a:lstStyle/>
          <a:p>
            <a:pPr marL="0" indent="0" algn="l">
              <a:buNone/>
            </a:pPr>
            <a:r>
              <a:rPr lang="en-US" sz="1700" b="1" dirty="0">
                <a:solidFill>
                  <a:srgbClr val="C03030"/>
                </a:solidFill>
                <a:latin typeface="Times New Roman" pitchFamily="34" charset="0"/>
                <a:ea typeface="Times New Roman" pitchFamily="34" charset="-122"/>
                <a:cs typeface="Times New Roman" pitchFamily="34" charset="-120"/>
              </a:rPr>
              <a:t>✗   Myth</a:t>
            </a:r>
            <a:endParaRPr lang="en-US" sz="1700" dirty="0"/>
          </a:p>
        </p:txBody>
      </p:sp>
      <p:sp>
        <p:nvSpPr>
          <p:cNvPr id="6" name="Text 3"/>
          <p:cNvSpPr/>
          <p:nvPr/>
        </p:nvSpPr>
        <p:spPr>
          <a:xfrm>
            <a:off x="6601968" y="1572768"/>
            <a:ext cx="4754880" cy="365760"/>
          </a:xfrm>
          <a:prstGeom prst="rect">
            <a:avLst/>
          </a:prstGeom>
          <a:noFill/>
          <a:ln/>
        </p:spPr>
        <p:txBody>
          <a:bodyPr wrap="square" lIns="0" tIns="0" rIns="0" bIns="0" rtlCol="0" anchor="ctr"/>
          <a:lstStyle/>
          <a:p>
            <a:pPr marL="0" indent="0" algn="l">
              <a:buNone/>
            </a:pPr>
            <a:r>
              <a:rPr lang="en-US" sz="1700" b="1" dirty="0">
                <a:solidFill>
                  <a:srgbClr val="196B24"/>
                </a:solidFill>
                <a:latin typeface="Times New Roman" pitchFamily="34" charset="0"/>
                <a:ea typeface="Times New Roman" pitchFamily="34" charset="-122"/>
                <a:cs typeface="Times New Roman" pitchFamily="34" charset="-120"/>
              </a:rPr>
              <a:t>✓   Fact</a:t>
            </a:r>
            <a:endParaRPr lang="en-US" sz="1700" dirty="0"/>
          </a:p>
        </p:txBody>
      </p:sp>
      <p:sp>
        <p:nvSpPr>
          <p:cNvPr id="7" name="Shape 4"/>
          <p:cNvSpPr/>
          <p:nvPr/>
        </p:nvSpPr>
        <p:spPr>
          <a:xfrm>
            <a:off x="841248" y="2103120"/>
            <a:ext cx="5029200" cy="868680"/>
          </a:xfrm>
          <a:prstGeom prst="roundRect">
            <a:avLst>
              <a:gd name="adj" fmla="val 8421"/>
            </a:avLst>
          </a:prstGeom>
          <a:solidFill>
            <a:srgbClr val="FDF0F0"/>
          </a:solidFill>
          <a:ln w="12700">
            <a:solidFill>
              <a:srgbClr val="F3D9D9"/>
            </a:solidFill>
            <a:prstDash val="solid"/>
          </a:ln>
        </p:spPr>
      </p:sp>
      <p:sp>
        <p:nvSpPr>
          <p:cNvPr id="8" name="Text 5"/>
          <p:cNvSpPr/>
          <p:nvPr/>
        </p:nvSpPr>
        <p:spPr>
          <a:xfrm>
            <a:off x="1161288" y="2103120"/>
            <a:ext cx="4389120" cy="868680"/>
          </a:xfrm>
          <a:prstGeom prst="rect">
            <a:avLst/>
          </a:prstGeom>
          <a:noFill/>
          <a:ln/>
        </p:spPr>
        <p:txBody>
          <a:bodyPr wrap="square" lIns="0" tIns="0" rIns="0" bIns="0" rtlCol="0" anchor="ctr"/>
          <a:lstStyle/>
          <a:p>
            <a:pPr marL="0" indent="0" algn="l">
              <a:buNone/>
            </a:pPr>
            <a:r>
              <a:rPr lang="en-US" sz="1500" dirty="0">
                <a:solidFill>
                  <a:srgbClr val="2B2B2B"/>
                </a:solidFill>
                <a:latin typeface="Times New Roman" pitchFamily="34" charset="0"/>
                <a:ea typeface="Times New Roman" pitchFamily="34" charset="-122"/>
                <a:cs typeface="Times New Roman" pitchFamily="34" charset="-120"/>
              </a:rPr>
              <a:t>A relationship is just another entity</a:t>
            </a:r>
            <a:endParaRPr lang="en-US" sz="1500" dirty="0"/>
          </a:p>
        </p:txBody>
      </p:sp>
      <p:sp>
        <p:nvSpPr>
          <p:cNvPr id="9" name="Shape 6"/>
          <p:cNvSpPr/>
          <p:nvPr/>
        </p:nvSpPr>
        <p:spPr>
          <a:xfrm>
            <a:off x="6327648" y="2103120"/>
            <a:ext cx="5029200" cy="868680"/>
          </a:xfrm>
          <a:prstGeom prst="roundRect">
            <a:avLst>
              <a:gd name="adj" fmla="val 8421"/>
            </a:avLst>
          </a:prstGeom>
          <a:solidFill>
            <a:srgbClr val="EFF7EF"/>
          </a:solidFill>
          <a:ln w="12700">
            <a:solidFill>
              <a:srgbClr val="D6E8D6"/>
            </a:solidFill>
            <a:prstDash val="solid"/>
          </a:ln>
        </p:spPr>
      </p:sp>
      <p:sp>
        <p:nvSpPr>
          <p:cNvPr id="10" name="Text 7"/>
          <p:cNvSpPr/>
          <p:nvPr/>
        </p:nvSpPr>
        <p:spPr>
          <a:xfrm>
            <a:off x="6647688" y="2103120"/>
            <a:ext cx="4389120" cy="868680"/>
          </a:xfrm>
          <a:prstGeom prst="rect">
            <a:avLst/>
          </a:prstGeom>
          <a:noFill/>
          <a:ln/>
        </p:spPr>
        <p:txBody>
          <a:bodyPr wrap="square" lIns="0" tIns="0" rIns="0" bIns="0" rtlCol="0" anchor="ctr"/>
          <a:lstStyle/>
          <a:p>
            <a:pPr marL="0" indent="0" algn="l">
              <a:buNone/>
            </a:pPr>
            <a:r>
              <a:rPr lang="en-US" sz="1500" b="1" dirty="0">
                <a:solidFill>
                  <a:srgbClr val="0E2841"/>
                </a:solidFill>
                <a:latin typeface="Times New Roman" pitchFamily="34" charset="0"/>
                <a:ea typeface="Times New Roman" pitchFamily="34" charset="-122"/>
                <a:cs typeface="Times New Roman" pitchFamily="34" charset="-120"/>
              </a:rPr>
              <a:t>Relationships are diamonds, entities are rectangles</a:t>
            </a:r>
            <a:endParaRPr lang="en-US" sz="1500" dirty="0"/>
          </a:p>
        </p:txBody>
      </p:sp>
      <p:sp>
        <p:nvSpPr>
          <p:cNvPr id="11" name="Text 8"/>
          <p:cNvSpPr/>
          <p:nvPr/>
        </p:nvSpPr>
        <p:spPr>
          <a:xfrm>
            <a:off x="5870448" y="2103120"/>
            <a:ext cx="457200" cy="868680"/>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a:t>
            </a:r>
            <a:endParaRPr lang="en-US" sz="1800" dirty="0"/>
          </a:p>
        </p:txBody>
      </p:sp>
      <p:sp>
        <p:nvSpPr>
          <p:cNvPr id="12" name="Shape 9"/>
          <p:cNvSpPr/>
          <p:nvPr/>
        </p:nvSpPr>
        <p:spPr>
          <a:xfrm>
            <a:off x="841248" y="3200400"/>
            <a:ext cx="5029200" cy="868680"/>
          </a:xfrm>
          <a:prstGeom prst="roundRect">
            <a:avLst>
              <a:gd name="adj" fmla="val 8421"/>
            </a:avLst>
          </a:prstGeom>
          <a:solidFill>
            <a:srgbClr val="FDF0F0"/>
          </a:solidFill>
          <a:ln w="12700">
            <a:solidFill>
              <a:srgbClr val="F3D9D9"/>
            </a:solidFill>
            <a:prstDash val="solid"/>
          </a:ln>
        </p:spPr>
      </p:sp>
      <p:sp>
        <p:nvSpPr>
          <p:cNvPr id="13" name="Text 10"/>
          <p:cNvSpPr/>
          <p:nvPr/>
        </p:nvSpPr>
        <p:spPr>
          <a:xfrm>
            <a:off x="1161288" y="3200400"/>
            <a:ext cx="4389120" cy="868680"/>
          </a:xfrm>
          <a:prstGeom prst="rect">
            <a:avLst/>
          </a:prstGeom>
          <a:noFill/>
          <a:ln/>
        </p:spPr>
        <p:txBody>
          <a:bodyPr wrap="square" lIns="0" tIns="0" rIns="0" bIns="0" rtlCol="0" anchor="ctr"/>
          <a:lstStyle/>
          <a:p>
            <a:pPr marL="0" indent="0" algn="l">
              <a:buNone/>
            </a:pPr>
            <a:r>
              <a:rPr lang="en-US" sz="1500" dirty="0">
                <a:solidFill>
                  <a:srgbClr val="2B2B2B"/>
                </a:solidFill>
                <a:latin typeface="Times New Roman" pitchFamily="34" charset="0"/>
                <a:ea typeface="Times New Roman" pitchFamily="34" charset="-122"/>
                <a:cs typeface="Times New Roman" pitchFamily="34" charset="-120"/>
              </a:rPr>
              <a:t>Composite and multivalued are the same</a:t>
            </a:r>
            <a:endParaRPr lang="en-US" sz="1500" dirty="0"/>
          </a:p>
        </p:txBody>
      </p:sp>
      <p:sp>
        <p:nvSpPr>
          <p:cNvPr id="14" name="Shape 11"/>
          <p:cNvSpPr/>
          <p:nvPr/>
        </p:nvSpPr>
        <p:spPr>
          <a:xfrm>
            <a:off x="6327648" y="3200400"/>
            <a:ext cx="5029200" cy="868680"/>
          </a:xfrm>
          <a:prstGeom prst="roundRect">
            <a:avLst>
              <a:gd name="adj" fmla="val 8421"/>
            </a:avLst>
          </a:prstGeom>
          <a:solidFill>
            <a:srgbClr val="EFF7EF"/>
          </a:solidFill>
          <a:ln w="12700">
            <a:solidFill>
              <a:srgbClr val="D6E8D6"/>
            </a:solidFill>
            <a:prstDash val="solid"/>
          </a:ln>
        </p:spPr>
      </p:sp>
      <p:sp>
        <p:nvSpPr>
          <p:cNvPr id="15" name="Text 12"/>
          <p:cNvSpPr/>
          <p:nvPr/>
        </p:nvSpPr>
        <p:spPr>
          <a:xfrm>
            <a:off x="6647688" y="3200400"/>
            <a:ext cx="4389120" cy="868680"/>
          </a:xfrm>
          <a:prstGeom prst="rect">
            <a:avLst/>
          </a:prstGeom>
          <a:noFill/>
          <a:ln/>
        </p:spPr>
        <p:txBody>
          <a:bodyPr wrap="square" lIns="0" tIns="0" rIns="0" bIns="0" rtlCol="0" anchor="ctr"/>
          <a:lstStyle/>
          <a:p>
            <a:pPr marL="0" indent="0" algn="l">
              <a:buNone/>
            </a:pPr>
            <a:r>
              <a:rPr lang="en-US" sz="1500" b="1" dirty="0">
                <a:solidFill>
                  <a:srgbClr val="0E2841"/>
                </a:solidFill>
                <a:latin typeface="Times New Roman" pitchFamily="34" charset="0"/>
                <a:ea typeface="Times New Roman" pitchFamily="34" charset="-122"/>
                <a:cs typeface="Times New Roman" pitchFamily="34" charset="-120"/>
              </a:rPr>
              <a:t>One value in parts  vs  many values</a:t>
            </a:r>
            <a:endParaRPr lang="en-US" sz="1500" dirty="0"/>
          </a:p>
        </p:txBody>
      </p:sp>
      <p:sp>
        <p:nvSpPr>
          <p:cNvPr id="16" name="Text 13"/>
          <p:cNvSpPr/>
          <p:nvPr/>
        </p:nvSpPr>
        <p:spPr>
          <a:xfrm>
            <a:off x="5870448" y="3200400"/>
            <a:ext cx="457200" cy="868680"/>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a:t>
            </a:r>
            <a:endParaRPr lang="en-US" sz="1800" dirty="0"/>
          </a:p>
        </p:txBody>
      </p:sp>
      <p:sp>
        <p:nvSpPr>
          <p:cNvPr id="17" name="Shape 14"/>
          <p:cNvSpPr/>
          <p:nvPr/>
        </p:nvSpPr>
        <p:spPr>
          <a:xfrm>
            <a:off x="841248" y="4297680"/>
            <a:ext cx="5029200" cy="868680"/>
          </a:xfrm>
          <a:prstGeom prst="roundRect">
            <a:avLst>
              <a:gd name="adj" fmla="val 8421"/>
            </a:avLst>
          </a:prstGeom>
          <a:solidFill>
            <a:srgbClr val="FDF0F0"/>
          </a:solidFill>
          <a:ln w="12700">
            <a:solidFill>
              <a:srgbClr val="F3D9D9"/>
            </a:solidFill>
            <a:prstDash val="solid"/>
          </a:ln>
        </p:spPr>
      </p:sp>
      <p:sp>
        <p:nvSpPr>
          <p:cNvPr id="18" name="Text 15"/>
          <p:cNvSpPr/>
          <p:nvPr/>
        </p:nvSpPr>
        <p:spPr>
          <a:xfrm>
            <a:off x="1161288" y="4297680"/>
            <a:ext cx="4389120" cy="868680"/>
          </a:xfrm>
          <a:prstGeom prst="rect">
            <a:avLst/>
          </a:prstGeom>
          <a:noFill/>
          <a:ln/>
        </p:spPr>
        <p:txBody>
          <a:bodyPr wrap="square" lIns="0" tIns="0" rIns="0" bIns="0" rtlCol="0" anchor="ctr"/>
          <a:lstStyle/>
          <a:p>
            <a:pPr marL="0" indent="0" algn="l">
              <a:buNone/>
            </a:pPr>
            <a:r>
              <a:rPr lang="en-US" sz="1500" dirty="0">
                <a:solidFill>
                  <a:srgbClr val="2B2B2B"/>
                </a:solidFill>
                <a:latin typeface="Times New Roman" pitchFamily="34" charset="0"/>
                <a:ea typeface="Times New Roman" pitchFamily="34" charset="-122"/>
                <a:cs typeface="Times New Roman" pitchFamily="34" charset="-120"/>
              </a:rPr>
              <a:t>M : N becomes a single table</a:t>
            </a:r>
            <a:endParaRPr lang="en-US" sz="1500" dirty="0"/>
          </a:p>
        </p:txBody>
      </p:sp>
      <p:sp>
        <p:nvSpPr>
          <p:cNvPr id="19" name="Shape 16"/>
          <p:cNvSpPr/>
          <p:nvPr/>
        </p:nvSpPr>
        <p:spPr>
          <a:xfrm>
            <a:off x="6327648" y="4297680"/>
            <a:ext cx="5029200" cy="868680"/>
          </a:xfrm>
          <a:prstGeom prst="roundRect">
            <a:avLst>
              <a:gd name="adj" fmla="val 8421"/>
            </a:avLst>
          </a:prstGeom>
          <a:solidFill>
            <a:srgbClr val="EFF7EF"/>
          </a:solidFill>
          <a:ln w="12700">
            <a:solidFill>
              <a:srgbClr val="D6E8D6"/>
            </a:solidFill>
            <a:prstDash val="solid"/>
          </a:ln>
        </p:spPr>
      </p:sp>
      <p:sp>
        <p:nvSpPr>
          <p:cNvPr id="20" name="Text 17"/>
          <p:cNvSpPr/>
          <p:nvPr/>
        </p:nvSpPr>
        <p:spPr>
          <a:xfrm>
            <a:off x="6647688" y="4297680"/>
            <a:ext cx="4389120" cy="868680"/>
          </a:xfrm>
          <a:prstGeom prst="rect">
            <a:avLst/>
          </a:prstGeom>
          <a:noFill/>
          <a:ln/>
        </p:spPr>
        <p:txBody>
          <a:bodyPr wrap="square" lIns="0" tIns="0" rIns="0" bIns="0" rtlCol="0" anchor="ctr"/>
          <a:lstStyle/>
          <a:p>
            <a:pPr marL="0" indent="0" algn="l">
              <a:buNone/>
            </a:pPr>
            <a:r>
              <a:rPr lang="en-US" sz="1500" b="1" dirty="0">
                <a:solidFill>
                  <a:srgbClr val="0E2841"/>
                </a:solidFill>
                <a:latin typeface="Times New Roman" pitchFamily="34" charset="0"/>
                <a:ea typeface="Times New Roman" pitchFamily="34" charset="-122"/>
                <a:cs typeface="Times New Roman" pitchFamily="34" charset="-120"/>
              </a:rPr>
              <a:t>It becomes a junction table with both keys</a:t>
            </a:r>
            <a:endParaRPr lang="en-US" sz="1500" dirty="0"/>
          </a:p>
        </p:txBody>
      </p:sp>
      <p:sp>
        <p:nvSpPr>
          <p:cNvPr id="21" name="Text 18"/>
          <p:cNvSpPr/>
          <p:nvPr/>
        </p:nvSpPr>
        <p:spPr>
          <a:xfrm>
            <a:off x="5870448" y="4297680"/>
            <a:ext cx="457200" cy="868680"/>
          </a:xfrm>
          <a:prstGeom prst="rect">
            <a:avLst/>
          </a:prstGeom>
          <a:noFill/>
          <a:ln/>
        </p:spPr>
        <p:txBody>
          <a:bodyPr wrap="square" lIns="0" tIns="0" rIns="0" bIns="0" rtlCol="0" anchor="ctr"/>
          <a:lstStyle/>
          <a:p>
            <a:pPr marL="0" indent="0" algn="ctr">
              <a:buNone/>
            </a:pPr>
            <a:r>
              <a:rPr lang="en-US" sz="1800" dirty="0">
                <a:solidFill>
                  <a:srgbClr val="5A6472"/>
                </a:solidFill>
                <a:latin typeface="Times New Roman" pitchFamily="34" charset="0"/>
                <a:ea typeface="Times New Roman" pitchFamily="34" charset="-122"/>
                <a:cs typeface="Times New Roman" pitchFamily="34" charset="-120"/>
              </a:rPr>
              <a: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Anatomy of an ER Diagram</a:t>
            </a:r>
            <a:endParaRPr lang="en-US" sz="3200" dirty="0"/>
          </a:p>
        </p:txBody>
      </p:sp>
      <p:sp>
        <p:nvSpPr>
          <p:cNvPr id="5" name="Shape 2"/>
          <p:cNvSpPr/>
          <p:nvPr/>
        </p:nvSpPr>
        <p:spPr>
          <a:xfrm>
            <a:off x="841248" y="1691640"/>
            <a:ext cx="5943600" cy="3794760"/>
          </a:xfrm>
          <a:prstGeom prst="roundRect">
            <a:avLst>
              <a:gd name="adj" fmla="val 1928"/>
            </a:avLst>
          </a:prstGeom>
          <a:solidFill>
            <a:srgbClr val="F2F6FA"/>
          </a:solidFill>
          <a:ln w="12700">
            <a:solidFill>
              <a:srgbClr val="D2DCE6"/>
            </a:solidFill>
            <a:prstDash val="solid"/>
          </a:ln>
        </p:spPr>
      </p:sp>
      <p:sp>
        <p:nvSpPr>
          <p:cNvPr id="6" name="Shape 3"/>
          <p:cNvSpPr/>
          <p:nvPr/>
        </p:nvSpPr>
        <p:spPr>
          <a:xfrm>
            <a:off x="1344168" y="1965960"/>
            <a:ext cx="1371600" cy="548640"/>
          </a:xfrm>
          <a:prstGeom prst="ellipse">
            <a:avLst/>
          </a:prstGeom>
          <a:solidFill>
            <a:srgbClr val="FFFFFF"/>
          </a:solidFill>
          <a:ln w="17780">
            <a:solidFill>
              <a:srgbClr val="156082"/>
            </a:solidFill>
            <a:prstDash val="solid"/>
          </a:ln>
        </p:spPr>
      </p:sp>
      <p:sp>
        <p:nvSpPr>
          <p:cNvPr id="7" name="Text 4"/>
          <p:cNvSpPr/>
          <p:nvPr/>
        </p:nvSpPr>
        <p:spPr>
          <a:xfrm>
            <a:off x="1344168" y="1965960"/>
            <a:ext cx="1371600" cy="548640"/>
          </a:xfrm>
          <a:prstGeom prst="rect">
            <a:avLst/>
          </a:prstGeom>
          <a:noFill/>
          <a:ln/>
        </p:spPr>
        <p:txBody>
          <a:bodyPr wrap="square" lIns="0" tIns="0" rIns="0" bIns="0" rtlCol="0" anchor="ctr"/>
          <a:lstStyle/>
          <a:p>
            <a:pPr marL="0" indent="0" algn="ctr">
              <a:buNone/>
            </a:pPr>
            <a:r>
              <a:rPr lang="en-US" sz="1000" b="1" u="sng" dirty="0">
                <a:solidFill>
                  <a:srgbClr val="156082"/>
                </a:solidFill>
                <a:latin typeface="Times New Roman" pitchFamily="34" charset="0"/>
                <a:ea typeface="Times New Roman" pitchFamily="34" charset="-122"/>
                <a:cs typeface="Times New Roman" pitchFamily="34" charset="-120"/>
              </a:rPr>
              <a:t>RollNo</a:t>
            </a:r>
            <a:endParaRPr lang="en-US" sz="1000" dirty="0"/>
          </a:p>
        </p:txBody>
      </p:sp>
      <p:sp>
        <p:nvSpPr>
          <p:cNvPr id="8" name="Shape 5"/>
          <p:cNvSpPr/>
          <p:nvPr/>
        </p:nvSpPr>
        <p:spPr>
          <a:xfrm>
            <a:off x="4818888" y="1965960"/>
            <a:ext cx="1371600" cy="548640"/>
          </a:xfrm>
          <a:prstGeom prst="ellipse">
            <a:avLst/>
          </a:prstGeom>
          <a:solidFill>
            <a:srgbClr val="FFFFFF"/>
          </a:solidFill>
          <a:ln w="17780">
            <a:solidFill>
              <a:srgbClr val="156082"/>
            </a:solidFill>
            <a:prstDash val="solid"/>
          </a:ln>
        </p:spPr>
      </p:sp>
      <p:sp>
        <p:nvSpPr>
          <p:cNvPr id="9" name="Text 6"/>
          <p:cNvSpPr/>
          <p:nvPr/>
        </p:nvSpPr>
        <p:spPr>
          <a:xfrm>
            <a:off x="4818888" y="1965960"/>
            <a:ext cx="1371600" cy="548640"/>
          </a:xfrm>
          <a:prstGeom prst="rect">
            <a:avLst/>
          </a:prstGeom>
          <a:noFill/>
          <a:ln/>
        </p:spPr>
        <p:txBody>
          <a:bodyPr wrap="square" lIns="0" tIns="0" rIns="0" bIns="0" rtlCol="0" anchor="ctr"/>
          <a:lstStyle/>
          <a:p>
            <a:pPr marL="0" indent="0" algn="ctr">
              <a:buNone/>
            </a:pPr>
            <a:r>
              <a:rPr lang="en-US" sz="1000" b="1" u="sng" dirty="0">
                <a:solidFill>
                  <a:srgbClr val="156082"/>
                </a:solidFill>
                <a:latin typeface="Times New Roman" pitchFamily="34" charset="0"/>
                <a:ea typeface="Times New Roman" pitchFamily="34" charset="-122"/>
                <a:cs typeface="Times New Roman" pitchFamily="34" charset="-120"/>
              </a:rPr>
              <a:t>CourseID</a:t>
            </a:r>
            <a:endParaRPr lang="en-US" sz="1000" dirty="0"/>
          </a:p>
        </p:txBody>
      </p:sp>
      <p:sp>
        <p:nvSpPr>
          <p:cNvPr id="10" name="Shape 7"/>
          <p:cNvSpPr/>
          <p:nvPr/>
        </p:nvSpPr>
        <p:spPr>
          <a:xfrm>
            <a:off x="1344168" y="3063240"/>
            <a:ext cx="1600200" cy="658368"/>
          </a:xfrm>
          <a:prstGeom prst="rect">
            <a:avLst/>
          </a:prstGeom>
          <a:solidFill>
            <a:srgbClr val="FFFFFF"/>
          </a:solidFill>
          <a:ln w="22225">
            <a:solidFill>
              <a:srgbClr val="0E2841"/>
            </a:solidFill>
            <a:prstDash val="solid"/>
          </a:ln>
        </p:spPr>
      </p:sp>
      <p:sp>
        <p:nvSpPr>
          <p:cNvPr id="11" name="Text 8"/>
          <p:cNvSpPr/>
          <p:nvPr/>
        </p:nvSpPr>
        <p:spPr>
          <a:xfrm>
            <a:off x="1344168" y="3063240"/>
            <a:ext cx="1600200" cy="658368"/>
          </a:xfrm>
          <a:prstGeom prst="rect">
            <a:avLst/>
          </a:prstGeom>
          <a:noFill/>
          <a:ln/>
        </p:spPr>
        <p:txBody>
          <a:bodyPr wrap="square" lIns="0" tIns="0" rIns="0" bIns="0" rtlCol="0" anchor="ctr"/>
          <a:lstStyle/>
          <a:p>
            <a:pPr marL="0" indent="0" algn="ctr">
              <a:buNone/>
            </a:pPr>
            <a:r>
              <a:rPr lang="en-US" sz="1300" b="1" dirty="0">
                <a:solidFill>
                  <a:srgbClr val="0E2841"/>
                </a:solidFill>
                <a:latin typeface="Times New Roman" pitchFamily="34" charset="0"/>
                <a:ea typeface="Times New Roman" pitchFamily="34" charset="-122"/>
                <a:cs typeface="Times New Roman" pitchFamily="34" charset="-120"/>
              </a:rPr>
              <a:t>Student</a:t>
            </a:r>
            <a:endParaRPr lang="en-US" sz="1300" dirty="0"/>
          </a:p>
        </p:txBody>
      </p:sp>
      <p:sp>
        <p:nvSpPr>
          <p:cNvPr id="12" name="Shape 9"/>
          <p:cNvSpPr/>
          <p:nvPr/>
        </p:nvSpPr>
        <p:spPr>
          <a:xfrm>
            <a:off x="4681728" y="3063240"/>
            <a:ext cx="1600200" cy="658368"/>
          </a:xfrm>
          <a:prstGeom prst="rect">
            <a:avLst/>
          </a:prstGeom>
          <a:solidFill>
            <a:srgbClr val="FFFFFF"/>
          </a:solidFill>
          <a:ln w="22225">
            <a:solidFill>
              <a:srgbClr val="0E2841"/>
            </a:solidFill>
            <a:prstDash val="solid"/>
          </a:ln>
        </p:spPr>
      </p:sp>
      <p:sp>
        <p:nvSpPr>
          <p:cNvPr id="13" name="Text 10"/>
          <p:cNvSpPr/>
          <p:nvPr/>
        </p:nvSpPr>
        <p:spPr>
          <a:xfrm>
            <a:off x="4681728" y="3063240"/>
            <a:ext cx="1600200" cy="658368"/>
          </a:xfrm>
          <a:prstGeom prst="rect">
            <a:avLst/>
          </a:prstGeom>
          <a:noFill/>
          <a:ln/>
        </p:spPr>
        <p:txBody>
          <a:bodyPr wrap="square" lIns="0" tIns="0" rIns="0" bIns="0" rtlCol="0" anchor="ctr"/>
          <a:lstStyle/>
          <a:p>
            <a:pPr marL="0" indent="0" algn="ctr">
              <a:buNone/>
            </a:pPr>
            <a:r>
              <a:rPr lang="en-US" sz="1300" b="1" dirty="0">
                <a:solidFill>
                  <a:srgbClr val="0E2841"/>
                </a:solidFill>
                <a:latin typeface="Times New Roman" pitchFamily="34" charset="0"/>
                <a:ea typeface="Times New Roman" pitchFamily="34" charset="-122"/>
                <a:cs typeface="Times New Roman" pitchFamily="34" charset="-120"/>
              </a:rPr>
              <a:t>Course</a:t>
            </a:r>
            <a:endParaRPr lang="en-US" sz="1300" dirty="0"/>
          </a:p>
        </p:txBody>
      </p:sp>
      <p:sp>
        <p:nvSpPr>
          <p:cNvPr id="14" name="Shape 11"/>
          <p:cNvSpPr/>
          <p:nvPr/>
        </p:nvSpPr>
        <p:spPr>
          <a:xfrm>
            <a:off x="3236976" y="2999232"/>
            <a:ext cx="1188720" cy="804672"/>
          </a:xfrm>
          <a:prstGeom prst="diamond">
            <a:avLst/>
          </a:prstGeom>
          <a:solidFill>
            <a:srgbClr val="FFFFFF"/>
          </a:solidFill>
          <a:ln w="22225">
            <a:solidFill>
              <a:srgbClr val="E97132"/>
            </a:solidFill>
            <a:prstDash val="solid"/>
          </a:ln>
        </p:spPr>
      </p:sp>
      <p:sp>
        <p:nvSpPr>
          <p:cNvPr id="15" name="Text 12"/>
          <p:cNvSpPr/>
          <p:nvPr/>
        </p:nvSpPr>
        <p:spPr>
          <a:xfrm>
            <a:off x="3236976" y="2999232"/>
            <a:ext cx="1188720" cy="804672"/>
          </a:xfrm>
          <a:prstGeom prst="rect">
            <a:avLst/>
          </a:prstGeom>
          <a:noFill/>
          <a:ln/>
        </p:spPr>
        <p:txBody>
          <a:bodyPr wrap="square" lIns="0" tIns="0" rIns="0" bIns="0" rtlCol="0" anchor="ctr"/>
          <a:lstStyle/>
          <a:p>
            <a:pPr marL="0" indent="0" algn="ctr">
              <a:buNone/>
            </a:pPr>
            <a:r>
              <a:rPr lang="en-US" sz="1100" b="1" dirty="0">
                <a:solidFill>
                  <a:srgbClr val="E97132"/>
                </a:solidFill>
                <a:latin typeface="Times New Roman" pitchFamily="34" charset="0"/>
                <a:ea typeface="Times New Roman" pitchFamily="34" charset="-122"/>
                <a:cs typeface="Times New Roman" pitchFamily="34" charset="-120"/>
              </a:rPr>
              <a:t>Enrolls</a:t>
            </a:r>
            <a:endParaRPr lang="en-US" sz="1100" dirty="0"/>
          </a:p>
        </p:txBody>
      </p:sp>
      <p:sp>
        <p:nvSpPr>
          <p:cNvPr id="16" name="Shape 13"/>
          <p:cNvSpPr/>
          <p:nvPr/>
        </p:nvSpPr>
        <p:spPr>
          <a:xfrm>
            <a:off x="3172968" y="4343400"/>
            <a:ext cx="1325880" cy="530352"/>
          </a:xfrm>
          <a:prstGeom prst="ellipse">
            <a:avLst/>
          </a:prstGeom>
          <a:solidFill>
            <a:srgbClr val="FFFFFF"/>
          </a:solidFill>
          <a:ln w="17780">
            <a:solidFill>
              <a:srgbClr val="156082"/>
            </a:solidFill>
            <a:prstDash val="solid"/>
          </a:ln>
        </p:spPr>
      </p:sp>
      <p:sp>
        <p:nvSpPr>
          <p:cNvPr id="17" name="Text 14"/>
          <p:cNvSpPr/>
          <p:nvPr/>
        </p:nvSpPr>
        <p:spPr>
          <a:xfrm>
            <a:off x="3172968" y="4343400"/>
            <a:ext cx="1325880" cy="530352"/>
          </a:xfrm>
          <a:prstGeom prst="rect">
            <a:avLst/>
          </a:prstGeom>
          <a:noFill/>
          <a:ln/>
        </p:spPr>
        <p:txBody>
          <a:bodyPr wrap="square" lIns="0" tIns="0" rIns="0" bIns="0" rtlCol="0" anchor="ctr"/>
          <a:lstStyle/>
          <a:p>
            <a:pPr marL="0" indent="0" algn="ctr">
              <a:buNone/>
            </a:pPr>
            <a:r>
              <a:rPr lang="en-US" sz="1000" dirty="0">
                <a:solidFill>
                  <a:srgbClr val="156082"/>
                </a:solidFill>
                <a:latin typeface="Times New Roman" pitchFamily="34" charset="0"/>
                <a:ea typeface="Times New Roman" pitchFamily="34" charset="-122"/>
                <a:cs typeface="Times New Roman" pitchFamily="34" charset="-120"/>
              </a:rPr>
              <a:t>Grade</a:t>
            </a:r>
            <a:endParaRPr lang="en-US" sz="1000" dirty="0"/>
          </a:p>
        </p:txBody>
      </p:sp>
      <p:sp>
        <p:nvSpPr>
          <p:cNvPr id="18" name="Shape 15"/>
          <p:cNvSpPr/>
          <p:nvPr/>
        </p:nvSpPr>
        <p:spPr>
          <a:xfrm>
            <a:off x="2029968" y="2514600"/>
            <a:ext cx="109728" cy="548640"/>
          </a:xfrm>
          <a:prstGeom prst="line">
            <a:avLst/>
          </a:prstGeom>
          <a:noFill/>
          <a:ln w="19050">
            <a:solidFill>
              <a:srgbClr val="0E2841"/>
            </a:solidFill>
            <a:prstDash val="solid"/>
          </a:ln>
        </p:spPr>
      </p:sp>
      <p:sp>
        <p:nvSpPr>
          <p:cNvPr id="19" name="Shape 16"/>
          <p:cNvSpPr/>
          <p:nvPr/>
        </p:nvSpPr>
        <p:spPr>
          <a:xfrm>
            <a:off x="5504688" y="2514600"/>
            <a:ext cx="0" cy="548640"/>
          </a:xfrm>
          <a:prstGeom prst="line">
            <a:avLst/>
          </a:prstGeom>
          <a:noFill/>
          <a:ln w="19050">
            <a:solidFill>
              <a:srgbClr val="0E2841"/>
            </a:solidFill>
            <a:prstDash val="solid"/>
          </a:ln>
        </p:spPr>
      </p:sp>
      <p:sp>
        <p:nvSpPr>
          <p:cNvPr id="20" name="Shape 17"/>
          <p:cNvSpPr/>
          <p:nvPr/>
        </p:nvSpPr>
        <p:spPr>
          <a:xfrm>
            <a:off x="2944368" y="3392424"/>
            <a:ext cx="292608" cy="0"/>
          </a:xfrm>
          <a:prstGeom prst="line">
            <a:avLst/>
          </a:prstGeom>
          <a:noFill/>
          <a:ln w="19050">
            <a:solidFill>
              <a:srgbClr val="0E2841"/>
            </a:solidFill>
            <a:prstDash val="solid"/>
          </a:ln>
        </p:spPr>
      </p:sp>
      <p:sp>
        <p:nvSpPr>
          <p:cNvPr id="21" name="Shape 18"/>
          <p:cNvSpPr/>
          <p:nvPr/>
        </p:nvSpPr>
        <p:spPr>
          <a:xfrm>
            <a:off x="4425696" y="3392424"/>
            <a:ext cx="256032" cy="0"/>
          </a:xfrm>
          <a:prstGeom prst="line">
            <a:avLst/>
          </a:prstGeom>
          <a:noFill/>
          <a:ln w="19050">
            <a:solidFill>
              <a:srgbClr val="0E2841"/>
            </a:solidFill>
            <a:prstDash val="solid"/>
          </a:ln>
        </p:spPr>
      </p:sp>
      <p:sp>
        <p:nvSpPr>
          <p:cNvPr id="22" name="Shape 19"/>
          <p:cNvSpPr/>
          <p:nvPr/>
        </p:nvSpPr>
        <p:spPr>
          <a:xfrm>
            <a:off x="3831336" y="3803904"/>
            <a:ext cx="0" cy="539496"/>
          </a:xfrm>
          <a:prstGeom prst="line">
            <a:avLst/>
          </a:prstGeom>
          <a:noFill/>
          <a:ln w="19050">
            <a:solidFill>
              <a:srgbClr val="0E2841"/>
            </a:solidFill>
            <a:prstDash val="solid"/>
          </a:ln>
        </p:spPr>
      </p:sp>
      <p:sp>
        <p:nvSpPr>
          <p:cNvPr id="23" name="Shape 20"/>
          <p:cNvSpPr/>
          <p:nvPr/>
        </p:nvSpPr>
        <p:spPr>
          <a:xfrm>
            <a:off x="7104888" y="1691640"/>
            <a:ext cx="4251960" cy="822960"/>
          </a:xfrm>
          <a:prstGeom prst="roundRect">
            <a:avLst>
              <a:gd name="adj" fmla="val 8889"/>
            </a:avLst>
          </a:prstGeom>
          <a:solidFill>
            <a:srgbClr val="FFFFFF"/>
          </a:solidFill>
          <a:ln w="12700">
            <a:solidFill>
              <a:srgbClr val="D2DCE6"/>
            </a:solidFill>
            <a:prstDash val="solid"/>
          </a:ln>
        </p:spPr>
      </p:sp>
      <p:sp>
        <p:nvSpPr>
          <p:cNvPr id="24" name="Shape 21"/>
          <p:cNvSpPr/>
          <p:nvPr/>
        </p:nvSpPr>
        <p:spPr>
          <a:xfrm>
            <a:off x="7104888" y="1691640"/>
            <a:ext cx="109728" cy="822960"/>
          </a:xfrm>
          <a:prstGeom prst="rect">
            <a:avLst/>
          </a:prstGeom>
          <a:solidFill>
            <a:srgbClr val="0E2841"/>
          </a:solidFill>
          <a:ln/>
        </p:spPr>
      </p:sp>
      <p:sp>
        <p:nvSpPr>
          <p:cNvPr id="25" name="Text 22"/>
          <p:cNvSpPr/>
          <p:nvPr/>
        </p:nvSpPr>
        <p:spPr>
          <a:xfrm>
            <a:off x="7424928" y="1801368"/>
            <a:ext cx="3749040" cy="329184"/>
          </a:xfrm>
          <a:prstGeom prst="rect">
            <a:avLst/>
          </a:prstGeom>
          <a:noFill/>
          <a:ln/>
        </p:spPr>
        <p:txBody>
          <a:bodyPr wrap="square" lIns="0" tIns="0" rIns="0" bIns="0" rtlCol="0" anchor="ctr"/>
          <a:lstStyle/>
          <a:p>
            <a:pPr marL="0" indent="0" algn="l">
              <a:buNone/>
            </a:pPr>
            <a:r>
              <a:rPr lang="en-US" sz="1550" b="1" dirty="0">
                <a:solidFill>
                  <a:srgbClr val="0E2841"/>
                </a:solidFill>
                <a:latin typeface="Times New Roman" pitchFamily="34" charset="0"/>
                <a:ea typeface="Times New Roman" pitchFamily="34" charset="-122"/>
                <a:cs typeface="Times New Roman" pitchFamily="34" charset="-120"/>
              </a:rPr>
              <a:t>Rectangle</a:t>
            </a:r>
            <a:endParaRPr lang="en-US" sz="1550" dirty="0"/>
          </a:p>
        </p:txBody>
      </p:sp>
      <p:sp>
        <p:nvSpPr>
          <p:cNvPr id="26" name="Text 23"/>
          <p:cNvSpPr/>
          <p:nvPr/>
        </p:nvSpPr>
        <p:spPr>
          <a:xfrm>
            <a:off x="7424928" y="2130552"/>
            <a:ext cx="3749040" cy="292608"/>
          </a:xfrm>
          <a:prstGeom prst="rect">
            <a:avLst/>
          </a:prstGeom>
          <a:noFill/>
          <a:ln/>
        </p:spPr>
        <p:txBody>
          <a:bodyPr wrap="square" lIns="0" tIns="0" rIns="0" bIns="0" rtlCol="0" anchor="ctr"/>
          <a:lstStyle/>
          <a:p>
            <a:pPr marL="0" indent="0" algn="l">
              <a:buNone/>
            </a:pPr>
            <a:r>
              <a:rPr lang="en-US" sz="1250" dirty="0">
                <a:solidFill>
                  <a:srgbClr val="5A6472"/>
                </a:solidFill>
                <a:latin typeface="Times New Roman" pitchFamily="34" charset="0"/>
                <a:ea typeface="Times New Roman" pitchFamily="34" charset="-122"/>
                <a:cs typeface="Times New Roman" pitchFamily="34" charset="-120"/>
              </a:rPr>
              <a:t>an entity  —  Student, Course</a:t>
            </a:r>
            <a:endParaRPr lang="en-US" sz="1250" dirty="0"/>
          </a:p>
        </p:txBody>
      </p:sp>
      <p:sp>
        <p:nvSpPr>
          <p:cNvPr id="27" name="Shape 24"/>
          <p:cNvSpPr/>
          <p:nvPr/>
        </p:nvSpPr>
        <p:spPr>
          <a:xfrm>
            <a:off x="7104888" y="2670048"/>
            <a:ext cx="4251960" cy="822960"/>
          </a:xfrm>
          <a:prstGeom prst="roundRect">
            <a:avLst>
              <a:gd name="adj" fmla="val 8889"/>
            </a:avLst>
          </a:prstGeom>
          <a:solidFill>
            <a:srgbClr val="FFFFFF"/>
          </a:solidFill>
          <a:ln w="12700">
            <a:solidFill>
              <a:srgbClr val="D2DCE6"/>
            </a:solidFill>
            <a:prstDash val="solid"/>
          </a:ln>
        </p:spPr>
      </p:sp>
      <p:sp>
        <p:nvSpPr>
          <p:cNvPr id="28" name="Shape 25"/>
          <p:cNvSpPr/>
          <p:nvPr/>
        </p:nvSpPr>
        <p:spPr>
          <a:xfrm>
            <a:off x="7104888" y="2670048"/>
            <a:ext cx="109728" cy="822960"/>
          </a:xfrm>
          <a:prstGeom prst="rect">
            <a:avLst/>
          </a:prstGeom>
          <a:solidFill>
            <a:srgbClr val="156082"/>
          </a:solidFill>
          <a:ln/>
        </p:spPr>
      </p:sp>
      <p:sp>
        <p:nvSpPr>
          <p:cNvPr id="29" name="Text 26"/>
          <p:cNvSpPr/>
          <p:nvPr/>
        </p:nvSpPr>
        <p:spPr>
          <a:xfrm>
            <a:off x="7424928" y="2779776"/>
            <a:ext cx="3749040" cy="329184"/>
          </a:xfrm>
          <a:prstGeom prst="rect">
            <a:avLst/>
          </a:prstGeom>
          <a:noFill/>
          <a:ln/>
        </p:spPr>
        <p:txBody>
          <a:bodyPr wrap="square" lIns="0" tIns="0" rIns="0" bIns="0" rtlCol="0" anchor="ctr"/>
          <a:lstStyle/>
          <a:p>
            <a:pPr marL="0" indent="0" algn="l">
              <a:buNone/>
            </a:pPr>
            <a:r>
              <a:rPr lang="en-US" sz="1550" b="1" dirty="0">
                <a:solidFill>
                  <a:srgbClr val="156082"/>
                </a:solidFill>
                <a:latin typeface="Times New Roman" pitchFamily="34" charset="0"/>
                <a:ea typeface="Times New Roman" pitchFamily="34" charset="-122"/>
                <a:cs typeface="Times New Roman" pitchFamily="34" charset="-120"/>
              </a:rPr>
              <a:t>Oval</a:t>
            </a:r>
            <a:endParaRPr lang="en-US" sz="1550" dirty="0"/>
          </a:p>
        </p:txBody>
      </p:sp>
      <p:sp>
        <p:nvSpPr>
          <p:cNvPr id="30" name="Text 27"/>
          <p:cNvSpPr/>
          <p:nvPr/>
        </p:nvSpPr>
        <p:spPr>
          <a:xfrm>
            <a:off x="7424928" y="3108960"/>
            <a:ext cx="3749040" cy="292608"/>
          </a:xfrm>
          <a:prstGeom prst="rect">
            <a:avLst/>
          </a:prstGeom>
          <a:noFill/>
          <a:ln/>
        </p:spPr>
        <p:txBody>
          <a:bodyPr wrap="square" lIns="0" tIns="0" rIns="0" bIns="0" rtlCol="0" anchor="ctr"/>
          <a:lstStyle/>
          <a:p>
            <a:pPr marL="0" indent="0" algn="l">
              <a:buNone/>
            </a:pPr>
            <a:r>
              <a:rPr lang="en-US" sz="1250" dirty="0">
                <a:solidFill>
                  <a:srgbClr val="5A6472"/>
                </a:solidFill>
                <a:latin typeface="Times New Roman" pitchFamily="34" charset="0"/>
                <a:ea typeface="Times New Roman" pitchFamily="34" charset="-122"/>
                <a:cs typeface="Times New Roman" pitchFamily="34" charset="-120"/>
              </a:rPr>
              <a:t>an attribute  —  RollNo, Grade</a:t>
            </a:r>
            <a:endParaRPr lang="en-US" sz="1250" dirty="0"/>
          </a:p>
        </p:txBody>
      </p:sp>
      <p:sp>
        <p:nvSpPr>
          <p:cNvPr id="31" name="Shape 28"/>
          <p:cNvSpPr/>
          <p:nvPr/>
        </p:nvSpPr>
        <p:spPr>
          <a:xfrm>
            <a:off x="7104888" y="3648456"/>
            <a:ext cx="4251960" cy="822960"/>
          </a:xfrm>
          <a:prstGeom prst="roundRect">
            <a:avLst>
              <a:gd name="adj" fmla="val 8889"/>
            </a:avLst>
          </a:prstGeom>
          <a:solidFill>
            <a:srgbClr val="FFFFFF"/>
          </a:solidFill>
          <a:ln w="12700">
            <a:solidFill>
              <a:srgbClr val="D2DCE6"/>
            </a:solidFill>
            <a:prstDash val="solid"/>
          </a:ln>
        </p:spPr>
      </p:sp>
      <p:sp>
        <p:nvSpPr>
          <p:cNvPr id="32" name="Shape 29"/>
          <p:cNvSpPr/>
          <p:nvPr/>
        </p:nvSpPr>
        <p:spPr>
          <a:xfrm>
            <a:off x="7104888" y="3648456"/>
            <a:ext cx="109728" cy="822960"/>
          </a:xfrm>
          <a:prstGeom prst="rect">
            <a:avLst/>
          </a:prstGeom>
          <a:solidFill>
            <a:srgbClr val="E97132"/>
          </a:solidFill>
          <a:ln/>
        </p:spPr>
      </p:sp>
      <p:sp>
        <p:nvSpPr>
          <p:cNvPr id="33" name="Text 30"/>
          <p:cNvSpPr/>
          <p:nvPr/>
        </p:nvSpPr>
        <p:spPr>
          <a:xfrm>
            <a:off x="7424928" y="3758184"/>
            <a:ext cx="3749040" cy="329184"/>
          </a:xfrm>
          <a:prstGeom prst="rect">
            <a:avLst/>
          </a:prstGeom>
          <a:noFill/>
          <a:ln/>
        </p:spPr>
        <p:txBody>
          <a:bodyPr wrap="square" lIns="0" tIns="0" rIns="0" bIns="0" rtlCol="0" anchor="ctr"/>
          <a:lstStyle/>
          <a:p>
            <a:pPr marL="0" indent="0" algn="l">
              <a:buNone/>
            </a:pPr>
            <a:r>
              <a:rPr lang="en-US" sz="1550" b="1" dirty="0">
                <a:solidFill>
                  <a:srgbClr val="E97132"/>
                </a:solidFill>
                <a:latin typeface="Times New Roman" pitchFamily="34" charset="0"/>
                <a:ea typeface="Times New Roman" pitchFamily="34" charset="-122"/>
                <a:cs typeface="Times New Roman" pitchFamily="34" charset="-120"/>
              </a:rPr>
              <a:t>Diamond</a:t>
            </a:r>
            <a:endParaRPr lang="en-US" sz="1550" dirty="0"/>
          </a:p>
        </p:txBody>
      </p:sp>
      <p:sp>
        <p:nvSpPr>
          <p:cNvPr id="34" name="Text 31"/>
          <p:cNvSpPr/>
          <p:nvPr/>
        </p:nvSpPr>
        <p:spPr>
          <a:xfrm>
            <a:off x="7424928" y="4087368"/>
            <a:ext cx="3749040" cy="292608"/>
          </a:xfrm>
          <a:prstGeom prst="rect">
            <a:avLst/>
          </a:prstGeom>
          <a:noFill/>
          <a:ln/>
        </p:spPr>
        <p:txBody>
          <a:bodyPr wrap="square" lIns="0" tIns="0" rIns="0" bIns="0" rtlCol="0" anchor="ctr"/>
          <a:lstStyle/>
          <a:p>
            <a:pPr marL="0" indent="0" algn="l">
              <a:buNone/>
            </a:pPr>
            <a:r>
              <a:rPr lang="en-US" sz="1250" dirty="0">
                <a:solidFill>
                  <a:srgbClr val="5A6472"/>
                </a:solidFill>
                <a:latin typeface="Times New Roman" pitchFamily="34" charset="0"/>
                <a:ea typeface="Times New Roman" pitchFamily="34" charset="-122"/>
                <a:cs typeface="Times New Roman" pitchFamily="34" charset="-120"/>
              </a:rPr>
              <a:t>a relationship  —  Enrolls</a:t>
            </a:r>
            <a:endParaRPr lang="en-US" sz="1250" dirty="0"/>
          </a:p>
        </p:txBody>
      </p:sp>
      <p:sp>
        <p:nvSpPr>
          <p:cNvPr id="35" name="Shape 32"/>
          <p:cNvSpPr/>
          <p:nvPr/>
        </p:nvSpPr>
        <p:spPr>
          <a:xfrm>
            <a:off x="7104888" y="4626864"/>
            <a:ext cx="4251960" cy="822960"/>
          </a:xfrm>
          <a:prstGeom prst="roundRect">
            <a:avLst>
              <a:gd name="adj" fmla="val 8889"/>
            </a:avLst>
          </a:prstGeom>
          <a:solidFill>
            <a:srgbClr val="FFFFFF"/>
          </a:solidFill>
          <a:ln w="12700">
            <a:solidFill>
              <a:srgbClr val="D2DCE6"/>
            </a:solidFill>
            <a:prstDash val="solid"/>
          </a:ln>
        </p:spPr>
      </p:sp>
      <p:sp>
        <p:nvSpPr>
          <p:cNvPr id="36" name="Shape 33"/>
          <p:cNvSpPr/>
          <p:nvPr/>
        </p:nvSpPr>
        <p:spPr>
          <a:xfrm>
            <a:off x="7104888" y="4626864"/>
            <a:ext cx="109728" cy="822960"/>
          </a:xfrm>
          <a:prstGeom prst="rect">
            <a:avLst/>
          </a:prstGeom>
          <a:solidFill>
            <a:srgbClr val="196B24"/>
          </a:solidFill>
          <a:ln/>
        </p:spPr>
      </p:sp>
      <p:sp>
        <p:nvSpPr>
          <p:cNvPr id="37" name="Text 34"/>
          <p:cNvSpPr/>
          <p:nvPr/>
        </p:nvSpPr>
        <p:spPr>
          <a:xfrm>
            <a:off x="7424928" y="4736592"/>
            <a:ext cx="3749040" cy="329184"/>
          </a:xfrm>
          <a:prstGeom prst="rect">
            <a:avLst/>
          </a:prstGeom>
          <a:noFill/>
          <a:ln/>
        </p:spPr>
        <p:txBody>
          <a:bodyPr wrap="square" lIns="0" tIns="0" rIns="0" bIns="0" rtlCol="0" anchor="ctr"/>
          <a:lstStyle/>
          <a:p>
            <a:pPr marL="0" indent="0" algn="l">
              <a:buNone/>
            </a:pPr>
            <a:r>
              <a:rPr lang="en-US" sz="1550" b="1" dirty="0">
                <a:solidFill>
                  <a:srgbClr val="196B24"/>
                </a:solidFill>
                <a:latin typeface="Times New Roman" pitchFamily="34" charset="0"/>
                <a:ea typeface="Times New Roman" pitchFamily="34" charset="-122"/>
                <a:cs typeface="Times New Roman" pitchFamily="34" charset="-120"/>
              </a:rPr>
              <a:t>Line</a:t>
            </a:r>
            <a:endParaRPr lang="en-US" sz="1550" dirty="0"/>
          </a:p>
        </p:txBody>
      </p:sp>
      <p:sp>
        <p:nvSpPr>
          <p:cNvPr id="38" name="Text 35"/>
          <p:cNvSpPr/>
          <p:nvPr/>
        </p:nvSpPr>
        <p:spPr>
          <a:xfrm>
            <a:off x="7424928" y="5065776"/>
            <a:ext cx="3749040" cy="292608"/>
          </a:xfrm>
          <a:prstGeom prst="rect">
            <a:avLst/>
          </a:prstGeom>
          <a:noFill/>
          <a:ln/>
        </p:spPr>
        <p:txBody>
          <a:bodyPr wrap="square" lIns="0" tIns="0" rIns="0" bIns="0" rtlCol="0" anchor="ctr"/>
          <a:lstStyle/>
          <a:p>
            <a:pPr marL="0" indent="0" algn="l">
              <a:buNone/>
            </a:pPr>
            <a:r>
              <a:rPr lang="en-US" sz="1250" dirty="0">
                <a:solidFill>
                  <a:srgbClr val="5A6472"/>
                </a:solidFill>
                <a:latin typeface="Times New Roman" pitchFamily="34" charset="0"/>
                <a:ea typeface="Times New Roman" pitchFamily="34" charset="-122"/>
                <a:cs typeface="Times New Roman" pitchFamily="34" charset="-120"/>
              </a:rPr>
              <a:t>links what belongs together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Entities and Entity Sets</a:t>
            </a:r>
            <a:endParaRPr lang="en-US" sz="3200" dirty="0"/>
          </a:p>
        </p:txBody>
      </p:sp>
      <p:sp>
        <p:nvSpPr>
          <p:cNvPr id="5" name="Shape 2"/>
          <p:cNvSpPr/>
          <p:nvPr/>
        </p:nvSpPr>
        <p:spPr>
          <a:xfrm>
            <a:off x="841248" y="1645920"/>
            <a:ext cx="4892040" cy="960120"/>
          </a:xfrm>
          <a:prstGeom prst="roundRect">
            <a:avLst>
              <a:gd name="adj" fmla="val 7619"/>
            </a:avLst>
          </a:prstGeom>
          <a:solidFill>
            <a:srgbClr val="FFFFFF"/>
          </a:solidFill>
          <a:ln w="12700">
            <a:solidFill>
              <a:srgbClr val="D2DCE6"/>
            </a:solidFill>
            <a:prstDash val="solid"/>
          </a:ln>
        </p:spPr>
      </p:sp>
      <p:sp>
        <p:nvSpPr>
          <p:cNvPr id="6" name="Shape 3"/>
          <p:cNvSpPr/>
          <p:nvPr/>
        </p:nvSpPr>
        <p:spPr>
          <a:xfrm>
            <a:off x="841248" y="1645920"/>
            <a:ext cx="109728" cy="960120"/>
          </a:xfrm>
          <a:prstGeom prst="rect">
            <a:avLst/>
          </a:prstGeom>
          <a:solidFill>
            <a:srgbClr val="156082"/>
          </a:solidFill>
          <a:ln/>
        </p:spPr>
      </p:sp>
      <p:sp>
        <p:nvSpPr>
          <p:cNvPr id="7" name="Text 4"/>
          <p:cNvSpPr/>
          <p:nvPr/>
        </p:nvSpPr>
        <p:spPr>
          <a:xfrm>
            <a:off x="1188720" y="1773936"/>
            <a:ext cx="4206240" cy="310896"/>
          </a:xfrm>
          <a:prstGeom prst="rect">
            <a:avLst/>
          </a:prstGeom>
          <a:noFill/>
          <a:ln/>
        </p:spPr>
        <p:txBody>
          <a:bodyPr wrap="square" lIns="0" tIns="0" rIns="0" bIns="0" rtlCol="0" anchor="ctr"/>
          <a:lstStyle/>
          <a:p>
            <a:pPr marL="0" indent="0" algn="l">
              <a:buNone/>
            </a:pPr>
            <a:r>
              <a:rPr lang="en-US" sz="1600" b="1" dirty="0">
                <a:solidFill>
                  <a:srgbClr val="156082"/>
                </a:solidFill>
                <a:latin typeface="Times New Roman" pitchFamily="34" charset="0"/>
                <a:ea typeface="Times New Roman" pitchFamily="34" charset="-122"/>
                <a:cs typeface="Times New Roman" pitchFamily="34" charset="-120"/>
              </a:rPr>
              <a:t>Entity</a:t>
            </a:r>
            <a:endParaRPr lang="en-US" sz="1600" dirty="0"/>
          </a:p>
        </p:txBody>
      </p:sp>
      <p:sp>
        <p:nvSpPr>
          <p:cNvPr id="8" name="Text 5"/>
          <p:cNvSpPr/>
          <p:nvPr/>
        </p:nvSpPr>
        <p:spPr>
          <a:xfrm>
            <a:off x="1188720" y="2103120"/>
            <a:ext cx="4206240" cy="310896"/>
          </a:xfrm>
          <a:prstGeom prst="rect">
            <a:avLst/>
          </a:prstGeom>
          <a:noFill/>
          <a:ln/>
        </p:spPr>
        <p:txBody>
          <a:bodyPr wrap="square" lIns="0" tIns="0" rIns="0" bIns="0" rtlCol="0" anchor="ctr"/>
          <a:lstStyle/>
          <a:p>
            <a:pPr marL="0" indent="0" algn="l">
              <a:buNone/>
            </a:pPr>
            <a:r>
              <a:rPr lang="en-US" sz="1350" dirty="0">
                <a:solidFill>
                  <a:srgbClr val="5A6472"/>
                </a:solidFill>
                <a:latin typeface="Times New Roman" pitchFamily="34" charset="0"/>
                <a:ea typeface="Times New Roman" pitchFamily="34" charset="-122"/>
                <a:cs typeface="Times New Roman" pitchFamily="34" charset="-120"/>
              </a:rPr>
              <a:t>one distinguishable real-world object</a:t>
            </a:r>
            <a:endParaRPr lang="en-US" sz="1350" dirty="0"/>
          </a:p>
        </p:txBody>
      </p:sp>
      <p:sp>
        <p:nvSpPr>
          <p:cNvPr id="9" name="Shape 6"/>
          <p:cNvSpPr/>
          <p:nvPr/>
        </p:nvSpPr>
        <p:spPr>
          <a:xfrm>
            <a:off x="841248" y="2788920"/>
            <a:ext cx="4892040" cy="960120"/>
          </a:xfrm>
          <a:prstGeom prst="roundRect">
            <a:avLst>
              <a:gd name="adj" fmla="val 7619"/>
            </a:avLst>
          </a:prstGeom>
          <a:solidFill>
            <a:srgbClr val="FFFFFF"/>
          </a:solidFill>
          <a:ln w="12700">
            <a:solidFill>
              <a:srgbClr val="D2DCE6"/>
            </a:solidFill>
            <a:prstDash val="solid"/>
          </a:ln>
        </p:spPr>
      </p:sp>
      <p:sp>
        <p:nvSpPr>
          <p:cNvPr id="10" name="Shape 7"/>
          <p:cNvSpPr/>
          <p:nvPr/>
        </p:nvSpPr>
        <p:spPr>
          <a:xfrm>
            <a:off x="841248" y="2788920"/>
            <a:ext cx="109728" cy="960120"/>
          </a:xfrm>
          <a:prstGeom prst="rect">
            <a:avLst/>
          </a:prstGeom>
          <a:solidFill>
            <a:srgbClr val="E97132"/>
          </a:solidFill>
          <a:ln/>
        </p:spPr>
      </p:sp>
      <p:sp>
        <p:nvSpPr>
          <p:cNvPr id="11" name="Text 8"/>
          <p:cNvSpPr/>
          <p:nvPr/>
        </p:nvSpPr>
        <p:spPr>
          <a:xfrm>
            <a:off x="1188720" y="2916936"/>
            <a:ext cx="4206240" cy="310896"/>
          </a:xfrm>
          <a:prstGeom prst="rect">
            <a:avLst/>
          </a:prstGeom>
          <a:noFill/>
          <a:ln/>
        </p:spPr>
        <p:txBody>
          <a:bodyPr wrap="square" lIns="0" tIns="0" rIns="0" bIns="0" rtlCol="0" anchor="ctr"/>
          <a:lstStyle/>
          <a:p>
            <a:pPr marL="0" indent="0" algn="l">
              <a:buNone/>
            </a:pPr>
            <a:r>
              <a:rPr lang="en-US" sz="1600" b="1" dirty="0">
                <a:solidFill>
                  <a:srgbClr val="E97132"/>
                </a:solidFill>
                <a:latin typeface="Times New Roman" pitchFamily="34" charset="0"/>
                <a:ea typeface="Times New Roman" pitchFamily="34" charset="-122"/>
                <a:cs typeface="Times New Roman" pitchFamily="34" charset="-120"/>
              </a:rPr>
              <a:t>Entity set</a:t>
            </a:r>
            <a:endParaRPr lang="en-US" sz="1600" dirty="0"/>
          </a:p>
        </p:txBody>
      </p:sp>
      <p:sp>
        <p:nvSpPr>
          <p:cNvPr id="12" name="Text 9"/>
          <p:cNvSpPr/>
          <p:nvPr/>
        </p:nvSpPr>
        <p:spPr>
          <a:xfrm>
            <a:off x="1188720" y="3246120"/>
            <a:ext cx="4206240" cy="310896"/>
          </a:xfrm>
          <a:prstGeom prst="rect">
            <a:avLst/>
          </a:prstGeom>
          <a:noFill/>
          <a:ln/>
        </p:spPr>
        <p:txBody>
          <a:bodyPr wrap="square" lIns="0" tIns="0" rIns="0" bIns="0" rtlCol="0" anchor="ctr"/>
          <a:lstStyle/>
          <a:p>
            <a:pPr marL="0" indent="0" algn="l">
              <a:buNone/>
            </a:pPr>
            <a:r>
              <a:rPr lang="en-US" sz="1350" dirty="0">
                <a:solidFill>
                  <a:srgbClr val="5A6472"/>
                </a:solidFill>
                <a:latin typeface="Times New Roman" pitchFamily="34" charset="0"/>
                <a:ea typeface="Times New Roman" pitchFamily="34" charset="-122"/>
                <a:cs typeface="Times New Roman" pitchFamily="34" charset="-120"/>
              </a:rPr>
              <a:t>a collection of entities of the same type</a:t>
            </a:r>
            <a:endParaRPr lang="en-US" sz="1350" dirty="0"/>
          </a:p>
        </p:txBody>
      </p:sp>
      <p:sp>
        <p:nvSpPr>
          <p:cNvPr id="13" name="Shape 10"/>
          <p:cNvSpPr/>
          <p:nvPr/>
        </p:nvSpPr>
        <p:spPr>
          <a:xfrm>
            <a:off x="841248" y="4023360"/>
            <a:ext cx="4892040" cy="841248"/>
          </a:xfrm>
          <a:prstGeom prst="roundRect">
            <a:avLst>
              <a:gd name="adj" fmla="val 13043"/>
            </a:avLst>
          </a:prstGeom>
          <a:solidFill>
            <a:srgbClr val="1E3040"/>
          </a:solidFill>
          <a:ln/>
        </p:spPr>
      </p:sp>
      <p:sp>
        <p:nvSpPr>
          <p:cNvPr id="14" name="Text 11"/>
          <p:cNvSpPr/>
          <p:nvPr/>
        </p:nvSpPr>
        <p:spPr>
          <a:xfrm>
            <a:off x="841248" y="4023360"/>
            <a:ext cx="4892040" cy="841248"/>
          </a:xfrm>
          <a:prstGeom prst="rect">
            <a:avLst/>
          </a:prstGeom>
          <a:noFill/>
          <a:ln/>
        </p:spPr>
        <p:txBody>
          <a:bodyPr wrap="square" lIns="0" tIns="0" rIns="0" bIns="0" rtlCol="0" anchor="ctr"/>
          <a:lstStyle/>
          <a:p>
            <a:pPr marL="0" indent="0" algn="ctr">
              <a:buNone/>
            </a:pPr>
            <a:r>
              <a:rPr lang="en-US" sz="1350" dirty="0">
                <a:solidFill>
                  <a:srgbClr val="E8F2F8"/>
                </a:solidFill>
                <a:latin typeface="Times New Roman" pitchFamily="34" charset="0"/>
                <a:ea typeface="Times New Roman" pitchFamily="34" charset="-122"/>
                <a:cs typeface="Times New Roman" pitchFamily="34" charset="-120"/>
              </a:rPr>
              <a:t>entity set  =  the type</a:t>
            </a:r>
            <a:endParaRPr lang="en-US" sz="1350" dirty="0"/>
          </a:p>
          <a:p>
            <a:pPr marL="0" indent="0" algn="ctr">
              <a:buNone/>
            </a:pPr>
            <a:r>
              <a:rPr lang="en-US" sz="1350" dirty="0">
                <a:solidFill>
                  <a:srgbClr val="E8F2F8"/>
                </a:solidFill>
                <a:latin typeface="Times New Roman" pitchFamily="34" charset="0"/>
                <a:ea typeface="Times New Roman" pitchFamily="34" charset="-122"/>
                <a:cs typeface="Times New Roman" pitchFamily="34" charset="-120"/>
              </a:rPr>
              <a:t>entity  =  one row of that type</a:t>
            </a:r>
            <a:endParaRPr lang="en-US" sz="1350" dirty="0"/>
          </a:p>
        </p:txBody>
      </p:sp>
      <p:sp>
        <p:nvSpPr>
          <p:cNvPr id="15" name="Shape 12"/>
          <p:cNvSpPr/>
          <p:nvPr/>
        </p:nvSpPr>
        <p:spPr>
          <a:xfrm>
            <a:off x="6281928" y="1645920"/>
            <a:ext cx="5074920" cy="3218688"/>
          </a:xfrm>
          <a:prstGeom prst="roundRect">
            <a:avLst>
              <a:gd name="adj" fmla="val 2273"/>
            </a:avLst>
          </a:prstGeom>
          <a:solidFill>
            <a:srgbClr val="F2F6FA"/>
          </a:solidFill>
          <a:ln w="12700">
            <a:solidFill>
              <a:srgbClr val="D2DCE6"/>
            </a:solidFill>
            <a:prstDash val="solid"/>
          </a:ln>
        </p:spPr>
      </p:sp>
      <p:sp>
        <p:nvSpPr>
          <p:cNvPr id="16" name="Text 13"/>
          <p:cNvSpPr/>
          <p:nvPr/>
        </p:nvSpPr>
        <p:spPr>
          <a:xfrm>
            <a:off x="6601968" y="1847088"/>
            <a:ext cx="4389120" cy="310896"/>
          </a:xfrm>
          <a:prstGeom prst="rect">
            <a:avLst/>
          </a:prstGeom>
          <a:noFill/>
          <a:ln/>
        </p:spPr>
        <p:txBody>
          <a:bodyPr wrap="square" lIns="0" tIns="0" rIns="0" bIns="0" rtlCol="0" anchor="ctr"/>
          <a:lstStyle/>
          <a:p>
            <a:pPr marL="0" indent="0" algn="l">
              <a:buNone/>
            </a:pPr>
            <a:r>
              <a:rPr lang="en-US" sz="1500" b="1" dirty="0">
                <a:solidFill>
                  <a:srgbClr val="0E2841"/>
                </a:solidFill>
                <a:latin typeface="Times New Roman" pitchFamily="34" charset="0"/>
                <a:ea typeface="Times New Roman" pitchFamily="34" charset="-122"/>
                <a:cs typeface="Times New Roman" pitchFamily="34" charset="-120"/>
              </a:rPr>
              <a:t>Netflix</a:t>
            </a:r>
            <a:endParaRPr lang="en-US" sz="1500" dirty="0"/>
          </a:p>
        </p:txBody>
      </p:sp>
      <p:sp>
        <p:nvSpPr>
          <p:cNvPr id="17" name="Shape 14"/>
          <p:cNvSpPr/>
          <p:nvPr/>
        </p:nvSpPr>
        <p:spPr>
          <a:xfrm>
            <a:off x="6601968" y="2331720"/>
            <a:ext cx="1417320" cy="603504"/>
          </a:xfrm>
          <a:prstGeom prst="rect">
            <a:avLst/>
          </a:prstGeom>
          <a:solidFill>
            <a:srgbClr val="FFFFFF"/>
          </a:solidFill>
          <a:ln w="22225">
            <a:solidFill>
              <a:srgbClr val="156082"/>
            </a:solidFill>
            <a:prstDash val="solid"/>
          </a:ln>
        </p:spPr>
      </p:sp>
      <p:sp>
        <p:nvSpPr>
          <p:cNvPr id="18" name="Text 15"/>
          <p:cNvSpPr/>
          <p:nvPr/>
        </p:nvSpPr>
        <p:spPr>
          <a:xfrm>
            <a:off x="6601968" y="2331720"/>
            <a:ext cx="1417320" cy="603504"/>
          </a:xfrm>
          <a:prstGeom prst="rect">
            <a:avLst/>
          </a:prstGeom>
          <a:noFill/>
          <a:ln/>
        </p:spPr>
        <p:txBody>
          <a:bodyPr wrap="square" lIns="0" tIns="0" rIns="0" bIns="0" rtlCol="0" anchor="ctr"/>
          <a:lstStyle/>
          <a:p>
            <a:pPr marL="0" indent="0" algn="ctr">
              <a:buNone/>
            </a:pPr>
            <a:r>
              <a:rPr lang="en-US" sz="1300" b="1" dirty="0">
                <a:solidFill>
                  <a:srgbClr val="156082"/>
                </a:solidFill>
                <a:latin typeface="Times New Roman" pitchFamily="34" charset="0"/>
                <a:ea typeface="Times New Roman" pitchFamily="34" charset="-122"/>
                <a:cs typeface="Times New Roman" pitchFamily="34" charset="-120"/>
              </a:rPr>
              <a:t>User</a:t>
            </a:r>
            <a:endParaRPr lang="en-US" sz="1300" dirty="0"/>
          </a:p>
        </p:txBody>
      </p:sp>
      <p:sp>
        <p:nvSpPr>
          <p:cNvPr id="19" name="Text 16"/>
          <p:cNvSpPr/>
          <p:nvPr/>
        </p:nvSpPr>
        <p:spPr>
          <a:xfrm>
            <a:off x="6601968" y="2962656"/>
            <a:ext cx="1417320" cy="256032"/>
          </a:xfrm>
          <a:prstGeom prst="rect">
            <a:avLst/>
          </a:prstGeom>
          <a:noFill/>
          <a:ln/>
        </p:spPr>
        <p:txBody>
          <a:bodyPr wrap="square" lIns="0" tIns="0" rIns="0" bIns="0" rtlCol="0" anchor="ctr"/>
          <a:lstStyle/>
          <a:p>
            <a:pPr marL="0" indent="0" algn="ctr">
              <a:buNone/>
            </a:pPr>
            <a:r>
              <a:rPr lang="en-US" sz="1000" dirty="0">
                <a:solidFill>
                  <a:srgbClr val="5A6472"/>
                </a:solidFill>
                <a:latin typeface="Times New Roman" pitchFamily="34" charset="0"/>
                <a:ea typeface="Times New Roman" pitchFamily="34" charset="-122"/>
                <a:cs typeface="Times New Roman" pitchFamily="34" charset="-120"/>
              </a:rPr>
              <a:t>entity set</a:t>
            </a:r>
            <a:endParaRPr lang="en-US" sz="1000" dirty="0"/>
          </a:p>
        </p:txBody>
      </p:sp>
      <p:sp>
        <p:nvSpPr>
          <p:cNvPr id="20" name="Shape 17"/>
          <p:cNvSpPr/>
          <p:nvPr/>
        </p:nvSpPr>
        <p:spPr>
          <a:xfrm>
            <a:off x="8385048" y="2359152"/>
            <a:ext cx="896112" cy="548640"/>
          </a:xfrm>
          <a:prstGeom prst="roundRect">
            <a:avLst>
              <a:gd name="adj" fmla="val 16667"/>
            </a:avLst>
          </a:prstGeom>
          <a:solidFill>
            <a:srgbClr val="FFFFFF"/>
          </a:solidFill>
          <a:ln w="12700">
            <a:solidFill>
              <a:srgbClr val="D2DCE6"/>
            </a:solidFill>
            <a:prstDash val="solid"/>
          </a:ln>
        </p:spPr>
      </p:sp>
      <p:sp>
        <p:nvSpPr>
          <p:cNvPr id="21" name="Text 18"/>
          <p:cNvSpPr/>
          <p:nvPr/>
        </p:nvSpPr>
        <p:spPr>
          <a:xfrm>
            <a:off x="8385048" y="2359152"/>
            <a:ext cx="896112" cy="548640"/>
          </a:xfrm>
          <a:prstGeom prst="rect">
            <a:avLst/>
          </a:prstGeom>
          <a:noFill/>
          <a:ln/>
        </p:spPr>
        <p:txBody>
          <a:bodyPr wrap="square" lIns="0" tIns="0" rIns="0" bIns="0" rtlCol="0" anchor="ctr"/>
          <a:lstStyle/>
          <a:p>
            <a:pPr marL="0" indent="0" algn="ctr">
              <a:buNone/>
            </a:pPr>
            <a:r>
              <a:rPr lang="en-US" sz="1100" dirty="0">
                <a:solidFill>
                  <a:srgbClr val="2B2B2B"/>
                </a:solidFill>
                <a:latin typeface="Times New Roman" pitchFamily="34" charset="0"/>
                <a:ea typeface="Times New Roman" pitchFamily="34" charset="-122"/>
                <a:cs typeface="Times New Roman" pitchFamily="34" charset="-120"/>
              </a:rPr>
              <a:t>Rahul</a:t>
            </a:r>
            <a:endParaRPr lang="en-US" sz="1100" dirty="0"/>
          </a:p>
        </p:txBody>
      </p:sp>
      <p:sp>
        <p:nvSpPr>
          <p:cNvPr id="22" name="Shape 19"/>
          <p:cNvSpPr/>
          <p:nvPr/>
        </p:nvSpPr>
        <p:spPr>
          <a:xfrm>
            <a:off x="9390888" y="2359152"/>
            <a:ext cx="896112" cy="548640"/>
          </a:xfrm>
          <a:prstGeom prst="roundRect">
            <a:avLst>
              <a:gd name="adj" fmla="val 16667"/>
            </a:avLst>
          </a:prstGeom>
          <a:solidFill>
            <a:srgbClr val="FFFFFF"/>
          </a:solidFill>
          <a:ln w="12700">
            <a:solidFill>
              <a:srgbClr val="D2DCE6"/>
            </a:solidFill>
            <a:prstDash val="solid"/>
          </a:ln>
        </p:spPr>
      </p:sp>
      <p:sp>
        <p:nvSpPr>
          <p:cNvPr id="23" name="Text 20"/>
          <p:cNvSpPr/>
          <p:nvPr/>
        </p:nvSpPr>
        <p:spPr>
          <a:xfrm>
            <a:off x="9390888" y="2359152"/>
            <a:ext cx="896112" cy="548640"/>
          </a:xfrm>
          <a:prstGeom prst="rect">
            <a:avLst/>
          </a:prstGeom>
          <a:noFill/>
          <a:ln/>
        </p:spPr>
        <p:txBody>
          <a:bodyPr wrap="square" lIns="0" tIns="0" rIns="0" bIns="0" rtlCol="0" anchor="ctr"/>
          <a:lstStyle/>
          <a:p>
            <a:pPr marL="0" indent="0" algn="ctr">
              <a:buNone/>
            </a:pPr>
            <a:r>
              <a:rPr lang="en-US" sz="1100" dirty="0">
                <a:solidFill>
                  <a:srgbClr val="2B2B2B"/>
                </a:solidFill>
                <a:latin typeface="Times New Roman" pitchFamily="34" charset="0"/>
                <a:ea typeface="Times New Roman" pitchFamily="34" charset="-122"/>
                <a:cs typeface="Times New Roman" pitchFamily="34" charset="-120"/>
              </a:rPr>
              <a:t>Sana</a:t>
            </a:r>
            <a:endParaRPr lang="en-US" sz="1100" dirty="0"/>
          </a:p>
        </p:txBody>
      </p:sp>
      <p:sp>
        <p:nvSpPr>
          <p:cNvPr id="24" name="Shape 21"/>
          <p:cNvSpPr/>
          <p:nvPr/>
        </p:nvSpPr>
        <p:spPr>
          <a:xfrm>
            <a:off x="10396728" y="2359152"/>
            <a:ext cx="896112" cy="548640"/>
          </a:xfrm>
          <a:prstGeom prst="roundRect">
            <a:avLst>
              <a:gd name="adj" fmla="val 16667"/>
            </a:avLst>
          </a:prstGeom>
          <a:solidFill>
            <a:srgbClr val="FFFFFF"/>
          </a:solidFill>
          <a:ln w="12700">
            <a:solidFill>
              <a:srgbClr val="D2DCE6"/>
            </a:solidFill>
            <a:prstDash val="solid"/>
          </a:ln>
        </p:spPr>
      </p:sp>
      <p:sp>
        <p:nvSpPr>
          <p:cNvPr id="25" name="Text 22"/>
          <p:cNvSpPr/>
          <p:nvPr/>
        </p:nvSpPr>
        <p:spPr>
          <a:xfrm>
            <a:off x="10396728" y="2359152"/>
            <a:ext cx="896112" cy="548640"/>
          </a:xfrm>
          <a:prstGeom prst="rect">
            <a:avLst/>
          </a:prstGeom>
          <a:noFill/>
          <a:ln/>
        </p:spPr>
        <p:txBody>
          <a:bodyPr wrap="square" lIns="0" tIns="0" rIns="0" bIns="0" rtlCol="0" anchor="ctr"/>
          <a:lstStyle/>
          <a:p>
            <a:pPr marL="0" indent="0" algn="ctr">
              <a:buNone/>
            </a:pPr>
            <a:r>
              <a:rPr lang="en-US" sz="1100" dirty="0">
                <a:solidFill>
                  <a:srgbClr val="2B2B2B"/>
                </a:solidFill>
                <a:latin typeface="Times New Roman" pitchFamily="34" charset="0"/>
                <a:ea typeface="Times New Roman" pitchFamily="34" charset="-122"/>
                <a:cs typeface="Times New Roman" pitchFamily="34" charset="-120"/>
              </a:rPr>
              <a:t>Asha</a:t>
            </a:r>
            <a:endParaRPr lang="en-US" sz="1100" dirty="0"/>
          </a:p>
        </p:txBody>
      </p:sp>
      <p:sp>
        <p:nvSpPr>
          <p:cNvPr id="26" name="Text 23"/>
          <p:cNvSpPr/>
          <p:nvPr/>
        </p:nvSpPr>
        <p:spPr>
          <a:xfrm>
            <a:off x="8385048" y="2962656"/>
            <a:ext cx="2926080" cy="256032"/>
          </a:xfrm>
          <a:prstGeom prst="rect">
            <a:avLst/>
          </a:prstGeom>
          <a:noFill/>
          <a:ln/>
        </p:spPr>
        <p:txBody>
          <a:bodyPr wrap="square" lIns="0" tIns="0" rIns="0" bIns="0" rtlCol="0" anchor="ctr"/>
          <a:lstStyle/>
          <a:p>
            <a:pPr marL="0" indent="0" algn="ctr">
              <a:buNone/>
            </a:pPr>
            <a:r>
              <a:rPr lang="en-US" sz="1000" dirty="0">
                <a:solidFill>
                  <a:srgbClr val="5A6472"/>
                </a:solidFill>
                <a:latin typeface="Times New Roman" pitchFamily="34" charset="0"/>
                <a:ea typeface="Times New Roman" pitchFamily="34" charset="-122"/>
                <a:cs typeface="Times New Roman" pitchFamily="34" charset="-120"/>
              </a:rPr>
              <a:t>three entities</a:t>
            </a:r>
            <a:endParaRPr lang="en-US" sz="1000" dirty="0"/>
          </a:p>
        </p:txBody>
      </p:sp>
      <p:sp>
        <p:nvSpPr>
          <p:cNvPr id="27" name="Shape 24"/>
          <p:cNvSpPr/>
          <p:nvPr/>
        </p:nvSpPr>
        <p:spPr>
          <a:xfrm>
            <a:off x="6601968" y="3520440"/>
            <a:ext cx="1417320" cy="603504"/>
          </a:xfrm>
          <a:prstGeom prst="rect">
            <a:avLst/>
          </a:prstGeom>
          <a:solidFill>
            <a:srgbClr val="FFFFFF"/>
          </a:solidFill>
          <a:ln w="22225">
            <a:solidFill>
              <a:srgbClr val="E97132"/>
            </a:solidFill>
            <a:prstDash val="solid"/>
          </a:ln>
        </p:spPr>
      </p:sp>
      <p:sp>
        <p:nvSpPr>
          <p:cNvPr id="28" name="Text 25"/>
          <p:cNvSpPr/>
          <p:nvPr/>
        </p:nvSpPr>
        <p:spPr>
          <a:xfrm>
            <a:off x="6601968" y="3520440"/>
            <a:ext cx="1417320" cy="603504"/>
          </a:xfrm>
          <a:prstGeom prst="rect">
            <a:avLst/>
          </a:prstGeom>
          <a:noFill/>
          <a:ln/>
        </p:spPr>
        <p:txBody>
          <a:bodyPr wrap="square" lIns="0" tIns="0" rIns="0" bIns="0" rtlCol="0" anchor="ctr"/>
          <a:lstStyle/>
          <a:p>
            <a:pPr marL="0" indent="0" algn="ctr">
              <a:buNone/>
            </a:pPr>
            <a:r>
              <a:rPr lang="en-US" sz="1300" b="1" dirty="0">
                <a:solidFill>
                  <a:srgbClr val="E97132"/>
                </a:solidFill>
                <a:latin typeface="Times New Roman" pitchFamily="34" charset="0"/>
                <a:ea typeface="Times New Roman" pitchFamily="34" charset="-122"/>
                <a:cs typeface="Times New Roman" pitchFamily="34" charset="-120"/>
              </a:rPr>
              <a:t>Movie</a:t>
            </a:r>
            <a:endParaRPr lang="en-US" sz="1300" dirty="0"/>
          </a:p>
        </p:txBody>
      </p:sp>
      <p:sp>
        <p:nvSpPr>
          <p:cNvPr id="29" name="Text 26"/>
          <p:cNvSpPr/>
          <p:nvPr/>
        </p:nvSpPr>
        <p:spPr>
          <a:xfrm>
            <a:off x="6601968" y="4151376"/>
            <a:ext cx="1828800" cy="256032"/>
          </a:xfrm>
          <a:prstGeom prst="rect">
            <a:avLst/>
          </a:prstGeom>
          <a:noFill/>
          <a:ln/>
        </p:spPr>
        <p:txBody>
          <a:bodyPr wrap="square" lIns="0" tIns="0" rIns="0" bIns="0" rtlCol="0" anchor="ctr"/>
          <a:lstStyle/>
          <a:p>
            <a:pPr marL="0" indent="0" algn="ctr">
              <a:buNone/>
            </a:pPr>
            <a:r>
              <a:rPr lang="en-US" sz="1000" dirty="0">
                <a:solidFill>
                  <a:srgbClr val="5A6472"/>
                </a:solidFill>
                <a:latin typeface="Times New Roman" pitchFamily="34" charset="0"/>
                <a:ea typeface="Times New Roman" pitchFamily="34" charset="-122"/>
                <a:cs typeface="Times New Roman" pitchFamily="34" charset="-120"/>
              </a:rPr>
              <a:t>another entity set</a:t>
            </a:r>
            <a:endParaRPr lang="en-US" sz="1000" dirty="0"/>
          </a:p>
        </p:txBody>
      </p:sp>
      <p:sp>
        <p:nvSpPr>
          <p:cNvPr id="30" name="Text 27"/>
          <p:cNvSpPr/>
          <p:nvPr/>
        </p:nvSpPr>
        <p:spPr>
          <a:xfrm>
            <a:off x="8385048" y="3520440"/>
            <a:ext cx="2743200" cy="731520"/>
          </a:xfrm>
          <a:prstGeom prst="rect">
            <a:avLst/>
          </a:prstGeom>
          <a:noFill/>
          <a:ln/>
        </p:spPr>
        <p:txBody>
          <a:bodyPr wrap="square" lIns="0" tIns="0" rIns="0" bIns="0" rtlCol="0" anchor="ctr"/>
          <a:lstStyle/>
          <a:p>
            <a:pPr marL="0" indent="0" algn="l">
              <a:lnSpc>
                <a:spcPct val="130000"/>
              </a:lnSpc>
              <a:buNone/>
            </a:pPr>
            <a:r>
              <a:rPr lang="en-US" sz="1200" dirty="0">
                <a:solidFill>
                  <a:srgbClr val="5A6472"/>
                </a:solidFill>
                <a:latin typeface="Times New Roman" pitchFamily="34" charset="0"/>
                <a:ea typeface="Times New Roman" pitchFamily="34" charset="-122"/>
                <a:cs typeface="Times New Roman" pitchFamily="34" charset="-120"/>
              </a:rPr>
              <a:t>One User entity set holds 280M+ members.</a:t>
            </a:r>
            <a:endParaRPr lang="en-US" sz="1200" dirty="0"/>
          </a:p>
          <a:p>
            <a:pPr marL="0" indent="0" algn="l">
              <a:lnSpc>
                <a:spcPct val="130000"/>
              </a:lnSpc>
              <a:buNone/>
            </a:pPr>
            <a:r>
              <a:rPr lang="en-US" sz="1200" dirty="0">
                <a:solidFill>
                  <a:srgbClr val="5A6472"/>
                </a:solidFill>
                <a:latin typeface="Times New Roman" pitchFamily="34" charset="0"/>
                <a:ea typeface="Times New Roman" pitchFamily="34" charset="-122"/>
                <a:cs typeface="Times New Roman" pitchFamily="34" charset="-120"/>
              </a:rPr>
              <a:t>Each film is one entity in the Movie entity set.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The Five Attribute Types</a:t>
            </a:r>
            <a:endParaRPr lang="en-US" sz="3200" dirty="0"/>
          </a:p>
        </p:txBody>
      </p:sp>
      <p:sp>
        <p:nvSpPr>
          <p:cNvPr id="5" name="Shape 2"/>
          <p:cNvSpPr/>
          <p:nvPr/>
        </p:nvSpPr>
        <p:spPr>
          <a:xfrm>
            <a:off x="841248" y="1645920"/>
            <a:ext cx="10515600" cy="731520"/>
          </a:xfrm>
          <a:prstGeom prst="roundRect">
            <a:avLst>
              <a:gd name="adj" fmla="val 10000"/>
            </a:avLst>
          </a:prstGeom>
          <a:solidFill>
            <a:srgbClr val="FFFFFF"/>
          </a:solidFill>
          <a:ln w="12700">
            <a:solidFill>
              <a:srgbClr val="D2DCE6"/>
            </a:solidFill>
            <a:prstDash val="solid"/>
          </a:ln>
        </p:spPr>
      </p:sp>
      <p:sp>
        <p:nvSpPr>
          <p:cNvPr id="6" name="Shape 3"/>
          <p:cNvSpPr/>
          <p:nvPr/>
        </p:nvSpPr>
        <p:spPr>
          <a:xfrm>
            <a:off x="841248" y="1645920"/>
            <a:ext cx="109728" cy="731520"/>
          </a:xfrm>
          <a:prstGeom prst="rect">
            <a:avLst/>
          </a:prstGeom>
          <a:solidFill>
            <a:srgbClr val="156082"/>
          </a:solidFill>
          <a:ln/>
        </p:spPr>
      </p:sp>
      <p:sp>
        <p:nvSpPr>
          <p:cNvPr id="7" name="Text 4"/>
          <p:cNvSpPr/>
          <p:nvPr/>
        </p:nvSpPr>
        <p:spPr>
          <a:xfrm>
            <a:off x="1188720" y="1645920"/>
            <a:ext cx="1828800" cy="731520"/>
          </a:xfrm>
          <a:prstGeom prst="rect">
            <a:avLst/>
          </a:prstGeom>
          <a:noFill/>
          <a:ln/>
        </p:spPr>
        <p:txBody>
          <a:bodyPr wrap="square" lIns="0" tIns="0" rIns="0" bIns="0" rtlCol="0" anchor="ctr"/>
          <a:lstStyle/>
          <a:p>
            <a:pPr marL="0" indent="0" algn="l">
              <a:buNone/>
            </a:pPr>
            <a:r>
              <a:rPr lang="en-US" sz="1600" b="1" dirty="0">
                <a:solidFill>
                  <a:srgbClr val="156082"/>
                </a:solidFill>
                <a:latin typeface="Times New Roman" pitchFamily="34" charset="0"/>
                <a:ea typeface="Times New Roman" pitchFamily="34" charset="-122"/>
                <a:cs typeface="Times New Roman" pitchFamily="34" charset="-120"/>
              </a:rPr>
              <a:t>Simple</a:t>
            </a:r>
            <a:endParaRPr lang="en-US" sz="1600" dirty="0"/>
          </a:p>
        </p:txBody>
      </p:sp>
      <p:sp>
        <p:nvSpPr>
          <p:cNvPr id="8" name="Text 5"/>
          <p:cNvSpPr/>
          <p:nvPr/>
        </p:nvSpPr>
        <p:spPr>
          <a:xfrm>
            <a:off x="3081528" y="1645920"/>
            <a:ext cx="3200400" cy="731520"/>
          </a:xfrm>
          <a:prstGeom prst="rect">
            <a:avLst/>
          </a:prstGeom>
          <a:noFill/>
          <a:ln/>
        </p:spPr>
        <p:txBody>
          <a:bodyPr wrap="square" lIns="0" tIns="0" rIns="0" bIns="0" rtlCol="0" anchor="ctr"/>
          <a:lstStyle/>
          <a:p>
            <a:pPr marL="0" indent="0" algn="l">
              <a:buNone/>
            </a:pPr>
            <a:r>
              <a:rPr lang="en-US" sz="1350" dirty="0">
                <a:solidFill>
                  <a:srgbClr val="5A6472"/>
                </a:solidFill>
                <a:latin typeface="Times New Roman" pitchFamily="34" charset="0"/>
                <a:ea typeface="Times New Roman" pitchFamily="34" charset="-122"/>
                <a:cs typeface="Times New Roman" pitchFamily="34" charset="-120"/>
              </a:rPr>
              <a:t>cannot be divided</a:t>
            </a:r>
            <a:endParaRPr lang="en-US" sz="1350" dirty="0"/>
          </a:p>
        </p:txBody>
      </p:sp>
      <p:sp>
        <p:nvSpPr>
          <p:cNvPr id="9" name="Shape 6"/>
          <p:cNvSpPr/>
          <p:nvPr/>
        </p:nvSpPr>
        <p:spPr>
          <a:xfrm>
            <a:off x="6373368" y="1773936"/>
            <a:ext cx="2377440" cy="475488"/>
          </a:xfrm>
          <a:prstGeom prst="roundRect">
            <a:avLst>
              <a:gd name="adj" fmla="val 23077"/>
            </a:avLst>
          </a:prstGeom>
          <a:solidFill>
            <a:srgbClr val="1E3040"/>
          </a:solidFill>
          <a:ln/>
        </p:spPr>
      </p:sp>
      <p:sp>
        <p:nvSpPr>
          <p:cNvPr id="10" name="Text 7"/>
          <p:cNvSpPr/>
          <p:nvPr/>
        </p:nvSpPr>
        <p:spPr>
          <a:xfrm>
            <a:off x="6373368" y="1773936"/>
            <a:ext cx="2377440" cy="475488"/>
          </a:xfrm>
          <a:prstGeom prst="rect">
            <a:avLst/>
          </a:prstGeom>
          <a:noFill/>
          <a:ln/>
        </p:spPr>
        <p:txBody>
          <a:bodyPr wrap="square" lIns="0" tIns="0" rIns="0" bIns="0" rtlCol="0" anchor="ctr"/>
          <a:lstStyle/>
          <a:p>
            <a:pPr marL="0" indent="0" algn="ctr">
              <a:buNone/>
            </a:pPr>
            <a:r>
              <a:rPr lang="en-US" sz="1300" dirty="0">
                <a:solidFill>
                  <a:srgbClr val="E8F2F8"/>
                </a:solidFill>
                <a:latin typeface="Consolas" pitchFamily="34" charset="0"/>
                <a:ea typeface="Consolas" pitchFamily="34" charset="-122"/>
                <a:cs typeface="Consolas" pitchFamily="34" charset="-120"/>
              </a:rPr>
              <a:t>Age</a:t>
            </a:r>
            <a:endParaRPr lang="en-US" sz="1300" dirty="0"/>
          </a:p>
        </p:txBody>
      </p:sp>
      <p:sp>
        <p:nvSpPr>
          <p:cNvPr id="11" name="Text 8"/>
          <p:cNvSpPr/>
          <p:nvPr/>
        </p:nvSpPr>
        <p:spPr>
          <a:xfrm>
            <a:off x="8979408" y="1645920"/>
            <a:ext cx="2194560" cy="731520"/>
          </a:xfrm>
          <a:prstGeom prst="rect">
            <a:avLst/>
          </a:prstGeom>
          <a:noFill/>
          <a:ln/>
        </p:spPr>
        <p:txBody>
          <a:bodyPr wrap="square" lIns="0" tIns="0" rIns="0" bIns="0" rtlCol="0" anchor="ctr"/>
          <a:lstStyle/>
          <a:p>
            <a:pPr marL="0" indent="0" algn="l">
              <a:buNone/>
            </a:pPr>
            <a:r>
              <a:rPr lang="en-US" sz="1200" i="1" dirty="0">
                <a:solidFill>
                  <a:srgbClr val="5A6472"/>
                </a:solidFill>
                <a:latin typeface="Times New Roman" pitchFamily="34" charset="0"/>
                <a:ea typeface="Times New Roman" pitchFamily="34" charset="-122"/>
                <a:cs typeface="Times New Roman" pitchFamily="34" charset="-120"/>
              </a:rPr>
              <a:t>single oval</a:t>
            </a:r>
            <a:endParaRPr lang="en-US" sz="1200" dirty="0"/>
          </a:p>
        </p:txBody>
      </p:sp>
      <p:sp>
        <p:nvSpPr>
          <p:cNvPr id="12" name="Shape 9"/>
          <p:cNvSpPr/>
          <p:nvPr/>
        </p:nvSpPr>
        <p:spPr>
          <a:xfrm>
            <a:off x="841248" y="2532888"/>
            <a:ext cx="10515600" cy="731520"/>
          </a:xfrm>
          <a:prstGeom prst="roundRect">
            <a:avLst>
              <a:gd name="adj" fmla="val 10000"/>
            </a:avLst>
          </a:prstGeom>
          <a:solidFill>
            <a:srgbClr val="FFFFFF"/>
          </a:solidFill>
          <a:ln w="12700">
            <a:solidFill>
              <a:srgbClr val="D2DCE6"/>
            </a:solidFill>
            <a:prstDash val="solid"/>
          </a:ln>
        </p:spPr>
      </p:sp>
      <p:sp>
        <p:nvSpPr>
          <p:cNvPr id="13" name="Shape 10"/>
          <p:cNvSpPr/>
          <p:nvPr/>
        </p:nvSpPr>
        <p:spPr>
          <a:xfrm>
            <a:off x="841248" y="2532888"/>
            <a:ext cx="109728" cy="731520"/>
          </a:xfrm>
          <a:prstGeom prst="rect">
            <a:avLst/>
          </a:prstGeom>
          <a:solidFill>
            <a:srgbClr val="E97132"/>
          </a:solidFill>
          <a:ln/>
        </p:spPr>
      </p:sp>
      <p:sp>
        <p:nvSpPr>
          <p:cNvPr id="14" name="Text 11"/>
          <p:cNvSpPr/>
          <p:nvPr/>
        </p:nvSpPr>
        <p:spPr>
          <a:xfrm>
            <a:off x="1188720" y="2532888"/>
            <a:ext cx="1828800" cy="731520"/>
          </a:xfrm>
          <a:prstGeom prst="rect">
            <a:avLst/>
          </a:prstGeom>
          <a:noFill/>
          <a:ln/>
        </p:spPr>
        <p:txBody>
          <a:bodyPr wrap="square" lIns="0" tIns="0" rIns="0" bIns="0" rtlCol="0" anchor="ctr"/>
          <a:lstStyle/>
          <a:p>
            <a:pPr marL="0" indent="0" algn="l">
              <a:buNone/>
            </a:pPr>
            <a:r>
              <a:rPr lang="en-US" sz="1600" b="1" dirty="0">
                <a:solidFill>
                  <a:srgbClr val="E97132"/>
                </a:solidFill>
                <a:latin typeface="Times New Roman" pitchFamily="34" charset="0"/>
                <a:ea typeface="Times New Roman" pitchFamily="34" charset="-122"/>
                <a:cs typeface="Times New Roman" pitchFamily="34" charset="-120"/>
              </a:rPr>
              <a:t>Composite</a:t>
            </a:r>
            <a:endParaRPr lang="en-US" sz="1600" dirty="0"/>
          </a:p>
        </p:txBody>
      </p:sp>
      <p:sp>
        <p:nvSpPr>
          <p:cNvPr id="15" name="Text 12"/>
          <p:cNvSpPr/>
          <p:nvPr/>
        </p:nvSpPr>
        <p:spPr>
          <a:xfrm>
            <a:off x="3081528" y="2532888"/>
            <a:ext cx="3200400" cy="731520"/>
          </a:xfrm>
          <a:prstGeom prst="rect">
            <a:avLst/>
          </a:prstGeom>
          <a:noFill/>
          <a:ln/>
        </p:spPr>
        <p:txBody>
          <a:bodyPr wrap="square" lIns="0" tIns="0" rIns="0" bIns="0" rtlCol="0" anchor="ctr"/>
          <a:lstStyle/>
          <a:p>
            <a:pPr marL="0" indent="0" algn="l">
              <a:buNone/>
            </a:pPr>
            <a:r>
              <a:rPr lang="en-US" sz="1350" dirty="0">
                <a:solidFill>
                  <a:srgbClr val="5A6472"/>
                </a:solidFill>
                <a:latin typeface="Times New Roman" pitchFamily="34" charset="0"/>
                <a:ea typeface="Times New Roman" pitchFamily="34" charset="-122"/>
                <a:cs typeface="Times New Roman" pitchFamily="34" charset="-120"/>
              </a:rPr>
              <a:t>one value made of parts</a:t>
            </a:r>
            <a:endParaRPr lang="en-US" sz="1350" dirty="0"/>
          </a:p>
        </p:txBody>
      </p:sp>
      <p:sp>
        <p:nvSpPr>
          <p:cNvPr id="16" name="Shape 13"/>
          <p:cNvSpPr/>
          <p:nvPr/>
        </p:nvSpPr>
        <p:spPr>
          <a:xfrm>
            <a:off x="6373368" y="2660904"/>
            <a:ext cx="2377440" cy="475488"/>
          </a:xfrm>
          <a:prstGeom prst="roundRect">
            <a:avLst>
              <a:gd name="adj" fmla="val 23077"/>
            </a:avLst>
          </a:prstGeom>
          <a:solidFill>
            <a:srgbClr val="1E3040"/>
          </a:solidFill>
          <a:ln/>
        </p:spPr>
      </p:sp>
      <p:sp>
        <p:nvSpPr>
          <p:cNvPr id="17" name="Text 14"/>
          <p:cNvSpPr/>
          <p:nvPr/>
        </p:nvSpPr>
        <p:spPr>
          <a:xfrm>
            <a:off x="6373368" y="2660904"/>
            <a:ext cx="2377440" cy="475488"/>
          </a:xfrm>
          <a:prstGeom prst="rect">
            <a:avLst/>
          </a:prstGeom>
          <a:noFill/>
          <a:ln/>
        </p:spPr>
        <p:txBody>
          <a:bodyPr wrap="square" lIns="0" tIns="0" rIns="0" bIns="0" rtlCol="0" anchor="ctr"/>
          <a:lstStyle/>
          <a:p>
            <a:pPr marL="0" indent="0" algn="ctr">
              <a:buNone/>
            </a:pPr>
            <a:r>
              <a:rPr lang="en-US" sz="1300" dirty="0">
                <a:solidFill>
                  <a:srgbClr val="E8F2F8"/>
                </a:solidFill>
                <a:latin typeface="Consolas" pitchFamily="34" charset="0"/>
                <a:ea typeface="Consolas" pitchFamily="34" charset="-122"/>
                <a:cs typeface="Consolas" pitchFamily="34" charset="-120"/>
              </a:rPr>
              <a:t>Address</a:t>
            </a:r>
            <a:endParaRPr lang="en-US" sz="1300" dirty="0"/>
          </a:p>
        </p:txBody>
      </p:sp>
      <p:sp>
        <p:nvSpPr>
          <p:cNvPr id="18" name="Text 15"/>
          <p:cNvSpPr/>
          <p:nvPr/>
        </p:nvSpPr>
        <p:spPr>
          <a:xfrm>
            <a:off x="8979408" y="2532888"/>
            <a:ext cx="2194560" cy="731520"/>
          </a:xfrm>
          <a:prstGeom prst="rect">
            <a:avLst/>
          </a:prstGeom>
          <a:noFill/>
          <a:ln/>
        </p:spPr>
        <p:txBody>
          <a:bodyPr wrap="square" lIns="0" tIns="0" rIns="0" bIns="0" rtlCol="0" anchor="ctr"/>
          <a:lstStyle/>
          <a:p>
            <a:pPr marL="0" indent="0" algn="l">
              <a:buNone/>
            </a:pPr>
            <a:r>
              <a:rPr lang="en-US" sz="1200" i="1" dirty="0">
                <a:solidFill>
                  <a:srgbClr val="5A6472"/>
                </a:solidFill>
                <a:latin typeface="Times New Roman" pitchFamily="34" charset="0"/>
                <a:ea typeface="Times New Roman" pitchFamily="34" charset="-122"/>
                <a:cs typeface="Times New Roman" pitchFamily="34" charset="-120"/>
              </a:rPr>
              <a:t>oval with child ovals</a:t>
            </a:r>
            <a:endParaRPr lang="en-US" sz="1200" dirty="0"/>
          </a:p>
        </p:txBody>
      </p:sp>
      <p:sp>
        <p:nvSpPr>
          <p:cNvPr id="19" name="Shape 16"/>
          <p:cNvSpPr/>
          <p:nvPr/>
        </p:nvSpPr>
        <p:spPr>
          <a:xfrm>
            <a:off x="841248" y="3419856"/>
            <a:ext cx="10515600" cy="731520"/>
          </a:xfrm>
          <a:prstGeom prst="roundRect">
            <a:avLst>
              <a:gd name="adj" fmla="val 10000"/>
            </a:avLst>
          </a:prstGeom>
          <a:solidFill>
            <a:srgbClr val="FFFFFF"/>
          </a:solidFill>
          <a:ln w="12700">
            <a:solidFill>
              <a:srgbClr val="D2DCE6"/>
            </a:solidFill>
            <a:prstDash val="solid"/>
          </a:ln>
        </p:spPr>
      </p:sp>
      <p:sp>
        <p:nvSpPr>
          <p:cNvPr id="20" name="Shape 17"/>
          <p:cNvSpPr/>
          <p:nvPr/>
        </p:nvSpPr>
        <p:spPr>
          <a:xfrm>
            <a:off x="841248" y="3419856"/>
            <a:ext cx="109728" cy="731520"/>
          </a:xfrm>
          <a:prstGeom prst="rect">
            <a:avLst/>
          </a:prstGeom>
          <a:solidFill>
            <a:srgbClr val="196B24"/>
          </a:solidFill>
          <a:ln/>
        </p:spPr>
      </p:sp>
      <p:sp>
        <p:nvSpPr>
          <p:cNvPr id="21" name="Text 18"/>
          <p:cNvSpPr/>
          <p:nvPr/>
        </p:nvSpPr>
        <p:spPr>
          <a:xfrm>
            <a:off x="1188720" y="3419856"/>
            <a:ext cx="1828800" cy="731520"/>
          </a:xfrm>
          <a:prstGeom prst="rect">
            <a:avLst/>
          </a:prstGeom>
          <a:noFill/>
          <a:ln/>
        </p:spPr>
        <p:txBody>
          <a:bodyPr wrap="square" lIns="0" tIns="0" rIns="0" bIns="0" rtlCol="0" anchor="ctr"/>
          <a:lstStyle/>
          <a:p>
            <a:pPr marL="0" indent="0" algn="l">
              <a:buNone/>
            </a:pPr>
            <a:r>
              <a:rPr lang="en-US" sz="1600" b="1" dirty="0">
                <a:solidFill>
                  <a:srgbClr val="196B24"/>
                </a:solidFill>
                <a:latin typeface="Times New Roman" pitchFamily="34" charset="0"/>
                <a:ea typeface="Times New Roman" pitchFamily="34" charset="-122"/>
                <a:cs typeface="Times New Roman" pitchFamily="34" charset="-120"/>
              </a:rPr>
              <a:t>Multivalued</a:t>
            </a:r>
            <a:endParaRPr lang="en-US" sz="1600" dirty="0"/>
          </a:p>
        </p:txBody>
      </p:sp>
      <p:sp>
        <p:nvSpPr>
          <p:cNvPr id="22" name="Text 19"/>
          <p:cNvSpPr/>
          <p:nvPr/>
        </p:nvSpPr>
        <p:spPr>
          <a:xfrm>
            <a:off x="3081528" y="3419856"/>
            <a:ext cx="3200400" cy="731520"/>
          </a:xfrm>
          <a:prstGeom prst="rect">
            <a:avLst/>
          </a:prstGeom>
          <a:noFill/>
          <a:ln/>
        </p:spPr>
        <p:txBody>
          <a:bodyPr wrap="square" lIns="0" tIns="0" rIns="0" bIns="0" rtlCol="0" anchor="ctr"/>
          <a:lstStyle/>
          <a:p>
            <a:pPr marL="0" indent="0" algn="l">
              <a:buNone/>
            </a:pPr>
            <a:r>
              <a:rPr lang="en-US" sz="1350" dirty="0">
                <a:solidFill>
                  <a:srgbClr val="5A6472"/>
                </a:solidFill>
                <a:latin typeface="Times New Roman" pitchFamily="34" charset="0"/>
                <a:ea typeface="Times New Roman" pitchFamily="34" charset="-122"/>
                <a:cs typeface="Times New Roman" pitchFamily="34" charset="-120"/>
              </a:rPr>
              <a:t>many values, one entity</a:t>
            </a:r>
            <a:endParaRPr lang="en-US" sz="1350" dirty="0"/>
          </a:p>
        </p:txBody>
      </p:sp>
      <p:sp>
        <p:nvSpPr>
          <p:cNvPr id="23" name="Shape 20"/>
          <p:cNvSpPr/>
          <p:nvPr/>
        </p:nvSpPr>
        <p:spPr>
          <a:xfrm>
            <a:off x="6373368" y="3547872"/>
            <a:ext cx="2377440" cy="475488"/>
          </a:xfrm>
          <a:prstGeom prst="roundRect">
            <a:avLst>
              <a:gd name="adj" fmla="val 23077"/>
            </a:avLst>
          </a:prstGeom>
          <a:solidFill>
            <a:srgbClr val="1E3040"/>
          </a:solidFill>
          <a:ln/>
        </p:spPr>
      </p:sp>
      <p:sp>
        <p:nvSpPr>
          <p:cNvPr id="24" name="Text 21"/>
          <p:cNvSpPr/>
          <p:nvPr/>
        </p:nvSpPr>
        <p:spPr>
          <a:xfrm>
            <a:off x="6373368" y="3547872"/>
            <a:ext cx="2377440" cy="475488"/>
          </a:xfrm>
          <a:prstGeom prst="rect">
            <a:avLst/>
          </a:prstGeom>
          <a:noFill/>
          <a:ln/>
        </p:spPr>
        <p:txBody>
          <a:bodyPr wrap="square" lIns="0" tIns="0" rIns="0" bIns="0" rtlCol="0" anchor="ctr"/>
          <a:lstStyle/>
          <a:p>
            <a:pPr marL="0" indent="0" algn="ctr">
              <a:buNone/>
            </a:pPr>
            <a:r>
              <a:rPr lang="en-US" sz="1300" dirty="0">
                <a:solidFill>
                  <a:srgbClr val="E8F2F8"/>
                </a:solidFill>
                <a:latin typeface="Consolas" pitchFamily="34" charset="0"/>
                <a:ea typeface="Consolas" pitchFamily="34" charset="-122"/>
                <a:cs typeface="Consolas" pitchFamily="34" charset="-120"/>
              </a:rPr>
              <a:t>Skills</a:t>
            </a:r>
            <a:endParaRPr lang="en-US" sz="1300" dirty="0"/>
          </a:p>
        </p:txBody>
      </p:sp>
      <p:sp>
        <p:nvSpPr>
          <p:cNvPr id="25" name="Text 22"/>
          <p:cNvSpPr/>
          <p:nvPr/>
        </p:nvSpPr>
        <p:spPr>
          <a:xfrm>
            <a:off x="8979408" y="3419856"/>
            <a:ext cx="2194560" cy="731520"/>
          </a:xfrm>
          <a:prstGeom prst="rect">
            <a:avLst/>
          </a:prstGeom>
          <a:noFill/>
          <a:ln/>
        </p:spPr>
        <p:txBody>
          <a:bodyPr wrap="square" lIns="0" tIns="0" rIns="0" bIns="0" rtlCol="0" anchor="ctr"/>
          <a:lstStyle/>
          <a:p>
            <a:pPr marL="0" indent="0" algn="l">
              <a:buNone/>
            </a:pPr>
            <a:r>
              <a:rPr lang="en-US" sz="1200" i="1" dirty="0">
                <a:solidFill>
                  <a:srgbClr val="5A6472"/>
                </a:solidFill>
                <a:latin typeface="Times New Roman" pitchFamily="34" charset="0"/>
                <a:ea typeface="Times New Roman" pitchFamily="34" charset="-122"/>
                <a:cs typeface="Times New Roman" pitchFamily="34" charset="-120"/>
              </a:rPr>
              <a:t>double oval</a:t>
            </a:r>
            <a:endParaRPr lang="en-US" sz="1200" dirty="0"/>
          </a:p>
        </p:txBody>
      </p:sp>
      <p:sp>
        <p:nvSpPr>
          <p:cNvPr id="26" name="Shape 23"/>
          <p:cNvSpPr/>
          <p:nvPr/>
        </p:nvSpPr>
        <p:spPr>
          <a:xfrm>
            <a:off x="841248" y="4306824"/>
            <a:ext cx="10515600" cy="731520"/>
          </a:xfrm>
          <a:prstGeom prst="roundRect">
            <a:avLst>
              <a:gd name="adj" fmla="val 10000"/>
            </a:avLst>
          </a:prstGeom>
          <a:solidFill>
            <a:srgbClr val="FFFFFF"/>
          </a:solidFill>
          <a:ln w="12700">
            <a:solidFill>
              <a:srgbClr val="D2DCE6"/>
            </a:solidFill>
            <a:prstDash val="solid"/>
          </a:ln>
        </p:spPr>
      </p:sp>
      <p:sp>
        <p:nvSpPr>
          <p:cNvPr id="27" name="Shape 24"/>
          <p:cNvSpPr/>
          <p:nvPr/>
        </p:nvSpPr>
        <p:spPr>
          <a:xfrm>
            <a:off x="841248" y="4306824"/>
            <a:ext cx="109728" cy="731520"/>
          </a:xfrm>
          <a:prstGeom prst="rect">
            <a:avLst/>
          </a:prstGeom>
          <a:solidFill>
            <a:srgbClr val="A02B93"/>
          </a:solidFill>
          <a:ln/>
        </p:spPr>
      </p:sp>
      <p:sp>
        <p:nvSpPr>
          <p:cNvPr id="28" name="Text 25"/>
          <p:cNvSpPr/>
          <p:nvPr/>
        </p:nvSpPr>
        <p:spPr>
          <a:xfrm>
            <a:off x="1188720" y="4306824"/>
            <a:ext cx="1828800" cy="731520"/>
          </a:xfrm>
          <a:prstGeom prst="rect">
            <a:avLst/>
          </a:prstGeom>
          <a:noFill/>
          <a:ln/>
        </p:spPr>
        <p:txBody>
          <a:bodyPr wrap="square" lIns="0" tIns="0" rIns="0" bIns="0" rtlCol="0" anchor="ctr"/>
          <a:lstStyle/>
          <a:p>
            <a:pPr marL="0" indent="0" algn="l">
              <a:buNone/>
            </a:pPr>
            <a:r>
              <a:rPr lang="en-US" sz="1600" b="1" dirty="0">
                <a:solidFill>
                  <a:srgbClr val="A02B93"/>
                </a:solidFill>
                <a:latin typeface="Times New Roman" pitchFamily="34" charset="0"/>
                <a:ea typeface="Times New Roman" pitchFamily="34" charset="-122"/>
                <a:cs typeface="Times New Roman" pitchFamily="34" charset="-120"/>
              </a:rPr>
              <a:t>Derived</a:t>
            </a:r>
            <a:endParaRPr lang="en-US" sz="1600" dirty="0"/>
          </a:p>
        </p:txBody>
      </p:sp>
      <p:sp>
        <p:nvSpPr>
          <p:cNvPr id="29" name="Text 26"/>
          <p:cNvSpPr/>
          <p:nvPr/>
        </p:nvSpPr>
        <p:spPr>
          <a:xfrm>
            <a:off x="3081528" y="4306824"/>
            <a:ext cx="3200400" cy="731520"/>
          </a:xfrm>
          <a:prstGeom prst="rect">
            <a:avLst/>
          </a:prstGeom>
          <a:noFill/>
          <a:ln/>
        </p:spPr>
        <p:txBody>
          <a:bodyPr wrap="square" lIns="0" tIns="0" rIns="0" bIns="0" rtlCol="0" anchor="ctr"/>
          <a:lstStyle/>
          <a:p>
            <a:pPr marL="0" indent="0" algn="l">
              <a:buNone/>
            </a:pPr>
            <a:r>
              <a:rPr lang="en-US" sz="1350" dirty="0">
                <a:solidFill>
                  <a:srgbClr val="5A6472"/>
                </a:solidFill>
                <a:latin typeface="Times New Roman" pitchFamily="34" charset="0"/>
                <a:ea typeface="Times New Roman" pitchFamily="34" charset="-122"/>
                <a:cs typeface="Times New Roman" pitchFamily="34" charset="-120"/>
              </a:rPr>
              <a:t>computed, never stored</a:t>
            </a:r>
            <a:endParaRPr lang="en-US" sz="1350" dirty="0"/>
          </a:p>
        </p:txBody>
      </p:sp>
      <p:sp>
        <p:nvSpPr>
          <p:cNvPr id="30" name="Shape 27"/>
          <p:cNvSpPr/>
          <p:nvPr/>
        </p:nvSpPr>
        <p:spPr>
          <a:xfrm>
            <a:off x="6373368" y="4434840"/>
            <a:ext cx="2377440" cy="475488"/>
          </a:xfrm>
          <a:prstGeom prst="roundRect">
            <a:avLst>
              <a:gd name="adj" fmla="val 23077"/>
            </a:avLst>
          </a:prstGeom>
          <a:solidFill>
            <a:srgbClr val="1E3040"/>
          </a:solidFill>
          <a:ln/>
        </p:spPr>
      </p:sp>
      <p:sp>
        <p:nvSpPr>
          <p:cNvPr id="31" name="Text 28"/>
          <p:cNvSpPr/>
          <p:nvPr/>
        </p:nvSpPr>
        <p:spPr>
          <a:xfrm>
            <a:off x="6373368" y="4434840"/>
            <a:ext cx="2377440" cy="475488"/>
          </a:xfrm>
          <a:prstGeom prst="rect">
            <a:avLst/>
          </a:prstGeom>
          <a:noFill/>
          <a:ln/>
        </p:spPr>
        <p:txBody>
          <a:bodyPr wrap="square" lIns="0" tIns="0" rIns="0" bIns="0" rtlCol="0" anchor="ctr"/>
          <a:lstStyle/>
          <a:p>
            <a:pPr marL="0" indent="0" algn="ctr">
              <a:buNone/>
            </a:pPr>
            <a:r>
              <a:rPr lang="en-US" sz="1300" dirty="0">
                <a:solidFill>
                  <a:srgbClr val="E8F2F8"/>
                </a:solidFill>
                <a:latin typeface="Consolas" pitchFamily="34" charset="0"/>
                <a:ea typeface="Consolas" pitchFamily="34" charset="-122"/>
                <a:cs typeface="Consolas" pitchFamily="34" charset="-120"/>
              </a:rPr>
              <a:t>Age from DOB</a:t>
            </a:r>
            <a:endParaRPr lang="en-US" sz="1300" dirty="0"/>
          </a:p>
        </p:txBody>
      </p:sp>
      <p:sp>
        <p:nvSpPr>
          <p:cNvPr id="32" name="Text 29"/>
          <p:cNvSpPr/>
          <p:nvPr/>
        </p:nvSpPr>
        <p:spPr>
          <a:xfrm>
            <a:off x="8979408" y="4306824"/>
            <a:ext cx="2194560" cy="731520"/>
          </a:xfrm>
          <a:prstGeom prst="rect">
            <a:avLst/>
          </a:prstGeom>
          <a:noFill/>
          <a:ln/>
        </p:spPr>
        <p:txBody>
          <a:bodyPr wrap="square" lIns="0" tIns="0" rIns="0" bIns="0" rtlCol="0" anchor="ctr"/>
          <a:lstStyle/>
          <a:p>
            <a:pPr marL="0" indent="0" algn="l">
              <a:buNone/>
            </a:pPr>
            <a:r>
              <a:rPr lang="en-US" sz="1200" i="1" dirty="0">
                <a:solidFill>
                  <a:srgbClr val="5A6472"/>
                </a:solidFill>
                <a:latin typeface="Times New Roman" pitchFamily="34" charset="0"/>
                <a:ea typeface="Times New Roman" pitchFamily="34" charset="-122"/>
                <a:cs typeface="Times New Roman" pitchFamily="34" charset="-120"/>
              </a:rPr>
              <a:t>dashed oval</a:t>
            </a:r>
            <a:endParaRPr lang="en-US" sz="1200" dirty="0"/>
          </a:p>
        </p:txBody>
      </p:sp>
      <p:sp>
        <p:nvSpPr>
          <p:cNvPr id="33" name="Shape 30"/>
          <p:cNvSpPr/>
          <p:nvPr/>
        </p:nvSpPr>
        <p:spPr>
          <a:xfrm>
            <a:off x="841248" y="5193792"/>
            <a:ext cx="10515600" cy="731520"/>
          </a:xfrm>
          <a:prstGeom prst="roundRect">
            <a:avLst>
              <a:gd name="adj" fmla="val 10000"/>
            </a:avLst>
          </a:prstGeom>
          <a:solidFill>
            <a:srgbClr val="FFFFFF"/>
          </a:solidFill>
          <a:ln w="12700">
            <a:solidFill>
              <a:srgbClr val="D2DCE6"/>
            </a:solidFill>
            <a:prstDash val="solid"/>
          </a:ln>
        </p:spPr>
      </p:sp>
      <p:sp>
        <p:nvSpPr>
          <p:cNvPr id="34" name="Shape 31"/>
          <p:cNvSpPr/>
          <p:nvPr/>
        </p:nvSpPr>
        <p:spPr>
          <a:xfrm>
            <a:off x="841248" y="5193792"/>
            <a:ext cx="109728" cy="731520"/>
          </a:xfrm>
          <a:prstGeom prst="rect">
            <a:avLst/>
          </a:prstGeom>
          <a:solidFill>
            <a:srgbClr val="0F9ED5"/>
          </a:solidFill>
          <a:ln/>
        </p:spPr>
      </p:sp>
      <p:sp>
        <p:nvSpPr>
          <p:cNvPr id="35" name="Text 32"/>
          <p:cNvSpPr/>
          <p:nvPr/>
        </p:nvSpPr>
        <p:spPr>
          <a:xfrm>
            <a:off x="1188720" y="5193792"/>
            <a:ext cx="1828800" cy="731520"/>
          </a:xfrm>
          <a:prstGeom prst="rect">
            <a:avLst/>
          </a:prstGeom>
          <a:noFill/>
          <a:ln/>
        </p:spPr>
        <p:txBody>
          <a:bodyPr wrap="square" lIns="0" tIns="0" rIns="0" bIns="0" rtlCol="0" anchor="ctr"/>
          <a:lstStyle/>
          <a:p>
            <a:pPr marL="0" indent="0" algn="l">
              <a:buNone/>
            </a:pPr>
            <a:r>
              <a:rPr lang="en-US" sz="1600" b="1" dirty="0">
                <a:solidFill>
                  <a:srgbClr val="0F9ED5"/>
                </a:solidFill>
                <a:latin typeface="Times New Roman" pitchFamily="34" charset="0"/>
                <a:ea typeface="Times New Roman" pitchFamily="34" charset="-122"/>
                <a:cs typeface="Times New Roman" pitchFamily="34" charset="-120"/>
              </a:rPr>
              <a:t>Key</a:t>
            </a:r>
            <a:endParaRPr lang="en-US" sz="1600" dirty="0"/>
          </a:p>
        </p:txBody>
      </p:sp>
      <p:sp>
        <p:nvSpPr>
          <p:cNvPr id="36" name="Text 33"/>
          <p:cNvSpPr/>
          <p:nvPr/>
        </p:nvSpPr>
        <p:spPr>
          <a:xfrm>
            <a:off x="3081528" y="5193792"/>
            <a:ext cx="3200400" cy="731520"/>
          </a:xfrm>
          <a:prstGeom prst="rect">
            <a:avLst/>
          </a:prstGeom>
          <a:noFill/>
          <a:ln/>
        </p:spPr>
        <p:txBody>
          <a:bodyPr wrap="square" lIns="0" tIns="0" rIns="0" bIns="0" rtlCol="0" anchor="ctr"/>
          <a:lstStyle/>
          <a:p>
            <a:pPr marL="0" indent="0" algn="l">
              <a:buNone/>
            </a:pPr>
            <a:r>
              <a:rPr lang="en-US" sz="1350" dirty="0">
                <a:solidFill>
                  <a:srgbClr val="5A6472"/>
                </a:solidFill>
                <a:latin typeface="Times New Roman" pitchFamily="34" charset="0"/>
                <a:ea typeface="Times New Roman" pitchFamily="34" charset="-122"/>
                <a:cs typeface="Times New Roman" pitchFamily="34" charset="-120"/>
              </a:rPr>
              <a:t>uniquely identifies an entity</a:t>
            </a:r>
            <a:endParaRPr lang="en-US" sz="1350" dirty="0"/>
          </a:p>
        </p:txBody>
      </p:sp>
      <p:sp>
        <p:nvSpPr>
          <p:cNvPr id="37" name="Shape 34"/>
          <p:cNvSpPr/>
          <p:nvPr/>
        </p:nvSpPr>
        <p:spPr>
          <a:xfrm>
            <a:off x="6373368" y="5321808"/>
            <a:ext cx="2377440" cy="475488"/>
          </a:xfrm>
          <a:prstGeom prst="roundRect">
            <a:avLst>
              <a:gd name="adj" fmla="val 23077"/>
            </a:avLst>
          </a:prstGeom>
          <a:solidFill>
            <a:srgbClr val="1E3040"/>
          </a:solidFill>
          <a:ln/>
        </p:spPr>
      </p:sp>
      <p:sp>
        <p:nvSpPr>
          <p:cNvPr id="38" name="Text 35"/>
          <p:cNvSpPr/>
          <p:nvPr/>
        </p:nvSpPr>
        <p:spPr>
          <a:xfrm>
            <a:off x="6373368" y="5321808"/>
            <a:ext cx="2377440" cy="475488"/>
          </a:xfrm>
          <a:prstGeom prst="rect">
            <a:avLst/>
          </a:prstGeom>
          <a:noFill/>
          <a:ln/>
        </p:spPr>
        <p:txBody>
          <a:bodyPr wrap="square" lIns="0" tIns="0" rIns="0" bIns="0" rtlCol="0" anchor="ctr"/>
          <a:lstStyle/>
          <a:p>
            <a:pPr marL="0" indent="0" algn="ctr">
              <a:buNone/>
            </a:pPr>
            <a:r>
              <a:rPr lang="en-US" sz="1300" dirty="0">
                <a:solidFill>
                  <a:srgbClr val="E8F2F8"/>
                </a:solidFill>
                <a:latin typeface="Consolas" pitchFamily="34" charset="0"/>
                <a:ea typeface="Consolas" pitchFamily="34" charset="-122"/>
                <a:cs typeface="Consolas" pitchFamily="34" charset="-120"/>
              </a:rPr>
              <a:t>CustID</a:t>
            </a:r>
            <a:endParaRPr lang="en-US" sz="1300" dirty="0"/>
          </a:p>
        </p:txBody>
      </p:sp>
      <p:sp>
        <p:nvSpPr>
          <p:cNvPr id="39" name="Text 36"/>
          <p:cNvSpPr/>
          <p:nvPr/>
        </p:nvSpPr>
        <p:spPr>
          <a:xfrm>
            <a:off x="8979408" y="5193792"/>
            <a:ext cx="2194560" cy="731520"/>
          </a:xfrm>
          <a:prstGeom prst="rect">
            <a:avLst/>
          </a:prstGeom>
          <a:noFill/>
          <a:ln/>
        </p:spPr>
        <p:txBody>
          <a:bodyPr wrap="square" lIns="0" tIns="0" rIns="0" bIns="0" rtlCol="0" anchor="ctr"/>
          <a:lstStyle/>
          <a:p>
            <a:pPr marL="0" indent="0" algn="l">
              <a:buNone/>
            </a:pPr>
            <a:r>
              <a:rPr lang="en-US" sz="1200" i="1" dirty="0">
                <a:solidFill>
                  <a:srgbClr val="5A6472"/>
                </a:solidFill>
                <a:latin typeface="Times New Roman" pitchFamily="34" charset="0"/>
                <a:ea typeface="Times New Roman" pitchFamily="34" charset="-122"/>
                <a:cs typeface="Times New Roman" pitchFamily="34" charset="-120"/>
              </a:rPr>
              <a:t>underlined</a:t>
            </a:r>
            <a:endParaRPr lang="en-US" sz="1200" dirty="0"/>
          </a:p>
        </p:txBody>
      </p:sp>
      <p:sp>
        <p:nvSpPr>
          <p:cNvPr id="40" name="Text 37"/>
          <p:cNvSpPr/>
          <p:nvPr/>
        </p:nvSpPr>
        <p:spPr>
          <a:xfrm>
            <a:off x="841248" y="5925312"/>
            <a:ext cx="10515600" cy="274320"/>
          </a:xfrm>
          <a:prstGeom prst="rect">
            <a:avLst/>
          </a:prstGeom>
          <a:noFill/>
          <a:ln/>
        </p:spPr>
        <p:txBody>
          <a:bodyPr wrap="square" lIns="0" tIns="0" rIns="0" bIns="0" rtlCol="0" anchor="ctr"/>
          <a:lstStyle/>
          <a:p>
            <a:pPr marL="0" indent="0" algn="l">
              <a:buNone/>
            </a:pPr>
            <a:r>
              <a:rPr lang="en-US" sz="1250" i="1" dirty="0">
                <a:solidFill>
                  <a:srgbClr val="5A6472"/>
                </a:solidFill>
                <a:latin typeface="Times New Roman" pitchFamily="34" charset="0"/>
                <a:ea typeface="Times New Roman" pitchFamily="34" charset="-122"/>
                <a:cs typeface="Times New Roman" pitchFamily="34" charset="-120"/>
              </a:rPr>
              <a:t>Ask two questions:  many values?  →  multivalued.    one value with parts?  →  composite.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Strong and Weak Entities</a:t>
            </a:r>
            <a:endParaRPr lang="en-US" sz="3200" dirty="0"/>
          </a:p>
        </p:txBody>
      </p:sp>
      <p:sp>
        <p:nvSpPr>
          <p:cNvPr id="5" name="Shape 2"/>
          <p:cNvSpPr/>
          <p:nvPr/>
        </p:nvSpPr>
        <p:spPr>
          <a:xfrm>
            <a:off x="841248" y="1645920"/>
            <a:ext cx="4892040" cy="932688"/>
          </a:xfrm>
          <a:prstGeom prst="roundRect">
            <a:avLst>
              <a:gd name="adj" fmla="val 7843"/>
            </a:avLst>
          </a:prstGeom>
          <a:solidFill>
            <a:srgbClr val="FFFFFF"/>
          </a:solidFill>
          <a:ln w="12700">
            <a:solidFill>
              <a:srgbClr val="D2DCE6"/>
            </a:solidFill>
            <a:prstDash val="solid"/>
          </a:ln>
        </p:spPr>
      </p:sp>
      <p:sp>
        <p:nvSpPr>
          <p:cNvPr id="6" name="Shape 3"/>
          <p:cNvSpPr/>
          <p:nvPr/>
        </p:nvSpPr>
        <p:spPr>
          <a:xfrm>
            <a:off x="841248" y="1645920"/>
            <a:ext cx="109728" cy="932688"/>
          </a:xfrm>
          <a:prstGeom prst="rect">
            <a:avLst/>
          </a:prstGeom>
          <a:solidFill>
            <a:srgbClr val="156082"/>
          </a:solidFill>
          <a:ln/>
        </p:spPr>
      </p:sp>
      <p:sp>
        <p:nvSpPr>
          <p:cNvPr id="7" name="Text 4"/>
          <p:cNvSpPr/>
          <p:nvPr/>
        </p:nvSpPr>
        <p:spPr>
          <a:xfrm>
            <a:off x="1188720" y="1764792"/>
            <a:ext cx="4206240" cy="310896"/>
          </a:xfrm>
          <a:prstGeom prst="rect">
            <a:avLst/>
          </a:prstGeom>
          <a:noFill/>
          <a:ln/>
        </p:spPr>
        <p:txBody>
          <a:bodyPr wrap="square" lIns="0" tIns="0" rIns="0" bIns="0" rtlCol="0" anchor="ctr"/>
          <a:lstStyle/>
          <a:p>
            <a:pPr marL="0" indent="0" algn="l">
              <a:buNone/>
            </a:pPr>
            <a:r>
              <a:rPr lang="en-US" sz="1600" b="1" dirty="0">
                <a:solidFill>
                  <a:srgbClr val="156082"/>
                </a:solidFill>
                <a:latin typeface="Times New Roman" pitchFamily="34" charset="0"/>
                <a:ea typeface="Times New Roman" pitchFamily="34" charset="-122"/>
                <a:cs typeface="Times New Roman" pitchFamily="34" charset="-120"/>
              </a:rPr>
              <a:t>Strong entity</a:t>
            </a:r>
            <a:endParaRPr lang="en-US" sz="1600" dirty="0"/>
          </a:p>
        </p:txBody>
      </p:sp>
      <p:sp>
        <p:nvSpPr>
          <p:cNvPr id="8" name="Text 5"/>
          <p:cNvSpPr/>
          <p:nvPr/>
        </p:nvSpPr>
        <p:spPr>
          <a:xfrm>
            <a:off x="1188720" y="2084832"/>
            <a:ext cx="4206240" cy="292608"/>
          </a:xfrm>
          <a:prstGeom prst="rect">
            <a:avLst/>
          </a:prstGeom>
          <a:noFill/>
          <a:ln/>
        </p:spPr>
        <p:txBody>
          <a:bodyPr wrap="square" lIns="0" tIns="0" rIns="0" bIns="0" rtlCol="0" anchor="ctr"/>
          <a:lstStyle/>
          <a:p>
            <a:pPr marL="0" indent="0" algn="l">
              <a:buNone/>
            </a:pPr>
            <a:r>
              <a:rPr lang="en-US" sz="1350" dirty="0">
                <a:solidFill>
                  <a:srgbClr val="5A6472"/>
                </a:solidFill>
                <a:latin typeface="Times New Roman" pitchFamily="34" charset="0"/>
                <a:ea typeface="Times New Roman" pitchFamily="34" charset="-122"/>
                <a:cs typeface="Times New Roman" pitchFamily="34" charset="-120"/>
              </a:rPr>
              <a:t>has a key of its own</a:t>
            </a:r>
            <a:endParaRPr lang="en-US" sz="1350" dirty="0"/>
          </a:p>
        </p:txBody>
      </p:sp>
      <p:sp>
        <p:nvSpPr>
          <p:cNvPr id="9" name="Shape 6"/>
          <p:cNvSpPr/>
          <p:nvPr/>
        </p:nvSpPr>
        <p:spPr>
          <a:xfrm>
            <a:off x="841248" y="2743200"/>
            <a:ext cx="4892040" cy="1170432"/>
          </a:xfrm>
          <a:prstGeom prst="roundRect">
            <a:avLst>
              <a:gd name="adj" fmla="val 6250"/>
            </a:avLst>
          </a:prstGeom>
          <a:solidFill>
            <a:srgbClr val="FFFFFF"/>
          </a:solidFill>
          <a:ln w="12700">
            <a:solidFill>
              <a:srgbClr val="D2DCE6"/>
            </a:solidFill>
            <a:prstDash val="solid"/>
          </a:ln>
        </p:spPr>
      </p:sp>
      <p:sp>
        <p:nvSpPr>
          <p:cNvPr id="10" name="Shape 7"/>
          <p:cNvSpPr/>
          <p:nvPr/>
        </p:nvSpPr>
        <p:spPr>
          <a:xfrm>
            <a:off x="841248" y="2743200"/>
            <a:ext cx="109728" cy="1170432"/>
          </a:xfrm>
          <a:prstGeom prst="rect">
            <a:avLst/>
          </a:prstGeom>
          <a:solidFill>
            <a:srgbClr val="E97132"/>
          </a:solidFill>
          <a:ln/>
        </p:spPr>
      </p:sp>
      <p:sp>
        <p:nvSpPr>
          <p:cNvPr id="11" name="Text 8"/>
          <p:cNvSpPr/>
          <p:nvPr/>
        </p:nvSpPr>
        <p:spPr>
          <a:xfrm>
            <a:off x="1188720" y="2862072"/>
            <a:ext cx="4206240" cy="310896"/>
          </a:xfrm>
          <a:prstGeom prst="rect">
            <a:avLst/>
          </a:prstGeom>
          <a:noFill/>
          <a:ln/>
        </p:spPr>
        <p:txBody>
          <a:bodyPr wrap="square" lIns="0" tIns="0" rIns="0" bIns="0" rtlCol="0" anchor="ctr"/>
          <a:lstStyle/>
          <a:p>
            <a:pPr marL="0" indent="0" algn="l">
              <a:buNone/>
            </a:pPr>
            <a:r>
              <a:rPr lang="en-US" sz="1600" b="1" dirty="0">
                <a:solidFill>
                  <a:srgbClr val="E97132"/>
                </a:solidFill>
                <a:latin typeface="Times New Roman" pitchFamily="34" charset="0"/>
                <a:ea typeface="Times New Roman" pitchFamily="34" charset="-122"/>
                <a:cs typeface="Times New Roman" pitchFamily="34" charset="-120"/>
              </a:rPr>
              <a:t>Weak entity</a:t>
            </a:r>
            <a:endParaRPr lang="en-US" sz="1600" dirty="0"/>
          </a:p>
        </p:txBody>
      </p:sp>
      <p:sp>
        <p:nvSpPr>
          <p:cNvPr id="12" name="Text 9"/>
          <p:cNvSpPr/>
          <p:nvPr/>
        </p:nvSpPr>
        <p:spPr>
          <a:xfrm>
            <a:off x="1188720" y="3200400"/>
            <a:ext cx="4297680" cy="566928"/>
          </a:xfrm>
          <a:prstGeom prst="rect">
            <a:avLst/>
          </a:prstGeom>
          <a:noFill/>
          <a:ln/>
        </p:spPr>
        <p:txBody>
          <a:bodyPr wrap="square" lIns="0" tIns="0" rIns="0" bIns="0" rtlCol="0" anchor="ctr"/>
          <a:lstStyle/>
          <a:p>
            <a:pPr marL="0" indent="0" algn="l">
              <a:lnSpc>
                <a:spcPct val="125000"/>
              </a:lnSpc>
              <a:buNone/>
            </a:pPr>
            <a:r>
              <a:rPr lang="en-US" sz="1350" dirty="0">
                <a:solidFill>
                  <a:srgbClr val="5A6472"/>
                </a:solidFill>
                <a:latin typeface="Times New Roman" pitchFamily="34" charset="0"/>
                <a:ea typeface="Times New Roman" pitchFamily="34" charset="-122"/>
                <a:cs typeface="Times New Roman" pitchFamily="34" charset="-120"/>
              </a:rPr>
              <a:t>no key of its own — identified by a partial</a:t>
            </a:r>
            <a:endParaRPr lang="en-US" sz="1350" dirty="0"/>
          </a:p>
          <a:p>
            <a:pPr marL="0" indent="0" algn="l">
              <a:lnSpc>
                <a:spcPct val="125000"/>
              </a:lnSpc>
              <a:buNone/>
            </a:pPr>
            <a:r>
              <a:rPr lang="en-US" sz="1350" dirty="0">
                <a:solidFill>
                  <a:srgbClr val="5A6472"/>
                </a:solidFill>
                <a:latin typeface="Times New Roman" pitchFamily="34" charset="0"/>
                <a:ea typeface="Times New Roman" pitchFamily="34" charset="-122"/>
                <a:cs typeface="Times New Roman" pitchFamily="34" charset="-120"/>
              </a:rPr>
              <a:t>key plus the owner's key</a:t>
            </a:r>
            <a:endParaRPr lang="en-US" sz="1350" dirty="0"/>
          </a:p>
        </p:txBody>
      </p:sp>
      <p:sp>
        <p:nvSpPr>
          <p:cNvPr id="13" name="Shape 10"/>
          <p:cNvSpPr/>
          <p:nvPr/>
        </p:nvSpPr>
        <p:spPr>
          <a:xfrm>
            <a:off x="841248" y="4160520"/>
            <a:ext cx="4892040" cy="713232"/>
          </a:xfrm>
          <a:prstGeom prst="roundRect">
            <a:avLst>
              <a:gd name="adj" fmla="val 15385"/>
            </a:avLst>
          </a:prstGeom>
          <a:solidFill>
            <a:srgbClr val="1E3040"/>
          </a:solidFill>
          <a:ln/>
        </p:spPr>
      </p:sp>
      <p:sp>
        <p:nvSpPr>
          <p:cNvPr id="14" name="Text 11"/>
          <p:cNvSpPr/>
          <p:nvPr/>
        </p:nvSpPr>
        <p:spPr>
          <a:xfrm>
            <a:off x="841248" y="4160520"/>
            <a:ext cx="4892040" cy="713232"/>
          </a:xfrm>
          <a:prstGeom prst="rect">
            <a:avLst/>
          </a:prstGeom>
          <a:noFill/>
          <a:ln/>
        </p:spPr>
        <p:txBody>
          <a:bodyPr wrap="square" lIns="0" tIns="0" rIns="0" bIns="0" rtlCol="0" anchor="ctr"/>
          <a:lstStyle/>
          <a:p>
            <a:pPr marL="0" indent="0" algn="ctr">
              <a:buNone/>
            </a:pPr>
            <a:r>
              <a:rPr lang="en-US" sz="1400" dirty="0">
                <a:solidFill>
                  <a:srgbClr val="E8F2F8"/>
                </a:solidFill>
                <a:latin typeface="Consolas" pitchFamily="34" charset="0"/>
                <a:ea typeface="Consolas" pitchFamily="34" charset="-122"/>
                <a:cs typeface="Consolas" pitchFamily="34" charset="-120"/>
              </a:rPr>
              <a:t>Order_Item  =  ( OrderID , ItemNo )</a:t>
            </a:r>
            <a:endParaRPr lang="en-US" sz="1400" dirty="0"/>
          </a:p>
        </p:txBody>
      </p:sp>
      <p:sp>
        <p:nvSpPr>
          <p:cNvPr id="15" name="Shape 12"/>
          <p:cNvSpPr/>
          <p:nvPr/>
        </p:nvSpPr>
        <p:spPr>
          <a:xfrm>
            <a:off x="6281928" y="1645920"/>
            <a:ext cx="5074920" cy="3227832"/>
          </a:xfrm>
          <a:prstGeom prst="roundRect">
            <a:avLst>
              <a:gd name="adj" fmla="val 2266"/>
            </a:avLst>
          </a:prstGeom>
          <a:solidFill>
            <a:srgbClr val="F2F6FA"/>
          </a:solidFill>
          <a:ln w="12700">
            <a:solidFill>
              <a:srgbClr val="D2DCE6"/>
            </a:solidFill>
            <a:prstDash val="solid"/>
          </a:ln>
        </p:spPr>
      </p:sp>
      <p:sp>
        <p:nvSpPr>
          <p:cNvPr id="16" name="Text 13"/>
          <p:cNvSpPr/>
          <p:nvPr/>
        </p:nvSpPr>
        <p:spPr>
          <a:xfrm>
            <a:off x="6601968" y="1828800"/>
            <a:ext cx="4389120" cy="292608"/>
          </a:xfrm>
          <a:prstGeom prst="rect">
            <a:avLst/>
          </a:prstGeom>
          <a:noFill/>
          <a:ln/>
        </p:spPr>
        <p:txBody>
          <a:bodyPr wrap="square" lIns="0" tIns="0" rIns="0" bIns="0" rtlCol="0" anchor="ctr"/>
          <a:lstStyle/>
          <a:p>
            <a:pPr marL="0" indent="0" algn="l">
              <a:buNone/>
            </a:pPr>
            <a:r>
              <a:rPr lang="en-US" sz="1500" b="1" dirty="0">
                <a:solidFill>
                  <a:srgbClr val="0E2841"/>
                </a:solidFill>
                <a:latin typeface="Times New Roman" pitchFamily="34" charset="0"/>
                <a:ea typeface="Times New Roman" pitchFamily="34" charset="-122"/>
                <a:cs typeface="Times New Roman" pitchFamily="34" charset="-120"/>
              </a:rPr>
              <a:t>Amazon</a:t>
            </a:r>
            <a:endParaRPr lang="en-US" sz="1500" dirty="0"/>
          </a:p>
        </p:txBody>
      </p:sp>
      <p:sp>
        <p:nvSpPr>
          <p:cNvPr id="17" name="Shape 14"/>
          <p:cNvSpPr/>
          <p:nvPr/>
        </p:nvSpPr>
        <p:spPr>
          <a:xfrm>
            <a:off x="6601968" y="2267712"/>
            <a:ext cx="1234440" cy="475488"/>
          </a:xfrm>
          <a:prstGeom prst="ellipse">
            <a:avLst/>
          </a:prstGeom>
          <a:solidFill>
            <a:srgbClr val="FFFFFF"/>
          </a:solidFill>
          <a:ln w="17780">
            <a:solidFill>
              <a:srgbClr val="156082"/>
            </a:solidFill>
            <a:prstDash val="solid"/>
          </a:ln>
        </p:spPr>
      </p:sp>
      <p:sp>
        <p:nvSpPr>
          <p:cNvPr id="18" name="Text 15"/>
          <p:cNvSpPr/>
          <p:nvPr/>
        </p:nvSpPr>
        <p:spPr>
          <a:xfrm>
            <a:off x="6601968" y="2267712"/>
            <a:ext cx="1234440" cy="475488"/>
          </a:xfrm>
          <a:prstGeom prst="rect">
            <a:avLst/>
          </a:prstGeom>
          <a:noFill/>
          <a:ln/>
        </p:spPr>
        <p:txBody>
          <a:bodyPr wrap="square" lIns="0" tIns="0" rIns="0" bIns="0" rtlCol="0" anchor="ctr"/>
          <a:lstStyle/>
          <a:p>
            <a:pPr marL="0" indent="0" algn="ctr">
              <a:buNone/>
            </a:pPr>
            <a:r>
              <a:rPr lang="en-US" sz="1000" b="1" u="sng" dirty="0">
                <a:solidFill>
                  <a:srgbClr val="156082"/>
                </a:solidFill>
                <a:latin typeface="Times New Roman" pitchFamily="34" charset="0"/>
                <a:ea typeface="Times New Roman" pitchFamily="34" charset="-122"/>
                <a:cs typeface="Times New Roman" pitchFamily="34" charset="-120"/>
              </a:rPr>
              <a:t>OrderID</a:t>
            </a:r>
            <a:endParaRPr lang="en-US" sz="1000" dirty="0"/>
          </a:p>
        </p:txBody>
      </p:sp>
      <p:sp>
        <p:nvSpPr>
          <p:cNvPr id="19" name="Shape 16"/>
          <p:cNvSpPr/>
          <p:nvPr/>
        </p:nvSpPr>
        <p:spPr>
          <a:xfrm>
            <a:off x="9756648" y="2267712"/>
            <a:ext cx="1234440" cy="475488"/>
          </a:xfrm>
          <a:prstGeom prst="ellipse">
            <a:avLst/>
          </a:prstGeom>
          <a:solidFill>
            <a:srgbClr val="FFFFFF"/>
          </a:solidFill>
          <a:ln w="17780">
            <a:solidFill>
              <a:srgbClr val="E97132"/>
            </a:solidFill>
            <a:prstDash val="solid"/>
          </a:ln>
        </p:spPr>
      </p:sp>
      <p:sp>
        <p:nvSpPr>
          <p:cNvPr id="20" name="Text 17"/>
          <p:cNvSpPr/>
          <p:nvPr/>
        </p:nvSpPr>
        <p:spPr>
          <a:xfrm>
            <a:off x="9756648" y="2267712"/>
            <a:ext cx="1234440" cy="475488"/>
          </a:xfrm>
          <a:prstGeom prst="rect">
            <a:avLst/>
          </a:prstGeom>
          <a:noFill/>
          <a:ln/>
        </p:spPr>
        <p:txBody>
          <a:bodyPr wrap="square" lIns="0" tIns="0" rIns="0" bIns="0" rtlCol="0" anchor="ctr"/>
          <a:lstStyle/>
          <a:p>
            <a:pPr marL="0" indent="0" algn="ctr">
              <a:buNone/>
            </a:pPr>
            <a:r>
              <a:rPr lang="en-US" sz="1000" dirty="0">
                <a:solidFill>
                  <a:srgbClr val="E97132"/>
                </a:solidFill>
                <a:latin typeface="Times New Roman" pitchFamily="34" charset="0"/>
                <a:ea typeface="Times New Roman" pitchFamily="34" charset="-122"/>
                <a:cs typeface="Times New Roman" pitchFamily="34" charset="-120"/>
              </a:rPr>
              <a:t>ItemNo</a:t>
            </a:r>
            <a:endParaRPr lang="en-US" sz="1000" dirty="0"/>
          </a:p>
        </p:txBody>
      </p:sp>
      <p:sp>
        <p:nvSpPr>
          <p:cNvPr id="21" name="Shape 18"/>
          <p:cNvSpPr/>
          <p:nvPr/>
        </p:nvSpPr>
        <p:spPr>
          <a:xfrm>
            <a:off x="6601968" y="3182112"/>
            <a:ext cx="1463040" cy="603504"/>
          </a:xfrm>
          <a:prstGeom prst="rect">
            <a:avLst/>
          </a:prstGeom>
          <a:solidFill>
            <a:srgbClr val="FFFFFF"/>
          </a:solidFill>
          <a:ln w="22225">
            <a:solidFill>
              <a:srgbClr val="0E2841"/>
            </a:solidFill>
            <a:prstDash val="solid"/>
          </a:ln>
        </p:spPr>
      </p:sp>
      <p:sp>
        <p:nvSpPr>
          <p:cNvPr id="22" name="Text 19"/>
          <p:cNvSpPr/>
          <p:nvPr/>
        </p:nvSpPr>
        <p:spPr>
          <a:xfrm>
            <a:off x="6601968" y="3182112"/>
            <a:ext cx="1463040" cy="603504"/>
          </a:xfrm>
          <a:prstGeom prst="rect">
            <a:avLst/>
          </a:prstGeom>
          <a:noFill/>
          <a:ln/>
        </p:spPr>
        <p:txBody>
          <a:bodyPr wrap="square" lIns="0" tIns="0" rIns="0" bIns="0" rtlCol="0" anchor="ctr"/>
          <a:lstStyle/>
          <a:p>
            <a:pPr marL="0" indent="0" algn="ctr">
              <a:buNone/>
            </a:pPr>
            <a:r>
              <a:rPr lang="en-US" sz="1300" b="1" dirty="0">
                <a:solidFill>
                  <a:srgbClr val="0E2841"/>
                </a:solidFill>
                <a:latin typeface="Times New Roman" pitchFamily="34" charset="0"/>
                <a:ea typeface="Times New Roman" pitchFamily="34" charset="-122"/>
                <a:cs typeface="Times New Roman" pitchFamily="34" charset="-120"/>
              </a:rPr>
              <a:t>Order</a:t>
            </a:r>
            <a:endParaRPr lang="en-US" sz="1300" dirty="0"/>
          </a:p>
        </p:txBody>
      </p:sp>
      <p:sp>
        <p:nvSpPr>
          <p:cNvPr id="23" name="Shape 20"/>
          <p:cNvSpPr/>
          <p:nvPr/>
        </p:nvSpPr>
        <p:spPr>
          <a:xfrm>
            <a:off x="9555480" y="3118104"/>
            <a:ext cx="1636776" cy="731520"/>
          </a:xfrm>
          <a:prstGeom prst="rect">
            <a:avLst/>
          </a:prstGeom>
          <a:ln w="19050">
            <a:solidFill>
              <a:srgbClr val="E97132"/>
            </a:solidFill>
            <a:prstDash val="solid"/>
          </a:ln>
        </p:spPr>
      </p:sp>
      <p:sp>
        <p:nvSpPr>
          <p:cNvPr id="24" name="Shape 21"/>
          <p:cNvSpPr/>
          <p:nvPr/>
        </p:nvSpPr>
        <p:spPr>
          <a:xfrm>
            <a:off x="9619488" y="3182112"/>
            <a:ext cx="1508760" cy="603504"/>
          </a:xfrm>
          <a:prstGeom prst="rect">
            <a:avLst/>
          </a:prstGeom>
          <a:solidFill>
            <a:srgbClr val="FFFFFF"/>
          </a:solidFill>
          <a:ln w="22225">
            <a:solidFill>
              <a:srgbClr val="E97132"/>
            </a:solidFill>
            <a:prstDash val="solid"/>
          </a:ln>
        </p:spPr>
      </p:sp>
      <p:sp>
        <p:nvSpPr>
          <p:cNvPr id="25" name="Text 22"/>
          <p:cNvSpPr/>
          <p:nvPr/>
        </p:nvSpPr>
        <p:spPr>
          <a:xfrm>
            <a:off x="9619488" y="3182112"/>
            <a:ext cx="1508760" cy="603504"/>
          </a:xfrm>
          <a:prstGeom prst="rect">
            <a:avLst/>
          </a:prstGeom>
          <a:noFill/>
          <a:ln/>
        </p:spPr>
        <p:txBody>
          <a:bodyPr wrap="square" lIns="0" tIns="0" rIns="0" bIns="0" rtlCol="0" anchor="ctr"/>
          <a:lstStyle/>
          <a:p>
            <a:pPr marL="0" indent="0" algn="ctr">
              <a:buNone/>
            </a:pPr>
            <a:r>
              <a:rPr lang="en-US" sz="1100" b="1" dirty="0">
                <a:solidFill>
                  <a:srgbClr val="E97132"/>
                </a:solidFill>
                <a:latin typeface="Times New Roman" pitchFamily="34" charset="0"/>
                <a:ea typeface="Times New Roman" pitchFamily="34" charset="-122"/>
                <a:cs typeface="Times New Roman" pitchFamily="34" charset="-120"/>
              </a:rPr>
              <a:t>Order_Item</a:t>
            </a:r>
            <a:endParaRPr lang="en-US" sz="1100" dirty="0"/>
          </a:p>
        </p:txBody>
      </p:sp>
      <p:sp>
        <p:nvSpPr>
          <p:cNvPr id="26" name="Shape 23"/>
          <p:cNvSpPr/>
          <p:nvPr/>
        </p:nvSpPr>
        <p:spPr>
          <a:xfrm>
            <a:off x="8174736" y="3054096"/>
            <a:ext cx="1298448" cy="859536"/>
          </a:xfrm>
          <a:prstGeom prst="diamond">
            <a:avLst/>
          </a:prstGeom>
          <a:ln w="17780">
            <a:solidFill>
              <a:srgbClr val="E97132"/>
            </a:solidFill>
            <a:prstDash val="solid"/>
          </a:ln>
        </p:spPr>
      </p:sp>
      <p:sp>
        <p:nvSpPr>
          <p:cNvPr id="27" name="Shape 24"/>
          <p:cNvSpPr/>
          <p:nvPr/>
        </p:nvSpPr>
        <p:spPr>
          <a:xfrm>
            <a:off x="8284464" y="3127248"/>
            <a:ext cx="1078992" cy="713232"/>
          </a:xfrm>
          <a:prstGeom prst="diamond">
            <a:avLst/>
          </a:prstGeom>
          <a:solidFill>
            <a:srgbClr val="FFFFFF"/>
          </a:solidFill>
          <a:ln w="22225">
            <a:solidFill>
              <a:srgbClr val="E97132"/>
            </a:solidFill>
            <a:prstDash val="solid"/>
          </a:ln>
        </p:spPr>
      </p:sp>
      <p:sp>
        <p:nvSpPr>
          <p:cNvPr id="28" name="Text 25"/>
          <p:cNvSpPr/>
          <p:nvPr/>
        </p:nvSpPr>
        <p:spPr>
          <a:xfrm>
            <a:off x="8284464" y="3127248"/>
            <a:ext cx="1078992" cy="713232"/>
          </a:xfrm>
          <a:prstGeom prst="rect">
            <a:avLst/>
          </a:prstGeom>
          <a:noFill/>
          <a:ln/>
        </p:spPr>
        <p:txBody>
          <a:bodyPr wrap="square" lIns="0" tIns="0" rIns="0" bIns="0" rtlCol="0" anchor="ctr"/>
          <a:lstStyle/>
          <a:p>
            <a:pPr marL="0" indent="0" algn="ctr">
              <a:buNone/>
            </a:pPr>
            <a:r>
              <a:rPr lang="en-US" sz="950" b="1" dirty="0">
                <a:solidFill>
                  <a:srgbClr val="E97132"/>
                </a:solidFill>
                <a:latin typeface="Times New Roman" pitchFamily="34" charset="0"/>
                <a:ea typeface="Times New Roman" pitchFamily="34" charset="-122"/>
                <a:cs typeface="Times New Roman" pitchFamily="34" charset="-120"/>
              </a:rPr>
              <a:t>Contains</a:t>
            </a:r>
            <a:endParaRPr lang="en-US" sz="950" dirty="0"/>
          </a:p>
        </p:txBody>
      </p:sp>
      <p:sp>
        <p:nvSpPr>
          <p:cNvPr id="29" name="Shape 26"/>
          <p:cNvSpPr/>
          <p:nvPr/>
        </p:nvSpPr>
        <p:spPr>
          <a:xfrm>
            <a:off x="7214616" y="2743200"/>
            <a:ext cx="109728" cy="438912"/>
          </a:xfrm>
          <a:prstGeom prst="line">
            <a:avLst/>
          </a:prstGeom>
          <a:noFill/>
          <a:ln w="19050">
            <a:solidFill>
              <a:srgbClr val="0E2841"/>
            </a:solidFill>
            <a:prstDash val="solid"/>
          </a:ln>
        </p:spPr>
      </p:sp>
      <p:sp>
        <p:nvSpPr>
          <p:cNvPr id="30" name="Shape 27"/>
          <p:cNvSpPr/>
          <p:nvPr/>
        </p:nvSpPr>
        <p:spPr>
          <a:xfrm>
            <a:off x="10369296" y="2743200"/>
            <a:ext cx="0" cy="438912"/>
          </a:xfrm>
          <a:prstGeom prst="line">
            <a:avLst/>
          </a:prstGeom>
          <a:noFill/>
          <a:ln w="19050">
            <a:solidFill>
              <a:srgbClr val="0E2841"/>
            </a:solidFill>
            <a:prstDash val="solid"/>
          </a:ln>
        </p:spPr>
      </p:sp>
      <p:sp>
        <p:nvSpPr>
          <p:cNvPr id="31" name="Shape 28"/>
          <p:cNvSpPr/>
          <p:nvPr/>
        </p:nvSpPr>
        <p:spPr>
          <a:xfrm>
            <a:off x="8065008" y="3483864"/>
            <a:ext cx="109728" cy="0"/>
          </a:xfrm>
          <a:prstGeom prst="line">
            <a:avLst/>
          </a:prstGeom>
          <a:noFill/>
          <a:ln w="19050">
            <a:solidFill>
              <a:srgbClr val="0E2841"/>
            </a:solidFill>
            <a:prstDash val="solid"/>
          </a:ln>
        </p:spPr>
      </p:sp>
      <p:sp>
        <p:nvSpPr>
          <p:cNvPr id="32" name="Shape 29"/>
          <p:cNvSpPr/>
          <p:nvPr/>
        </p:nvSpPr>
        <p:spPr>
          <a:xfrm>
            <a:off x="9473184" y="3483864"/>
            <a:ext cx="82296" cy="0"/>
          </a:xfrm>
          <a:prstGeom prst="line">
            <a:avLst/>
          </a:prstGeom>
          <a:noFill/>
          <a:ln w="19050">
            <a:solidFill>
              <a:srgbClr val="0E2841"/>
            </a:solidFill>
            <a:prstDash val="solid"/>
          </a:ln>
        </p:spPr>
      </p:sp>
      <p:sp>
        <p:nvSpPr>
          <p:cNvPr id="33" name="Text 30"/>
          <p:cNvSpPr/>
          <p:nvPr/>
        </p:nvSpPr>
        <p:spPr>
          <a:xfrm>
            <a:off x="6601968" y="4315968"/>
            <a:ext cx="4480560" cy="384048"/>
          </a:xfrm>
          <a:prstGeom prst="rect">
            <a:avLst/>
          </a:prstGeom>
          <a:noFill/>
          <a:ln/>
        </p:spPr>
        <p:txBody>
          <a:bodyPr wrap="square" lIns="0" tIns="0" rIns="0" bIns="0" rtlCol="0" anchor="ctr"/>
          <a:lstStyle/>
          <a:p>
            <a:pPr marL="0" indent="0" algn="l">
              <a:buNone/>
            </a:pPr>
            <a:r>
              <a:rPr lang="en-US" sz="1050" i="1" dirty="0">
                <a:solidFill>
                  <a:srgbClr val="5A6472"/>
                </a:solidFill>
                <a:latin typeface="Times New Roman" pitchFamily="34" charset="0"/>
                <a:ea typeface="Times New Roman" pitchFamily="34" charset="-122"/>
                <a:cs typeface="Times New Roman" pitchFamily="34" charset="-120"/>
              </a:rPr>
              <a:t>double rectangle = weak     double diamond = identifying relationship</a:t>
            </a:r>
            <a:endParaRPr lang="en-US" sz="1050" dirty="0"/>
          </a:p>
        </p:txBody>
      </p:sp>
      <p:sp>
        <p:nvSpPr>
          <p:cNvPr id="34" name="Text 31"/>
          <p:cNvSpPr/>
          <p:nvPr/>
        </p:nvSpPr>
        <p:spPr>
          <a:xfrm>
            <a:off x="841248" y="5138928"/>
            <a:ext cx="10515600" cy="310896"/>
          </a:xfrm>
          <a:prstGeom prst="rect">
            <a:avLst/>
          </a:prstGeom>
          <a:noFill/>
          <a:ln/>
        </p:spPr>
        <p:txBody>
          <a:bodyPr wrap="square" lIns="0" tIns="0" rIns="0" bIns="0" rtlCol="0" anchor="ctr"/>
          <a:lstStyle/>
          <a:p>
            <a:pPr marL="0" indent="0" algn="l">
              <a:buNone/>
            </a:pPr>
            <a:r>
              <a:rPr lang="en-US" sz="1300" i="1" dirty="0">
                <a:solidFill>
                  <a:srgbClr val="5A6472"/>
                </a:solidFill>
                <a:latin typeface="Times New Roman" pitchFamily="34" charset="0"/>
                <a:ea typeface="Times New Roman" pitchFamily="34" charset="-122"/>
                <a:cs typeface="Times New Roman" pitchFamily="34" charset="-120"/>
              </a:rPr>
              <a:t>Order #405-778 stands on its own.  “Line item 2” means nothing without its order.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Degree of a Relationship</a:t>
            </a:r>
            <a:endParaRPr lang="en-US" sz="3200" dirty="0"/>
          </a:p>
        </p:txBody>
      </p:sp>
      <p:sp>
        <p:nvSpPr>
          <p:cNvPr id="5" name="Text 2"/>
          <p:cNvSpPr/>
          <p:nvPr/>
        </p:nvSpPr>
        <p:spPr>
          <a:xfrm>
            <a:off x="841248" y="1298448"/>
            <a:ext cx="10515600" cy="310896"/>
          </a:xfrm>
          <a:prstGeom prst="rect">
            <a:avLst/>
          </a:prstGeom>
          <a:noFill/>
          <a:ln/>
        </p:spPr>
        <p:txBody>
          <a:bodyPr wrap="square" lIns="0" tIns="0" rIns="0" bIns="0" rtlCol="0" anchor="ctr"/>
          <a:lstStyle/>
          <a:p>
            <a:pPr marL="0" indent="0" algn="l">
              <a:buNone/>
            </a:pPr>
            <a:r>
              <a:rPr lang="en-US" sz="1500" i="1" dirty="0">
                <a:solidFill>
                  <a:srgbClr val="5A6472"/>
                </a:solidFill>
                <a:latin typeface="Times New Roman" pitchFamily="34" charset="0"/>
                <a:ea typeface="Times New Roman" pitchFamily="34" charset="-122"/>
                <a:cs typeface="Times New Roman" pitchFamily="34" charset="-120"/>
              </a:rPr>
              <a:t>Degree = how many entity sets take part.</a:t>
            </a:r>
            <a:endParaRPr lang="en-US" sz="1500" dirty="0"/>
          </a:p>
        </p:txBody>
      </p:sp>
      <p:sp>
        <p:nvSpPr>
          <p:cNvPr id="6" name="Shape 3"/>
          <p:cNvSpPr/>
          <p:nvPr/>
        </p:nvSpPr>
        <p:spPr>
          <a:xfrm>
            <a:off x="841248" y="1755648"/>
            <a:ext cx="3346704" cy="4041648"/>
          </a:xfrm>
          <a:prstGeom prst="roundRect">
            <a:avLst>
              <a:gd name="adj" fmla="val 2186"/>
            </a:avLst>
          </a:prstGeom>
          <a:solidFill>
            <a:srgbClr val="FFFFFF"/>
          </a:solidFill>
          <a:ln w="12700">
            <a:solidFill>
              <a:srgbClr val="D2DCE6"/>
            </a:solidFill>
            <a:prstDash val="solid"/>
          </a:ln>
        </p:spPr>
      </p:sp>
      <p:sp>
        <p:nvSpPr>
          <p:cNvPr id="7" name="Shape 4"/>
          <p:cNvSpPr/>
          <p:nvPr/>
        </p:nvSpPr>
        <p:spPr>
          <a:xfrm>
            <a:off x="841248" y="1755648"/>
            <a:ext cx="3346704" cy="109728"/>
          </a:xfrm>
          <a:prstGeom prst="rect">
            <a:avLst/>
          </a:prstGeom>
          <a:solidFill>
            <a:srgbClr val="156082"/>
          </a:solidFill>
          <a:ln/>
        </p:spPr>
      </p:sp>
      <p:sp>
        <p:nvSpPr>
          <p:cNvPr id="8" name="Text 5"/>
          <p:cNvSpPr/>
          <p:nvPr/>
        </p:nvSpPr>
        <p:spPr>
          <a:xfrm>
            <a:off x="1133856" y="1975104"/>
            <a:ext cx="2011680" cy="310896"/>
          </a:xfrm>
          <a:prstGeom prst="rect">
            <a:avLst/>
          </a:prstGeom>
          <a:noFill/>
          <a:ln/>
        </p:spPr>
        <p:txBody>
          <a:bodyPr wrap="square" lIns="0" tIns="0" rIns="0" bIns="0" rtlCol="0" anchor="ctr"/>
          <a:lstStyle/>
          <a:p>
            <a:pPr marL="0" indent="0" algn="l">
              <a:buNone/>
            </a:pPr>
            <a:r>
              <a:rPr lang="en-US" sz="1500" b="1" kern="0" spc="150" dirty="0">
                <a:solidFill>
                  <a:srgbClr val="156082"/>
                </a:solidFill>
                <a:latin typeface="Times New Roman" pitchFamily="34" charset="0"/>
                <a:ea typeface="Times New Roman" pitchFamily="34" charset="-122"/>
                <a:cs typeface="Times New Roman" pitchFamily="34" charset="-120"/>
              </a:rPr>
              <a:t>UNARY</a:t>
            </a:r>
            <a:endParaRPr lang="en-US" sz="1500" dirty="0"/>
          </a:p>
        </p:txBody>
      </p:sp>
      <p:sp>
        <p:nvSpPr>
          <p:cNvPr id="9" name="Text 6"/>
          <p:cNvSpPr/>
          <p:nvPr/>
        </p:nvSpPr>
        <p:spPr>
          <a:xfrm>
            <a:off x="2944368" y="1975104"/>
            <a:ext cx="960120" cy="310896"/>
          </a:xfrm>
          <a:prstGeom prst="rect">
            <a:avLst/>
          </a:prstGeom>
          <a:noFill/>
          <a:ln/>
        </p:spPr>
        <p:txBody>
          <a:bodyPr wrap="square" lIns="0" tIns="0" rIns="0" bIns="0" rtlCol="0" anchor="ctr"/>
          <a:lstStyle/>
          <a:p>
            <a:pPr marL="0" indent="0" algn="r">
              <a:buNone/>
            </a:pPr>
            <a:r>
              <a:rPr lang="en-US" sz="1200" dirty="0">
                <a:solidFill>
                  <a:srgbClr val="5A6472"/>
                </a:solidFill>
                <a:latin typeface="Times New Roman" pitchFamily="34" charset="0"/>
                <a:ea typeface="Times New Roman" pitchFamily="34" charset="-122"/>
                <a:cs typeface="Times New Roman" pitchFamily="34" charset="-120"/>
              </a:rPr>
              <a:t>1 set</a:t>
            </a:r>
            <a:endParaRPr lang="en-US" sz="1200" dirty="0"/>
          </a:p>
        </p:txBody>
      </p:sp>
      <p:sp>
        <p:nvSpPr>
          <p:cNvPr id="10" name="Text 7"/>
          <p:cNvSpPr/>
          <p:nvPr/>
        </p:nvSpPr>
        <p:spPr>
          <a:xfrm>
            <a:off x="1133856" y="4709160"/>
            <a:ext cx="2761488" cy="822960"/>
          </a:xfrm>
          <a:prstGeom prst="rect">
            <a:avLst/>
          </a:prstGeom>
          <a:noFill/>
          <a:ln/>
        </p:spPr>
        <p:txBody>
          <a:bodyPr wrap="square" lIns="0" tIns="0" rIns="0" bIns="0" rtlCol="0" anchor="t"/>
          <a:lstStyle/>
          <a:p>
            <a:pPr marL="0" indent="0" algn="l">
              <a:lnSpc>
                <a:spcPct val="130000"/>
              </a:lnSpc>
              <a:buNone/>
            </a:pPr>
            <a:r>
              <a:rPr lang="en-US" sz="1200" dirty="0">
                <a:solidFill>
                  <a:srgbClr val="5A6472"/>
                </a:solidFill>
                <a:latin typeface="Times New Roman" pitchFamily="34" charset="0"/>
                <a:ea typeface="Times New Roman" pitchFamily="34" charset="-122"/>
                <a:cs typeface="Times New Roman" pitchFamily="34" charset="-120"/>
              </a:rPr>
              <a:t>An employee manages other employees —</a:t>
            </a:r>
            <a:endParaRPr lang="en-US" sz="1200" dirty="0"/>
          </a:p>
          <a:p>
            <a:pPr marL="0" indent="0" algn="l">
              <a:lnSpc>
                <a:spcPct val="130000"/>
              </a:lnSpc>
              <a:buNone/>
            </a:pPr>
            <a:r>
              <a:rPr lang="en-US" sz="1200" dirty="0">
                <a:solidFill>
                  <a:srgbClr val="5A6472"/>
                </a:solidFill>
                <a:latin typeface="Times New Roman" pitchFamily="34" charset="0"/>
                <a:ea typeface="Times New Roman" pitchFamily="34" charset="-122"/>
                <a:cs typeface="Times New Roman" pitchFamily="34" charset="-120"/>
              </a:rPr>
              <a:t>reporting chains inside Infosys.</a:t>
            </a:r>
            <a:endParaRPr lang="en-US" sz="1200" dirty="0"/>
          </a:p>
        </p:txBody>
      </p:sp>
      <p:sp>
        <p:nvSpPr>
          <p:cNvPr id="11" name="Shape 8"/>
          <p:cNvSpPr/>
          <p:nvPr/>
        </p:nvSpPr>
        <p:spPr>
          <a:xfrm>
            <a:off x="4425696" y="1755648"/>
            <a:ext cx="3346704" cy="4041648"/>
          </a:xfrm>
          <a:prstGeom prst="roundRect">
            <a:avLst>
              <a:gd name="adj" fmla="val 2186"/>
            </a:avLst>
          </a:prstGeom>
          <a:solidFill>
            <a:srgbClr val="FFFFFF"/>
          </a:solidFill>
          <a:ln w="12700">
            <a:solidFill>
              <a:srgbClr val="D2DCE6"/>
            </a:solidFill>
            <a:prstDash val="solid"/>
          </a:ln>
        </p:spPr>
      </p:sp>
      <p:sp>
        <p:nvSpPr>
          <p:cNvPr id="12" name="Shape 9"/>
          <p:cNvSpPr/>
          <p:nvPr/>
        </p:nvSpPr>
        <p:spPr>
          <a:xfrm>
            <a:off x="4425696" y="1755648"/>
            <a:ext cx="3346704" cy="109728"/>
          </a:xfrm>
          <a:prstGeom prst="rect">
            <a:avLst/>
          </a:prstGeom>
          <a:solidFill>
            <a:srgbClr val="E97132"/>
          </a:solidFill>
          <a:ln/>
        </p:spPr>
      </p:sp>
      <p:sp>
        <p:nvSpPr>
          <p:cNvPr id="13" name="Text 10"/>
          <p:cNvSpPr/>
          <p:nvPr/>
        </p:nvSpPr>
        <p:spPr>
          <a:xfrm>
            <a:off x="4718304" y="1975104"/>
            <a:ext cx="2011680" cy="310896"/>
          </a:xfrm>
          <a:prstGeom prst="rect">
            <a:avLst/>
          </a:prstGeom>
          <a:noFill/>
          <a:ln/>
        </p:spPr>
        <p:txBody>
          <a:bodyPr wrap="square" lIns="0" tIns="0" rIns="0" bIns="0" rtlCol="0" anchor="ctr"/>
          <a:lstStyle/>
          <a:p>
            <a:pPr marL="0" indent="0" algn="l">
              <a:buNone/>
            </a:pPr>
            <a:r>
              <a:rPr lang="en-US" sz="1500" b="1" kern="0" spc="150" dirty="0">
                <a:solidFill>
                  <a:srgbClr val="E97132"/>
                </a:solidFill>
                <a:latin typeface="Times New Roman" pitchFamily="34" charset="0"/>
                <a:ea typeface="Times New Roman" pitchFamily="34" charset="-122"/>
                <a:cs typeface="Times New Roman" pitchFamily="34" charset="-120"/>
              </a:rPr>
              <a:t>BINARY</a:t>
            </a:r>
            <a:endParaRPr lang="en-US" sz="1500" dirty="0"/>
          </a:p>
        </p:txBody>
      </p:sp>
      <p:sp>
        <p:nvSpPr>
          <p:cNvPr id="14" name="Text 11"/>
          <p:cNvSpPr/>
          <p:nvPr/>
        </p:nvSpPr>
        <p:spPr>
          <a:xfrm>
            <a:off x="6528816" y="1975104"/>
            <a:ext cx="960120" cy="310896"/>
          </a:xfrm>
          <a:prstGeom prst="rect">
            <a:avLst/>
          </a:prstGeom>
          <a:noFill/>
          <a:ln/>
        </p:spPr>
        <p:txBody>
          <a:bodyPr wrap="square" lIns="0" tIns="0" rIns="0" bIns="0" rtlCol="0" anchor="ctr"/>
          <a:lstStyle/>
          <a:p>
            <a:pPr marL="0" indent="0" algn="r">
              <a:buNone/>
            </a:pPr>
            <a:r>
              <a:rPr lang="en-US" sz="1200" dirty="0">
                <a:solidFill>
                  <a:srgbClr val="5A6472"/>
                </a:solidFill>
                <a:latin typeface="Times New Roman" pitchFamily="34" charset="0"/>
                <a:ea typeface="Times New Roman" pitchFamily="34" charset="-122"/>
                <a:cs typeface="Times New Roman" pitchFamily="34" charset="-120"/>
              </a:rPr>
              <a:t>2 sets</a:t>
            </a:r>
            <a:endParaRPr lang="en-US" sz="1200" dirty="0"/>
          </a:p>
        </p:txBody>
      </p:sp>
      <p:sp>
        <p:nvSpPr>
          <p:cNvPr id="15" name="Text 12"/>
          <p:cNvSpPr/>
          <p:nvPr/>
        </p:nvSpPr>
        <p:spPr>
          <a:xfrm>
            <a:off x="4718304" y="4709160"/>
            <a:ext cx="2761488" cy="822960"/>
          </a:xfrm>
          <a:prstGeom prst="rect">
            <a:avLst/>
          </a:prstGeom>
          <a:noFill/>
          <a:ln/>
        </p:spPr>
        <p:txBody>
          <a:bodyPr wrap="square" lIns="0" tIns="0" rIns="0" bIns="0" rtlCol="0" anchor="t"/>
          <a:lstStyle/>
          <a:p>
            <a:pPr marL="0" indent="0" algn="l">
              <a:lnSpc>
                <a:spcPct val="130000"/>
              </a:lnSpc>
              <a:buNone/>
            </a:pPr>
            <a:r>
              <a:rPr lang="en-US" sz="1200" dirty="0">
                <a:solidFill>
                  <a:srgbClr val="5A6472"/>
                </a:solidFill>
                <a:latin typeface="Times New Roman" pitchFamily="34" charset="0"/>
                <a:ea typeface="Times New Roman" pitchFamily="34" charset="-122"/>
                <a:cs typeface="Times New Roman" pitchFamily="34" charset="-120"/>
              </a:rPr>
              <a:t>Spotify: a user creates playlists.</a:t>
            </a:r>
            <a:endParaRPr lang="en-US" sz="1200" dirty="0"/>
          </a:p>
          <a:p>
            <a:pPr marL="0" indent="0" algn="l">
              <a:lnSpc>
                <a:spcPct val="130000"/>
              </a:lnSpc>
              <a:buNone/>
            </a:pPr>
            <a:r>
              <a:rPr lang="en-US" sz="1200" dirty="0">
                <a:solidFill>
                  <a:srgbClr val="5A6472"/>
                </a:solidFill>
                <a:latin typeface="Times New Roman" pitchFamily="34" charset="0"/>
                <a:ea typeface="Times New Roman" pitchFamily="34" charset="-122"/>
                <a:cs typeface="Times New Roman" pitchFamily="34" charset="-120"/>
              </a:rPr>
              <a:t>Most real links are binary.</a:t>
            </a:r>
            <a:endParaRPr lang="en-US" sz="1200" dirty="0"/>
          </a:p>
        </p:txBody>
      </p:sp>
      <p:sp>
        <p:nvSpPr>
          <p:cNvPr id="16" name="Shape 13"/>
          <p:cNvSpPr/>
          <p:nvPr/>
        </p:nvSpPr>
        <p:spPr>
          <a:xfrm>
            <a:off x="8010144" y="1755648"/>
            <a:ext cx="3346704" cy="4041648"/>
          </a:xfrm>
          <a:prstGeom prst="roundRect">
            <a:avLst>
              <a:gd name="adj" fmla="val 2186"/>
            </a:avLst>
          </a:prstGeom>
          <a:solidFill>
            <a:srgbClr val="FFFFFF"/>
          </a:solidFill>
          <a:ln w="12700">
            <a:solidFill>
              <a:srgbClr val="D2DCE6"/>
            </a:solidFill>
            <a:prstDash val="solid"/>
          </a:ln>
        </p:spPr>
      </p:sp>
      <p:sp>
        <p:nvSpPr>
          <p:cNvPr id="17" name="Shape 14"/>
          <p:cNvSpPr/>
          <p:nvPr/>
        </p:nvSpPr>
        <p:spPr>
          <a:xfrm>
            <a:off x="8010144" y="1755648"/>
            <a:ext cx="3346704" cy="109728"/>
          </a:xfrm>
          <a:prstGeom prst="rect">
            <a:avLst/>
          </a:prstGeom>
          <a:solidFill>
            <a:srgbClr val="196B24"/>
          </a:solidFill>
          <a:ln/>
        </p:spPr>
      </p:sp>
      <p:sp>
        <p:nvSpPr>
          <p:cNvPr id="18" name="Text 15"/>
          <p:cNvSpPr/>
          <p:nvPr/>
        </p:nvSpPr>
        <p:spPr>
          <a:xfrm>
            <a:off x="8302752" y="1975104"/>
            <a:ext cx="2011680" cy="310896"/>
          </a:xfrm>
          <a:prstGeom prst="rect">
            <a:avLst/>
          </a:prstGeom>
          <a:noFill/>
          <a:ln/>
        </p:spPr>
        <p:txBody>
          <a:bodyPr wrap="square" lIns="0" tIns="0" rIns="0" bIns="0" rtlCol="0" anchor="ctr"/>
          <a:lstStyle/>
          <a:p>
            <a:pPr marL="0" indent="0" algn="l">
              <a:buNone/>
            </a:pPr>
            <a:r>
              <a:rPr lang="en-US" sz="1500" b="1" kern="0" spc="150" dirty="0">
                <a:solidFill>
                  <a:srgbClr val="196B24"/>
                </a:solidFill>
                <a:latin typeface="Times New Roman" pitchFamily="34" charset="0"/>
                <a:ea typeface="Times New Roman" pitchFamily="34" charset="-122"/>
                <a:cs typeface="Times New Roman" pitchFamily="34" charset="-120"/>
              </a:rPr>
              <a:t>TERNARY</a:t>
            </a:r>
            <a:endParaRPr lang="en-US" sz="1500" dirty="0"/>
          </a:p>
        </p:txBody>
      </p:sp>
      <p:sp>
        <p:nvSpPr>
          <p:cNvPr id="19" name="Text 16"/>
          <p:cNvSpPr/>
          <p:nvPr/>
        </p:nvSpPr>
        <p:spPr>
          <a:xfrm>
            <a:off x="10113264" y="1975104"/>
            <a:ext cx="960120" cy="310896"/>
          </a:xfrm>
          <a:prstGeom prst="rect">
            <a:avLst/>
          </a:prstGeom>
          <a:noFill/>
          <a:ln/>
        </p:spPr>
        <p:txBody>
          <a:bodyPr wrap="square" lIns="0" tIns="0" rIns="0" bIns="0" rtlCol="0" anchor="ctr"/>
          <a:lstStyle/>
          <a:p>
            <a:pPr marL="0" indent="0" algn="r">
              <a:buNone/>
            </a:pPr>
            <a:r>
              <a:rPr lang="en-US" sz="1200" dirty="0">
                <a:solidFill>
                  <a:srgbClr val="5A6472"/>
                </a:solidFill>
                <a:latin typeface="Times New Roman" pitchFamily="34" charset="0"/>
                <a:ea typeface="Times New Roman" pitchFamily="34" charset="-122"/>
                <a:cs typeface="Times New Roman" pitchFamily="34" charset="-120"/>
              </a:rPr>
              <a:t>3 sets</a:t>
            </a:r>
            <a:endParaRPr lang="en-US" sz="1200" dirty="0"/>
          </a:p>
        </p:txBody>
      </p:sp>
      <p:sp>
        <p:nvSpPr>
          <p:cNvPr id="20" name="Text 17"/>
          <p:cNvSpPr/>
          <p:nvPr/>
        </p:nvSpPr>
        <p:spPr>
          <a:xfrm>
            <a:off x="8302752" y="4709160"/>
            <a:ext cx="2761488" cy="822960"/>
          </a:xfrm>
          <a:prstGeom prst="rect">
            <a:avLst/>
          </a:prstGeom>
          <a:noFill/>
          <a:ln/>
        </p:spPr>
        <p:txBody>
          <a:bodyPr wrap="square" lIns="0" tIns="0" rIns="0" bIns="0" rtlCol="0" anchor="t"/>
          <a:lstStyle/>
          <a:p>
            <a:pPr marL="0" indent="0" algn="l">
              <a:lnSpc>
                <a:spcPct val="130000"/>
              </a:lnSpc>
              <a:buNone/>
            </a:pPr>
            <a:r>
              <a:rPr lang="en-US" sz="1200" dirty="0">
                <a:solidFill>
                  <a:srgbClr val="5A6472"/>
                </a:solidFill>
                <a:latin typeface="Times New Roman" pitchFamily="34" charset="0"/>
                <a:ea typeface="Times New Roman" pitchFamily="34" charset="-122"/>
                <a:cs typeface="Times New Roman" pitchFamily="34" charset="-120"/>
              </a:rPr>
              <a:t>A vendor supplies a part to a project —</a:t>
            </a:r>
            <a:endParaRPr lang="en-US" sz="1200" dirty="0"/>
          </a:p>
          <a:p>
            <a:pPr marL="0" indent="0" algn="l">
              <a:lnSpc>
                <a:spcPct val="130000"/>
              </a:lnSpc>
              <a:buNone/>
            </a:pPr>
            <a:r>
              <a:rPr lang="en-US" sz="1200" dirty="0">
                <a:solidFill>
                  <a:srgbClr val="5A6472"/>
                </a:solidFill>
                <a:latin typeface="Times New Roman" pitchFamily="34" charset="0"/>
                <a:ea typeface="Times New Roman" pitchFamily="34" charset="-122"/>
                <a:cs typeface="Times New Roman" pitchFamily="34" charset="-120"/>
              </a:rPr>
              <a:t>supply chains at Tata Motors.</a:t>
            </a:r>
            <a:endParaRPr lang="en-US" sz="1200" dirty="0"/>
          </a:p>
        </p:txBody>
      </p:sp>
      <p:sp>
        <p:nvSpPr>
          <p:cNvPr id="21" name="Shape 18"/>
          <p:cNvSpPr/>
          <p:nvPr/>
        </p:nvSpPr>
        <p:spPr>
          <a:xfrm>
            <a:off x="1709928" y="3566160"/>
            <a:ext cx="1600200" cy="603504"/>
          </a:xfrm>
          <a:prstGeom prst="rect">
            <a:avLst/>
          </a:prstGeom>
          <a:solidFill>
            <a:srgbClr val="FFFFFF"/>
          </a:solidFill>
          <a:ln w="22225">
            <a:solidFill>
              <a:srgbClr val="0E2841"/>
            </a:solidFill>
            <a:prstDash val="solid"/>
          </a:ln>
        </p:spPr>
      </p:sp>
      <p:sp>
        <p:nvSpPr>
          <p:cNvPr id="22" name="Text 19"/>
          <p:cNvSpPr/>
          <p:nvPr/>
        </p:nvSpPr>
        <p:spPr>
          <a:xfrm>
            <a:off x="1709928" y="3566160"/>
            <a:ext cx="1600200" cy="603504"/>
          </a:xfrm>
          <a:prstGeom prst="rect">
            <a:avLst/>
          </a:prstGeom>
          <a:noFill/>
          <a:ln/>
        </p:spPr>
        <p:txBody>
          <a:bodyPr wrap="square" lIns="0" tIns="0" rIns="0" bIns="0" rtlCol="0" anchor="ctr"/>
          <a:lstStyle/>
          <a:p>
            <a:pPr marL="0" indent="0" algn="ctr">
              <a:buNone/>
            </a:pPr>
            <a:r>
              <a:rPr lang="en-US" sz="1300" b="1" dirty="0">
                <a:solidFill>
                  <a:srgbClr val="0E2841"/>
                </a:solidFill>
                <a:latin typeface="Times New Roman" pitchFamily="34" charset="0"/>
                <a:ea typeface="Times New Roman" pitchFamily="34" charset="-122"/>
                <a:cs typeface="Times New Roman" pitchFamily="34" charset="-120"/>
              </a:rPr>
              <a:t>Employee</a:t>
            </a:r>
            <a:endParaRPr lang="en-US" sz="1300" dirty="0"/>
          </a:p>
        </p:txBody>
      </p:sp>
      <p:sp>
        <p:nvSpPr>
          <p:cNvPr id="23" name="Shape 20"/>
          <p:cNvSpPr/>
          <p:nvPr/>
        </p:nvSpPr>
        <p:spPr>
          <a:xfrm>
            <a:off x="1938528" y="2487168"/>
            <a:ext cx="1152144" cy="786384"/>
          </a:xfrm>
          <a:prstGeom prst="diamond">
            <a:avLst/>
          </a:prstGeom>
          <a:solidFill>
            <a:srgbClr val="FFFFFF"/>
          </a:solidFill>
          <a:ln w="22225">
            <a:solidFill>
              <a:srgbClr val="E97132"/>
            </a:solidFill>
            <a:prstDash val="solid"/>
          </a:ln>
        </p:spPr>
      </p:sp>
      <p:sp>
        <p:nvSpPr>
          <p:cNvPr id="24" name="Text 21"/>
          <p:cNvSpPr/>
          <p:nvPr/>
        </p:nvSpPr>
        <p:spPr>
          <a:xfrm>
            <a:off x="1938528" y="2487168"/>
            <a:ext cx="1152144" cy="786384"/>
          </a:xfrm>
          <a:prstGeom prst="rect">
            <a:avLst/>
          </a:prstGeom>
          <a:noFill/>
          <a:ln/>
        </p:spPr>
        <p:txBody>
          <a:bodyPr wrap="square" lIns="0" tIns="0" rIns="0" bIns="0" rtlCol="0" anchor="ctr"/>
          <a:lstStyle/>
          <a:p>
            <a:pPr marL="0" indent="0" algn="ctr">
              <a:buNone/>
            </a:pPr>
            <a:r>
              <a:rPr lang="en-US" sz="950" b="1" dirty="0">
                <a:solidFill>
                  <a:srgbClr val="E97132"/>
                </a:solidFill>
                <a:latin typeface="Times New Roman" pitchFamily="34" charset="0"/>
                <a:ea typeface="Times New Roman" pitchFamily="34" charset="-122"/>
                <a:cs typeface="Times New Roman" pitchFamily="34" charset="-120"/>
              </a:rPr>
              <a:t>Manages</a:t>
            </a:r>
            <a:endParaRPr lang="en-US" sz="950" dirty="0"/>
          </a:p>
        </p:txBody>
      </p:sp>
      <p:sp>
        <p:nvSpPr>
          <p:cNvPr id="25" name="Shape 22"/>
          <p:cNvSpPr/>
          <p:nvPr/>
        </p:nvSpPr>
        <p:spPr>
          <a:xfrm>
            <a:off x="2029968" y="3273552"/>
            <a:ext cx="0" cy="292608"/>
          </a:xfrm>
          <a:prstGeom prst="line">
            <a:avLst/>
          </a:prstGeom>
          <a:noFill/>
          <a:ln w="19050">
            <a:solidFill>
              <a:srgbClr val="0E2841"/>
            </a:solidFill>
            <a:prstDash val="solid"/>
          </a:ln>
        </p:spPr>
      </p:sp>
      <p:sp>
        <p:nvSpPr>
          <p:cNvPr id="26" name="Shape 23"/>
          <p:cNvSpPr/>
          <p:nvPr/>
        </p:nvSpPr>
        <p:spPr>
          <a:xfrm>
            <a:off x="2999232" y="3273552"/>
            <a:ext cx="0" cy="292608"/>
          </a:xfrm>
          <a:prstGeom prst="line">
            <a:avLst/>
          </a:prstGeom>
          <a:noFill/>
          <a:ln w="19050">
            <a:solidFill>
              <a:srgbClr val="0E2841"/>
            </a:solidFill>
            <a:prstDash val="solid"/>
          </a:ln>
        </p:spPr>
      </p:sp>
      <p:sp>
        <p:nvSpPr>
          <p:cNvPr id="27" name="Shape 24"/>
          <p:cNvSpPr/>
          <p:nvPr/>
        </p:nvSpPr>
        <p:spPr>
          <a:xfrm>
            <a:off x="4700016" y="3566160"/>
            <a:ext cx="1234440" cy="566928"/>
          </a:xfrm>
          <a:prstGeom prst="rect">
            <a:avLst/>
          </a:prstGeom>
          <a:solidFill>
            <a:srgbClr val="FFFFFF"/>
          </a:solidFill>
          <a:ln w="22225">
            <a:solidFill>
              <a:srgbClr val="E97132"/>
            </a:solidFill>
            <a:prstDash val="solid"/>
          </a:ln>
        </p:spPr>
      </p:sp>
      <p:sp>
        <p:nvSpPr>
          <p:cNvPr id="28" name="Text 25"/>
          <p:cNvSpPr/>
          <p:nvPr/>
        </p:nvSpPr>
        <p:spPr>
          <a:xfrm>
            <a:off x="4700016" y="3566160"/>
            <a:ext cx="1234440" cy="566928"/>
          </a:xfrm>
          <a:prstGeom prst="rect">
            <a:avLst/>
          </a:prstGeom>
          <a:noFill/>
          <a:ln/>
        </p:spPr>
        <p:txBody>
          <a:bodyPr wrap="square" lIns="0" tIns="0" rIns="0" bIns="0" rtlCol="0" anchor="ctr"/>
          <a:lstStyle/>
          <a:p>
            <a:pPr marL="0" indent="0" algn="ctr">
              <a:buNone/>
            </a:pPr>
            <a:r>
              <a:rPr lang="en-US" sz="1200" b="1" dirty="0">
                <a:solidFill>
                  <a:srgbClr val="E97132"/>
                </a:solidFill>
                <a:latin typeface="Times New Roman" pitchFamily="34" charset="0"/>
                <a:ea typeface="Times New Roman" pitchFamily="34" charset="-122"/>
                <a:cs typeface="Times New Roman" pitchFamily="34" charset="-120"/>
              </a:rPr>
              <a:t>User</a:t>
            </a:r>
            <a:endParaRPr lang="en-US" sz="1200" dirty="0"/>
          </a:p>
        </p:txBody>
      </p:sp>
      <p:sp>
        <p:nvSpPr>
          <p:cNvPr id="29" name="Shape 26"/>
          <p:cNvSpPr/>
          <p:nvPr/>
        </p:nvSpPr>
        <p:spPr>
          <a:xfrm>
            <a:off x="6272784" y="3566160"/>
            <a:ext cx="1234440" cy="566928"/>
          </a:xfrm>
          <a:prstGeom prst="rect">
            <a:avLst/>
          </a:prstGeom>
          <a:solidFill>
            <a:srgbClr val="FFFFFF"/>
          </a:solidFill>
          <a:ln w="22225">
            <a:solidFill>
              <a:srgbClr val="E97132"/>
            </a:solidFill>
            <a:prstDash val="solid"/>
          </a:ln>
        </p:spPr>
      </p:sp>
      <p:sp>
        <p:nvSpPr>
          <p:cNvPr id="30" name="Text 27"/>
          <p:cNvSpPr/>
          <p:nvPr/>
        </p:nvSpPr>
        <p:spPr>
          <a:xfrm>
            <a:off x="6272784" y="3566160"/>
            <a:ext cx="1234440" cy="566928"/>
          </a:xfrm>
          <a:prstGeom prst="rect">
            <a:avLst/>
          </a:prstGeom>
          <a:noFill/>
          <a:ln/>
        </p:spPr>
        <p:txBody>
          <a:bodyPr wrap="square" lIns="0" tIns="0" rIns="0" bIns="0" rtlCol="0" anchor="ctr"/>
          <a:lstStyle/>
          <a:p>
            <a:pPr marL="0" indent="0" algn="ctr">
              <a:buNone/>
            </a:pPr>
            <a:r>
              <a:rPr lang="en-US" sz="1200" b="1" dirty="0">
                <a:solidFill>
                  <a:srgbClr val="E97132"/>
                </a:solidFill>
                <a:latin typeface="Times New Roman" pitchFamily="34" charset="0"/>
                <a:ea typeface="Times New Roman" pitchFamily="34" charset="-122"/>
                <a:cs typeface="Times New Roman" pitchFamily="34" charset="-120"/>
              </a:rPr>
              <a:t>Playlist</a:t>
            </a:r>
            <a:endParaRPr lang="en-US" sz="1200" dirty="0"/>
          </a:p>
        </p:txBody>
      </p:sp>
      <p:sp>
        <p:nvSpPr>
          <p:cNvPr id="31" name="Shape 28"/>
          <p:cNvSpPr/>
          <p:nvPr/>
        </p:nvSpPr>
        <p:spPr>
          <a:xfrm>
            <a:off x="5486400" y="2542032"/>
            <a:ext cx="1207008" cy="786384"/>
          </a:xfrm>
          <a:prstGeom prst="diamond">
            <a:avLst/>
          </a:prstGeom>
          <a:solidFill>
            <a:srgbClr val="FFFFFF"/>
          </a:solidFill>
          <a:ln w="22225">
            <a:solidFill>
              <a:srgbClr val="E97132"/>
            </a:solidFill>
            <a:prstDash val="solid"/>
          </a:ln>
        </p:spPr>
      </p:sp>
      <p:sp>
        <p:nvSpPr>
          <p:cNvPr id="32" name="Text 29"/>
          <p:cNvSpPr/>
          <p:nvPr/>
        </p:nvSpPr>
        <p:spPr>
          <a:xfrm>
            <a:off x="5486400" y="2542032"/>
            <a:ext cx="1207008" cy="786384"/>
          </a:xfrm>
          <a:prstGeom prst="rect">
            <a:avLst/>
          </a:prstGeom>
          <a:noFill/>
          <a:ln/>
        </p:spPr>
        <p:txBody>
          <a:bodyPr wrap="square" lIns="0" tIns="0" rIns="0" bIns="0" rtlCol="0" anchor="ctr"/>
          <a:lstStyle/>
          <a:p>
            <a:pPr marL="0" indent="0" algn="ctr">
              <a:buNone/>
            </a:pPr>
            <a:r>
              <a:rPr lang="en-US" sz="950" b="1" dirty="0">
                <a:solidFill>
                  <a:srgbClr val="E97132"/>
                </a:solidFill>
                <a:latin typeface="Times New Roman" pitchFamily="34" charset="0"/>
                <a:ea typeface="Times New Roman" pitchFamily="34" charset="-122"/>
                <a:cs typeface="Times New Roman" pitchFamily="34" charset="-120"/>
              </a:rPr>
              <a:t>Creates</a:t>
            </a:r>
            <a:endParaRPr lang="en-US" sz="950" dirty="0"/>
          </a:p>
        </p:txBody>
      </p:sp>
      <p:sp>
        <p:nvSpPr>
          <p:cNvPr id="33" name="Shape 30"/>
          <p:cNvSpPr/>
          <p:nvPr/>
        </p:nvSpPr>
        <p:spPr>
          <a:xfrm>
            <a:off x="5321808" y="3566160"/>
            <a:ext cx="502920" cy="0"/>
          </a:xfrm>
          <a:prstGeom prst="line">
            <a:avLst/>
          </a:prstGeom>
          <a:noFill/>
          <a:ln w="19050">
            <a:solidFill>
              <a:srgbClr val="0E2841"/>
            </a:solidFill>
            <a:prstDash val="solid"/>
          </a:ln>
        </p:spPr>
      </p:sp>
      <p:sp>
        <p:nvSpPr>
          <p:cNvPr id="34" name="Shape 31"/>
          <p:cNvSpPr/>
          <p:nvPr/>
        </p:nvSpPr>
        <p:spPr>
          <a:xfrm>
            <a:off x="6391656" y="3310128"/>
            <a:ext cx="502920" cy="256032"/>
          </a:xfrm>
          <a:prstGeom prst="line">
            <a:avLst/>
          </a:prstGeom>
          <a:noFill/>
          <a:ln w="19050">
            <a:solidFill>
              <a:srgbClr val="0E2841"/>
            </a:solidFill>
            <a:prstDash val="solid"/>
          </a:ln>
        </p:spPr>
      </p:sp>
      <p:sp>
        <p:nvSpPr>
          <p:cNvPr id="35" name="Shape 32"/>
          <p:cNvSpPr/>
          <p:nvPr/>
        </p:nvSpPr>
        <p:spPr>
          <a:xfrm>
            <a:off x="9052560" y="3017520"/>
            <a:ext cx="1261872" cy="822960"/>
          </a:xfrm>
          <a:prstGeom prst="diamond">
            <a:avLst/>
          </a:prstGeom>
          <a:solidFill>
            <a:srgbClr val="FFFFFF"/>
          </a:solidFill>
          <a:ln w="22225">
            <a:solidFill>
              <a:srgbClr val="196B24"/>
            </a:solidFill>
            <a:prstDash val="solid"/>
          </a:ln>
        </p:spPr>
      </p:sp>
      <p:sp>
        <p:nvSpPr>
          <p:cNvPr id="36" name="Text 33"/>
          <p:cNvSpPr/>
          <p:nvPr/>
        </p:nvSpPr>
        <p:spPr>
          <a:xfrm>
            <a:off x="9052560" y="3017520"/>
            <a:ext cx="1261872" cy="822960"/>
          </a:xfrm>
          <a:prstGeom prst="rect">
            <a:avLst/>
          </a:prstGeom>
          <a:noFill/>
          <a:ln/>
        </p:spPr>
        <p:txBody>
          <a:bodyPr wrap="square" lIns="0" tIns="0" rIns="0" bIns="0" rtlCol="0" anchor="ctr"/>
          <a:lstStyle/>
          <a:p>
            <a:pPr marL="0" indent="0" algn="ctr">
              <a:buNone/>
            </a:pPr>
            <a:r>
              <a:rPr lang="en-US" sz="950" b="1" dirty="0">
                <a:solidFill>
                  <a:srgbClr val="196B24"/>
                </a:solidFill>
                <a:latin typeface="Times New Roman" pitchFamily="34" charset="0"/>
                <a:ea typeface="Times New Roman" pitchFamily="34" charset="-122"/>
                <a:cs typeface="Times New Roman" pitchFamily="34" charset="-120"/>
              </a:rPr>
              <a:t>Supplies</a:t>
            </a:r>
            <a:endParaRPr lang="en-US" sz="950" dirty="0"/>
          </a:p>
        </p:txBody>
      </p:sp>
      <p:sp>
        <p:nvSpPr>
          <p:cNvPr id="37" name="Shape 34"/>
          <p:cNvSpPr/>
          <p:nvPr/>
        </p:nvSpPr>
        <p:spPr>
          <a:xfrm>
            <a:off x="8211312" y="2395728"/>
            <a:ext cx="1143000" cy="530352"/>
          </a:xfrm>
          <a:prstGeom prst="rect">
            <a:avLst/>
          </a:prstGeom>
          <a:solidFill>
            <a:srgbClr val="FFFFFF"/>
          </a:solidFill>
          <a:ln w="22225">
            <a:solidFill>
              <a:srgbClr val="196B24"/>
            </a:solidFill>
            <a:prstDash val="solid"/>
          </a:ln>
        </p:spPr>
      </p:sp>
      <p:sp>
        <p:nvSpPr>
          <p:cNvPr id="38" name="Text 35"/>
          <p:cNvSpPr/>
          <p:nvPr/>
        </p:nvSpPr>
        <p:spPr>
          <a:xfrm>
            <a:off x="8211312" y="2395728"/>
            <a:ext cx="1143000" cy="530352"/>
          </a:xfrm>
          <a:prstGeom prst="rect">
            <a:avLst/>
          </a:prstGeom>
          <a:noFill/>
          <a:ln/>
        </p:spPr>
        <p:txBody>
          <a:bodyPr wrap="square" lIns="0" tIns="0" rIns="0" bIns="0" rtlCol="0" anchor="ctr"/>
          <a:lstStyle/>
          <a:p>
            <a:pPr marL="0" indent="0" algn="ctr">
              <a:buNone/>
            </a:pPr>
            <a:r>
              <a:rPr lang="en-US" sz="1150" b="1" dirty="0">
                <a:solidFill>
                  <a:srgbClr val="196B24"/>
                </a:solidFill>
                <a:latin typeface="Times New Roman" pitchFamily="34" charset="0"/>
                <a:ea typeface="Times New Roman" pitchFamily="34" charset="-122"/>
                <a:cs typeface="Times New Roman" pitchFamily="34" charset="-120"/>
              </a:rPr>
              <a:t>Vendor</a:t>
            </a:r>
            <a:endParaRPr lang="en-US" sz="1150" dirty="0"/>
          </a:p>
        </p:txBody>
      </p:sp>
      <p:sp>
        <p:nvSpPr>
          <p:cNvPr id="39" name="Shape 36"/>
          <p:cNvSpPr/>
          <p:nvPr/>
        </p:nvSpPr>
        <p:spPr>
          <a:xfrm>
            <a:off x="10021824" y="2395728"/>
            <a:ext cx="1143000" cy="530352"/>
          </a:xfrm>
          <a:prstGeom prst="rect">
            <a:avLst/>
          </a:prstGeom>
          <a:solidFill>
            <a:srgbClr val="FFFFFF"/>
          </a:solidFill>
          <a:ln w="22225">
            <a:solidFill>
              <a:srgbClr val="196B24"/>
            </a:solidFill>
            <a:prstDash val="solid"/>
          </a:ln>
        </p:spPr>
      </p:sp>
      <p:sp>
        <p:nvSpPr>
          <p:cNvPr id="40" name="Text 37"/>
          <p:cNvSpPr/>
          <p:nvPr/>
        </p:nvSpPr>
        <p:spPr>
          <a:xfrm>
            <a:off x="10021824" y="2395728"/>
            <a:ext cx="1143000" cy="530352"/>
          </a:xfrm>
          <a:prstGeom prst="rect">
            <a:avLst/>
          </a:prstGeom>
          <a:noFill/>
          <a:ln/>
        </p:spPr>
        <p:txBody>
          <a:bodyPr wrap="square" lIns="0" tIns="0" rIns="0" bIns="0" rtlCol="0" anchor="ctr"/>
          <a:lstStyle/>
          <a:p>
            <a:pPr marL="0" indent="0" algn="ctr">
              <a:buNone/>
            </a:pPr>
            <a:r>
              <a:rPr lang="en-US" sz="1150" b="1" dirty="0">
                <a:solidFill>
                  <a:srgbClr val="196B24"/>
                </a:solidFill>
                <a:latin typeface="Times New Roman" pitchFamily="34" charset="0"/>
                <a:ea typeface="Times New Roman" pitchFamily="34" charset="-122"/>
                <a:cs typeface="Times New Roman" pitchFamily="34" charset="-120"/>
              </a:rPr>
              <a:t>Part</a:t>
            </a:r>
            <a:endParaRPr lang="en-US" sz="1150" dirty="0"/>
          </a:p>
        </p:txBody>
      </p:sp>
      <p:sp>
        <p:nvSpPr>
          <p:cNvPr id="41" name="Shape 38"/>
          <p:cNvSpPr/>
          <p:nvPr/>
        </p:nvSpPr>
        <p:spPr>
          <a:xfrm>
            <a:off x="9116568" y="4041648"/>
            <a:ext cx="1143000" cy="530352"/>
          </a:xfrm>
          <a:prstGeom prst="rect">
            <a:avLst/>
          </a:prstGeom>
          <a:solidFill>
            <a:srgbClr val="FFFFFF"/>
          </a:solidFill>
          <a:ln w="22225">
            <a:solidFill>
              <a:srgbClr val="196B24"/>
            </a:solidFill>
            <a:prstDash val="solid"/>
          </a:ln>
        </p:spPr>
      </p:sp>
      <p:sp>
        <p:nvSpPr>
          <p:cNvPr id="42" name="Text 39"/>
          <p:cNvSpPr/>
          <p:nvPr/>
        </p:nvSpPr>
        <p:spPr>
          <a:xfrm>
            <a:off x="9116568" y="4041648"/>
            <a:ext cx="1143000" cy="530352"/>
          </a:xfrm>
          <a:prstGeom prst="rect">
            <a:avLst/>
          </a:prstGeom>
          <a:noFill/>
          <a:ln/>
        </p:spPr>
        <p:txBody>
          <a:bodyPr wrap="square" lIns="0" tIns="0" rIns="0" bIns="0" rtlCol="0" anchor="ctr"/>
          <a:lstStyle/>
          <a:p>
            <a:pPr marL="0" indent="0" algn="ctr">
              <a:buNone/>
            </a:pPr>
            <a:r>
              <a:rPr lang="en-US" sz="1150" b="1" dirty="0">
                <a:solidFill>
                  <a:srgbClr val="196B24"/>
                </a:solidFill>
                <a:latin typeface="Times New Roman" pitchFamily="34" charset="0"/>
                <a:ea typeface="Times New Roman" pitchFamily="34" charset="-122"/>
                <a:cs typeface="Times New Roman" pitchFamily="34" charset="-120"/>
              </a:rPr>
              <a:t>Project</a:t>
            </a:r>
            <a:endParaRPr lang="en-US" sz="1150" dirty="0"/>
          </a:p>
        </p:txBody>
      </p:sp>
      <p:sp>
        <p:nvSpPr>
          <p:cNvPr id="43" name="Shape 40"/>
          <p:cNvSpPr/>
          <p:nvPr/>
        </p:nvSpPr>
        <p:spPr>
          <a:xfrm>
            <a:off x="9061704" y="2926080"/>
            <a:ext cx="274320" cy="274320"/>
          </a:xfrm>
          <a:prstGeom prst="line">
            <a:avLst/>
          </a:prstGeom>
          <a:noFill/>
          <a:ln w="19050">
            <a:solidFill>
              <a:srgbClr val="196B24"/>
            </a:solidFill>
            <a:prstDash val="solid"/>
          </a:ln>
        </p:spPr>
      </p:sp>
      <p:sp>
        <p:nvSpPr>
          <p:cNvPr id="44" name="Shape 41"/>
          <p:cNvSpPr/>
          <p:nvPr/>
        </p:nvSpPr>
        <p:spPr>
          <a:xfrm>
            <a:off x="10030968" y="3200400"/>
            <a:ext cx="274320" cy="0"/>
          </a:xfrm>
          <a:prstGeom prst="line">
            <a:avLst/>
          </a:prstGeom>
          <a:noFill/>
          <a:ln w="19050">
            <a:solidFill>
              <a:srgbClr val="196B24"/>
            </a:solidFill>
            <a:prstDash val="solid"/>
          </a:ln>
        </p:spPr>
      </p:sp>
      <p:sp>
        <p:nvSpPr>
          <p:cNvPr id="45" name="Shape 42"/>
          <p:cNvSpPr/>
          <p:nvPr/>
        </p:nvSpPr>
        <p:spPr>
          <a:xfrm>
            <a:off x="9683496" y="3840480"/>
            <a:ext cx="0" cy="201168"/>
          </a:xfrm>
          <a:prstGeom prst="line">
            <a:avLst/>
          </a:prstGeom>
          <a:noFill/>
          <a:ln w="19050">
            <a:solidFill>
              <a:srgbClr val="196B24"/>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Cardinality: How Many Can Be Related?</a:t>
            </a:r>
            <a:endParaRPr lang="en-US" sz="3200" dirty="0"/>
          </a:p>
        </p:txBody>
      </p:sp>
      <p:sp>
        <p:nvSpPr>
          <p:cNvPr id="5" name="Text 2"/>
          <p:cNvSpPr/>
          <p:nvPr/>
        </p:nvSpPr>
        <p:spPr>
          <a:xfrm>
            <a:off x="841248" y="1298448"/>
            <a:ext cx="10515600" cy="310896"/>
          </a:xfrm>
          <a:prstGeom prst="rect">
            <a:avLst/>
          </a:prstGeom>
          <a:noFill/>
          <a:ln/>
        </p:spPr>
        <p:txBody>
          <a:bodyPr wrap="square" lIns="0" tIns="0" rIns="0" bIns="0" rtlCol="0" anchor="ctr"/>
          <a:lstStyle/>
          <a:p>
            <a:pPr marL="0" indent="0" algn="l">
              <a:buNone/>
            </a:pPr>
            <a:r>
              <a:rPr lang="en-US" sz="1500" i="1" dirty="0">
                <a:solidFill>
                  <a:srgbClr val="5A6472"/>
                </a:solidFill>
                <a:latin typeface="Times New Roman" pitchFamily="34" charset="0"/>
                <a:ea typeface="Times New Roman" pitchFamily="34" charset="-122"/>
                <a:cs typeface="Times New Roman" pitchFamily="34" charset="-120"/>
              </a:rPr>
              <a:t>The maximum number of entities that may take part on each side.</a:t>
            </a:r>
            <a:endParaRPr lang="en-US" sz="1500" dirty="0"/>
          </a:p>
        </p:txBody>
      </p:sp>
      <p:sp>
        <p:nvSpPr>
          <p:cNvPr id="6" name="Shape 3"/>
          <p:cNvSpPr/>
          <p:nvPr/>
        </p:nvSpPr>
        <p:spPr>
          <a:xfrm>
            <a:off x="841248" y="1755648"/>
            <a:ext cx="3346704" cy="3611880"/>
          </a:xfrm>
          <a:prstGeom prst="roundRect">
            <a:avLst>
              <a:gd name="adj" fmla="val 2186"/>
            </a:avLst>
          </a:prstGeom>
          <a:solidFill>
            <a:srgbClr val="FFFFFF"/>
          </a:solidFill>
          <a:ln w="12700">
            <a:solidFill>
              <a:srgbClr val="D2DCE6"/>
            </a:solidFill>
            <a:prstDash val="solid"/>
          </a:ln>
        </p:spPr>
      </p:sp>
      <p:sp>
        <p:nvSpPr>
          <p:cNvPr id="7" name="Shape 4"/>
          <p:cNvSpPr/>
          <p:nvPr/>
        </p:nvSpPr>
        <p:spPr>
          <a:xfrm>
            <a:off x="841248" y="1755648"/>
            <a:ext cx="3346704" cy="109728"/>
          </a:xfrm>
          <a:prstGeom prst="rect">
            <a:avLst/>
          </a:prstGeom>
          <a:solidFill>
            <a:srgbClr val="156082"/>
          </a:solidFill>
          <a:ln/>
        </p:spPr>
      </p:sp>
      <p:sp>
        <p:nvSpPr>
          <p:cNvPr id="8" name="Text 5"/>
          <p:cNvSpPr/>
          <p:nvPr/>
        </p:nvSpPr>
        <p:spPr>
          <a:xfrm>
            <a:off x="1133856" y="2011680"/>
            <a:ext cx="1463040" cy="402336"/>
          </a:xfrm>
          <a:prstGeom prst="rect">
            <a:avLst/>
          </a:prstGeom>
          <a:noFill/>
          <a:ln/>
        </p:spPr>
        <p:txBody>
          <a:bodyPr wrap="square" lIns="0" tIns="0" rIns="0" bIns="0" rtlCol="0" anchor="ctr"/>
          <a:lstStyle/>
          <a:p>
            <a:pPr marL="0" indent="0" algn="l">
              <a:buNone/>
            </a:pPr>
            <a:r>
              <a:rPr lang="en-US" sz="2200" b="1" dirty="0">
                <a:solidFill>
                  <a:srgbClr val="156082"/>
                </a:solidFill>
                <a:latin typeface="Times New Roman" pitchFamily="34" charset="0"/>
                <a:ea typeface="Times New Roman" pitchFamily="34" charset="-122"/>
                <a:cs typeface="Times New Roman" pitchFamily="34" charset="-120"/>
              </a:rPr>
              <a:t>1 : 1</a:t>
            </a:r>
            <a:endParaRPr lang="en-US" sz="2200" dirty="0"/>
          </a:p>
        </p:txBody>
      </p:sp>
      <p:sp>
        <p:nvSpPr>
          <p:cNvPr id="9" name="Text 6"/>
          <p:cNvSpPr/>
          <p:nvPr/>
        </p:nvSpPr>
        <p:spPr>
          <a:xfrm>
            <a:off x="2532888" y="2011680"/>
            <a:ext cx="1371600" cy="402336"/>
          </a:xfrm>
          <a:prstGeom prst="rect">
            <a:avLst/>
          </a:prstGeom>
          <a:noFill/>
          <a:ln/>
        </p:spPr>
        <p:txBody>
          <a:bodyPr wrap="square" lIns="0" tIns="0" rIns="0" bIns="0" rtlCol="0" anchor="ctr"/>
          <a:lstStyle/>
          <a:p>
            <a:pPr marL="0" indent="0" algn="r">
              <a:buNone/>
            </a:pPr>
            <a:r>
              <a:rPr lang="en-US" sz="1200" dirty="0">
                <a:solidFill>
                  <a:srgbClr val="5A6472"/>
                </a:solidFill>
                <a:latin typeface="Times New Roman" pitchFamily="34" charset="0"/>
                <a:ea typeface="Times New Roman" pitchFamily="34" charset="-122"/>
                <a:cs typeface="Times New Roman" pitchFamily="34" charset="-120"/>
              </a:rPr>
              <a:t>One to one</a:t>
            </a:r>
            <a:endParaRPr lang="en-US" sz="1200" dirty="0"/>
          </a:p>
        </p:txBody>
      </p:sp>
      <p:sp>
        <p:nvSpPr>
          <p:cNvPr id="10" name="Shape 7"/>
          <p:cNvSpPr/>
          <p:nvPr/>
        </p:nvSpPr>
        <p:spPr>
          <a:xfrm>
            <a:off x="1097280" y="2788920"/>
            <a:ext cx="1133856" cy="530352"/>
          </a:xfrm>
          <a:prstGeom prst="rect">
            <a:avLst/>
          </a:prstGeom>
          <a:solidFill>
            <a:srgbClr val="FFFFFF"/>
          </a:solidFill>
          <a:ln w="22225">
            <a:solidFill>
              <a:srgbClr val="0E2841"/>
            </a:solidFill>
            <a:prstDash val="solid"/>
          </a:ln>
        </p:spPr>
      </p:sp>
      <p:sp>
        <p:nvSpPr>
          <p:cNvPr id="11" name="Text 8"/>
          <p:cNvSpPr/>
          <p:nvPr/>
        </p:nvSpPr>
        <p:spPr>
          <a:xfrm>
            <a:off x="1097280" y="2788920"/>
            <a:ext cx="1133856" cy="530352"/>
          </a:xfrm>
          <a:prstGeom prst="rect">
            <a:avLst/>
          </a:prstGeom>
          <a:noFill/>
          <a:ln/>
        </p:spPr>
        <p:txBody>
          <a:bodyPr wrap="square" lIns="0" tIns="0" rIns="0" bIns="0" rtlCol="0" anchor="ctr"/>
          <a:lstStyle/>
          <a:p>
            <a:pPr marL="0" indent="0" algn="ctr">
              <a:buNone/>
            </a:pPr>
            <a:r>
              <a:rPr lang="en-US" sz="1150" b="1" dirty="0">
                <a:solidFill>
                  <a:srgbClr val="0E2841"/>
                </a:solidFill>
                <a:latin typeface="Times New Roman" pitchFamily="34" charset="0"/>
                <a:ea typeface="Times New Roman" pitchFamily="34" charset="-122"/>
                <a:cs typeface="Times New Roman" pitchFamily="34" charset="-120"/>
              </a:rPr>
              <a:t>Person</a:t>
            </a:r>
            <a:endParaRPr lang="en-US" sz="1150" dirty="0"/>
          </a:p>
        </p:txBody>
      </p:sp>
      <p:sp>
        <p:nvSpPr>
          <p:cNvPr id="12" name="Shape 9"/>
          <p:cNvSpPr/>
          <p:nvPr/>
        </p:nvSpPr>
        <p:spPr>
          <a:xfrm>
            <a:off x="2798064" y="2788920"/>
            <a:ext cx="1133856" cy="530352"/>
          </a:xfrm>
          <a:prstGeom prst="rect">
            <a:avLst/>
          </a:prstGeom>
          <a:solidFill>
            <a:srgbClr val="FFFFFF"/>
          </a:solidFill>
          <a:ln w="22225">
            <a:solidFill>
              <a:srgbClr val="0E2841"/>
            </a:solidFill>
            <a:prstDash val="solid"/>
          </a:ln>
        </p:spPr>
      </p:sp>
      <p:sp>
        <p:nvSpPr>
          <p:cNvPr id="13" name="Text 10"/>
          <p:cNvSpPr/>
          <p:nvPr/>
        </p:nvSpPr>
        <p:spPr>
          <a:xfrm>
            <a:off x="2798064" y="2788920"/>
            <a:ext cx="1133856" cy="530352"/>
          </a:xfrm>
          <a:prstGeom prst="rect">
            <a:avLst/>
          </a:prstGeom>
          <a:noFill/>
          <a:ln/>
        </p:spPr>
        <p:txBody>
          <a:bodyPr wrap="square" lIns="0" tIns="0" rIns="0" bIns="0" rtlCol="0" anchor="ctr"/>
          <a:lstStyle/>
          <a:p>
            <a:pPr marL="0" indent="0" algn="ctr">
              <a:buNone/>
            </a:pPr>
            <a:r>
              <a:rPr lang="en-US" sz="1150" b="1" dirty="0">
                <a:solidFill>
                  <a:srgbClr val="0E2841"/>
                </a:solidFill>
                <a:latin typeface="Times New Roman" pitchFamily="34" charset="0"/>
                <a:ea typeface="Times New Roman" pitchFamily="34" charset="-122"/>
                <a:cs typeface="Times New Roman" pitchFamily="34" charset="-120"/>
              </a:rPr>
              <a:t>Passport</a:t>
            </a:r>
            <a:endParaRPr lang="en-US" sz="1150" dirty="0"/>
          </a:p>
        </p:txBody>
      </p:sp>
      <p:sp>
        <p:nvSpPr>
          <p:cNvPr id="14" name="Shape 11"/>
          <p:cNvSpPr/>
          <p:nvPr/>
        </p:nvSpPr>
        <p:spPr>
          <a:xfrm>
            <a:off x="2157984" y="3529584"/>
            <a:ext cx="713232" cy="566928"/>
          </a:xfrm>
          <a:prstGeom prst="diamond">
            <a:avLst/>
          </a:prstGeom>
          <a:solidFill>
            <a:srgbClr val="FFFFFF"/>
          </a:solidFill>
          <a:ln w="22225">
            <a:solidFill>
              <a:srgbClr val="156082"/>
            </a:solidFill>
            <a:prstDash val="solid"/>
          </a:ln>
        </p:spPr>
      </p:sp>
      <p:sp>
        <p:nvSpPr>
          <p:cNvPr id="15" name="Text 12"/>
          <p:cNvSpPr/>
          <p:nvPr/>
        </p:nvSpPr>
        <p:spPr>
          <a:xfrm>
            <a:off x="2157984" y="3529584"/>
            <a:ext cx="713232" cy="566928"/>
          </a:xfrm>
          <a:prstGeom prst="rect">
            <a:avLst/>
          </a:prstGeom>
          <a:noFill/>
          <a:ln/>
        </p:spPr>
        <p:txBody>
          <a:bodyPr wrap="square" lIns="0" tIns="0" rIns="0" bIns="0" rtlCol="0" anchor="ctr"/>
          <a:lstStyle/>
          <a:p>
            <a:pPr marL="0" indent="0" algn="ctr">
              <a:buNone/>
            </a:pPr>
            <a:endParaRPr lang="en-US" sz="1100" dirty="0"/>
          </a:p>
        </p:txBody>
      </p:sp>
      <p:sp>
        <p:nvSpPr>
          <p:cNvPr id="16" name="Text 13"/>
          <p:cNvSpPr/>
          <p:nvPr/>
        </p:nvSpPr>
        <p:spPr>
          <a:xfrm>
            <a:off x="1801368" y="4114800"/>
            <a:ext cx="1426464" cy="256032"/>
          </a:xfrm>
          <a:prstGeom prst="rect">
            <a:avLst/>
          </a:prstGeom>
          <a:noFill/>
          <a:ln/>
        </p:spPr>
        <p:txBody>
          <a:bodyPr wrap="square" lIns="0" tIns="0" rIns="0" bIns="0" rtlCol="0" anchor="ctr"/>
          <a:lstStyle/>
          <a:p>
            <a:pPr marL="0" indent="0" algn="ctr">
              <a:buNone/>
            </a:pPr>
            <a:r>
              <a:rPr lang="en-US" sz="1050" b="1" dirty="0">
                <a:solidFill>
                  <a:srgbClr val="156082"/>
                </a:solidFill>
                <a:latin typeface="Times New Roman" pitchFamily="34" charset="0"/>
                <a:ea typeface="Times New Roman" pitchFamily="34" charset="-122"/>
                <a:cs typeface="Times New Roman" pitchFamily="34" charset="-120"/>
              </a:rPr>
              <a:t>Has</a:t>
            </a:r>
            <a:endParaRPr lang="en-US" sz="1050" dirty="0"/>
          </a:p>
        </p:txBody>
      </p:sp>
      <p:sp>
        <p:nvSpPr>
          <p:cNvPr id="17" name="Shape 14"/>
          <p:cNvSpPr/>
          <p:nvPr/>
        </p:nvSpPr>
        <p:spPr>
          <a:xfrm>
            <a:off x="2231136" y="3054096"/>
            <a:ext cx="566928" cy="0"/>
          </a:xfrm>
          <a:prstGeom prst="line">
            <a:avLst/>
          </a:prstGeom>
          <a:noFill/>
          <a:ln w="19050">
            <a:solidFill>
              <a:srgbClr val="0E2841"/>
            </a:solidFill>
            <a:prstDash val="solid"/>
          </a:ln>
        </p:spPr>
      </p:sp>
      <p:sp>
        <p:nvSpPr>
          <p:cNvPr id="18" name="Text 15"/>
          <p:cNvSpPr/>
          <p:nvPr/>
        </p:nvSpPr>
        <p:spPr>
          <a:xfrm>
            <a:off x="2231136" y="2761488"/>
            <a:ext cx="292608" cy="256032"/>
          </a:xfrm>
          <a:prstGeom prst="rect">
            <a:avLst/>
          </a:prstGeom>
          <a:noFill/>
          <a:ln/>
        </p:spPr>
        <p:txBody>
          <a:bodyPr wrap="square" lIns="0" tIns="0" rIns="0" bIns="0" rtlCol="0" anchor="ctr"/>
          <a:lstStyle/>
          <a:p>
            <a:pPr marL="0" indent="0" algn="ctr">
              <a:buNone/>
            </a:pPr>
            <a:r>
              <a:rPr lang="en-US" sz="1100" b="1" dirty="0">
                <a:solidFill>
                  <a:srgbClr val="0E2841"/>
                </a:solidFill>
                <a:latin typeface="Times New Roman" pitchFamily="34" charset="0"/>
                <a:ea typeface="Times New Roman" pitchFamily="34" charset="-122"/>
                <a:cs typeface="Times New Roman" pitchFamily="34" charset="-120"/>
              </a:rPr>
              <a:t>1</a:t>
            </a:r>
            <a:endParaRPr lang="en-US" sz="1100" dirty="0"/>
          </a:p>
        </p:txBody>
      </p:sp>
      <p:sp>
        <p:nvSpPr>
          <p:cNvPr id="19" name="Text 16"/>
          <p:cNvSpPr/>
          <p:nvPr/>
        </p:nvSpPr>
        <p:spPr>
          <a:xfrm>
            <a:off x="2505456" y="2761488"/>
            <a:ext cx="292608" cy="256032"/>
          </a:xfrm>
          <a:prstGeom prst="rect">
            <a:avLst/>
          </a:prstGeom>
          <a:noFill/>
          <a:ln/>
        </p:spPr>
        <p:txBody>
          <a:bodyPr wrap="square" lIns="0" tIns="0" rIns="0" bIns="0" rtlCol="0" anchor="ctr"/>
          <a:lstStyle/>
          <a:p>
            <a:pPr marL="0" indent="0" algn="ctr">
              <a:buNone/>
            </a:pPr>
            <a:r>
              <a:rPr lang="en-US" sz="1100" b="1" dirty="0">
                <a:solidFill>
                  <a:srgbClr val="0E2841"/>
                </a:solidFill>
                <a:latin typeface="Times New Roman" pitchFamily="34" charset="0"/>
                <a:ea typeface="Times New Roman" pitchFamily="34" charset="-122"/>
                <a:cs typeface="Times New Roman" pitchFamily="34" charset="-120"/>
              </a:rPr>
              <a:t>1</a:t>
            </a:r>
            <a:endParaRPr lang="en-US" sz="1100" dirty="0"/>
          </a:p>
        </p:txBody>
      </p:sp>
      <p:sp>
        <p:nvSpPr>
          <p:cNvPr id="20" name="Text 17"/>
          <p:cNvSpPr/>
          <p:nvPr/>
        </p:nvSpPr>
        <p:spPr>
          <a:xfrm>
            <a:off x="1133856" y="4617720"/>
            <a:ext cx="2761488" cy="566928"/>
          </a:xfrm>
          <a:prstGeom prst="rect">
            <a:avLst/>
          </a:prstGeom>
          <a:noFill/>
          <a:ln/>
        </p:spPr>
        <p:txBody>
          <a:bodyPr wrap="square" lIns="0" tIns="0" rIns="0" bIns="0" rtlCol="0" anchor="t"/>
          <a:lstStyle/>
          <a:p>
            <a:pPr marL="0" indent="0" algn="l">
              <a:buNone/>
            </a:pPr>
            <a:r>
              <a:rPr lang="en-US" sz="1200" dirty="0">
                <a:solidFill>
                  <a:srgbClr val="5A6472"/>
                </a:solidFill>
                <a:latin typeface="Times New Roman" pitchFamily="34" charset="0"/>
                <a:ea typeface="Times New Roman" pitchFamily="34" charset="-122"/>
                <a:cs typeface="Times New Roman" pitchFamily="34" charset="-120"/>
              </a:rPr>
              <a:t>WhatsApp account ↔ mobile number</a:t>
            </a:r>
            <a:endParaRPr lang="en-US" sz="1200" dirty="0"/>
          </a:p>
        </p:txBody>
      </p:sp>
      <p:sp>
        <p:nvSpPr>
          <p:cNvPr id="21" name="Shape 18"/>
          <p:cNvSpPr/>
          <p:nvPr/>
        </p:nvSpPr>
        <p:spPr>
          <a:xfrm>
            <a:off x="4425696" y="1755648"/>
            <a:ext cx="3346704" cy="3611880"/>
          </a:xfrm>
          <a:prstGeom prst="roundRect">
            <a:avLst>
              <a:gd name="adj" fmla="val 2186"/>
            </a:avLst>
          </a:prstGeom>
          <a:solidFill>
            <a:srgbClr val="FFFFFF"/>
          </a:solidFill>
          <a:ln w="12700">
            <a:solidFill>
              <a:srgbClr val="D2DCE6"/>
            </a:solidFill>
            <a:prstDash val="solid"/>
          </a:ln>
        </p:spPr>
      </p:sp>
      <p:sp>
        <p:nvSpPr>
          <p:cNvPr id="22" name="Shape 19"/>
          <p:cNvSpPr/>
          <p:nvPr/>
        </p:nvSpPr>
        <p:spPr>
          <a:xfrm>
            <a:off x="4425696" y="1755648"/>
            <a:ext cx="3346704" cy="109728"/>
          </a:xfrm>
          <a:prstGeom prst="rect">
            <a:avLst/>
          </a:prstGeom>
          <a:solidFill>
            <a:srgbClr val="E97132"/>
          </a:solidFill>
          <a:ln/>
        </p:spPr>
      </p:sp>
      <p:sp>
        <p:nvSpPr>
          <p:cNvPr id="23" name="Text 20"/>
          <p:cNvSpPr/>
          <p:nvPr/>
        </p:nvSpPr>
        <p:spPr>
          <a:xfrm>
            <a:off x="4718304" y="2011680"/>
            <a:ext cx="1463040" cy="402336"/>
          </a:xfrm>
          <a:prstGeom prst="rect">
            <a:avLst/>
          </a:prstGeom>
          <a:noFill/>
          <a:ln/>
        </p:spPr>
        <p:txBody>
          <a:bodyPr wrap="square" lIns="0" tIns="0" rIns="0" bIns="0" rtlCol="0" anchor="ctr"/>
          <a:lstStyle/>
          <a:p>
            <a:pPr marL="0" indent="0" algn="l">
              <a:buNone/>
            </a:pPr>
            <a:r>
              <a:rPr lang="en-US" sz="2200" b="1" dirty="0">
                <a:solidFill>
                  <a:srgbClr val="E97132"/>
                </a:solidFill>
                <a:latin typeface="Times New Roman" pitchFamily="34" charset="0"/>
                <a:ea typeface="Times New Roman" pitchFamily="34" charset="-122"/>
                <a:cs typeface="Times New Roman" pitchFamily="34" charset="-120"/>
              </a:rPr>
              <a:t>1 : N</a:t>
            </a:r>
            <a:endParaRPr lang="en-US" sz="2200" dirty="0"/>
          </a:p>
        </p:txBody>
      </p:sp>
      <p:sp>
        <p:nvSpPr>
          <p:cNvPr id="24" name="Text 21"/>
          <p:cNvSpPr/>
          <p:nvPr/>
        </p:nvSpPr>
        <p:spPr>
          <a:xfrm>
            <a:off x="6117336" y="2011680"/>
            <a:ext cx="1371600" cy="402336"/>
          </a:xfrm>
          <a:prstGeom prst="rect">
            <a:avLst/>
          </a:prstGeom>
          <a:noFill/>
          <a:ln/>
        </p:spPr>
        <p:txBody>
          <a:bodyPr wrap="square" lIns="0" tIns="0" rIns="0" bIns="0" rtlCol="0" anchor="ctr"/>
          <a:lstStyle/>
          <a:p>
            <a:pPr marL="0" indent="0" algn="r">
              <a:buNone/>
            </a:pPr>
            <a:r>
              <a:rPr lang="en-US" sz="1200" dirty="0">
                <a:solidFill>
                  <a:srgbClr val="5A6472"/>
                </a:solidFill>
                <a:latin typeface="Times New Roman" pitchFamily="34" charset="0"/>
                <a:ea typeface="Times New Roman" pitchFamily="34" charset="-122"/>
                <a:cs typeface="Times New Roman" pitchFamily="34" charset="-120"/>
              </a:rPr>
              <a:t>One to many</a:t>
            </a:r>
            <a:endParaRPr lang="en-US" sz="1200" dirty="0"/>
          </a:p>
        </p:txBody>
      </p:sp>
      <p:sp>
        <p:nvSpPr>
          <p:cNvPr id="25" name="Shape 22"/>
          <p:cNvSpPr/>
          <p:nvPr/>
        </p:nvSpPr>
        <p:spPr>
          <a:xfrm>
            <a:off x="4681728" y="2788920"/>
            <a:ext cx="1133856" cy="530352"/>
          </a:xfrm>
          <a:prstGeom prst="rect">
            <a:avLst/>
          </a:prstGeom>
          <a:solidFill>
            <a:srgbClr val="FFFFFF"/>
          </a:solidFill>
          <a:ln w="22225">
            <a:solidFill>
              <a:srgbClr val="0E2841"/>
            </a:solidFill>
            <a:prstDash val="solid"/>
          </a:ln>
        </p:spPr>
      </p:sp>
      <p:sp>
        <p:nvSpPr>
          <p:cNvPr id="26" name="Text 23"/>
          <p:cNvSpPr/>
          <p:nvPr/>
        </p:nvSpPr>
        <p:spPr>
          <a:xfrm>
            <a:off x="4681728" y="2788920"/>
            <a:ext cx="1133856" cy="530352"/>
          </a:xfrm>
          <a:prstGeom prst="rect">
            <a:avLst/>
          </a:prstGeom>
          <a:noFill/>
          <a:ln/>
        </p:spPr>
        <p:txBody>
          <a:bodyPr wrap="square" lIns="0" tIns="0" rIns="0" bIns="0" rtlCol="0" anchor="ctr"/>
          <a:lstStyle/>
          <a:p>
            <a:pPr marL="0" indent="0" algn="ctr">
              <a:buNone/>
            </a:pPr>
            <a:r>
              <a:rPr lang="en-US" sz="1150" b="1" dirty="0">
                <a:solidFill>
                  <a:srgbClr val="0E2841"/>
                </a:solidFill>
                <a:latin typeface="Times New Roman" pitchFamily="34" charset="0"/>
                <a:ea typeface="Times New Roman" pitchFamily="34" charset="-122"/>
                <a:cs typeface="Times New Roman" pitchFamily="34" charset="-120"/>
              </a:rPr>
              <a:t>Channel</a:t>
            </a:r>
            <a:endParaRPr lang="en-US" sz="1150" dirty="0"/>
          </a:p>
        </p:txBody>
      </p:sp>
      <p:sp>
        <p:nvSpPr>
          <p:cNvPr id="27" name="Shape 24"/>
          <p:cNvSpPr/>
          <p:nvPr/>
        </p:nvSpPr>
        <p:spPr>
          <a:xfrm>
            <a:off x="6382512" y="2788920"/>
            <a:ext cx="1133856" cy="530352"/>
          </a:xfrm>
          <a:prstGeom prst="rect">
            <a:avLst/>
          </a:prstGeom>
          <a:solidFill>
            <a:srgbClr val="FFFFFF"/>
          </a:solidFill>
          <a:ln w="22225">
            <a:solidFill>
              <a:srgbClr val="0E2841"/>
            </a:solidFill>
            <a:prstDash val="solid"/>
          </a:ln>
        </p:spPr>
      </p:sp>
      <p:sp>
        <p:nvSpPr>
          <p:cNvPr id="28" name="Text 25"/>
          <p:cNvSpPr/>
          <p:nvPr/>
        </p:nvSpPr>
        <p:spPr>
          <a:xfrm>
            <a:off x="6382512" y="2788920"/>
            <a:ext cx="1133856" cy="530352"/>
          </a:xfrm>
          <a:prstGeom prst="rect">
            <a:avLst/>
          </a:prstGeom>
          <a:noFill/>
          <a:ln/>
        </p:spPr>
        <p:txBody>
          <a:bodyPr wrap="square" lIns="0" tIns="0" rIns="0" bIns="0" rtlCol="0" anchor="ctr"/>
          <a:lstStyle/>
          <a:p>
            <a:pPr marL="0" indent="0" algn="ctr">
              <a:buNone/>
            </a:pPr>
            <a:r>
              <a:rPr lang="en-US" sz="1150" b="1" dirty="0">
                <a:solidFill>
                  <a:srgbClr val="0E2841"/>
                </a:solidFill>
                <a:latin typeface="Times New Roman" pitchFamily="34" charset="0"/>
                <a:ea typeface="Times New Roman" pitchFamily="34" charset="-122"/>
                <a:cs typeface="Times New Roman" pitchFamily="34" charset="-120"/>
              </a:rPr>
              <a:t>Video</a:t>
            </a:r>
            <a:endParaRPr lang="en-US" sz="1150" dirty="0"/>
          </a:p>
        </p:txBody>
      </p:sp>
      <p:sp>
        <p:nvSpPr>
          <p:cNvPr id="29" name="Shape 26"/>
          <p:cNvSpPr/>
          <p:nvPr/>
        </p:nvSpPr>
        <p:spPr>
          <a:xfrm>
            <a:off x="5742432" y="3529584"/>
            <a:ext cx="713232" cy="566928"/>
          </a:xfrm>
          <a:prstGeom prst="diamond">
            <a:avLst/>
          </a:prstGeom>
          <a:solidFill>
            <a:srgbClr val="FFFFFF"/>
          </a:solidFill>
          <a:ln w="22225">
            <a:solidFill>
              <a:srgbClr val="E97132"/>
            </a:solidFill>
            <a:prstDash val="solid"/>
          </a:ln>
        </p:spPr>
      </p:sp>
      <p:sp>
        <p:nvSpPr>
          <p:cNvPr id="30" name="Text 27"/>
          <p:cNvSpPr/>
          <p:nvPr/>
        </p:nvSpPr>
        <p:spPr>
          <a:xfrm>
            <a:off x="5742432" y="3529584"/>
            <a:ext cx="713232" cy="566928"/>
          </a:xfrm>
          <a:prstGeom prst="rect">
            <a:avLst/>
          </a:prstGeom>
          <a:noFill/>
          <a:ln/>
        </p:spPr>
        <p:txBody>
          <a:bodyPr wrap="square" lIns="0" tIns="0" rIns="0" bIns="0" rtlCol="0" anchor="ctr"/>
          <a:lstStyle/>
          <a:p>
            <a:pPr marL="0" indent="0" algn="ctr">
              <a:buNone/>
            </a:pPr>
            <a:endParaRPr lang="en-US" sz="1100" dirty="0"/>
          </a:p>
        </p:txBody>
      </p:sp>
      <p:sp>
        <p:nvSpPr>
          <p:cNvPr id="31" name="Text 28"/>
          <p:cNvSpPr/>
          <p:nvPr/>
        </p:nvSpPr>
        <p:spPr>
          <a:xfrm>
            <a:off x="5385816" y="4114800"/>
            <a:ext cx="1426464" cy="256032"/>
          </a:xfrm>
          <a:prstGeom prst="rect">
            <a:avLst/>
          </a:prstGeom>
          <a:noFill/>
          <a:ln/>
        </p:spPr>
        <p:txBody>
          <a:bodyPr wrap="square" lIns="0" tIns="0" rIns="0" bIns="0" rtlCol="0" anchor="ctr"/>
          <a:lstStyle/>
          <a:p>
            <a:pPr marL="0" indent="0" algn="ctr">
              <a:buNone/>
            </a:pPr>
            <a:r>
              <a:rPr lang="en-US" sz="1050" b="1" dirty="0">
                <a:solidFill>
                  <a:srgbClr val="E97132"/>
                </a:solidFill>
                <a:latin typeface="Times New Roman" pitchFamily="34" charset="0"/>
                <a:ea typeface="Times New Roman" pitchFamily="34" charset="-122"/>
                <a:cs typeface="Times New Roman" pitchFamily="34" charset="-120"/>
              </a:rPr>
              <a:t>Uploads</a:t>
            </a:r>
            <a:endParaRPr lang="en-US" sz="1050" dirty="0"/>
          </a:p>
        </p:txBody>
      </p:sp>
      <p:sp>
        <p:nvSpPr>
          <p:cNvPr id="32" name="Shape 29"/>
          <p:cNvSpPr/>
          <p:nvPr/>
        </p:nvSpPr>
        <p:spPr>
          <a:xfrm>
            <a:off x="5815584" y="3054096"/>
            <a:ext cx="566928" cy="0"/>
          </a:xfrm>
          <a:prstGeom prst="line">
            <a:avLst/>
          </a:prstGeom>
          <a:noFill/>
          <a:ln w="19050">
            <a:solidFill>
              <a:srgbClr val="0E2841"/>
            </a:solidFill>
            <a:prstDash val="solid"/>
          </a:ln>
        </p:spPr>
      </p:sp>
      <p:sp>
        <p:nvSpPr>
          <p:cNvPr id="33" name="Text 30"/>
          <p:cNvSpPr/>
          <p:nvPr/>
        </p:nvSpPr>
        <p:spPr>
          <a:xfrm>
            <a:off x="5815584" y="2761488"/>
            <a:ext cx="292608" cy="256032"/>
          </a:xfrm>
          <a:prstGeom prst="rect">
            <a:avLst/>
          </a:prstGeom>
          <a:noFill/>
          <a:ln/>
        </p:spPr>
        <p:txBody>
          <a:bodyPr wrap="square" lIns="0" tIns="0" rIns="0" bIns="0" rtlCol="0" anchor="ctr"/>
          <a:lstStyle/>
          <a:p>
            <a:pPr marL="0" indent="0" algn="ctr">
              <a:buNone/>
            </a:pPr>
            <a:r>
              <a:rPr lang="en-US" sz="1100" b="1" dirty="0">
                <a:solidFill>
                  <a:srgbClr val="0E2841"/>
                </a:solidFill>
                <a:latin typeface="Times New Roman" pitchFamily="34" charset="0"/>
                <a:ea typeface="Times New Roman" pitchFamily="34" charset="-122"/>
                <a:cs typeface="Times New Roman" pitchFamily="34" charset="-120"/>
              </a:rPr>
              <a:t>1</a:t>
            </a:r>
            <a:endParaRPr lang="en-US" sz="1100" dirty="0"/>
          </a:p>
        </p:txBody>
      </p:sp>
      <p:sp>
        <p:nvSpPr>
          <p:cNvPr id="34" name="Text 31"/>
          <p:cNvSpPr/>
          <p:nvPr/>
        </p:nvSpPr>
        <p:spPr>
          <a:xfrm>
            <a:off x="6089904" y="2761488"/>
            <a:ext cx="292608" cy="256032"/>
          </a:xfrm>
          <a:prstGeom prst="rect">
            <a:avLst/>
          </a:prstGeom>
          <a:noFill/>
          <a:ln/>
        </p:spPr>
        <p:txBody>
          <a:bodyPr wrap="square" lIns="0" tIns="0" rIns="0" bIns="0" rtlCol="0" anchor="ctr"/>
          <a:lstStyle/>
          <a:p>
            <a:pPr marL="0" indent="0" algn="ctr">
              <a:buNone/>
            </a:pPr>
            <a:r>
              <a:rPr lang="en-US" sz="1100" b="1" dirty="0">
                <a:solidFill>
                  <a:srgbClr val="0E2841"/>
                </a:solidFill>
                <a:latin typeface="Times New Roman" pitchFamily="34" charset="0"/>
                <a:ea typeface="Times New Roman" pitchFamily="34" charset="-122"/>
                <a:cs typeface="Times New Roman" pitchFamily="34" charset="-120"/>
              </a:rPr>
              <a:t>N</a:t>
            </a:r>
            <a:endParaRPr lang="en-US" sz="1100" dirty="0"/>
          </a:p>
        </p:txBody>
      </p:sp>
      <p:sp>
        <p:nvSpPr>
          <p:cNvPr id="35" name="Text 32"/>
          <p:cNvSpPr/>
          <p:nvPr/>
        </p:nvSpPr>
        <p:spPr>
          <a:xfrm>
            <a:off x="4718304" y="4617720"/>
            <a:ext cx="2761488" cy="566928"/>
          </a:xfrm>
          <a:prstGeom prst="rect">
            <a:avLst/>
          </a:prstGeom>
          <a:noFill/>
          <a:ln/>
        </p:spPr>
        <p:txBody>
          <a:bodyPr wrap="square" lIns="0" tIns="0" rIns="0" bIns="0" rtlCol="0" anchor="t"/>
          <a:lstStyle/>
          <a:p>
            <a:pPr marL="0" indent="0" algn="l">
              <a:buNone/>
            </a:pPr>
            <a:r>
              <a:rPr lang="en-US" sz="1200" dirty="0">
                <a:solidFill>
                  <a:srgbClr val="5A6472"/>
                </a:solidFill>
                <a:latin typeface="Times New Roman" pitchFamily="34" charset="0"/>
                <a:ea typeface="Times New Roman" pitchFamily="34" charset="-122"/>
                <a:cs typeface="Times New Roman" pitchFamily="34" charset="-120"/>
              </a:rPr>
              <a:t>One YouTube channel → many videos</a:t>
            </a:r>
            <a:endParaRPr lang="en-US" sz="1200" dirty="0"/>
          </a:p>
        </p:txBody>
      </p:sp>
      <p:sp>
        <p:nvSpPr>
          <p:cNvPr id="36" name="Shape 33"/>
          <p:cNvSpPr/>
          <p:nvPr/>
        </p:nvSpPr>
        <p:spPr>
          <a:xfrm>
            <a:off x="8010144" y="1755648"/>
            <a:ext cx="3346704" cy="3611880"/>
          </a:xfrm>
          <a:prstGeom prst="roundRect">
            <a:avLst>
              <a:gd name="adj" fmla="val 2186"/>
            </a:avLst>
          </a:prstGeom>
          <a:solidFill>
            <a:srgbClr val="FFFFFF"/>
          </a:solidFill>
          <a:ln w="12700">
            <a:solidFill>
              <a:srgbClr val="D2DCE6"/>
            </a:solidFill>
            <a:prstDash val="solid"/>
          </a:ln>
        </p:spPr>
      </p:sp>
      <p:sp>
        <p:nvSpPr>
          <p:cNvPr id="37" name="Shape 34"/>
          <p:cNvSpPr/>
          <p:nvPr/>
        </p:nvSpPr>
        <p:spPr>
          <a:xfrm>
            <a:off x="8010144" y="1755648"/>
            <a:ext cx="3346704" cy="109728"/>
          </a:xfrm>
          <a:prstGeom prst="rect">
            <a:avLst/>
          </a:prstGeom>
          <a:solidFill>
            <a:srgbClr val="196B24"/>
          </a:solidFill>
          <a:ln/>
        </p:spPr>
      </p:sp>
      <p:sp>
        <p:nvSpPr>
          <p:cNvPr id="38" name="Text 35"/>
          <p:cNvSpPr/>
          <p:nvPr/>
        </p:nvSpPr>
        <p:spPr>
          <a:xfrm>
            <a:off x="8302752" y="2011680"/>
            <a:ext cx="1463040" cy="402336"/>
          </a:xfrm>
          <a:prstGeom prst="rect">
            <a:avLst/>
          </a:prstGeom>
          <a:noFill/>
          <a:ln/>
        </p:spPr>
        <p:txBody>
          <a:bodyPr wrap="square" lIns="0" tIns="0" rIns="0" bIns="0" rtlCol="0" anchor="ctr"/>
          <a:lstStyle/>
          <a:p>
            <a:pPr marL="0" indent="0" algn="l">
              <a:buNone/>
            </a:pPr>
            <a:r>
              <a:rPr lang="en-US" sz="2200" b="1" dirty="0">
                <a:solidFill>
                  <a:srgbClr val="196B24"/>
                </a:solidFill>
                <a:latin typeface="Times New Roman" pitchFamily="34" charset="0"/>
                <a:ea typeface="Times New Roman" pitchFamily="34" charset="-122"/>
                <a:cs typeface="Times New Roman" pitchFamily="34" charset="-120"/>
              </a:rPr>
              <a:t>M : N</a:t>
            </a:r>
            <a:endParaRPr lang="en-US" sz="2200" dirty="0"/>
          </a:p>
        </p:txBody>
      </p:sp>
      <p:sp>
        <p:nvSpPr>
          <p:cNvPr id="39" name="Text 36"/>
          <p:cNvSpPr/>
          <p:nvPr/>
        </p:nvSpPr>
        <p:spPr>
          <a:xfrm>
            <a:off x="9701784" y="2011680"/>
            <a:ext cx="1371600" cy="402336"/>
          </a:xfrm>
          <a:prstGeom prst="rect">
            <a:avLst/>
          </a:prstGeom>
          <a:noFill/>
          <a:ln/>
        </p:spPr>
        <p:txBody>
          <a:bodyPr wrap="square" lIns="0" tIns="0" rIns="0" bIns="0" rtlCol="0" anchor="ctr"/>
          <a:lstStyle/>
          <a:p>
            <a:pPr marL="0" indent="0" algn="r">
              <a:buNone/>
            </a:pPr>
            <a:r>
              <a:rPr lang="en-US" sz="1200" dirty="0">
                <a:solidFill>
                  <a:srgbClr val="5A6472"/>
                </a:solidFill>
                <a:latin typeface="Times New Roman" pitchFamily="34" charset="0"/>
                <a:ea typeface="Times New Roman" pitchFamily="34" charset="-122"/>
                <a:cs typeface="Times New Roman" pitchFamily="34" charset="-120"/>
              </a:rPr>
              <a:t>Many to many</a:t>
            </a:r>
            <a:endParaRPr lang="en-US" sz="1200" dirty="0"/>
          </a:p>
        </p:txBody>
      </p:sp>
      <p:sp>
        <p:nvSpPr>
          <p:cNvPr id="40" name="Shape 37"/>
          <p:cNvSpPr/>
          <p:nvPr/>
        </p:nvSpPr>
        <p:spPr>
          <a:xfrm>
            <a:off x="8266176" y="2788920"/>
            <a:ext cx="1133856" cy="530352"/>
          </a:xfrm>
          <a:prstGeom prst="rect">
            <a:avLst/>
          </a:prstGeom>
          <a:solidFill>
            <a:srgbClr val="FFFFFF"/>
          </a:solidFill>
          <a:ln w="22225">
            <a:solidFill>
              <a:srgbClr val="0E2841"/>
            </a:solidFill>
            <a:prstDash val="solid"/>
          </a:ln>
        </p:spPr>
      </p:sp>
      <p:sp>
        <p:nvSpPr>
          <p:cNvPr id="41" name="Text 38"/>
          <p:cNvSpPr/>
          <p:nvPr/>
        </p:nvSpPr>
        <p:spPr>
          <a:xfrm>
            <a:off x="8266176" y="2788920"/>
            <a:ext cx="1133856" cy="530352"/>
          </a:xfrm>
          <a:prstGeom prst="rect">
            <a:avLst/>
          </a:prstGeom>
          <a:noFill/>
          <a:ln/>
        </p:spPr>
        <p:txBody>
          <a:bodyPr wrap="square" lIns="0" tIns="0" rIns="0" bIns="0" rtlCol="0" anchor="ctr"/>
          <a:lstStyle/>
          <a:p>
            <a:pPr marL="0" indent="0" algn="ctr">
              <a:buNone/>
            </a:pPr>
            <a:r>
              <a:rPr lang="en-US" sz="1150" b="1" dirty="0">
                <a:solidFill>
                  <a:srgbClr val="0E2841"/>
                </a:solidFill>
                <a:latin typeface="Times New Roman" pitchFamily="34" charset="0"/>
                <a:ea typeface="Times New Roman" pitchFamily="34" charset="-122"/>
                <a:cs typeface="Times New Roman" pitchFamily="34" charset="-120"/>
              </a:rPr>
              <a:t>User</a:t>
            </a:r>
            <a:endParaRPr lang="en-US" sz="1150" dirty="0"/>
          </a:p>
        </p:txBody>
      </p:sp>
      <p:sp>
        <p:nvSpPr>
          <p:cNvPr id="42" name="Shape 39"/>
          <p:cNvSpPr/>
          <p:nvPr/>
        </p:nvSpPr>
        <p:spPr>
          <a:xfrm>
            <a:off x="9966960" y="2788920"/>
            <a:ext cx="1133856" cy="530352"/>
          </a:xfrm>
          <a:prstGeom prst="rect">
            <a:avLst/>
          </a:prstGeom>
          <a:solidFill>
            <a:srgbClr val="FFFFFF"/>
          </a:solidFill>
          <a:ln w="22225">
            <a:solidFill>
              <a:srgbClr val="0E2841"/>
            </a:solidFill>
            <a:prstDash val="solid"/>
          </a:ln>
        </p:spPr>
      </p:sp>
      <p:sp>
        <p:nvSpPr>
          <p:cNvPr id="43" name="Text 40"/>
          <p:cNvSpPr/>
          <p:nvPr/>
        </p:nvSpPr>
        <p:spPr>
          <a:xfrm>
            <a:off x="9966960" y="2788920"/>
            <a:ext cx="1133856" cy="530352"/>
          </a:xfrm>
          <a:prstGeom prst="rect">
            <a:avLst/>
          </a:prstGeom>
          <a:noFill/>
          <a:ln/>
        </p:spPr>
        <p:txBody>
          <a:bodyPr wrap="square" lIns="0" tIns="0" rIns="0" bIns="0" rtlCol="0" anchor="ctr"/>
          <a:lstStyle/>
          <a:p>
            <a:pPr marL="0" indent="0" algn="ctr">
              <a:buNone/>
            </a:pPr>
            <a:r>
              <a:rPr lang="en-US" sz="1150" b="1" dirty="0">
                <a:solidFill>
                  <a:srgbClr val="0E2841"/>
                </a:solidFill>
                <a:latin typeface="Times New Roman" pitchFamily="34" charset="0"/>
                <a:ea typeface="Times New Roman" pitchFamily="34" charset="-122"/>
                <a:cs typeface="Times New Roman" pitchFamily="34" charset="-120"/>
              </a:rPr>
              <a:t>Movie</a:t>
            </a:r>
            <a:endParaRPr lang="en-US" sz="1150" dirty="0"/>
          </a:p>
        </p:txBody>
      </p:sp>
      <p:sp>
        <p:nvSpPr>
          <p:cNvPr id="44" name="Shape 41"/>
          <p:cNvSpPr/>
          <p:nvPr/>
        </p:nvSpPr>
        <p:spPr>
          <a:xfrm>
            <a:off x="9326880" y="3529584"/>
            <a:ext cx="713232" cy="566928"/>
          </a:xfrm>
          <a:prstGeom prst="diamond">
            <a:avLst/>
          </a:prstGeom>
          <a:solidFill>
            <a:srgbClr val="FFFFFF"/>
          </a:solidFill>
          <a:ln w="22225">
            <a:solidFill>
              <a:srgbClr val="196B24"/>
            </a:solidFill>
            <a:prstDash val="solid"/>
          </a:ln>
        </p:spPr>
      </p:sp>
      <p:sp>
        <p:nvSpPr>
          <p:cNvPr id="45" name="Text 42"/>
          <p:cNvSpPr/>
          <p:nvPr/>
        </p:nvSpPr>
        <p:spPr>
          <a:xfrm>
            <a:off x="9326880" y="3529584"/>
            <a:ext cx="713232" cy="566928"/>
          </a:xfrm>
          <a:prstGeom prst="rect">
            <a:avLst/>
          </a:prstGeom>
          <a:noFill/>
          <a:ln/>
        </p:spPr>
        <p:txBody>
          <a:bodyPr wrap="square" lIns="0" tIns="0" rIns="0" bIns="0" rtlCol="0" anchor="ctr"/>
          <a:lstStyle/>
          <a:p>
            <a:pPr marL="0" indent="0" algn="ctr">
              <a:buNone/>
            </a:pPr>
            <a:endParaRPr lang="en-US" sz="1100" dirty="0"/>
          </a:p>
        </p:txBody>
      </p:sp>
      <p:sp>
        <p:nvSpPr>
          <p:cNvPr id="46" name="Text 43"/>
          <p:cNvSpPr/>
          <p:nvPr/>
        </p:nvSpPr>
        <p:spPr>
          <a:xfrm>
            <a:off x="8970264" y="4114800"/>
            <a:ext cx="1426464" cy="256032"/>
          </a:xfrm>
          <a:prstGeom prst="rect">
            <a:avLst/>
          </a:prstGeom>
          <a:noFill/>
          <a:ln/>
        </p:spPr>
        <p:txBody>
          <a:bodyPr wrap="square" lIns="0" tIns="0" rIns="0" bIns="0" rtlCol="0" anchor="ctr"/>
          <a:lstStyle/>
          <a:p>
            <a:pPr marL="0" indent="0" algn="ctr">
              <a:buNone/>
            </a:pPr>
            <a:r>
              <a:rPr lang="en-US" sz="1050" b="1" dirty="0">
                <a:solidFill>
                  <a:srgbClr val="196B24"/>
                </a:solidFill>
                <a:latin typeface="Times New Roman" pitchFamily="34" charset="0"/>
                <a:ea typeface="Times New Roman" pitchFamily="34" charset="-122"/>
                <a:cs typeface="Times New Roman" pitchFamily="34" charset="-120"/>
              </a:rPr>
              <a:t>Watches</a:t>
            </a:r>
            <a:endParaRPr lang="en-US" sz="1050" dirty="0"/>
          </a:p>
        </p:txBody>
      </p:sp>
      <p:sp>
        <p:nvSpPr>
          <p:cNvPr id="47" name="Shape 44"/>
          <p:cNvSpPr/>
          <p:nvPr/>
        </p:nvSpPr>
        <p:spPr>
          <a:xfrm>
            <a:off x="9400032" y="3054096"/>
            <a:ext cx="566928" cy="0"/>
          </a:xfrm>
          <a:prstGeom prst="line">
            <a:avLst/>
          </a:prstGeom>
          <a:noFill/>
          <a:ln w="19050">
            <a:solidFill>
              <a:srgbClr val="0E2841"/>
            </a:solidFill>
            <a:prstDash val="solid"/>
          </a:ln>
        </p:spPr>
      </p:sp>
      <p:sp>
        <p:nvSpPr>
          <p:cNvPr id="48" name="Text 45"/>
          <p:cNvSpPr/>
          <p:nvPr/>
        </p:nvSpPr>
        <p:spPr>
          <a:xfrm>
            <a:off x="9400032" y="2761488"/>
            <a:ext cx="292608" cy="256032"/>
          </a:xfrm>
          <a:prstGeom prst="rect">
            <a:avLst/>
          </a:prstGeom>
          <a:noFill/>
          <a:ln/>
        </p:spPr>
        <p:txBody>
          <a:bodyPr wrap="square" lIns="0" tIns="0" rIns="0" bIns="0" rtlCol="0" anchor="ctr"/>
          <a:lstStyle/>
          <a:p>
            <a:pPr marL="0" indent="0" algn="ctr">
              <a:buNone/>
            </a:pPr>
            <a:r>
              <a:rPr lang="en-US" sz="1100" b="1" dirty="0">
                <a:solidFill>
                  <a:srgbClr val="0E2841"/>
                </a:solidFill>
                <a:latin typeface="Times New Roman" pitchFamily="34" charset="0"/>
                <a:ea typeface="Times New Roman" pitchFamily="34" charset="-122"/>
                <a:cs typeface="Times New Roman" pitchFamily="34" charset="-120"/>
              </a:rPr>
              <a:t>M</a:t>
            </a:r>
            <a:endParaRPr lang="en-US" sz="1100" dirty="0"/>
          </a:p>
        </p:txBody>
      </p:sp>
      <p:sp>
        <p:nvSpPr>
          <p:cNvPr id="49" name="Text 46"/>
          <p:cNvSpPr/>
          <p:nvPr/>
        </p:nvSpPr>
        <p:spPr>
          <a:xfrm>
            <a:off x="9674352" y="2761488"/>
            <a:ext cx="292608" cy="256032"/>
          </a:xfrm>
          <a:prstGeom prst="rect">
            <a:avLst/>
          </a:prstGeom>
          <a:noFill/>
          <a:ln/>
        </p:spPr>
        <p:txBody>
          <a:bodyPr wrap="square" lIns="0" tIns="0" rIns="0" bIns="0" rtlCol="0" anchor="ctr"/>
          <a:lstStyle/>
          <a:p>
            <a:pPr marL="0" indent="0" algn="ctr">
              <a:buNone/>
            </a:pPr>
            <a:r>
              <a:rPr lang="en-US" sz="1100" b="1" dirty="0">
                <a:solidFill>
                  <a:srgbClr val="0E2841"/>
                </a:solidFill>
                <a:latin typeface="Times New Roman" pitchFamily="34" charset="0"/>
                <a:ea typeface="Times New Roman" pitchFamily="34" charset="-122"/>
                <a:cs typeface="Times New Roman" pitchFamily="34" charset="-120"/>
              </a:rPr>
              <a:t>N</a:t>
            </a:r>
            <a:endParaRPr lang="en-US" sz="1100" dirty="0"/>
          </a:p>
        </p:txBody>
      </p:sp>
      <p:sp>
        <p:nvSpPr>
          <p:cNvPr id="50" name="Text 47"/>
          <p:cNvSpPr/>
          <p:nvPr/>
        </p:nvSpPr>
        <p:spPr>
          <a:xfrm>
            <a:off x="8302752" y="4617720"/>
            <a:ext cx="2761488" cy="566928"/>
          </a:xfrm>
          <a:prstGeom prst="rect">
            <a:avLst/>
          </a:prstGeom>
          <a:noFill/>
          <a:ln/>
        </p:spPr>
        <p:txBody>
          <a:bodyPr wrap="square" lIns="0" tIns="0" rIns="0" bIns="0" rtlCol="0" anchor="t"/>
          <a:lstStyle/>
          <a:p>
            <a:pPr marL="0" indent="0" algn="l">
              <a:buNone/>
            </a:pPr>
            <a:r>
              <a:rPr lang="en-US" sz="1200" dirty="0">
                <a:solidFill>
                  <a:srgbClr val="5A6472"/>
                </a:solidFill>
                <a:latin typeface="Times New Roman" pitchFamily="34" charset="0"/>
                <a:ea typeface="Times New Roman" pitchFamily="34" charset="-122"/>
                <a:cs typeface="Times New Roman" pitchFamily="34" charset="-120"/>
              </a:rPr>
              <a:t>Many Netflix users ↔ many movies</a:t>
            </a:r>
            <a:endParaRPr lang="en-US" sz="1200" dirty="0"/>
          </a:p>
        </p:txBody>
      </p:sp>
      <p:sp>
        <p:nvSpPr>
          <p:cNvPr id="51" name="Shape 48"/>
          <p:cNvSpPr/>
          <p:nvPr/>
        </p:nvSpPr>
        <p:spPr>
          <a:xfrm>
            <a:off x="841248" y="5577840"/>
            <a:ext cx="10515600" cy="566928"/>
          </a:xfrm>
          <a:prstGeom prst="roundRect">
            <a:avLst>
              <a:gd name="adj" fmla="val 16129"/>
            </a:avLst>
          </a:prstGeom>
          <a:solidFill>
            <a:srgbClr val="E8F2F8"/>
          </a:solidFill>
          <a:ln/>
        </p:spPr>
      </p:sp>
      <p:sp>
        <p:nvSpPr>
          <p:cNvPr id="52" name="Text 49"/>
          <p:cNvSpPr/>
          <p:nvPr/>
        </p:nvSpPr>
        <p:spPr>
          <a:xfrm>
            <a:off x="1161288" y="5577840"/>
            <a:ext cx="9875520" cy="566928"/>
          </a:xfrm>
          <a:prstGeom prst="rect">
            <a:avLst/>
          </a:prstGeom>
          <a:noFill/>
          <a:ln/>
        </p:spPr>
        <p:txBody>
          <a:bodyPr wrap="square" lIns="0" tIns="0" rIns="0" bIns="0" rtlCol="0" anchor="ctr"/>
          <a:lstStyle/>
          <a:p>
            <a:pPr marL="0" indent="0" algn="l">
              <a:buNone/>
            </a:pPr>
            <a:r>
              <a:rPr lang="en-US" sz="1250" b="1" dirty="0">
                <a:solidFill>
                  <a:srgbClr val="156082"/>
                </a:solidFill>
                <a:latin typeface="Times New Roman" pitchFamily="34" charset="0"/>
                <a:ea typeface="Times New Roman" pitchFamily="34" charset="-122"/>
                <a:cs typeface="Times New Roman" pitchFamily="34" charset="-120"/>
              </a:rPr>
              <a:t>Read the rule in both directions before you decide:  one A relates to how many B?  and one B to how many 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Participation: Must or May?</a:t>
            </a:r>
            <a:endParaRPr lang="en-US" sz="3200" dirty="0"/>
          </a:p>
        </p:txBody>
      </p:sp>
      <p:sp>
        <p:nvSpPr>
          <p:cNvPr id="5" name="Text 2"/>
          <p:cNvSpPr/>
          <p:nvPr/>
        </p:nvSpPr>
        <p:spPr>
          <a:xfrm>
            <a:off x="841248" y="1298448"/>
            <a:ext cx="10515600" cy="310896"/>
          </a:xfrm>
          <a:prstGeom prst="rect">
            <a:avLst/>
          </a:prstGeom>
          <a:noFill/>
          <a:ln/>
        </p:spPr>
        <p:txBody>
          <a:bodyPr wrap="square" lIns="0" tIns="0" rIns="0" bIns="0" rtlCol="0" anchor="ctr"/>
          <a:lstStyle/>
          <a:p>
            <a:pPr marL="0" indent="0" algn="l">
              <a:buNone/>
            </a:pPr>
            <a:r>
              <a:rPr lang="en-US" sz="1500" i="1" dirty="0">
                <a:solidFill>
                  <a:srgbClr val="5A6472"/>
                </a:solidFill>
                <a:latin typeface="Times New Roman" pitchFamily="34" charset="0"/>
                <a:ea typeface="Times New Roman" pitchFamily="34" charset="-122"/>
                <a:cs typeface="Times New Roman" pitchFamily="34" charset="-120"/>
              </a:rPr>
              <a:t>Does an entity's existence depend on taking part in the relationship?</a:t>
            </a:r>
            <a:endParaRPr lang="en-US" sz="1500" dirty="0"/>
          </a:p>
        </p:txBody>
      </p:sp>
      <p:sp>
        <p:nvSpPr>
          <p:cNvPr id="6" name="Shape 3"/>
          <p:cNvSpPr/>
          <p:nvPr/>
        </p:nvSpPr>
        <p:spPr>
          <a:xfrm>
            <a:off x="841248" y="1783080"/>
            <a:ext cx="5074920" cy="1298448"/>
          </a:xfrm>
          <a:prstGeom prst="roundRect">
            <a:avLst>
              <a:gd name="adj" fmla="val 5634"/>
            </a:avLst>
          </a:prstGeom>
          <a:solidFill>
            <a:srgbClr val="FFFFFF"/>
          </a:solidFill>
          <a:ln w="12700">
            <a:solidFill>
              <a:srgbClr val="D2DCE6"/>
            </a:solidFill>
            <a:prstDash val="solid"/>
          </a:ln>
        </p:spPr>
      </p:sp>
      <p:sp>
        <p:nvSpPr>
          <p:cNvPr id="7" name="Shape 4"/>
          <p:cNvSpPr/>
          <p:nvPr/>
        </p:nvSpPr>
        <p:spPr>
          <a:xfrm>
            <a:off x="841248" y="1783080"/>
            <a:ext cx="109728" cy="1298448"/>
          </a:xfrm>
          <a:prstGeom prst="rect">
            <a:avLst/>
          </a:prstGeom>
          <a:solidFill>
            <a:srgbClr val="156082"/>
          </a:solidFill>
          <a:ln/>
        </p:spPr>
      </p:sp>
      <p:sp>
        <p:nvSpPr>
          <p:cNvPr id="8" name="Text 5"/>
          <p:cNvSpPr/>
          <p:nvPr/>
        </p:nvSpPr>
        <p:spPr>
          <a:xfrm>
            <a:off x="1188720" y="1920240"/>
            <a:ext cx="2194560" cy="329184"/>
          </a:xfrm>
          <a:prstGeom prst="rect">
            <a:avLst/>
          </a:prstGeom>
          <a:noFill/>
          <a:ln/>
        </p:spPr>
        <p:txBody>
          <a:bodyPr wrap="square" lIns="0" tIns="0" rIns="0" bIns="0" rtlCol="0" anchor="ctr"/>
          <a:lstStyle/>
          <a:p>
            <a:pPr marL="0" indent="0" algn="l">
              <a:buNone/>
            </a:pPr>
            <a:r>
              <a:rPr lang="en-US" sz="1600" b="1" kern="0" spc="150" dirty="0">
                <a:solidFill>
                  <a:srgbClr val="156082"/>
                </a:solidFill>
                <a:latin typeface="Times New Roman" pitchFamily="34" charset="0"/>
                <a:ea typeface="Times New Roman" pitchFamily="34" charset="-122"/>
                <a:cs typeface="Times New Roman" pitchFamily="34" charset="-120"/>
              </a:rPr>
              <a:t>TOTAL</a:t>
            </a:r>
            <a:endParaRPr lang="en-US" sz="1600" dirty="0"/>
          </a:p>
        </p:txBody>
      </p:sp>
      <p:sp>
        <p:nvSpPr>
          <p:cNvPr id="9" name="Text 6"/>
          <p:cNvSpPr/>
          <p:nvPr/>
        </p:nvSpPr>
        <p:spPr>
          <a:xfrm>
            <a:off x="3858768" y="1920240"/>
            <a:ext cx="1737360" cy="329184"/>
          </a:xfrm>
          <a:prstGeom prst="rect">
            <a:avLst/>
          </a:prstGeom>
          <a:noFill/>
          <a:ln/>
        </p:spPr>
        <p:txBody>
          <a:bodyPr wrap="square" lIns="0" tIns="0" rIns="0" bIns="0" rtlCol="0" anchor="ctr"/>
          <a:lstStyle/>
          <a:p>
            <a:pPr marL="0" indent="0" algn="r">
              <a:buNone/>
            </a:pPr>
            <a:r>
              <a:rPr lang="en-US" sz="1150" i="1" dirty="0">
                <a:solidFill>
                  <a:srgbClr val="5A6472"/>
                </a:solidFill>
                <a:latin typeface="Times New Roman" pitchFamily="34" charset="0"/>
                <a:ea typeface="Times New Roman" pitchFamily="34" charset="-122"/>
                <a:cs typeface="Times New Roman" pitchFamily="34" charset="-120"/>
              </a:rPr>
              <a:t>double line</a:t>
            </a:r>
            <a:endParaRPr lang="en-US" sz="1150" dirty="0"/>
          </a:p>
        </p:txBody>
      </p:sp>
      <p:sp>
        <p:nvSpPr>
          <p:cNvPr id="10" name="Text 7"/>
          <p:cNvSpPr/>
          <p:nvPr/>
        </p:nvSpPr>
        <p:spPr>
          <a:xfrm>
            <a:off x="1188720" y="2304288"/>
            <a:ext cx="4480560" cy="658368"/>
          </a:xfrm>
          <a:prstGeom prst="rect">
            <a:avLst/>
          </a:prstGeom>
          <a:noFill/>
          <a:ln/>
        </p:spPr>
        <p:txBody>
          <a:bodyPr wrap="square" lIns="0" tIns="0" rIns="0" bIns="0" rtlCol="0" anchor="ctr"/>
          <a:lstStyle/>
          <a:p>
            <a:pPr marL="0" indent="0" algn="l">
              <a:lnSpc>
                <a:spcPct val="130000"/>
              </a:lnSpc>
              <a:buNone/>
            </a:pPr>
            <a:r>
              <a:rPr lang="en-US" sz="1300" dirty="0">
                <a:solidFill>
                  <a:srgbClr val="5A6472"/>
                </a:solidFill>
                <a:latin typeface="Times New Roman" pitchFamily="34" charset="0"/>
                <a:ea typeface="Times New Roman" pitchFamily="34" charset="-122"/>
                <a:cs typeface="Times New Roman" pitchFamily="34" charset="-120"/>
              </a:rPr>
              <a:t>every instance must participate</a:t>
            </a:r>
            <a:endParaRPr lang="en-US" sz="1300" dirty="0"/>
          </a:p>
          <a:p>
            <a:pPr marL="0" indent="0" algn="l">
              <a:lnSpc>
                <a:spcPct val="130000"/>
              </a:lnSpc>
              <a:buNone/>
            </a:pPr>
            <a:r>
              <a:rPr lang="en-US" sz="1300" dirty="0">
                <a:solidFill>
                  <a:srgbClr val="5A6472"/>
                </a:solidFill>
                <a:latin typeface="Times New Roman" pitchFamily="34" charset="0"/>
                <a:ea typeface="Times New Roman" pitchFamily="34" charset="-122"/>
                <a:cs typeface="Times New Roman" pitchFamily="34" charset="-120"/>
              </a:rPr>
              <a:t>Zomato: every Order must have a Customer</a:t>
            </a:r>
            <a:endParaRPr lang="en-US" sz="1300" dirty="0"/>
          </a:p>
        </p:txBody>
      </p:sp>
      <p:sp>
        <p:nvSpPr>
          <p:cNvPr id="11" name="Shape 8"/>
          <p:cNvSpPr/>
          <p:nvPr/>
        </p:nvSpPr>
        <p:spPr>
          <a:xfrm>
            <a:off x="6281928" y="1783080"/>
            <a:ext cx="5074920" cy="1298448"/>
          </a:xfrm>
          <a:prstGeom prst="roundRect">
            <a:avLst>
              <a:gd name="adj" fmla="val 5634"/>
            </a:avLst>
          </a:prstGeom>
          <a:solidFill>
            <a:srgbClr val="FFFFFF"/>
          </a:solidFill>
          <a:ln w="12700">
            <a:solidFill>
              <a:srgbClr val="D2DCE6"/>
            </a:solidFill>
            <a:prstDash val="solid"/>
          </a:ln>
        </p:spPr>
      </p:sp>
      <p:sp>
        <p:nvSpPr>
          <p:cNvPr id="12" name="Shape 9"/>
          <p:cNvSpPr/>
          <p:nvPr/>
        </p:nvSpPr>
        <p:spPr>
          <a:xfrm>
            <a:off x="6281928" y="1783080"/>
            <a:ext cx="109728" cy="1298448"/>
          </a:xfrm>
          <a:prstGeom prst="rect">
            <a:avLst/>
          </a:prstGeom>
          <a:solidFill>
            <a:srgbClr val="E97132"/>
          </a:solidFill>
          <a:ln/>
        </p:spPr>
      </p:sp>
      <p:sp>
        <p:nvSpPr>
          <p:cNvPr id="13" name="Text 10"/>
          <p:cNvSpPr/>
          <p:nvPr/>
        </p:nvSpPr>
        <p:spPr>
          <a:xfrm>
            <a:off x="6629400" y="1920240"/>
            <a:ext cx="2194560" cy="329184"/>
          </a:xfrm>
          <a:prstGeom prst="rect">
            <a:avLst/>
          </a:prstGeom>
          <a:noFill/>
          <a:ln/>
        </p:spPr>
        <p:txBody>
          <a:bodyPr wrap="square" lIns="0" tIns="0" rIns="0" bIns="0" rtlCol="0" anchor="ctr"/>
          <a:lstStyle/>
          <a:p>
            <a:pPr marL="0" indent="0" algn="l">
              <a:buNone/>
            </a:pPr>
            <a:r>
              <a:rPr lang="en-US" sz="1600" b="1" kern="0" spc="150" dirty="0">
                <a:solidFill>
                  <a:srgbClr val="E97132"/>
                </a:solidFill>
                <a:latin typeface="Times New Roman" pitchFamily="34" charset="0"/>
                <a:ea typeface="Times New Roman" pitchFamily="34" charset="-122"/>
                <a:cs typeface="Times New Roman" pitchFamily="34" charset="-120"/>
              </a:rPr>
              <a:t>PARTIAL</a:t>
            </a:r>
            <a:endParaRPr lang="en-US" sz="1600" dirty="0"/>
          </a:p>
        </p:txBody>
      </p:sp>
      <p:sp>
        <p:nvSpPr>
          <p:cNvPr id="14" name="Text 11"/>
          <p:cNvSpPr/>
          <p:nvPr/>
        </p:nvSpPr>
        <p:spPr>
          <a:xfrm>
            <a:off x="9299448" y="1920240"/>
            <a:ext cx="1737360" cy="329184"/>
          </a:xfrm>
          <a:prstGeom prst="rect">
            <a:avLst/>
          </a:prstGeom>
          <a:noFill/>
          <a:ln/>
        </p:spPr>
        <p:txBody>
          <a:bodyPr wrap="square" lIns="0" tIns="0" rIns="0" bIns="0" rtlCol="0" anchor="ctr"/>
          <a:lstStyle/>
          <a:p>
            <a:pPr marL="0" indent="0" algn="r">
              <a:buNone/>
            </a:pPr>
            <a:r>
              <a:rPr lang="en-US" sz="1150" i="1" dirty="0">
                <a:solidFill>
                  <a:srgbClr val="5A6472"/>
                </a:solidFill>
                <a:latin typeface="Times New Roman" pitchFamily="34" charset="0"/>
                <a:ea typeface="Times New Roman" pitchFamily="34" charset="-122"/>
                <a:cs typeface="Times New Roman" pitchFamily="34" charset="-120"/>
              </a:rPr>
              <a:t>single line</a:t>
            </a:r>
            <a:endParaRPr lang="en-US" sz="1150" dirty="0"/>
          </a:p>
        </p:txBody>
      </p:sp>
      <p:sp>
        <p:nvSpPr>
          <p:cNvPr id="15" name="Text 12"/>
          <p:cNvSpPr/>
          <p:nvPr/>
        </p:nvSpPr>
        <p:spPr>
          <a:xfrm>
            <a:off x="6629400" y="2304288"/>
            <a:ext cx="4480560" cy="658368"/>
          </a:xfrm>
          <a:prstGeom prst="rect">
            <a:avLst/>
          </a:prstGeom>
          <a:noFill/>
          <a:ln/>
        </p:spPr>
        <p:txBody>
          <a:bodyPr wrap="square" lIns="0" tIns="0" rIns="0" bIns="0" rtlCol="0" anchor="ctr"/>
          <a:lstStyle/>
          <a:p>
            <a:pPr marL="0" indent="0" algn="l">
              <a:lnSpc>
                <a:spcPct val="130000"/>
              </a:lnSpc>
              <a:buNone/>
            </a:pPr>
            <a:r>
              <a:rPr lang="en-US" sz="1300" dirty="0">
                <a:solidFill>
                  <a:srgbClr val="5A6472"/>
                </a:solidFill>
                <a:latin typeface="Times New Roman" pitchFamily="34" charset="0"/>
                <a:ea typeface="Times New Roman" pitchFamily="34" charset="-122"/>
                <a:cs typeface="Times New Roman" pitchFamily="34" charset="-120"/>
              </a:rPr>
              <a:t>some instances may not participate</a:t>
            </a:r>
            <a:endParaRPr lang="en-US" sz="1300" dirty="0"/>
          </a:p>
          <a:p>
            <a:pPr marL="0" indent="0" algn="l">
              <a:lnSpc>
                <a:spcPct val="130000"/>
              </a:lnSpc>
              <a:buNone/>
            </a:pPr>
            <a:r>
              <a:rPr lang="en-US" sz="1300" dirty="0">
                <a:solidFill>
                  <a:srgbClr val="5A6472"/>
                </a:solidFill>
                <a:latin typeface="Times New Roman" pitchFamily="34" charset="0"/>
                <a:ea typeface="Times New Roman" pitchFamily="34" charset="-122"/>
                <a:cs typeface="Times New Roman" pitchFamily="34" charset="-120"/>
              </a:rPr>
              <a:t>A registered Customer may have zero orders</a:t>
            </a:r>
            <a:endParaRPr lang="en-US" sz="1300" dirty="0"/>
          </a:p>
        </p:txBody>
      </p:sp>
      <p:sp>
        <p:nvSpPr>
          <p:cNvPr id="16" name="Shape 13"/>
          <p:cNvSpPr/>
          <p:nvPr/>
        </p:nvSpPr>
        <p:spPr>
          <a:xfrm>
            <a:off x="841248" y="3310128"/>
            <a:ext cx="10515600" cy="1920240"/>
          </a:xfrm>
          <a:prstGeom prst="roundRect">
            <a:avLst>
              <a:gd name="adj" fmla="val 3810"/>
            </a:avLst>
          </a:prstGeom>
          <a:solidFill>
            <a:srgbClr val="F2F6FA"/>
          </a:solidFill>
          <a:ln w="12700">
            <a:solidFill>
              <a:srgbClr val="D2DCE6"/>
            </a:solidFill>
            <a:prstDash val="solid"/>
          </a:ln>
        </p:spPr>
      </p:sp>
      <p:sp>
        <p:nvSpPr>
          <p:cNvPr id="17" name="Shape 14"/>
          <p:cNvSpPr/>
          <p:nvPr/>
        </p:nvSpPr>
        <p:spPr>
          <a:xfrm>
            <a:off x="2258568" y="3977640"/>
            <a:ext cx="1691640" cy="640080"/>
          </a:xfrm>
          <a:prstGeom prst="rect">
            <a:avLst/>
          </a:prstGeom>
          <a:solidFill>
            <a:srgbClr val="FFFFFF"/>
          </a:solidFill>
          <a:ln w="22225">
            <a:solidFill>
              <a:srgbClr val="0E2841"/>
            </a:solidFill>
            <a:prstDash val="solid"/>
          </a:ln>
        </p:spPr>
      </p:sp>
      <p:sp>
        <p:nvSpPr>
          <p:cNvPr id="18" name="Text 15"/>
          <p:cNvSpPr/>
          <p:nvPr/>
        </p:nvSpPr>
        <p:spPr>
          <a:xfrm>
            <a:off x="2258568" y="3977640"/>
            <a:ext cx="1691640" cy="640080"/>
          </a:xfrm>
          <a:prstGeom prst="rect">
            <a:avLst/>
          </a:prstGeom>
          <a:noFill/>
          <a:ln/>
        </p:spPr>
        <p:txBody>
          <a:bodyPr wrap="square" lIns="0" tIns="0" rIns="0" bIns="0" rtlCol="0" anchor="ctr"/>
          <a:lstStyle/>
          <a:p>
            <a:pPr marL="0" indent="0" algn="ctr">
              <a:buNone/>
            </a:pPr>
            <a:r>
              <a:rPr lang="en-US" sz="1300" b="1" dirty="0">
                <a:solidFill>
                  <a:srgbClr val="0E2841"/>
                </a:solidFill>
                <a:latin typeface="Times New Roman" pitchFamily="34" charset="0"/>
                <a:ea typeface="Times New Roman" pitchFamily="34" charset="-122"/>
                <a:cs typeface="Times New Roman" pitchFamily="34" charset="-120"/>
              </a:rPr>
              <a:t>Customer</a:t>
            </a:r>
            <a:endParaRPr lang="en-US" sz="1300" dirty="0"/>
          </a:p>
        </p:txBody>
      </p:sp>
      <p:sp>
        <p:nvSpPr>
          <p:cNvPr id="19" name="Shape 16"/>
          <p:cNvSpPr/>
          <p:nvPr/>
        </p:nvSpPr>
        <p:spPr>
          <a:xfrm>
            <a:off x="5321808" y="3877056"/>
            <a:ext cx="1554480" cy="841248"/>
          </a:xfrm>
          <a:prstGeom prst="diamond">
            <a:avLst/>
          </a:prstGeom>
          <a:solidFill>
            <a:srgbClr val="FFFFFF"/>
          </a:solidFill>
          <a:ln w="22225">
            <a:solidFill>
              <a:srgbClr val="E97132"/>
            </a:solidFill>
            <a:prstDash val="solid"/>
          </a:ln>
        </p:spPr>
      </p:sp>
      <p:sp>
        <p:nvSpPr>
          <p:cNvPr id="20" name="Text 17"/>
          <p:cNvSpPr/>
          <p:nvPr/>
        </p:nvSpPr>
        <p:spPr>
          <a:xfrm>
            <a:off x="5321808" y="3877056"/>
            <a:ext cx="1554480" cy="841248"/>
          </a:xfrm>
          <a:prstGeom prst="rect">
            <a:avLst/>
          </a:prstGeom>
          <a:noFill/>
          <a:ln/>
        </p:spPr>
        <p:txBody>
          <a:bodyPr wrap="square" lIns="0" tIns="0" rIns="0" bIns="0" rtlCol="0" anchor="ctr"/>
          <a:lstStyle/>
          <a:p>
            <a:pPr marL="0" indent="0" algn="ctr">
              <a:buNone/>
            </a:pPr>
            <a:r>
              <a:rPr lang="en-US" sz="1150" b="1" dirty="0">
                <a:solidFill>
                  <a:srgbClr val="E97132"/>
                </a:solidFill>
                <a:latin typeface="Times New Roman" pitchFamily="34" charset="0"/>
                <a:ea typeface="Times New Roman" pitchFamily="34" charset="-122"/>
                <a:cs typeface="Times New Roman" pitchFamily="34" charset="-120"/>
              </a:rPr>
              <a:t>Places</a:t>
            </a:r>
            <a:endParaRPr lang="en-US" sz="1150" dirty="0"/>
          </a:p>
        </p:txBody>
      </p:sp>
      <p:sp>
        <p:nvSpPr>
          <p:cNvPr id="21" name="Shape 18"/>
          <p:cNvSpPr/>
          <p:nvPr/>
        </p:nvSpPr>
        <p:spPr>
          <a:xfrm>
            <a:off x="8247888" y="3977640"/>
            <a:ext cx="1691640" cy="640080"/>
          </a:xfrm>
          <a:prstGeom prst="rect">
            <a:avLst/>
          </a:prstGeom>
          <a:solidFill>
            <a:srgbClr val="FFFFFF"/>
          </a:solidFill>
          <a:ln w="22225">
            <a:solidFill>
              <a:srgbClr val="0E2841"/>
            </a:solidFill>
            <a:prstDash val="solid"/>
          </a:ln>
        </p:spPr>
      </p:sp>
      <p:sp>
        <p:nvSpPr>
          <p:cNvPr id="22" name="Text 19"/>
          <p:cNvSpPr/>
          <p:nvPr/>
        </p:nvSpPr>
        <p:spPr>
          <a:xfrm>
            <a:off x="8247888" y="3977640"/>
            <a:ext cx="1691640" cy="640080"/>
          </a:xfrm>
          <a:prstGeom prst="rect">
            <a:avLst/>
          </a:prstGeom>
          <a:noFill/>
          <a:ln/>
        </p:spPr>
        <p:txBody>
          <a:bodyPr wrap="square" lIns="0" tIns="0" rIns="0" bIns="0" rtlCol="0" anchor="ctr"/>
          <a:lstStyle/>
          <a:p>
            <a:pPr marL="0" indent="0" algn="ctr">
              <a:buNone/>
            </a:pPr>
            <a:r>
              <a:rPr lang="en-US" sz="1300" b="1" dirty="0">
                <a:solidFill>
                  <a:srgbClr val="0E2841"/>
                </a:solidFill>
                <a:latin typeface="Times New Roman" pitchFamily="34" charset="0"/>
                <a:ea typeface="Times New Roman" pitchFamily="34" charset="-122"/>
                <a:cs typeface="Times New Roman" pitchFamily="34" charset="-120"/>
              </a:rPr>
              <a:t>Order</a:t>
            </a:r>
            <a:endParaRPr lang="en-US" sz="1300" dirty="0"/>
          </a:p>
        </p:txBody>
      </p:sp>
      <p:sp>
        <p:nvSpPr>
          <p:cNvPr id="23" name="Shape 20"/>
          <p:cNvSpPr/>
          <p:nvPr/>
        </p:nvSpPr>
        <p:spPr>
          <a:xfrm>
            <a:off x="3950208" y="4297680"/>
            <a:ext cx="1371600" cy="0"/>
          </a:xfrm>
          <a:prstGeom prst="line">
            <a:avLst/>
          </a:prstGeom>
          <a:noFill/>
          <a:ln w="19050">
            <a:solidFill>
              <a:srgbClr val="0E2841"/>
            </a:solidFill>
            <a:prstDash val="solid"/>
          </a:ln>
        </p:spPr>
      </p:sp>
      <p:sp>
        <p:nvSpPr>
          <p:cNvPr id="24" name="Shape 21"/>
          <p:cNvSpPr/>
          <p:nvPr/>
        </p:nvSpPr>
        <p:spPr>
          <a:xfrm>
            <a:off x="6876288" y="4247388"/>
            <a:ext cx="1371600" cy="0"/>
          </a:xfrm>
          <a:prstGeom prst="line">
            <a:avLst/>
          </a:prstGeom>
          <a:noFill/>
          <a:ln w="19050">
            <a:solidFill>
              <a:srgbClr val="0E2841"/>
            </a:solidFill>
            <a:prstDash val="solid"/>
          </a:ln>
        </p:spPr>
      </p:sp>
      <p:sp>
        <p:nvSpPr>
          <p:cNvPr id="25" name="Shape 22"/>
          <p:cNvSpPr/>
          <p:nvPr/>
        </p:nvSpPr>
        <p:spPr>
          <a:xfrm>
            <a:off x="6876288" y="4347972"/>
            <a:ext cx="1371600" cy="0"/>
          </a:xfrm>
          <a:prstGeom prst="line">
            <a:avLst/>
          </a:prstGeom>
          <a:noFill/>
          <a:ln w="19050">
            <a:solidFill>
              <a:srgbClr val="0E2841"/>
            </a:solidFill>
            <a:prstDash val="solid"/>
          </a:ln>
        </p:spPr>
      </p:sp>
      <p:sp>
        <p:nvSpPr>
          <p:cNvPr id="26" name="Text 23"/>
          <p:cNvSpPr/>
          <p:nvPr/>
        </p:nvSpPr>
        <p:spPr>
          <a:xfrm>
            <a:off x="3858768" y="4462272"/>
            <a:ext cx="1554480" cy="274320"/>
          </a:xfrm>
          <a:prstGeom prst="rect">
            <a:avLst/>
          </a:prstGeom>
          <a:noFill/>
          <a:ln/>
        </p:spPr>
        <p:txBody>
          <a:bodyPr wrap="square" lIns="0" tIns="0" rIns="0" bIns="0" rtlCol="0" anchor="ctr"/>
          <a:lstStyle/>
          <a:p>
            <a:pPr marL="0" indent="0" algn="ctr">
              <a:buNone/>
            </a:pPr>
            <a:r>
              <a:rPr lang="en-US" sz="1050" i="1" dirty="0">
                <a:solidFill>
                  <a:srgbClr val="E97132"/>
                </a:solidFill>
                <a:latin typeface="Times New Roman" pitchFamily="34" charset="0"/>
                <a:ea typeface="Times New Roman" pitchFamily="34" charset="-122"/>
                <a:cs typeface="Times New Roman" pitchFamily="34" charset="-120"/>
              </a:rPr>
              <a:t>single line = partial</a:t>
            </a:r>
            <a:endParaRPr lang="en-US" sz="1050" dirty="0"/>
          </a:p>
        </p:txBody>
      </p:sp>
      <p:sp>
        <p:nvSpPr>
          <p:cNvPr id="27" name="Text 24"/>
          <p:cNvSpPr/>
          <p:nvPr/>
        </p:nvSpPr>
        <p:spPr>
          <a:xfrm>
            <a:off x="6784848" y="4498848"/>
            <a:ext cx="1554480" cy="274320"/>
          </a:xfrm>
          <a:prstGeom prst="rect">
            <a:avLst/>
          </a:prstGeom>
          <a:noFill/>
          <a:ln/>
        </p:spPr>
        <p:txBody>
          <a:bodyPr wrap="square" lIns="0" tIns="0" rIns="0" bIns="0" rtlCol="0" anchor="ctr"/>
          <a:lstStyle/>
          <a:p>
            <a:pPr marL="0" indent="0" algn="ctr">
              <a:buNone/>
            </a:pPr>
            <a:r>
              <a:rPr lang="en-US" sz="1050" i="1" dirty="0">
                <a:solidFill>
                  <a:srgbClr val="156082"/>
                </a:solidFill>
                <a:latin typeface="Times New Roman" pitchFamily="34" charset="0"/>
                <a:ea typeface="Times New Roman" pitchFamily="34" charset="-122"/>
                <a:cs typeface="Times New Roman" pitchFamily="34" charset="-120"/>
              </a:rPr>
              <a:t>double line = total</a:t>
            </a:r>
            <a:endParaRPr lang="en-US" sz="1050" dirty="0"/>
          </a:p>
        </p:txBody>
      </p:sp>
      <p:sp>
        <p:nvSpPr>
          <p:cNvPr id="28" name="Text 25"/>
          <p:cNvSpPr/>
          <p:nvPr/>
        </p:nvSpPr>
        <p:spPr>
          <a:xfrm>
            <a:off x="841248" y="5532120"/>
            <a:ext cx="10515600" cy="310896"/>
          </a:xfrm>
          <a:prstGeom prst="rect">
            <a:avLst/>
          </a:prstGeom>
          <a:noFill/>
          <a:ln/>
        </p:spPr>
        <p:txBody>
          <a:bodyPr wrap="square" lIns="0" tIns="0" rIns="0" bIns="0" rtlCol="0" anchor="ctr"/>
          <a:lstStyle/>
          <a:p>
            <a:pPr marL="0" indent="0" algn="l">
              <a:buNone/>
            </a:pPr>
            <a:r>
              <a:rPr lang="en-US" sz="1300" i="1" dirty="0">
                <a:solidFill>
                  <a:srgbClr val="5A6472"/>
                </a:solidFill>
                <a:latin typeface="Times New Roman" pitchFamily="34" charset="0"/>
                <a:ea typeface="Times New Roman" pitchFamily="34" charset="-122"/>
                <a:cs typeface="Times New Roman" pitchFamily="34" charset="-120"/>
              </a:rPr>
              <a:t>In SQL this becomes a NOT NULL foreign key — a rule written first in the ER diagram.</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Worked Example: University Enrollment</a:t>
            </a:r>
            <a:endParaRPr lang="en-US" sz="3200" dirty="0"/>
          </a:p>
        </p:txBody>
      </p:sp>
      <p:sp>
        <p:nvSpPr>
          <p:cNvPr id="5" name="Shape 2"/>
          <p:cNvSpPr/>
          <p:nvPr/>
        </p:nvSpPr>
        <p:spPr>
          <a:xfrm>
            <a:off x="841248" y="1645920"/>
            <a:ext cx="10515600" cy="3703320"/>
          </a:xfrm>
          <a:prstGeom prst="roundRect">
            <a:avLst>
              <a:gd name="adj" fmla="val 1975"/>
            </a:avLst>
          </a:prstGeom>
          <a:solidFill>
            <a:srgbClr val="F2F6FA"/>
          </a:solidFill>
          <a:ln w="12700">
            <a:solidFill>
              <a:srgbClr val="D2DCE6"/>
            </a:solidFill>
            <a:prstDash val="solid"/>
          </a:ln>
        </p:spPr>
      </p:sp>
      <p:sp>
        <p:nvSpPr>
          <p:cNvPr id="6" name="Shape 3"/>
          <p:cNvSpPr/>
          <p:nvPr/>
        </p:nvSpPr>
        <p:spPr>
          <a:xfrm>
            <a:off x="2029968" y="1965960"/>
            <a:ext cx="1417320" cy="530352"/>
          </a:xfrm>
          <a:prstGeom prst="ellipse">
            <a:avLst/>
          </a:prstGeom>
          <a:solidFill>
            <a:srgbClr val="FFFFFF"/>
          </a:solidFill>
          <a:ln w="17780">
            <a:solidFill>
              <a:srgbClr val="156082"/>
            </a:solidFill>
            <a:prstDash val="solid"/>
          </a:ln>
        </p:spPr>
      </p:sp>
      <p:sp>
        <p:nvSpPr>
          <p:cNvPr id="7" name="Text 4"/>
          <p:cNvSpPr/>
          <p:nvPr/>
        </p:nvSpPr>
        <p:spPr>
          <a:xfrm>
            <a:off x="2029968" y="1965960"/>
            <a:ext cx="1417320" cy="530352"/>
          </a:xfrm>
          <a:prstGeom prst="rect">
            <a:avLst/>
          </a:prstGeom>
          <a:noFill/>
          <a:ln/>
        </p:spPr>
        <p:txBody>
          <a:bodyPr wrap="square" lIns="0" tIns="0" rIns="0" bIns="0" rtlCol="0" anchor="ctr"/>
          <a:lstStyle/>
          <a:p>
            <a:pPr marL="0" indent="0" algn="ctr">
              <a:buNone/>
            </a:pPr>
            <a:r>
              <a:rPr lang="en-US" sz="1000" b="1" u="sng" dirty="0">
                <a:solidFill>
                  <a:srgbClr val="156082"/>
                </a:solidFill>
                <a:latin typeface="Times New Roman" pitchFamily="34" charset="0"/>
                <a:ea typeface="Times New Roman" pitchFamily="34" charset="-122"/>
                <a:cs typeface="Times New Roman" pitchFamily="34" charset="-120"/>
              </a:rPr>
              <a:t>RollNo</a:t>
            </a:r>
            <a:endParaRPr lang="en-US" sz="1000" dirty="0"/>
          </a:p>
        </p:txBody>
      </p:sp>
      <p:sp>
        <p:nvSpPr>
          <p:cNvPr id="8" name="Shape 5"/>
          <p:cNvSpPr/>
          <p:nvPr/>
        </p:nvSpPr>
        <p:spPr>
          <a:xfrm>
            <a:off x="8750808" y="1965960"/>
            <a:ext cx="1463040" cy="530352"/>
          </a:xfrm>
          <a:prstGeom prst="ellipse">
            <a:avLst/>
          </a:prstGeom>
          <a:solidFill>
            <a:srgbClr val="FFFFFF"/>
          </a:solidFill>
          <a:ln w="17780">
            <a:solidFill>
              <a:srgbClr val="156082"/>
            </a:solidFill>
            <a:prstDash val="solid"/>
          </a:ln>
        </p:spPr>
      </p:sp>
      <p:sp>
        <p:nvSpPr>
          <p:cNvPr id="9" name="Text 6"/>
          <p:cNvSpPr/>
          <p:nvPr/>
        </p:nvSpPr>
        <p:spPr>
          <a:xfrm>
            <a:off x="8750808" y="1965960"/>
            <a:ext cx="1463040" cy="530352"/>
          </a:xfrm>
          <a:prstGeom prst="rect">
            <a:avLst/>
          </a:prstGeom>
          <a:noFill/>
          <a:ln/>
        </p:spPr>
        <p:txBody>
          <a:bodyPr wrap="square" lIns="0" tIns="0" rIns="0" bIns="0" rtlCol="0" anchor="ctr"/>
          <a:lstStyle/>
          <a:p>
            <a:pPr marL="0" indent="0" algn="ctr">
              <a:buNone/>
            </a:pPr>
            <a:r>
              <a:rPr lang="en-US" sz="1000" b="1" u="sng" dirty="0">
                <a:solidFill>
                  <a:srgbClr val="156082"/>
                </a:solidFill>
                <a:latin typeface="Times New Roman" pitchFamily="34" charset="0"/>
                <a:ea typeface="Times New Roman" pitchFamily="34" charset="-122"/>
                <a:cs typeface="Times New Roman" pitchFamily="34" charset="-120"/>
              </a:rPr>
              <a:t>CourseID</a:t>
            </a:r>
            <a:endParaRPr lang="en-US" sz="1000" dirty="0"/>
          </a:p>
        </p:txBody>
      </p:sp>
      <p:sp>
        <p:nvSpPr>
          <p:cNvPr id="10" name="Shape 7"/>
          <p:cNvSpPr/>
          <p:nvPr/>
        </p:nvSpPr>
        <p:spPr>
          <a:xfrm>
            <a:off x="1892808" y="3246120"/>
            <a:ext cx="1737360" cy="685800"/>
          </a:xfrm>
          <a:prstGeom prst="rect">
            <a:avLst/>
          </a:prstGeom>
          <a:solidFill>
            <a:srgbClr val="FFFFFF"/>
          </a:solidFill>
          <a:ln w="22225">
            <a:solidFill>
              <a:srgbClr val="0E2841"/>
            </a:solidFill>
            <a:prstDash val="solid"/>
          </a:ln>
        </p:spPr>
      </p:sp>
      <p:sp>
        <p:nvSpPr>
          <p:cNvPr id="11" name="Text 8"/>
          <p:cNvSpPr/>
          <p:nvPr/>
        </p:nvSpPr>
        <p:spPr>
          <a:xfrm>
            <a:off x="1892808" y="3246120"/>
            <a:ext cx="1737360" cy="685800"/>
          </a:xfrm>
          <a:prstGeom prst="rect">
            <a:avLst/>
          </a:prstGeom>
          <a:noFill/>
          <a:ln/>
        </p:spPr>
        <p:txBody>
          <a:bodyPr wrap="square" lIns="0" tIns="0" rIns="0" bIns="0" rtlCol="0" anchor="ctr"/>
          <a:lstStyle/>
          <a:p>
            <a:pPr marL="0" indent="0" algn="ctr">
              <a:buNone/>
            </a:pPr>
            <a:r>
              <a:rPr lang="en-US" sz="1400" b="1" dirty="0">
                <a:solidFill>
                  <a:srgbClr val="0E2841"/>
                </a:solidFill>
                <a:latin typeface="Times New Roman" pitchFamily="34" charset="0"/>
                <a:ea typeface="Times New Roman" pitchFamily="34" charset="-122"/>
                <a:cs typeface="Times New Roman" pitchFamily="34" charset="-120"/>
              </a:rPr>
              <a:t>Student</a:t>
            </a:r>
            <a:endParaRPr lang="en-US" sz="1400" dirty="0"/>
          </a:p>
        </p:txBody>
      </p:sp>
      <p:sp>
        <p:nvSpPr>
          <p:cNvPr id="12" name="Shape 9"/>
          <p:cNvSpPr/>
          <p:nvPr/>
        </p:nvSpPr>
        <p:spPr>
          <a:xfrm>
            <a:off x="8567928" y="3246120"/>
            <a:ext cx="1737360" cy="685800"/>
          </a:xfrm>
          <a:prstGeom prst="rect">
            <a:avLst/>
          </a:prstGeom>
          <a:solidFill>
            <a:srgbClr val="FFFFFF"/>
          </a:solidFill>
          <a:ln w="22225">
            <a:solidFill>
              <a:srgbClr val="0E2841"/>
            </a:solidFill>
            <a:prstDash val="solid"/>
          </a:ln>
        </p:spPr>
      </p:sp>
      <p:sp>
        <p:nvSpPr>
          <p:cNvPr id="13" name="Text 10"/>
          <p:cNvSpPr/>
          <p:nvPr/>
        </p:nvSpPr>
        <p:spPr>
          <a:xfrm>
            <a:off x="8567928" y="3246120"/>
            <a:ext cx="1737360" cy="685800"/>
          </a:xfrm>
          <a:prstGeom prst="rect">
            <a:avLst/>
          </a:prstGeom>
          <a:noFill/>
          <a:ln/>
        </p:spPr>
        <p:txBody>
          <a:bodyPr wrap="square" lIns="0" tIns="0" rIns="0" bIns="0" rtlCol="0" anchor="ctr"/>
          <a:lstStyle/>
          <a:p>
            <a:pPr marL="0" indent="0" algn="ctr">
              <a:buNone/>
            </a:pPr>
            <a:r>
              <a:rPr lang="en-US" sz="1400" b="1" dirty="0">
                <a:solidFill>
                  <a:srgbClr val="0E2841"/>
                </a:solidFill>
                <a:latin typeface="Times New Roman" pitchFamily="34" charset="0"/>
                <a:ea typeface="Times New Roman" pitchFamily="34" charset="-122"/>
                <a:cs typeface="Times New Roman" pitchFamily="34" charset="-120"/>
              </a:rPr>
              <a:t>Course</a:t>
            </a:r>
            <a:endParaRPr lang="en-US" sz="1400" dirty="0"/>
          </a:p>
        </p:txBody>
      </p:sp>
      <p:sp>
        <p:nvSpPr>
          <p:cNvPr id="14" name="Shape 11"/>
          <p:cNvSpPr/>
          <p:nvPr/>
        </p:nvSpPr>
        <p:spPr>
          <a:xfrm>
            <a:off x="5047488" y="3072384"/>
            <a:ext cx="2103120" cy="1042416"/>
          </a:xfrm>
          <a:prstGeom prst="diamond">
            <a:avLst/>
          </a:prstGeom>
          <a:solidFill>
            <a:srgbClr val="FFFFFF"/>
          </a:solidFill>
          <a:ln w="22225">
            <a:solidFill>
              <a:srgbClr val="E97132"/>
            </a:solidFill>
            <a:prstDash val="solid"/>
          </a:ln>
        </p:spPr>
      </p:sp>
      <p:sp>
        <p:nvSpPr>
          <p:cNvPr id="15" name="Text 12"/>
          <p:cNvSpPr/>
          <p:nvPr/>
        </p:nvSpPr>
        <p:spPr>
          <a:xfrm>
            <a:off x="5047488" y="3072384"/>
            <a:ext cx="2103120" cy="1042416"/>
          </a:xfrm>
          <a:prstGeom prst="rect">
            <a:avLst/>
          </a:prstGeom>
          <a:noFill/>
          <a:ln/>
        </p:spPr>
        <p:txBody>
          <a:bodyPr wrap="square" lIns="0" tIns="0" rIns="0" bIns="0" rtlCol="0" anchor="ctr"/>
          <a:lstStyle/>
          <a:p>
            <a:pPr marL="0" indent="0" algn="ctr">
              <a:buNone/>
            </a:pPr>
            <a:r>
              <a:rPr lang="en-US" sz="1200" b="1" dirty="0">
                <a:solidFill>
                  <a:srgbClr val="E97132"/>
                </a:solidFill>
                <a:latin typeface="Times New Roman" pitchFamily="34" charset="0"/>
                <a:ea typeface="Times New Roman" pitchFamily="34" charset="-122"/>
                <a:cs typeface="Times New Roman" pitchFamily="34" charset="-120"/>
              </a:rPr>
              <a:t>Enrollment</a:t>
            </a:r>
            <a:endParaRPr lang="en-US" sz="1200" dirty="0"/>
          </a:p>
        </p:txBody>
      </p:sp>
      <p:sp>
        <p:nvSpPr>
          <p:cNvPr id="16" name="Shape 13"/>
          <p:cNvSpPr/>
          <p:nvPr/>
        </p:nvSpPr>
        <p:spPr>
          <a:xfrm>
            <a:off x="2743200" y="2496312"/>
            <a:ext cx="18288" cy="749808"/>
          </a:xfrm>
          <a:prstGeom prst="line">
            <a:avLst/>
          </a:prstGeom>
          <a:noFill/>
          <a:ln w="19050">
            <a:solidFill>
              <a:srgbClr val="0E2841"/>
            </a:solidFill>
            <a:prstDash val="solid"/>
          </a:ln>
        </p:spPr>
      </p:sp>
      <p:sp>
        <p:nvSpPr>
          <p:cNvPr id="17" name="Shape 14"/>
          <p:cNvSpPr/>
          <p:nvPr/>
        </p:nvSpPr>
        <p:spPr>
          <a:xfrm>
            <a:off x="9454896" y="2496312"/>
            <a:ext cx="18288" cy="749808"/>
          </a:xfrm>
          <a:prstGeom prst="line">
            <a:avLst/>
          </a:prstGeom>
          <a:noFill/>
          <a:ln w="19050">
            <a:solidFill>
              <a:srgbClr val="0E2841"/>
            </a:solidFill>
            <a:prstDash val="solid"/>
          </a:ln>
        </p:spPr>
      </p:sp>
      <p:sp>
        <p:nvSpPr>
          <p:cNvPr id="18" name="Shape 15"/>
          <p:cNvSpPr/>
          <p:nvPr/>
        </p:nvSpPr>
        <p:spPr>
          <a:xfrm>
            <a:off x="3630168" y="3593592"/>
            <a:ext cx="1417320" cy="0"/>
          </a:xfrm>
          <a:prstGeom prst="line">
            <a:avLst/>
          </a:prstGeom>
          <a:noFill/>
          <a:ln w="19050">
            <a:solidFill>
              <a:srgbClr val="0E2841"/>
            </a:solidFill>
            <a:prstDash val="solid"/>
          </a:ln>
        </p:spPr>
      </p:sp>
      <p:sp>
        <p:nvSpPr>
          <p:cNvPr id="19" name="Shape 16"/>
          <p:cNvSpPr/>
          <p:nvPr/>
        </p:nvSpPr>
        <p:spPr>
          <a:xfrm>
            <a:off x="7150608" y="3593592"/>
            <a:ext cx="1417320" cy="0"/>
          </a:xfrm>
          <a:prstGeom prst="line">
            <a:avLst/>
          </a:prstGeom>
          <a:noFill/>
          <a:ln w="19050">
            <a:solidFill>
              <a:srgbClr val="0E2841"/>
            </a:solidFill>
            <a:prstDash val="solid"/>
          </a:ln>
        </p:spPr>
      </p:sp>
      <p:sp>
        <p:nvSpPr>
          <p:cNvPr id="20" name="Text 17"/>
          <p:cNvSpPr/>
          <p:nvPr/>
        </p:nvSpPr>
        <p:spPr>
          <a:xfrm>
            <a:off x="3767328" y="3291840"/>
            <a:ext cx="365760" cy="274320"/>
          </a:xfrm>
          <a:prstGeom prst="rect">
            <a:avLst/>
          </a:prstGeom>
          <a:noFill/>
          <a:ln/>
        </p:spPr>
        <p:txBody>
          <a:bodyPr wrap="square" lIns="0" tIns="0" rIns="0" bIns="0" rtlCol="0" anchor="ctr"/>
          <a:lstStyle/>
          <a:p>
            <a:pPr marL="0" indent="0" algn="ctr">
              <a:buNone/>
            </a:pPr>
            <a:r>
              <a:rPr lang="en-US" sz="1400" b="1" dirty="0">
                <a:solidFill>
                  <a:srgbClr val="0E2841"/>
                </a:solidFill>
                <a:latin typeface="Times New Roman" pitchFamily="34" charset="0"/>
                <a:ea typeface="Times New Roman" pitchFamily="34" charset="-122"/>
                <a:cs typeface="Times New Roman" pitchFamily="34" charset="-120"/>
              </a:rPr>
              <a:t>M</a:t>
            </a:r>
            <a:endParaRPr lang="en-US" sz="1400" dirty="0"/>
          </a:p>
        </p:txBody>
      </p:sp>
      <p:sp>
        <p:nvSpPr>
          <p:cNvPr id="21" name="Text 18"/>
          <p:cNvSpPr/>
          <p:nvPr/>
        </p:nvSpPr>
        <p:spPr>
          <a:xfrm>
            <a:off x="8174736" y="3291840"/>
            <a:ext cx="365760" cy="274320"/>
          </a:xfrm>
          <a:prstGeom prst="rect">
            <a:avLst/>
          </a:prstGeom>
          <a:noFill/>
          <a:ln/>
        </p:spPr>
        <p:txBody>
          <a:bodyPr wrap="square" lIns="0" tIns="0" rIns="0" bIns="0" rtlCol="0" anchor="ctr"/>
          <a:lstStyle/>
          <a:p>
            <a:pPr marL="0" indent="0" algn="ctr">
              <a:buNone/>
            </a:pPr>
            <a:r>
              <a:rPr lang="en-US" sz="1400" b="1" dirty="0">
                <a:solidFill>
                  <a:srgbClr val="0E2841"/>
                </a:solidFill>
                <a:latin typeface="Times New Roman" pitchFamily="34" charset="0"/>
                <a:ea typeface="Times New Roman" pitchFamily="34" charset="-122"/>
                <a:cs typeface="Times New Roman" pitchFamily="34" charset="-120"/>
              </a:rPr>
              <a:t>N</a:t>
            </a:r>
            <a:endParaRPr lang="en-US" sz="1400" dirty="0"/>
          </a:p>
        </p:txBody>
      </p:sp>
      <p:sp>
        <p:nvSpPr>
          <p:cNvPr id="22" name="Shape 19"/>
          <p:cNvSpPr/>
          <p:nvPr/>
        </p:nvSpPr>
        <p:spPr>
          <a:xfrm>
            <a:off x="4544568" y="4480560"/>
            <a:ext cx="1463040" cy="530352"/>
          </a:xfrm>
          <a:prstGeom prst="ellipse">
            <a:avLst/>
          </a:prstGeom>
          <a:solidFill>
            <a:srgbClr val="FFFFFF"/>
          </a:solidFill>
          <a:ln w="17780">
            <a:solidFill>
              <a:srgbClr val="E97132"/>
            </a:solidFill>
            <a:prstDash val="solid"/>
          </a:ln>
        </p:spPr>
      </p:sp>
      <p:sp>
        <p:nvSpPr>
          <p:cNvPr id="23" name="Text 20"/>
          <p:cNvSpPr/>
          <p:nvPr/>
        </p:nvSpPr>
        <p:spPr>
          <a:xfrm>
            <a:off x="4544568" y="4480560"/>
            <a:ext cx="1463040" cy="530352"/>
          </a:xfrm>
          <a:prstGeom prst="rect">
            <a:avLst/>
          </a:prstGeom>
          <a:noFill/>
          <a:ln/>
        </p:spPr>
        <p:txBody>
          <a:bodyPr wrap="square" lIns="0" tIns="0" rIns="0" bIns="0" rtlCol="0" anchor="ctr"/>
          <a:lstStyle/>
          <a:p>
            <a:pPr marL="0" indent="0" algn="ctr">
              <a:buNone/>
            </a:pPr>
            <a:r>
              <a:rPr lang="en-US" sz="1000" dirty="0">
                <a:solidFill>
                  <a:srgbClr val="E97132"/>
                </a:solidFill>
                <a:latin typeface="Times New Roman" pitchFamily="34" charset="0"/>
                <a:ea typeface="Times New Roman" pitchFamily="34" charset="-122"/>
                <a:cs typeface="Times New Roman" pitchFamily="34" charset="-120"/>
              </a:rPr>
              <a:t>Semester</a:t>
            </a:r>
            <a:endParaRPr lang="en-US" sz="1000" dirty="0"/>
          </a:p>
        </p:txBody>
      </p:sp>
      <p:sp>
        <p:nvSpPr>
          <p:cNvPr id="24" name="Shape 21"/>
          <p:cNvSpPr/>
          <p:nvPr/>
        </p:nvSpPr>
        <p:spPr>
          <a:xfrm>
            <a:off x="6236208" y="4480560"/>
            <a:ext cx="1463040" cy="530352"/>
          </a:xfrm>
          <a:prstGeom prst="ellipse">
            <a:avLst/>
          </a:prstGeom>
          <a:solidFill>
            <a:srgbClr val="FFFFFF"/>
          </a:solidFill>
          <a:ln w="17780">
            <a:solidFill>
              <a:srgbClr val="E97132"/>
            </a:solidFill>
            <a:prstDash val="solid"/>
          </a:ln>
        </p:spPr>
      </p:sp>
      <p:sp>
        <p:nvSpPr>
          <p:cNvPr id="25" name="Text 22"/>
          <p:cNvSpPr/>
          <p:nvPr/>
        </p:nvSpPr>
        <p:spPr>
          <a:xfrm>
            <a:off x="6236208" y="4480560"/>
            <a:ext cx="1463040" cy="530352"/>
          </a:xfrm>
          <a:prstGeom prst="rect">
            <a:avLst/>
          </a:prstGeom>
          <a:noFill/>
          <a:ln/>
        </p:spPr>
        <p:txBody>
          <a:bodyPr wrap="square" lIns="0" tIns="0" rIns="0" bIns="0" rtlCol="0" anchor="ctr"/>
          <a:lstStyle/>
          <a:p>
            <a:pPr marL="0" indent="0" algn="ctr">
              <a:buNone/>
            </a:pPr>
            <a:r>
              <a:rPr lang="en-US" sz="1000" dirty="0">
                <a:solidFill>
                  <a:srgbClr val="E97132"/>
                </a:solidFill>
                <a:latin typeface="Times New Roman" pitchFamily="34" charset="0"/>
                <a:ea typeface="Times New Roman" pitchFamily="34" charset="-122"/>
                <a:cs typeface="Times New Roman" pitchFamily="34" charset="-120"/>
              </a:rPr>
              <a:t>Grade</a:t>
            </a:r>
            <a:endParaRPr lang="en-US" sz="1000" dirty="0"/>
          </a:p>
        </p:txBody>
      </p:sp>
      <p:sp>
        <p:nvSpPr>
          <p:cNvPr id="26" name="Shape 23"/>
          <p:cNvSpPr/>
          <p:nvPr/>
        </p:nvSpPr>
        <p:spPr>
          <a:xfrm>
            <a:off x="5596128" y="4114800"/>
            <a:ext cx="0" cy="365760"/>
          </a:xfrm>
          <a:prstGeom prst="line">
            <a:avLst/>
          </a:prstGeom>
          <a:noFill/>
          <a:ln w="19050">
            <a:solidFill>
              <a:srgbClr val="E97132"/>
            </a:solidFill>
            <a:prstDash val="solid"/>
          </a:ln>
        </p:spPr>
      </p:sp>
      <p:sp>
        <p:nvSpPr>
          <p:cNvPr id="27" name="Shape 24"/>
          <p:cNvSpPr/>
          <p:nvPr/>
        </p:nvSpPr>
        <p:spPr>
          <a:xfrm>
            <a:off x="6601968" y="4114800"/>
            <a:ext cx="365760" cy="365760"/>
          </a:xfrm>
          <a:prstGeom prst="line">
            <a:avLst/>
          </a:prstGeom>
          <a:noFill/>
          <a:ln w="19050">
            <a:solidFill>
              <a:srgbClr val="E97132"/>
            </a:solidFill>
            <a:prstDash val="solid"/>
          </a:ln>
        </p:spPr>
      </p:sp>
      <p:sp>
        <p:nvSpPr>
          <p:cNvPr id="28" name="Shape 25"/>
          <p:cNvSpPr/>
          <p:nvPr/>
        </p:nvSpPr>
        <p:spPr>
          <a:xfrm>
            <a:off x="841248" y="5532120"/>
            <a:ext cx="10515600" cy="603504"/>
          </a:xfrm>
          <a:prstGeom prst="roundRect">
            <a:avLst>
              <a:gd name="adj" fmla="val 15152"/>
            </a:avLst>
          </a:prstGeom>
          <a:solidFill>
            <a:srgbClr val="E8F2F8"/>
          </a:solidFill>
          <a:ln/>
        </p:spPr>
      </p:sp>
      <p:sp>
        <p:nvSpPr>
          <p:cNvPr id="29" name="Text 26"/>
          <p:cNvSpPr/>
          <p:nvPr/>
        </p:nvSpPr>
        <p:spPr>
          <a:xfrm>
            <a:off x="1161288" y="5532120"/>
            <a:ext cx="9875520" cy="603504"/>
          </a:xfrm>
          <a:prstGeom prst="rect">
            <a:avLst/>
          </a:prstGeom>
          <a:noFill/>
          <a:ln/>
        </p:spPr>
        <p:txBody>
          <a:bodyPr wrap="square" lIns="0" tIns="0" rIns="0" bIns="0" rtlCol="0" anchor="ctr"/>
          <a:lstStyle/>
          <a:p>
            <a:pPr marL="0" indent="0" algn="l">
              <a:buNone/>
            </a:pPr>
            <a:r>
              <a:rPr lang="en-US" sz="1250" b="1" dirty="0">
                <a:solidFill>
                  <a:srgbClr val="156082"/>
                </a:solidFill>
                <a:latin typeface="Times New Roman" pitchFamily="34" charset="0"/>
                <a:ea typeface="Times New Roman" pitchFamily="34" charset="-122"/>
                <a:cs typeface="Times New Roman" pitchFamily="34" charset="-120"/>
              </a:rPr>
              <a:t>Semester and Grade sit on the relationship because they belong to the pair (Student, Course) — exactly how your university ERP stores marks.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Hands-on Task</a:t>
            </a:r>
            <a:endParaRPr lang="en-US" sz="3200" dirty="0"/>
          </a:p>
        </p:txBody>
      </p:sp>
      <p:sp>
        <p:nvSpPr>
          <p:cNvPr id="5" name="Text 2"/>
          <p:cNvSpPr/>
          <p:nvPr/>
        </p:nvSpPr>
        <p:spPr>
          <a:xfrm>
            <a:off x="841248" y="1298448"/>
            <a:ext cx="10515600" cy="310896"/>
          </a:xfrm>
          <a:prstGeom prst="rect">
            <a:avLst/>
          </a:prstGeom>
          <a:noFill/>
          <a:ln/>
        </p:spPr>
        <p:txBody>
          <a:bodyPr wrap="square" lIns="0" tIns="0" rIns="0" bIns="0" rtlCol="0" anchor="ctr"/>
          <a:lstStyle/>
          <a:p>
            <a:pPr marL="0" indent="0" algn="l">
              <a:buNone/>
            </a:pPr>
            <a:r>
              <a:rPr lang="en-US" sz="1500" i="1" dirty="0">
                <a:solidFill>
                  <a:srgbClr val="5A6472"/>
                </a:solidFill>
                <a:latin typeface="Times New Roman" pitchFamily="34" charset="0"/>
                <a:ea typeface="Times New Roman" pitchFamily="34" charset="-122"/>
                <a:cs typeface="Times New Roman" pitchFamily="34" charset="-120"/>
              </a:rPr>
              <a:t>Draw the ER diagram for a hospital appointment app</a:t>
            </a:r>
            <a:endParaRPr lang="en-US" sz="1500" dirty="0"/>
          </a:p>
        </p:txBody>
      </p:sp>
      <p:sp>
        <p:nvSpPr>
          <p:cNvPr id="6" name="Shape 3"/>
          <p:cNvSpPr/>
          <p:nvPr/>
        </p:nvSpPr>
        <p:spPr>
          <a:xfrm>
            <a:off x="841248" y="1874520"/>
            <a:ext cx="5760720" cy="914400"/>
          </a:xfrm>
          <a:prstGeom prst="roundRect">
            <a:avLst>
              <a:gd name="adj" fmla="val 8000"/>
            </a:avLst>
          </a:prstGeom>
          <a:solidFill>
            <a:srgbClr val="FFFFFF"/>
          </a:solidFill>
          <a:ln w="12700">
            <a:solidFill>
              <a:srgbClr val="D2DCE6"/>
            </a:solidFill>
            <a:prstDash val="solid"/>
          </a:ln>
        </p:spPr>
      </p:sp>
      <p:sp>
        <p:nvSpPr>
          <p:cNvPr id="7" name="Shape 4"/>
          <p:cNvSpPr/>
          <p:nvPr/>
        </p:nvSpPr>
        <p:spPr>
          <a:xfrm>
            <a:off x="841248" y="1874520"/>
            <a:ext cx="109728" cy="914400"/>
          </a:xfrm>
          <a:prstGeom prst="rect">
            <a:avLst/>
          </a:prstGeom>
          <a:solidFill>
            <a:srgbClr val="156082"/>
          </a:solidFill>
          <a:ln/>
        </p:spPr>
      </p:sp>
      <p:sp>
        <p:nvSpPr>
          <p:cNvPr id="8" name="Shape 5"/>
          <p:cNvSpPr/>
          <p:nvPr/>
        </p:nvSpPr>
        <p:spPr>
          <a:xfrm>
            <a:off x="1225296" y="2130552"/>
            <a:ext cx="411480" cy="411480"/>
          </a:xfrm>
          <a:prstGeom prst="ellipse">
            <a:avLst/>
          </a:prstGeom>
          <a:solidFill>
            <a:srgbClr val="156082"/>
          </a:solidFill>
          <a:ln/>
        </p:spPr>
      </p:sp>
      <p:sp>
        <p:nvSpPr>
          <p:cNvPr id="9" name="Text 6"/>
          <p:cNvSpPr/>
          <p:nvPr/>
        </p:nvSpPr>
        <p:spPr>
          <a:xfrm>
            <a:off x="1225296" y="213055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10" name="Text 7"/>
          <p:cNvSpPr/>
          <p:nvPr/>
        </p:nvSpPr>
        <p:spPr>
          <a:xfrm>
            <a:off x="1892808" y="2020824"/>
            <a:ext cx="4572000" cy="329184"/>
          </a:xfrm>
          <a:prstGeom prst="rect">
            <a:avLst/>
          </a:prstGeom>
          <a:noFill/>
          <a:ln/>
        </p:spPr>
        <p:txBody>
          <a:bodyPr wrap="square" lIns="0" tIns="0" rIns="0" bIns="0" rtlCol="0" anchor="ctr"/>
          <a:lstStyle/>
          <a:p>
            <a:pPr marL="0" indent="0" algn="l">
              <a:buNone/>
            </a:pPr>
            <a:r>
              <a:rPr lang="en-US" sz="1550" b="1" dirty="0">
                <a:solidFill>
                  <a:srgbClr val="0E2841"/>
                </a:solidFill>
                <a:latin typeface="Times New Roman" pitchFamily="34" charset="0"/>
                <a:ea typeface="Times New Roman" pitchFamily="34" charset="-122"/>
                <a:cs typeface="Times New Roman" pitchFamily="34" charset="-120"/>
              </a:rPr>
              <a:t>Identify three entities</a:t>
            </a:r>
            <a:endParaRPr lang="en-US" sz="1550" dirty="0"/>
          </a:p>
        </p:txBody>
      </p:sp>
      <p:sp>
        <p:nvSpPr>
          <p:cNvPr id="11" name="Text 8"/>
          <p:cNvSpPr/>
          <p:nvPr/>
        </p:nvSpPr>
        <p:spPr>
          <a:xfrm>
            <a:off x="1892808" y="2368296"/>
            <a:ext cx="4572000" cy="292608"/>
          </a:xfrm>
          <a:prstGeom prst="rect">
            <a:avLst/>
          </a:prstGeom>
          <a:noFill/>
          <a:ln/>
        </p:spPr>
        <p:txBody>
          <a:bodyPr wrap="square" lIns="0" tIns="0" rIns="0" bIns="0" rtlCol="0" anchor="ctr"/>
          <a:lstStyle/>
          <a:p>
            <a:pPr marL="0" indent="0" algn="l">
              <a:buNone/>
            </a:pPr>
            <a:r>
              <a:rPr lang="en-US" sz="1250" dirty="0">
                <a:solidFill>
                  <a:srgbClr val="5A6472"/>
                </a:solidFill>
                <a:latin typeface="Times New Roman" pitchFamily="34" charset="0"/>
                <a:ea typeface="Times New Roman" pitchFamily="34" charset="-122"/>
                <a:cs typeface="Times New Roman" pitchFamily="34" charset="-120"/>
              </a:rPr>
              <a:t>Patient, Doctor, Appointment</a:t>
            </a:r>
            <a:endParaRPr lang="en-US" sz="1250" dirty="0"/>
          </a:p>
        </p:txBody>
      </p:sp>
      <p:sp>
        <p:nvSpPr>
          <p:cNvPr id="12" name="Shape 9"/>
          <p:cNvSpPr/>
          <p:nvPr/>
        </p:nvSpPr>
        <p:spPr>
          <a:xfrm>
            <a:off x="841248" y="2971800"/>
            <a:ext cx="5760720" cy="914400"/>
          </a:xfrm>
          <a:prstGeom prst="roundRect">
            <a:avLst>
              <a:gd name="adj" fmla="val 8000"/>
            </a:avLst>
          </a:prstGeom>
          <a:solidFill>
            <a:srgbClr val="FFFFFF"/>
          </a:solidFill>
          <a:ln w="12700">
            <a:solidFill>
              <a:srgbClr val="D2DCE6"/>
            </a:solidFill>
            <a:prstDash val="solid"/>
          </a:ln>
        </p:spPr>
      </p:sp>
      <p:sp>
        <p:nvSpPr>
          <p:cNvPr id="13" name="Shape 10"/>
          <p:cNvSpPr/>
          <p:nvPr/>
        </p:nvSpPr>
        <p:spPr>
          <a:xfrm>
            <a:off x="841248" y="2971800"/>
            <a:ext cx="109728" cy="914400"/>
          </a:xfrm>
          <a:prstGeom prst="rect">
            <a:avLst/>
          </a:prstGeom>
          <a:solidFill>
            <a:srgbClr val="E97132"/>
          </a:solidFill>
          <a:ln/>
        </p:spPr>
      </p:sp>
      <p:sp>
        <p:nvSpPr>
          <p:cNvPr id="14" name="Shape 11"/>
          <p:cNvSpPr/>
          <p:nvPr/>
        </p:nvSpPr>
        <p:spPr>
          <a:xfrm>
            <a:off x="1225296" y="3227832"/>
            <a:ext cx="411480" cy="411480"/>
          </a:xfrm>
          <a:prstGeom prst="ellipse">
            <a:avLst/>
          </a:prstGeom>
          <a:solidFill>
            <a:srgbClr val="E97132"/>
          </a:solidFill>
          <a:ln/>
        </p:spPr>
      </p:sp>
      <p:sp>
        <p:nvSpPr>
          <p:cNvPr id="15" name="Text 12"/>
          <p:cNvSpPr/>
          <p:nvPr/>
        </p:nvSpPr>
        <p:spPr>
          <a:xfrm>
            <a:off x="1225296" y="322783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6" name="Text 13"/>
          <p:cNvSpPr/>
          <p:nvPr/>
        </p:nvSpPr>
        <p:spPr>
          <a:xfrm>
            <a:off x="1892808" y="3118104"/>
            <a:ext cx="4572000" cy="329184"/>
          </a:xfrm>
          <a:prstGeom prst="rect">
            <a:avLst/>
          </a:prstGeom>
          <a:noFill/>
          <a:ln/>
        </p:spPr>
        <p:txBody>
          <a:bodyPr wrap="square" lIns="0" tIns="0" rIns="0" bIns="0" rtlCol="0" anchor="ctr"/>
          <a:lstStyle/>
          <a:p>
            <a:pPr marL="0" indent="0" algn="l">
              <a:buNone/>
            </a:pPr>
            <a:r>
              <a:rPr lang="en-US" sz="1550" b="1" dirty="0">
                <a:solidFill>
                  <a:srgbClr val="0E2841"/>
                </a:solidFill>
                <a:latin typeface="Times New Roman" pitchFamily="34" charset="0"/>
                <a:ea typeface="Times New Roman" pitchFamily="34" charset="-122"/>
                <a:cs typeface="Times New Roman" pitchFamily="34" charset="-120"/>
              </a:rPr>
              <a:t>Add one key attribute to each</a:t>
            </a:r>
            <a:endParaRPr lang="en-US" sz="1550" dirty="0"/>
          </a:p>
        </p:txBody>
      </p:sp>
      <p:sp>
        <p:nvSpPr>
          <p:cNvPr id="17" name="Text 14"/>
          <p:cNvSpPr/>
          <p:nvPr/>
        </p:nvSpPr>
        <p:spPr>
          <a:xfrm>
            <a:off x="1892808" y="3465576"/>
            <a:ext cx="4572000" cy="292608"/>
          </a:xfrm>
          <a:prstGeom prst="rect">
            <a:avLst/>
          </a:prstGeom>
          <a:noFill/>
          <a:ln/>
        </p:spPr>
        <p:txBody>
          <a:bodyPr wrap="square" lIns="0" tIns="0" rIns="0" bIns="0" rtlCol="0" anchor="ctr"/>
          <a:lstStyle/>
          <a:p>
            <a:pPr marL="0" indent="0" algn="l">
              <a:buNone/>
            </a:pPr>
            <a:r>
              <a:rPr lang="en-US" sz="1250" dirty="0">
                <a:solidFill>
                  <a:srgbClr val="5A6472"/>
                </a:solidFill>
                <a:latin typeface="Times New Roman" pitchFamily="34" charset="0"/>
                <a:ea typeface="Times New Roman" pitchFamily="34" charset="-122"/>
                <a:cs typeface="Times New Roman" pitchFamily="34" charset="-120"/>
              </a:rPr>
              <a:t>and one derived attribute anywhere</a:t>
            </a:r>
            <a:endParaRPr lang="en-US" sz="1250" dirty="0"/>
          </a:p>
        </p:txBody>
      </p:sp>
      <p:sp>
        <p:nvSpPr>
          <p:cNvPr id="18" name="Shape 15"/>
          <p:cNvSpPr/>
          <p:nvPr/>
        </p:nvSpPr>
        <p:spPr>
          <a:xfrm>
            <a:off x="841248" y="4069080"/>
            <a:ext cx="5760720" cy="914400"/>
          </a:xfrm>
          <a:prstGeom prst="roundRect">
            <a:avLst>
              <a:gd name="adj" fmla="val 8000"/>
            </a:avLst>
          </a:prstGeom>
          <a:solidFill>
            <a:srgbClr val="FFFFFF"/>
          </a:solidFill>
          <a:ln w="12700">
            <a:solidFill>
              <a:srgbClr val="D2DCE6"/>
            </a:solidFill>
            <a:prstDash val="solid"/>
          </a:ln>
        </p:spPr>
      </p:sp>
      <p:sp>
        <p:nvSpPr>
          <p:cNvPr id="19" name="Shape 16"/>
          <p:cNvSpPr/>
          <p:nvPr/>
        </p:nvSpPr>
        <p:spPr>
          <a:xfrm>
            <a:off x="841248" y="4069080"/>
            <a:ext cx="109728" cy="914400"/>
          </a:xfrm>
          <a:prstGeom prst="rect">
            <a:avLst/>
          </a:prstGeom>
          <a:solidFill>
            <a:srgbClr val="196B24"/>
          </a:solidFill>
          <a:ln/>
        </p:spPr>
      </p:sp>
      <p:sp>
        <p:nvSpPr>
          <p:cNvPr id="20" name="Shape 17"/>
          <p:cNvSpPr/>
          <p:nvPr/>
        </p:nvSpPr>
        <p:spPr>
          <a:xfrm>
            <a:off x="1225296" y="4325112"/>
            <a:ext cx="411480" cy="411480"/>
          </a:xfrm>
          <a:prstGeom prst="ellipse">
            <a:avLst/>
          </a:prstGeom>
          <a:solidFill>
            <a:srgbClr val="196B24"/>
          </a:solidFill>
          <a:ln/>
        </p:spPr>
      </p:sp>
      <p:sp>
        <p:nvSpPr>
          <p:cNvPr id="21" name="Text 18"/>
          <p:cNvSpPr/>
          <p:nvPr/>
        </p:nvSpPr>
        <p:spPr>
          <a:xfrm>
            <a:off x="1225296" y="432511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22" name="Text 19"/>
          <p:cNvSpPr/>
          <p:nvPr/>
        </p:nvSpPr>
        <p:spPr>
          <a:xfrm>
            <a:off x="1892808" y="4215384"/>
            <a:ext cx="4572000" cy="329184"/>
          </a:xfrm>
          <a:prstGeom prst="rect">
            <a:avLst/>
          </a:prstGeom>
          <a:noFill/>
          <a:ln/>
        </p:spPr>
        <p:txBody>
          <a:bodyPr wrap="square" lIns="0" tIns="0" rIns="0" bIns="0" rtlCol="0" anchor="ctr"/>
          <a:lstStyle/>
          <a:p>
            <a:pPr marL="0" indent="0" algn="l">
              <a:buNone/>
            </a:pPr>
            <a:r>
              <a:rPr lang="en-US" sz="1550" b="1" dirty="0">
                <a:solidFill>
                  <a:srgbClr val="0E2841"/>
                </a:solidFill>
                <a:latin typeface="Times New Roman" pitchFamily="34" charset="0"/>
                <a:ea typeface="Times New Roman" pitchFamily="34" charset="-122"/>
                <a:cs typeface="Times New Roman" pitchFamily="34" charset="-120"/>
              </a:rPr>
              <a:t>Mark cardinality on both links</a:t>
            </a:r>
            <a:endParaRPr lang="en-US" sz="1550" dirty="0"/>
          </a:p>
        </p:txBody>
      </p:sp>
      <p:sp>
        <p:nvSpPr>
          <p:cNvPr id="23" name="Text 20"/>
          <p:cNvSpPr/>
          <p:nvPr/>
        </p:nvSpPr>
        <p:spPr>
          <a:xfrm>
            <a:off x="1892808" y="4562856"/>
            <a:ext cx="4572000" cy="292608"/>
          </a:xfrm>
          <a:prstGeom prst="rect">
            <a:avLst/>
          </a:prstGeom>
          <a:noFill/>
          <a:ln/>
        </p:spPr>
        <p:txBody>
          <a:bodyPr wrap="square" lIns="0" tIns="0" rIns="0" bIns="0" rtlCol="0" anchor="ctr"/>
          <a:lstStyle/>
          <a:p>
            <a:pPr marL="0" indent="0" algn="l">
              <a:buNone/>
            </a:pPr>
            <a:r>
              <a:rPr lang="en-US" sz="1250" dirty="0">
                <a:solidFill>
                  <a:srgbClr val="5A6472"/>
                </a:solidFill>
                <a:latin typeface="Times New Roman" pitchFamily="34" charset="0"/>
                <a:ea typeface="Times New Roman" pitchFamily="34" charset="-122"/>
                <a:cs typeface="Times New Roman" pitchFamily="34" charset="-120"/>
              </a:rPr>
              <a:t>then mark total vs partial</a:t>
            </a:r>
            <a:endParaRPr lang="en-US" sz="1250" dirty="0"/>
          </a:p>
        </p:txBody>
      </p:sp>
      <p:sp>
        <p:nvSpPr>
          <p:cNvPr id="24" name="Shape 21"/>
          <p:cNvSpPr/>
          <p:nvPr/>
        </p:nvSpPr>
        <p:spPr>
          <a:xfrm>
            <a:off x="7104888" y="1874520"/>
            <a:ext cx="4251960" cy="3108960"/>
          </a:xfrm>
          <a:prstGeom prst="roundRect">
            <a:avLst>
              <a:gd name="adj" fmla="val 2941"/>
            </a:avLst>
          </a:prstGeom>
          <a:solidFill>
            <a:srgbClr val="1E3040"/>
          </a:solidFill>
          <a:ln/>
        </p:spPr>
      </p:sp>
      <p:sp>
        <p:nvSpPr>
          <p:cNvPr id="25" name="Text 22"/>
          <p:cNvSpPr/>
          <p:nvPr/>
        </p:nvSpPr>
        <p:spPr>
          <a:xfrm>
            <a:off x="7470648" y="2103120"/>
            <a:ext cx="3566160" cy="274320"/>
          </a:xfrm>
          <a:prstGeom prst="rect">
            <a:avLst/>
          </a:prstGeom>
          <a:noFill/>
          <a:ln/>
        </p:spPr>
        <p:txBody>
          <a:bodyPr wrap="square" lIns="0" tIns="0" rIns="0" bIns="0" rtlCol="0" anchor="ctr"/>
          <a:lstStyle/>
          <a:p>
            <a:pPr marL="0" indent="0" algn="l">
              <a:buNone/>
            </a:pPr>
            <a:r>
              <a:rPr lang="en-US" sz="1100" kern="0" spc="200" dirty="0">
                <a:solidFill>
                  <a:srgbClr val="E97132"/>
                </a:solidFill>
                <a:latin typeface="Consolas" pitchFamily="34" charset="0"/>
                <a:ea typeface="Consolas" pitchFamily="34" charset="-122"/>
                <a:cs typeface="Consolas" pitchFamily="34" charset="-120"/>
              </a:rPr>
              <a:t>starter</a:t>
            </a:r>
            <a:endParaRPr lang="en-US" sz="1100" dirty="0"/>
          </a:p>
        </p:txBody>
      </p:sp>
      <p:sp>
        <p:nvSpPr>
          <p:cNvPr id="26" name="Text 23"/>
          <p:cNvSpPr/>
          <p:nvPr/>
        </p:nvSpPr>
        <p:spPr>
          <a:xfrm>
            <a:off x="7470648" y="2468880"/>
            <a:ext cx="3611880" cy="2286000"/>
          </a:xfrm>
          <a:prstGeom prst="rect">
            <a:avLst/>
          </a:prstGeom>
          <a:noFill/>
          <a:ln/>
        </p:spPr>
        <p:txBody>
          <a:bodyPr wrap="square" lIns="0" tIns="0" rIns="0" bIns="0" rtlCol="0" anchor="t"/>
          <a:lstStyle/>
          <a:p>
            <a:pPr marL="0" indent="0" algn="l">
              <a:lnSpc>
                <a:spcPct val="125000"/>
              </a:lnSpc>
              <a:buNone/>
            </a:pPr>
            <a:r>
              <a:rPr lang="en-US" sz="1150" dirty="0">
                <a:solidFill>
                  <a:srgbClr val="E8F2F8"/>
                </a:solidFill>
                <a:latin typeface="Consolas" pitchFamily="34" charset="0"/>
                <a:ea typeface="Consolas" pitchFamily="34" charset="-122"/>
                <a:cs typeface="Consolas" pitchFamily="34" charset="-120"/>
              </a:rPr>
              <a:t>Patient  ──1──  Books  ──N──  Appointment</a:t>
            </a:r>
            <a:endParaRPr lang="en-US" sz="1150" dirty="0"/>
          </a:p>
          <a:p>
            <a:pPr marL="0" indent="0" algn="l">
              <a:lnSpc>
                <a:spcPct val="125000"/>
              </a:lnSpc>
              <a:buNone/>
            </a:pPr>
            <a:endParaRPr lang="en-US" sz="1150" dirty="0"/>
          </a:p>
          <a:p>
            <a:pPr marL="0" indent="0" algn="l">
              <a:lnSpc>
                <a:spcPct val="125000"/>
              </a:lnSpc>
              <a:buNone/>
            </a:pPr>
            <a:r>
              <a:rPr lang="en-US" sz="1150" dirty="0">
                <a:solidFill>
                  <a:srgbClr val="E8F2F8"/>
                </a:solidFill>
                <a:latin typeface="Consolas" pitchFamily="34" charset="0"/>
                <a:ea typeface="Consolas" pitchFamily="34" charset="-122"/>
                <a:cs typeface="Consolas" pitchFamily="34" charset="-120"/>
              </a:rPr>
              <a:t>Appointment  ──N──  With  ──1──  Doctor</a:t>
            </a:r>
            <a:endParaRPr lang="en-US" sz="1150" dirty="0"/>
          </a:p>
          <a:p>
            <a:pPr marL="0" indent="0" algn="l">
              <a:lnSpc>
                <a:spcPct val="125000"/>
              </a:lnSpc>
              <a:buNone/>
            </a:pPr>
            <a:endParaRPr lang="en-US" sz="1150" dirty="0"/>
          </a:p>
          <a:p>
            <a:pPr marL="0" indent="0" algn="l">
              <a:lnSpc>
                <a:spcPct val="125000"/>
              </a:lnSpc>
              <a:buNone/>
            </a:pPr>
            <a:r>
              <a:rPr lang="en-US" sz="1150" dirty="0">
                <a:solidFill>
                  <a:srgbClr val="E8F2F8"/>
                </a:solidFill>
                <a:latin typeface="Consolas" pitchFamily="34" charset="0"/>
                <a:ea typeface="Consolas" pitchFamily="34" charset="-122"/>
                <a:cs typeface="Consolas" pitchFamily="34" charset="-120"/>
              </a:rPr>
              <a:t>Patient   : PatientID (key), DOB, Age (derived)</a:t>
            </a:r>
            <a:endParaRPr lang="en-US" sz="1150" dirty="0"/>
          </a:p>
          <a:p>
            <a:pPr marL="0" indent="0" algn="l">
              <a:lnSpc>
                <a:spcPct val="125000"/>
              </a:lnSpc>
              <a:buNone/>
            </a:pPr>
            <a:r>
              <a:rPr lang="en-US" sz="1150" dirty="0">
                <a:solidFill>
                  <a:srgbClr val="E8F2F8"/>
                </a:solidFill>
                <a:latin typeface="Consolas" pitchFamily="34" charset="0"/>
                <a:ea typeface="Consolas" pitchFamily="34" charset="-122"/>
                <a:cs typeface="Consolas" pitchFamily="34" charset="-120"/>
              </a:rPr>
              <a:t>Appointment : ApptID (key), Date, Time, Status</a:t>
            </a:r>
            <a:endParaRPr lang="en-US" sz="1150" dirty="0"/>
          </a:p>
        </p:txBody>
      </p:sp>
      <p:sp>
        <p:nvSpPr>
          <p:cNvPr id="27" name="Text 24"/>
          <p:cNvSpPr/>
          <p:nvPr/>
        </p:nvSpPr>
        <p:spPr>
          <a:xfrm>
            <a:off x="841248" y="5230368"/>
            <a:ext cx="10515600" cy="310896"/>
          </a:xfrm>
          <a:prstGeom prst="rect">
            <a:avLst/>
          </a:prstGeom>
          <a:noFill/>
          <a:ln/>
        </p:spPr>
        <p:txBody>
          <a:bodyPr wrap="square" lIns="0" tIns="0" rIns="0" bIns="0" rtlCol="0" anchor="ctr"/>
          <a:lstStyle/>
          <a:p>
            <a:pPr marL="0" indent="0" algn="l">
              <a:buNone/>
            </a:pPr>
            <a:r>
              <a:rPr lang="en-US" sz="1300" i="1" dirty="0">
                <a:solidFill>
                  <a:srgbClr val="5A6472"/>
                </a:solidFill>
                <a:latin typeface="Times New Roman" pitchFamily="34" charset="0"/>
                <a:ea typeface="Times New Roman" pitchFamily="34" charset="-122"/>
                <a:cs typeface="Times New Roman" pitchFamily="34" charset="-120"/>
              </a:rPr>
              <a:t>Ten minutes on paper, then two pairs present at the board.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Real-Life Application</a:t>
            </a:r>
            <a:endParaRPr lang="en-US" sz="3200" dirty="0"/>
          </a:p>
        </p:txBody>
      </p:sp>
      <p:sp>
        <p:nvSpPr>
          <p:cNvPr id="5" name="Shape 2"/>
          <p:cNvSpPr/>
          <p:nvPr/>
        </p:nvSpPr>
        <p:spPr>
          <a:xfrm>
            <a:off x="841248" y="1783080"/>
            <a:ext cx="2432304" cy="3246120"/>
          </a:xfrm>
          <a:prstGeom prst="roundRect">
            <a:avLst>
              <a:gd name="adj" fmla="val 3008"/>
            </a:avLst>
          </a:prstGeom>
          <a:solidFill>
            <a:srgbClr val="FFFFFF"/>
          </a:solidFill>
          <a:ln w="12700">
            <a:solidFill>
              <a:srgbClr val="D2DCE6"/>
            </a:solidFill>
            <a:prstDash val="solid"/>
          </a:ln>
        </p:spPr>
      </p:sp>
      <p:sp>
        <p:nvSpPr>
          <p:cNvPr id="6" name="Shape 3"/>
          <p:cNvSpPr/>
          <p:nvPr/>
        </p:nvSpPr>
        <p:spPr>
          <a:xfrm>
            <a:off x="841248" y="1783080"/>
            <a:ext cx="2432304" cy="109728"/>
          </a:xfrm>
          <a:prstGeom prst="rect">
            <a:avLst/>
          </a:prstGeom>
          <a:solidFill>
            <a:srgbClr val="156082"/>
          </a:solidFill>
          <a:ln/>
        </p:spPr>
      </p:sp>
      <p:sp>
        <p:nvSpPr>
          <p:cNvPr id="7" name="Text 4"/>
          <p:cNvSpPr/>
          <p:nvPr/>
        </p:nvSpPr>
        <p:spPr>
          <a:xfrm>
            <a:off x="1097280" y="2057400"/>
            <a:ext cx="1965960" cy="621792"/>
          </a:xfrm>
          <a:prstGeom prst="rect">
            <a:avLst/>
          </a:prstGeom>
          <a:noFill/>
          <a:ln/>
        </p:spPr>
        <p:txBody>
          <a:bodyPr wrap="square" lIns="0" tIns="0" rIns="0" bIns="0" rtlCol="0" anchor="t"/>
          <a:lstStyle/>
          <a:p>
            <a:pPr marL="0" indent="0" algn="l">
              <a:buNone/>
            </a:pPr>
            <a:r>
              <a:rPr lang="en-US" sz="1500" b="1" dirty="0">
                <a:solidFill>
                  <a:srgbClr val="156082"/>
                </a:solidFill>
                <a:latin typeface="Times New Roman" pitchFamily="34" charset="0"/>
                <a:ea typeface="Times New Roman" pitchFamily="34" charset="-122"/>
                <a:cs typeface="Times New Roman" pitchFamily="34" charset="-120"/>
              </a:rPr>
              <a:t>Cloud relational</a:t>
            </a:r>
            <a:endParaRPr lang="en-US" sz="1500" dirty="0"/>
          </a:p>
        </p:txBody>
      </p:sp>
      <p:sp>
        <p:nvSpPr>
          <p:cNvPr id="8" name="Text 5"/>
          <p:cNvSpPr/>
          <p:nvPr/>
        </p:nvSpPr>
        <p:spPr>
          <a:xfrm>
            <a:off x="1097280" y="2743200"/>
            <a:ext cx="1965960" cy="548640"/>
          </a:xfrm>
          <a:prstGeom prst="rect">
            <a:avLst/>
          </a:prstGeom>
          <a:noFill/>
          <a:ln/>
        </p:spPr>
        <p:txBody>
          <a:bodyPr wrap="square" lIns="0" tIns="0" rIns="0" bIns="0" rtlCol="0" anchor="t"/>
          <a:lstStyle/>
          <a:p>
            <a:pPr marL="0" indent="0" algn="l">
              <a:buNone/>
            </a:pPr>
            <a:r>
              <a:rPr lang="en-US" sz="1200" dirty="0">
                <a:solidFill>
                  <a:srgbClr val="5A6472"/>
                </a:solidFill>
                <a:latin typeface="Consolas" pitchFamily="34" charset="0"/>
                <a:ea typeface="Consolas" pitchFamily="34" charset="-122"/>
                <a:cs typeface="Consolas" pitchFamily="34" charset="-120"/>
              </a:rPr>
              <a:t>Aurora, Azure SQL, AlloyDB</a:t>
            </a:r>
            <a:endParaRPr lang="en-US" sz="1200" dirty="0"/>
          </a:p>
        </p:txBody>
      </p:sp>
      <p:sp>
        <p:nvSpPr>
          <p:cNvPr id="9" name="Text 6"/>
          <p:cNvSpPr/>
          <p:nvPr/>
        </p:nvSpPr>
        <p:spPr>
          <a:xfrm>
            <a:off x="1097280" y="3429000"/>
            <a:ext cx="1965960" cy="1325880"/>
          </a:xfrm>
          <a:prstGeom prst="rect">
            <a:avLst/>
          </a:prstGeom>
          <a:noFill/>
          <a:ln/>
        </p:spPr>
        <p:txBody>
          <a:bodyPr wrap="square" lIns="0" tIns="0" rIns="0" bIns="0" rtlCol="0" anchor="t"/>
          <a:lstStyle/>
          <a:p>
            <a:pPr marL="0" indent="0" algn="l">
              <a:lnSpc>
                <a:spcPct val="130000"/>
              </a:lnSpc>
              <a:buNone/>
            </a:pPr>
            <a:r>
              <a:rPr lang="en-US" sz="1250" dirty="0">
                <a:solidFill>
                  <a:srgbClr val="2B2B2B"/>
                </a:solidFill>
                <a:latin typeface="Times New Roman" pitchFamily="34" charset="0"/>
                <a:ea typeface="Times New Roman" pitchFamily="34" charset="-122"/>
                <a:cs typeface="Times New Roman" pitchFamily="34" charset="-120"/>
              </a:rPr>
              <a:t>ERDs still become tables and foreign keys</a:t>
            </a:r>
            <a:endParaRPr lang="en-US" sz="1250" dirty="0"/>
          </a:p>
        </p:txBody>
      </p:sp>
      <p:sp>
        <p:nvSpPr>
          <p:cNvPr id="10" name="Shape 7"/>
          <p:cNvSpPr/>
          <p:nvPr/>
        </p:nvSpPr>
        <p:spPr>
          <a:xfrm>
            <a:off x="3511296" y="1783080"/>
            <a:ext cx="2432304" cy="3246120"/>
          </a:xfrm>
          <a:prstGeom prst="roundRect">
            <a:avLst>
              <a:gd name="adj" fmla="val 3008"/>
            </a:avLst>
          </a:prstGeom>
          <a:solidFill>
            <a:srgbClr val="FFFFFF"/>
          </a:solidFill>
          <a:ln w="12700">
            <a:solidFill>
              <a:srgbClr val="D2DCE6"/>
            </a:solidFill>
            <a:prstDash val="solid"/>
          </a:ln>
        </p:spPr>
      </p:sp>
      <p:sp>
        <p:nvSpPr>
          <p:cNvPr id="11" name="Shape 8"/>
          <p:cNvSpPr/>
          <p:nvPr/>
        </p:nvSpPr>
        <p:spPr>
          <a:xfrm>
            <a:off x="3511296" y="1783080"/>
            <a:ext cx="2432304" cy="109728"/>
          </a:xfrm>
          <a:prstGeom prst="rect">
            <a:avLst/>
          </a:prstGeom>
          <a:solidFill>
            <a:srgbClr val="E97132"/>
          </a:solidFill>
          <a:ln/>
        </p:spPr>
      </p:sp>
      <p:sp>
        <p:nvSpPr>
          <p:cNvPr id="12" name="Text 9"/>
          <p:cNvSpPr/>
          <p:nvPr/>
        </p:nvSpPr>
        <p:spPr>
          <a:xfrm>
            <a:off x="3767328" y="2057400"/>
            <a:ext cx="1965960" cy="621792"/>
          </a:xfrm>
          <a:prstGeom prst="rect">
            <a:avLst/>
          </a:prstGeom>
          <a:noFill/>
          <a:ln/>
        </p:spPr>
        <p:txBody>
          <a:bodyPr wrap="square" lIns="0" tIns="0" rIns="0" bIns="0" rtlCol="0" anchor="t"/>
          <a:lstStyle/>
          <a:p>
            <a:pPr marL="0" indent="0" algn="l">
              <a:buNone/>
            </a:pPr>
            <a:r>
              <a:rPr lang="en-US" sz="1500" b="1" dirty="0">
                <a:solidFill>
                  <a:srgbClr val="E97132"/>
                </a:solidFill>
                <a:latin typeface="Times New Roman" pitchFamily="34" charset="0"/>
                <a:ea typeface="Times New Roman" pitchFamily="34" charset="-122"/>
                <a:cs typeface="Times New Roman" pitchFamily="34" charset="-120"/>
              </a:rPr>
              <a:t>Document stores</a:t>
            </a:r>
            <a:endParaRPr lang="en-US" sz="1500" dirty="0"/>
          </a:p>
        </p:txBody>
      </p:sp>
      <p:sp>
        <p:nvSpPr>
          <p:cNvPr id="13" name="Text 10"/>
          <p:cNvSpPr/>
          <p:nvPr/>
        </p:nvSpPr>
        <p:spPr>
          <a:xfrm>
            <a:off x="3767328" y="2743200"/>
            <a:ext cx="1965960" cy="548640"/>
          </a:xfrm>
          <a:prstGeom prst="rect">
            <a:avLst/>
          </a:prstGeom>
          <a:noFill/>
          <a:ln/>
        </p:spPr>
        <p:txBody>
          <a:bodyPr wrap="square" lIns="0" tIns="0" rIns="0" bIns="0" rtlCol="0" anchor="t"/>
          <a:lstStyle/>
          <a:p>
            <a:pPr marL="0" indent="0" algn="l">
              <a:buNone/>
            </a:pPr>
            <a:r>
              <a:rPr lang="en-US" sz="1200" dirty="0">
                <a:solidFill>
                  <a:srgbClr val="5A6472"/>
                </a:solidFill>
                <a:latin typeface="Consolas" pitchFamily="34" charset="0"/>
                <a:ea typeface="Consolas" pitchFamily="34" charset="-122"/>
                <a:cs typeface="Consolas" pitchFamily="34" charset="-120"/>
              </a:rPr>
              <a:t>MongoDB, DynamoDB</a:t>
            </a:r>
            <a:endParaRPr lang="en-US" sz="1200" dirty="0"/>
          </a:p>
        </p:txBody>
      </p:sp>
      <p:sp>
        <p:nvSpPr>
          <p:cNvPr id="14" name="Text 11"/>
          <p:cNvSpPr/>
          <p:nvPr/>
        </p:nvSpPr>
        <p:spPr>
          <a:xfrm>
            <a:off x="3767328" y="3429000"/>
            <a:ext cx="1965960" cy="1325880"/>
          </a:xfrm>
          <a:prstGeom prst="rect">
            <a:avLst/>
          </a:prstGeom>
          <a:noFill/>
          <a:ln/>
        </p:spPr>
        <p:txBody>
          <a:bodyPr wrap="square" lIns="0" tIns="0" rIns="0" bIns="0" rtlCol="0" anchor="t"/>
          <a:lstStyle/>
          <a:p>
            <a:pPr marL="0" indent="0" algn="l">
              <a:lnSpc>
                <a:spcPct val="130000"/>
              </a:lnSpc>
              <a:buNone/>
            </a:pPr>
            <a:r>
              <a:rPr lang="en-US" sz="1250" dirty="0">
                <a:solidFill>
                  <a:srgbClr val="2B2B2B"/>
                </a:solidFill>
                <a:latin typeface="Times New Roman" pitchFamily="34" charset="0"/>
                <a:ea typeface="Times New Roman" pitchFamily="34" charset="-122"/>
                <a:cs typeface="Times New Roman" pitchFamily="34" charset="-120"/>
              </a:rPr>
              <a:t>An ER sketch decides what to embed vs reference</a:t>
            </a:r>
            <a:endParaRPr lang="en-US" sz="1250" dirty="0"/>
          </a:p>
        </p:txBody>
      </p:sp>
      <p:sp>
        <p:nvSpPr>
          <p:cNvPr id="15" name="Shape 12"/>
          <p:cNvSpPr/>
          <p:nvPr/>
        </p:nvSpPr>
        <p:spPr>
          <a:xfrm>
            <a:off x="6181344" y="1783080"/>
            <a:ext cx="2432304" cy="3246120"/>
          </a:xfrm>
          <a:prstGeom prst="roundRect">
            <a:avLst>
              <a:gd name="adj" fmla="val 3008"/>
            </a:avLst>
          </a:prstGeom>
          <a:solidFill>
            <a:srgbClr val="FFFFFF"/>
          </a:solidFill>
          <a:ln w="12700">
            <a:solidFill>
              <a:srgbClr val="D2DCE6"/>
            </a:solidFill>
            <a:prstDash val="solid"/>
          </a:ln>
        </p:spPr>
      </p:sp>
      <p:sp>
        <p:nvSpPr>
          <p:cNvPr id="16" name="Shape 13"/>
          <p:cNvSpPr/>
          <p:nvPr/>
        </p:nvSpPr>
        <p:spPr>
          <a:xfrm>
            <a:off x="6181344" y="1783080"/>
            <a:ext cx="2432304" cy="109728"/>
          </a:xfrm>
          <a:prstGeom prst="rect">
            <a:avLst/>
          </a:prstGeom>
          <a:solidFill>
            <a:srgbClr val="196B24"/>
          </a:solidFill>
          <a:ln/>
        </p:spPr>
      </p:sp>
      <p:sp>
        <p:nvSpPr>
          <p:cNvPr id="17" name="Text 14"/>
          <p:cNvSpPr/>
          <p:nvPr/>
        </p:nvSpPr>
        <p:spPr>
          <a:xfrm>
            <a:off x="6437376" y="2057400"/>
            <a:ext cx="1965960" cy="621792"/>
          </a:xfrm>
          <a:prstGeom prst="rect">
            <a:avLst/>
          </a:prstGeom>
          <a:noFill/>
          <a:ln/>
        </p:spPr>
        <p:txBody>
          <a:bodyPr wrap="square" lIns="0" tIns="0" rIns="0" bIns="0" rtlCol="0" anchor="t"/>
          <a:lstStyle/>
          <a:p>
            <a:pPr marL="0" indent="0" algn="l">
              <a:buNone/>
            </a:pPr>
            <a:r>
              <a:rPr lang="en-US" sz="1500" b="1" dirty="0">
                <a:solidFill>
                  <a:srgbClr val="196B24"/>
                </a:solidFill>
                <a:latin typeface="Times New Roman" pitchFamily="34" charset="0"/>
                <a:ea typeface="Times New Roman" pitchFamily="34" charset="-122"/>
                <a:cs typeface="Times New Roman" pitchFamily="34" charset="-120"/>
              </a:rPr>
              <a:t>Graph databases</a:t>
            </a:r>
            <a:endParaRPr lang="en-US" sz="1500" dirty="0"/>
          </a:p>
        </p:txBody>
      </p:sp>
      <p:sp>
        <p:nvSpPr>
          <p:cNvPr id="18" name="Text 15"/>
          <p:cNvSpPr/>
          <p:nvPr/>
        </p:nvSpPr>
        <p:spPr>
          <a:xfrm>
            <a:off x="6437376" y="2743200"/>
            <a:ext cx="1965960" cy="548640"/>
          </a:xfrm>
          <a:prstGeom prst="rect">
            <a:avLst/>
          </a:prstGeom>
          <a:noFill/>
          <a:ln/>
        </p:spPr>
        <p:txBody>
          <a:bodyPr wrap="square" lIns="0" tIns="0" rIns="0" bIns="0" rtlCol="0" anchor="t"/>
          <a:lstStyle/>
          <a:p>
            <a:pPr marL="0" indent="0" algn="l">
              <a:buNone/>
            </a:pPr>
            <a:r>
              <a:rPr lang="en-US" sz="1200" dirty="0">
                <a:solidFill>
                  <a:srgbClr val="5A6472"/>
                </a:solidFill>
                <a:latin typeface="Consolas" pitchFamily="34" charset="0"/>
                <a:ea typeface="Consolas" pitchFamily="34" charset="-122"/>
                <a:cs typeface="Consolas" pitchFamily="34" charset="-120"/>
              </a:rPr>
              <a:t>Neo4j, Neptune</a:t>
            </a:r>
            <a:endParaRPr lang="en-US" sz="1200" dirty="0"/>
          </a:p>
        </p:txBody>
      </p:sp>
      <p:sp>
        <p:nvSpPr>
          <p:cNvPr id="19" name="Text 16"/>
          <p:cNvSpPr/>
          <p:nvPr/>
        </p:nvSpPr>
        <p:spPr>
          <a:xfrm>
            <a:off x="6437376" y="3429000"/>
            <a:ext cx="1965960" cy="1325880"/>
          </a:xfrm>
          <a:prstGeom prst="rect">
            <a:avLst/>
          </a:prstGeom>
          <a:noFill/>
          <a:ln/>
        </p:spPr>
        <p:txBody>
          <a:bodyPr wrap="square" lIns="0" tIns="0" rIns="0" bIns="0" rtlCol="0" anchor="t"/>
          <a:lstStyle/>
          <a:p>
            <a:pPr marL="0" indent="0" algn="l">
              <a:lnSpc>
                <a:spcPct val="130000"/>
              </a:lnSpc>
              <a:buNone/>
            </a:pPr>
            <a:r>
              <a:rPr lang="en-US" sz="1250" dirty="0">
                <a:solidFill>
                  <a:srgbClr val="2B2B2B"/>
                </a:solidFill>
                <a:latin typeface="Times New Roman" pitchFamily="34" charset="0"/>
                <a:ea typeface="Times New Roman" pitchFamily="34" charset="-122"/>
                <a:cs typeface="Times New Roman" pitchFamily="34" charset="-120"/>
              </a:rPr>
              <a:t>Relationships become first-class — fraud, social graphs</a:t>
            </a:r>
            <a:endParaRPr lang="en-US" sz="1250" dirty="0"/>
          </a:p>
        </p:txBody>
      </p:sp>
      <p:sp>
        <p:nvSpPr>
          <p:cNvPr id="20" name="Shape 17"/>
          <p:cNvSpPr/>
          <p:nvPr/>
        </p:nvSpPr>
        <p:spPr>
          <a:xfrm>
            <a:off x="8851392" y="1783080"/>
            <a:ext cx="2432304" cy="3246120"/>
          </a:xfrm>
          <a:prstGeom prst="roundRect">
            <a:avLst>
              <a:gd name="adj" fmla="val 3008"/>
            </a:avLst>
          </a:prstGeom>
          <a:solidFill>
            <a:srgbClr val="FFFFFF"/>
          </a:solidFill>
          <a:ln w="12700">
            <a:solidFill>
              <a:srgbClr val="D2DCE6"/>
            </a:solidFill>
            <a:prstDash val="solid"/>
          </a:ln>
        </p:spPr>
      </p:sp>
      <p:sp>
        <p:nvSpPr>
          <p:cNvPr id="21" name="Shape 18"/>
          <p:cNvSpPr/>
          <p:nvPr/>
        </p:nvSpPr>
        <p:spPr>
          <a:xfrm>
            <a:off x="8851392" y="1783080"/>
            <a:ext cx="2432304" cy="109728"/>
          </a:xfrm>
          <a:prstGeom prst="rect">
            <a:avLst/>
          </a:prstGeom>
          <a:solidFill>
            <a:srgbClr val="A02B93"/>
          </a:solidFill>
          <a:ln/>
        </p:spPr>
      </p:sp>
      <p:sp>
        <p:nvSpPr>
          <p:cNvPr id="22" name="Text 19"/>
          <p:cNvSpPr/>
          <p:nvPr/>
        </p:nvSpPr>
        <p:spPr>
          <a:xfrm>
            <a:off x="9107424" y="2057400"/>
            <a:ext cx="1965960" cy="621792"/>
          </a:xfrm>
          <a:prstGeom prst="rect">
            <a:avLst/>
          </a:prstGeom>
          <a:noFill/>
          <a:ln/>
        </p:spPr>
        <p:txBody>
          <a:bodyPr wrap="square" lIns="0" tIns="0" rIns="0" bIns="0" rtlCol="0" anchor="t"/>
          <a:lstStyle/>
          <a:p>
            <a:pPr marL="0" indent="0" algn="l">
              <a:buNone/>
            </a:pPr>
            <a:r>
              <a:rPr lang="en-US" sz="1500" b="1" dirty="0">
                <a:solidFill>
                  <a:srgbClr val="A02B93"/>
                </a:solidFill>
                <a:latin typeface="Times New Roman" pitchFamily="34" charset="0"/>
                <a:ea typeface="Times New Roman" pitchFamily="34" charset="-122"/>
                <a:cs typeface="Times New Roman" pitchFamily="34" charset="-120"/>
              </a:rPr>
              <a:t>AI-assisted design</a:t>
            </a:r>
            <a:endParaRPr lang="en-US" sz="1500" dirty="0"/>
          </a:p>
        </p:txBody>
      </p:sp>
      <p:sp>
        <p:nvSpPr>
          <p:cNvPr id="23" name="Text 20"/>
          <p:cNvSpPr/>
          <p:nvPr/>
        </p:nvSpPr>
        <p:spPr>
          <a:xfrm>
            <a:off x="9107424" y="2743200"/>
            <a:ext cx="1965960" cy="548640"/>
          </a:xfrm>
          <a:prstGeom prst="rect">
            <a:avLst/>
          </a:prstGeom>
          <a:noFill/>
          <a:ln/>
        </p:spPr>
        <p:txBody>
          <a:bodyPr wrap="square" lIns="0" tIns="0" rIns="0" bIns="0" rtlCol="0" anchor="t"/>
          <a:lstStyle/>
          <a:p>
            <a:pPr marL="0" indent="0" algn="l">
              <a:buNone/>
            </a:pPr>
            <a:r>
              <a:rPr lang="en-US" sz="1200" dirty="0">
                <a:solidFill>
                  <a:srgbClr val="5A6472"/>
                </a:solidFill>
                <a:latin typeface="Consolas" pitchFamily="34" charset="0"/>
                <a:ea typeface="Consolas" pitchFamily="34" charset="-122"/>
                <a:cs typeface="Consolas" pitchFamily="34" charset="-120"/>
              </a:rPr>
              <a:t>Copilot, text-to-SQL</a:t>
            </a:r>
            <a:endParaRPr lang="en-US" sz="1200" dirty="0"/>
          </a:p>
        </p:txBody>
      </p:sp>
      <p:sp>
        <p:nvSpPr>
          <p:cNvPr id="24" name="Text 21"/>
          <p:cNvSpPr/>
          <p:nvPr/>
        </p:nvSpPr>
        <p:spPr>
          <a:xfrm>
            <a:off x="9107424" y="3429000"/>
            <a:ext cx="1965960" cy="1325880"/>
          </a:xfrm>
          <a:prstGeom prst="rect">
            <a:avLst/>
          </a:prstGeom>
          <a:noFill/>
          <a:ln/>
        </p:spPr>
        <p:txBody>
          <a:bodyPr wrap="square" lIns="0" tIns="0" rIns="0" bIns="0" rtlCol="0" anchor="t"/>
          <a:lstStyle/>
          <a:p>
            <a:pPr marL="0" indent="0" algn="l">
              <a:lnSpc>
                <a:spcPct val="130000"/>
              </a:lnSpc>
              <a:buNone/>
            </a:pPr>
            <a:r>
              <a:rPr lang="en-US" sz="1250" dirty="0">
                <a:solidFill>
                  <a:srgbClr val="2B2B2B"/>
                </a:solidFill>
                <a:latin typeface="Times New Roman" pitchFamily="34" charset="0"/>
                <a:ea typeface="Times New Roman" pitchFamily="34" charset="-122"/>
                <a:cs typeface="Times New Roman" pitchFamily="34" charset="-120"/>
              </a:rPr>
              <a:t>AI drafts the schema; engineers review it with ER rules</a:t>
            </a:r>
            <a:endParaRPr lang="en-US" sz="1250" dirty="0"/>
          </a:p>
        </p:txBody>
      </p:sp>
      <p:sp>
        <p:nvSpPr>
          <p:cNvPr id="25" name="Shape 22"/>
          <p:cNvSpPr/>
          <p:nvPr/>
        </p:nvSpPr>
        <p:spPr>
          <a:xfrm>
            <a:off x="841248" y="5349240"/>
            <a:ext cx="10515600" cy="566928"/>
          </a:xfrm>
          <a:prstGeom prst="roundRect">
            <a:avLst>
              <a:gd name="adj" fmla="val 16129"/>
            </a:avLst>
          </a:prstGeom>
          <a:solidFill>
            <a:srgbClr val="E8F2F8"/>
          </a:solidFill>
          <a:ln/>
        </p:spPr>
      </p:sp>
      <p:sp>
        <p:nvSpPr>
          <p:cNvPr id="26" name="Text 23"/>
          <p:cNvSpPr/>
          <p:nvPr/>
        </p:nvSpPr>
        <p:spPr>
          <a:xfrm>
            <a:off x="1161288" y="5349240"/>
            <a:ext cx="9875520" cy="566928"/>
          </a:xfrm>
          <a:prstGeom prst="rect">
            <a:avLst/>
          </a:prstGeom>
          <a:noFill/>
          <a:ln/>
        </p:spPr>
        <p:txBody>
          <a:bodyPr wrap="square" lIns="0" tIns="0" rIns="0" bIns="0" rtlCol="0" anchor="ctr"/>
          <a:lstStyle/>
          <a:p>
            <a:pPr marL="0" indent="0" algn="l">
              <a:buNone/>
            </a:pPr>
            <a:r>
              <a:rPr lang="en-US" sz="1250" b="1" dirty="0">
                <a:solidFill>
                  <a:srgbClr val="156082"/>
                </a:solidFill>
                <a:latin typeface="Times New Roman" pitchFamily="34" charset="0"/>
                <a:ea typeface="Times New Roman" pitchFamily="34" charset="-122"/>
                <a:cs typeface="Times New Roman" pitchFamily="34" charset="-120"/>
              </a:rPr>
              <a:t>New engines, same foundation — design interviews at Amazon, Microsoft and Flipkart still open with “draw the ER diagram”.</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Think – Pair – Share</a:t>
            </a:r>
            <a:endParaRPr lang="en-US" sz="3200" dirty="0"/>
          </a:p>
        </p:txBody>
      </p:sp>
      <p:sp>
        <p:nvSpPr>
          <p:cNvPr id="5" name="Shape 2"/>
          <p:cNvSpPr/>
          <p:nvPr/>
        </p:nvSpPr>
        <p:spPr>
          <a:xfrm>
            <a:off x="841248" y="1737360"/>
            <a:ext cx="10515600" cy="960120"/>
          </a:xfrm>
          <a:prstGeom prst="roundRect">
            <a:avLst>
              <a:gd name="adj" fmla="val 9524"/>
            </a:avLst>
          </a:prstGeom>
          <a:solidFill>
            <a:srgbClr val="1E3040"/>
          </a:solidFill>
          <a:ln/>
        </p:spPr>
      </p:sp>
      <p:sp>
        <p:nvSpPr>
          <p:cNvPr id="6" name="Text 3"/>
          <p:cNvSpPr/>
          <p:nvPr/>
        </p:nvSpPr>
        <p:spPr>
          <a:xfrm>
            <a:off x="1252728" y="1737360"/>
            <a:ext cx="9692640" cy="960120"/>
          </a:xfrm>
          <a:prstGeom prst="rect">
            <a:avLst/>
          </a:prstGeom>
          <a:noFill/>
          <a:ln/>
        </p:spPr>
        <p:txBody>
          <a:bodyPr wrap="square" lIns="0" tIns="0" rIns="0" bIns="0" rtlCol="0" anchor="ctr"/>
          <a:lstStyle/>
          <a:p>
            <a:pPr marL="0" indent="0" algn="l">
              <a:lnSpc>
                <a:spcPct val="135000"/>
              </a:lnSpc>
              <a:buNone/>
            </a:pPr>
            <a:r>
              <a:rPr lang="en-US" sz="1500" dirty="0">
                <a:solidFill>
                  <a:srgbClr val="E8F2F8"/>
                </a:solidFill>
                <a:latin typeface="Times New Roman" pitchFamily="34" charset="0"/>
                <a:ea typeface="Times New Roman" pitchFamily="34" charset="-122"/>
                <a:cs typeface="Times New Roman" pitchFamily="34" charset="-120"/>
              </a:rPr>
              <a:t>A food-delivery app says: “a rider may be idle, but every delivery has a rider.”</a:t>
            </a:r>
            <a:endParaRPr lang="en-US" sz="1500" dirty="0"/>
          </a:p>
          <a:p>
            <a:pPr marL="0" indent="0" algn="l">
              <a:lnSpc>
                <a:spcPct val="135000"/>
              </a:lnSpc>
              <a:buNone/>
            </a:pPr>
            <a:r>
              <a:rPr lang="en-US" sz="1500" dirty="0">
                <a:solidFill>
                  <a:srgbClr val="E8F2F8"/>
                </a:solidFill>
                <a:latin typeface="Times New Roman" pitchFamily="34" charset="0"/>
                <a:ea typeface="Times New Roman" pitchFamily="34" charset="-122"/>
                <a:cs typeface="Times New Roman" pitchFamily="34" charset="-120"/>
              </a:rPr>
              <a:t>What is the participation on each side?</a:t>
            </a:r>
            <a:endParaRPr lang="en-US" sz="1500" dirty="0"/>
          </a:p>
        </p:txBody>
      </p:sp>
      <p:sp>
        <p:nvSpPr>
          <p:cNvPr id="7" name="Shape 4"/>
          <p:cNvSpPr/>
          <p:nvPr/>
        </p:nvSpPr>
        <p:spPr>
          <a:xfrm>
            <a:off x="841248" y="3063240"/>
            <a:ext cx="3346704" cy="1920240"/>
          </a:xfrm>
          <a:prstGeom prst="roundRect">
            <a:avLst>
              <a:gd name="adj" fmla="val 3810"/>
            </a:avLst>
          </a:prstGeom>
          <a:solidFill>
            <a:srgbClr val="FFFFFF"/>
          </a:solidFill>
          <a:ln w="12700">
            <a:solidFill>
              <a:srgbClr val="D2DCE6"/>
            </a:solidFill>
            <a:prstDash val="solid"/>
          </a:ln>
        </p:spPr>
      </p:sp>
      <p:sp>
        <p:nvSpPr>
          <p:cNvPr id="8" name="Shape 5"/>
          <p:cNvSpPr/>
          <p:nvPr/>
        </p:nvSpPr>
        <p:spPr>
          <a:xfrm>
            <a:off x="841248" y="3063240"/>
            <a:ext cx="3346704" cy="109728"/>
          </a:xfrm>
          <a:prstGeom prst="rect">
            <a:avLst/>
          </a:prstGeom>
          <a:solidFill>
            <a:srgbClr val="156082"/>
          </a:solidFill>
          <a:ln/>
        </p:spPr>
      </p:sp>
      <p:sp>
        <p:nvSpPr>
          <p:cNvPr id="9" name="Shape 6"/>
          <p:cNvSpPr/>
          <p:nvPr/>
        </p:nvSpPr>
        <p:spPr>
          <a:xfrm>
            <a:off x="1133856" y="3401568"/>
            <a:ext cx="457200" cy="457200"/>
          </a:xfrm>
          <a:prstGeom prst="ellipse">
            <a:avLst/>
          </a:prstGeom>
          <a:solidFill>
            <a:srgbClr val="156082"/>
          </a:solidFill>
          <a:ln/>
        </p:spPr>
      </p:sp>
      <p:sp>
        <p:nvSpPr>
          <p:cNvPr id="10" name="Text 7"/>
          <p:cNvSpPr/>
          <p:nvPr/>
        </p:nvSpPr>
        <p:spPr>
          <a:xfrm>
            <a:off x="1133856" y="340156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1</a:t>
            </a:r>
            <a:endParaRPr lang="en-US" sz="1500" dirty="0"/>
          </a:p>
        </p:txBody>
      </p:sp>
      <p:sp>
        <p:nvSpPr>
          <p:cNvPr id="11" name="Text 8"/>
          <p:cNvSpPr/>
          <p:nvPr/>
        </p:nvSpPr>
        <p:spPr>
          <a:xfrm>
            <a:off x="1133856" y="4041648"/>
            <a:ext cx="2743200" cy="384048"/>
          </a:xfrm>
          <a:prstGeom prst="rect">
            <a:avLst/>
          </a:prstGeom>
          <a:noFill/>
          <a:ln/>
        </p:spPr>
        <p:txBody>
          <a:bodyPr wrap="square" lIns="0" tIns="0" rIns="0" bIns="0" rtlCol="0" anchor="ctr"/>
          <a:lstStyle/>
          <a:p>
            <a:pPr marL="0" indent="0" algn="l">
              <a:buNone/>
            </a:pPr>
            <a:r>
              <a:rPr lang="en-US" sz="2000" b="1" dirty="0">
                <a:solidFill>
                  <a:srgbClr val="0E2841"/>
                </a:solidFill>
                <a:latin typeface="Times New Roman" pitchFamily="34" charset="0"/>
                <a:ea typeface="Times New Roman" pitchFamily="34" charset="-122"/>
                <a:cs typeface="Times New Roman" pitchFamily="34" charset="-120"/>
              </a:rPr>
              <a:t>Think</a:t>
            </a:r>
            <a:endParaRPr lang="en-US" sz="2000" dirty="0"/>
          </a:p>
        </p:txBody>
      </p:sp>
      <p:sp>
        <p:nvSpPr>
          <p:cNvPr id="12" name="Text 9"/>
          <p:cNvSpPr/>
          <p:nvPr/>
        </p:nvSpPr>
        <p:spPr>
          <a:xfrm>
            <a:off x="1133856" y="4443984"/>
            <a:ext cx="2743200" cy="292608"/>
          </a:xfrm>
          <a:prstGeom prst="rect">
            <a:avLst/>
          </a:prstGeom>
          <a:noFill/>
          <a:ln/>
        </p:spPr>
        <p:txBody>
          <a:bodyPr wrap="square" lIns="0" tIns="0" rIns="0" bIns="0" rtlCol="0" anchor="ctr"/>
          <a:lstStyle/>
          <a:p>
            <a:pPr marL="0" indent="0" algn="l">
              <a:buNone/>
            </a:pPr>
            <a:r>
              <a:rPr lang="en-US" sz="1250" dirty="0">
                <a:solidFill>
                  <a:srgbClr val="5A6472"/>
                </a:solidFill>
                <a:latin typeface="Times New Roman" pitchFamily="34" charset="0"/>
                <a:ea typeface="Times New Roman" pitchFamily="34" charset="-122"/>
                <a:cs typeface="Times New Roman" pitchFamily="34" charset="-120"/>
              </a:rPr>
              <a:t>on your own</a:t>
            </a:r>
            <a:endParaRPr lang="en-US" sz="1250" dirty="0"/>
          </a:p>
        </p:txBody>
      </p:sp>
      <p:sp>
        <p:nvSpPr>
          <p:cNvPr id="13" name="Text 10"/>
          <p:cNvSpPr/>
          <p:nvPr/>
        </p:nvSpPr>
        <p:spPr>
          <a:xfrm>
            <a:off x="2944368" y="3401568"/>
            <a:ext cx="960120" cy="384048"/>
          </a:xfrm>
          <a:prstGeom prst="rect">
            <a:avLst/>
          </a:prstGeom>
          <a:noFill/>
          <a:ln/>
        </p:spPr>
        <p:txBody>
          <a:bodyPr wrap="square" lIns="0" tIns="0" rIns="0" bIns="0" rtlCol="0" anchor="ctr"/>
          <a:lstStyle/>
          <a:p>
            <a:pPr marL="0" indent="0" algn="r">
              <a:buNone/>
            </a:pPr>
            <a:r>
              <a:rPr lang="en-US" sz="1200" dirty="0">
                <a:solidFill>
                  <a:srgbClr val="5A6472"/>
                </a:solidFill>
                <a:latin typeface="Times New Roman" pitchFamily="34" charset="0"/>
                <a:ea typeface="Times New Roman" pitchFamily="34" charset="-122"/>
                <a:cs typeface="Times New Roman" pitchFamily="34" charset="-120"/>
              </a:rPr>
              <a:t>1 min</a:t>
            </a:r>
            <a:endParaRPr lang="en-US" sz="1200" dirty="0"/>
          </a:p>
        </p:txBody>
      </p:sp>
      <p:sp>
        <p:nvSpPr>
          <p:cNvPr id="14" name="Shape 11"/>
          <p:cNvSpPr/>
          <p:nvPr/>
        </p:nvSpPr>
        <p:spPr>
          <a:xfrm>
            <a:off x="4425696" y="3063240"/>
            <a:ext cx="3346704" cy="1920240"/>
          </a:xfrm>
          <a:prstGeom prst="roundRect">
            <a:avLst>
              <a:gd name="adj" fmla="val 3810"/>
            </a:avLst>
          </a:prstGeom>
          <a:solidFill>
            <a:srgbClr val="FFFFFF"/>
          </a:solidFill>
          <a:ln w="12700">
            <a:solidFill>
              <a:srgbClr val="D2DCE6"/>
            </a:solidFill>
            <a:prstDash val="solid"/>
          </a:ln>
        </p:spPr>
      </p:sp>
      <p:sp>
        <p:nvSpPr>
          <p:cNvPr id="15" name="Shape 12"/>
          <p:cNvSpPr/>
          <p:nvPr/>
        </p:nvSpPr>
        <p:spPr>
          <a:xfrm>
            <a:off x="4425696" y="3063240"/>
            <a:ext cx="3346704" cy="109728"/>
          </a:xfrm>
          <a:prstGeom prst="rect">
            <a:avLst/>
          </a:prstGeom>
          <a:solidFill>
            <a:srgbClr val="E97132"/>
          </a:solidFill>
          <a:ln/>
        </p:spPr>
      </p:sp>
      <p:sp>
        <p:nvSpPr>
          <p:cNvPr id="16" name="Shape 13"/>
          <p:cNvSpPr/>
          <p:nvPr/>
        </p:nvSpPr>
        <p:spPr>
          <a:xfrm>
            <a:off x="4718304" y="3401568"/>
            <a:ext cx="457200" cy="457200"/>
          </a:xfrm>
          <a:prstGeom prst="ellipse">
            <a:avLst/>
          </a:prstGeom>
          <a:solidFill>
            <a:srgbClr val="E97132"/>
          </a:solidFill>
          <a:ln/>
        </p:spPr>
      </p:sp>
      <p:sp>
        <p:nvSpPr>
          <p:cNvPr id="17" name="Text 14"/>
          <p:cNvSpPr/>
          <p:nvPr/>
        </p:nvSpPr>
        <p:spPr>
          <a:xfrm>
            <a:off x="4718304" y="340156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2</a:t>
            </a:r>
            <a:endParaRPr lang="en-US" sz="1500" dirty="0"/>
          </a:p>
        </p:txBody>
      </p:sp>
      <p:sp>
        <p:nvSpPr>
          <p:cNvPr id="18" name="Text 15"/>
          <p:cNvSpPr/>
          <p:nvPr/>
        </p:nvSpPr>
        <p:spPr>
          <a:xfrm>
            <a:off x="4718304" y="4041648"/>
            <a:ext cx="2743200" cy="384048"/>
          </a:xfrm>
          <a:prstGeom prst="rect">
            <a:avLst/>
          </a:prstGeom>
          <a:noFill/>
          <a:ln/>
        </p:spPr>
        <p:txBody>
          <a:bodyPr wrap="square" lIns="0" tIns="0" rIns="0" bIns="0" rtlCol="0" anchor="ctr"/>
          <a:lstStyle/>
          <a:p>
            <a:pPr marL="0" indent="0" algn="l">
              <a:buNone/>
            </a:pPr>
            <a:r>
              <a:rPr lang="en-US" sz="2000" b="1" dirty="0">
                <a:solidFill>
                  <a:srgbClr val="0E2841"/>
                </a:solidFill>
                <a:latin typeface="Times New Roman" pitchFamily="34" charset="0"/>
                <a:ea typeface="Times New Roman" pitchFamily="34" charset="-122"/>
                <a:cs typeface="Times New Roman" pitchFamily="34" charset="-120"/>
              </a:rPr>
              <a:t>Pair</a:t>
            </a:r>
            <a:endParaRPr lang="en-US" sz="2000" dirty="0"/>
          </a:p>
        </p:txBody>
      </p:sp>
      <p:sp>
        <p:nvSpPr>
          <p:cNvPr id="19" name="Text 16"/>
          <p:cNvSpPr/>
          <p:nvPr/>
        </p:nvSpPr>
        <p:spPr>
          <a:xfrm>
            <a:off x="4718304" y="4443984"/>
            <a:ext cx="2743200" cy="292608"/>
          </a:xfrm>
          <a:prstGeom prst="rect">
            <a:avLst/>
          </a:prstGeom>
          <a:noFill/>
          <a:ln/>
        </p:spPr>
        <p:txBody>
          <a:bodyPr wrap="square" lIns="0" tIns="0" rIns="0" bIns="0" rtlCol="0" anchor="ctr"/>
          <a:lstStyle/>
          <a:p>
            <a:pPr marL="0" indent="0" algn="l">
              <a:buNone/>
            </a:pPr>
            <a:r>
              <a:rPr lang="en-US" sz="1250" dirty="0">
                <a:solidFill>
                  <a:srgbClr val="5A6472"/>
                </a:solidFill>
                <a:latin typeface="Times New Roman" pitchFamily="34" charset="0"/>
                <a:ea typeface="Times New Roman" pitchFamily="34" charset="-122"/>
                <a:cs typeface="Times New Roman" pitchFamily="34" charset="-120"/>
              </a:rPr>
              <a:t>with a neighbour</a:t>
            </a:r>
            <a:endParaRPr lang="en-US" sz="1250" dirty="0"/>
          </a:p>
        </p:txBody>
      </p:sp>
      <p:sp>
        <p:nvSpPr>
          <p:cNvPr id="20" name="Text 17"/>
          <p:cNvSpPr/>
          <p:nvPr/>
        </p:nvSpPr>
        <p:spPr>
          <a:xfrm>
            <a:off x="6528816" y="3401568"/>
            <a:ext cx="960120" cy="384048"/>
          </a:xfrm>
          <a:prstGeom prst="rect">
            <a:avLst/>
          </a:prstGeom>
          <a:noFill/>
          <a:ln/>
        </p:spPr>
        <p:txBody>
          <a:bodyPr wrap="square" lIns="0" tIns="0" rIns="0" bIns="0" rtlCol="0" anchor="ctr"/>
          <a:lstStyle/>
          <a:p>
            <a:pPr marL="0" indent="0" algn="r">
              <a:buNone/>
            </a:pPr>
            <a:r>
              <a:rPr lang="en-US" sz="1200" dirty="0">
                <a:solidFill>
                  <a:srgbClr val="5A6472"/>
                </a:solidFill>
                <a:latin typeface="Times New Roman" pitchFamily="34" charset="0"/>
                <a:ea typeface="Times New Roman" pitchFamily="34" charset="-122"/>
                <a:cs typeface="Times New Roman" pitchFamily="34" charset="-120"/>
              </a:rPr>
              <a:t>2 min</a:t>
            </a:r>
            <a:endParaRPr lang="en-US" sz="1200" dirty="0"/>
          </a:p>
        </p:txBody>
      </p:sp>
      <p:sp>
        <p:nvSpPr>
          <p:cNvPr id="21" name="Shape 18"/>
          <p:cNvSpPr/>
          <p:nvPr/>
        </p:nvSpPr>
        <p:spPr>
          <a:xfrm>
            <a:off x="8010144" y="3063240"/>
            <a:ext cx="3346704" cy="1920240"/>
          </a:xfrm>
          <a:prstGeom prst="roundRect">
            <a:avLst>
              <a:gd name="adj" fmla="val 3810"/>
            </a:avLst>
          </a:prstGeom>
          <a:solidFill>
            <a:srgbClr val="FFFFFF"/>
          </a:solidFill>
          <a:ln w="12700">
            <a:solidFill>
              <a:srgbClr val="D2DCE6"/>
            </a:solidFill>
            <a:prstDash val="solid"/>
          </a:ln>
        </p:spPr>
      </p:sp>
      <p:sp>
        <p:nvSpPr>
          <p:cNvPr id="22" name="Shape 19"/>
          <p:cNvSpPr/>
          <p:nvPr/>
        </p:nvSpPr>
        <p:spPr>
          <a:xfrm>
            <a:off x="8010144" y="3063240"/>
            <a:ext cx="3346704" cy="109728"/>
          </a:xfrm>
          <a:prstGeom prst="rect">
            <a:avLst/>
          </a:prstGeom>
          <a:solidFill>
            <a:srgbClr val="196B24"/>
          </a:solidFill>
          <a:ln/>
        </p:spPr>
      </p:sp>
      <p:sp>
        <p:nvSpPr>
          <p:cNvPr id="23" name="Shape 20"/>
          <p:cNvSpPr/>
          <p:nvPr/>
        </p:nvSpPr>
        <p:spPr>
          <a:xfrm>
            <a:off x="8302752" y="3401568"/>
            <a:ext cx="457200" cy="457200"/>
          </a:xfrm>
          <a:prstGeom prst="ellipse">
            <a:avLst/>
          </a:prstGeom>
          <a:solidFill>
            <a:srgbClr val="196B24"/>
          </a:solidFill>
          <a:ln/>
        </p:spPr>
      </p:sp>
      <p:sp>
        <p:nvSpPr>
          <p:cNvPr id="24" name="Text 21"/>
          <p:cNvSpPr/>
          <p:nvPr/>
        </p:nvSpPr>
        <p:spPr>
          <a:xfrm>
            <a:off x="8302752" y="340156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Times New Roman" pitchFamily="34" charset="0"/>
                <a:ea typeface="Times New Roman" pitchFamily="34" charset="-122"/>
                <a:cs typeface="Times New Roman" pitchFamily="34" charset="-120"/>
              </a:rPr>
              <a:t>3</a:t>
            </a:r>
            <a:endParaRPr lang="en-US" sz="1500" dirty="0"/>
          </a:p>
        </p:txBody>
      </p:sp>
      <p:sp>
        <p:nvSpPr>
          <p:cNvPr id="25" name="Text 22"/>
          <p:cNvSpPr/>
          <p:nvPr/>
        </p:nvSpPr>
        <p:spPr>
          <a:xfrm>
            <a:off x="8302752" y="4041648"/>
            <a:ext cx="2743200" cy="384048"/>
          </a:xfrm>
          <a:prstGeom prst="rect">
            <a:avLst/>
          </a:prstGeom>
          <a:noFill/>
          <a:ln/>
        </p:spPr>
        <p:txBody>
          <a:bodyPr wrap="square" lIns="0" tIns="0" rIns="0" bIns="0" rtlCol="0" anchor="ctr"/>
          <a:lstStyle/>
          <a:p>
            <a:pPr marL="0" indent="0" algn="l">
              <a:buNone/>
            </a:pPr>
            <a:r>
              <a:rPr lang="en-US" sz="2000" b="1" dirty="0">
                <a:solidFill>
                  <a:srgbClr val="0E2841"/>
                </a:solidFill>
                <a:latin typeface="Times New Roman" pitchFamily="34" charset="0"/>
                <a:ea typeface="Times New Roman" pitchFamily="34" charset="-122"/>
                <a:cs typeface="Times New Roman" pitchFamily="34" charset="-120"/>
              </a:rPr>
              <a:t>Share</a:t>
            </a:r>
            <a:endParaRPr lang="en-US" sz="2000" dirty="0"/>
          </a:p>
        </p:txBody>
      </p:sp>
      <p:sp>
        <p:nvSpPr>
          <p:cNvPr id="26" name="Text 23"/>
          <p:cNvSpPr/>
          <p:nvPr/>
        </p:nvSpPr>
        <p:spPr>
          <a:xfrm>
            <a:off x="8302752" y="4443984"/>
            <a:ext cx="2743200" cy="292608"/>
          </a:xfrm>
          <a:prstGeom prst="rect">
            <a:avLst/>
          </a:prstGeom>
          <a:noFill/>
          <a:ln/>
        </p:spPr>
        <p:txBody>
          <a:bodyPr wrap="square" lIns="0" tIns="0" rIns="0" bIns="0" rtlCol="0" anchor="ctr"/>
          <a:lstStyle/>
          <a:p>
            <a:pPr marL="0" indent="0" algn="l">
              <a:buNone/>
            </a:pPr>
            <a:r>
              <a:rPr lang="en-US" sz="1250" dirty="0">
                <a:solidFill>
                  <a:srgbClr val="5A6472"/>
                </a:solidFill>
                <a:latin typeface="Times New Roman" pitchFamily="34" charset="0"/>
                <a:ea typeface="Times New Roman" pitchFamily="34" charset="-122"/>
                <a:cs typeface="Times New Roman" pitchFamily="34" charset="-120"/>
              </a:rPr>
              <a:t>with the class</a:t>
            </a:r>
            <a:endParaRPr lang="en-US" sz="1250" dirty="0"/>
          </a:p>
        </p:txBody>
      </p:sp>
      <p:sp>
        <p:nvSpPr>
          <p:cNvPr id="27" name="Text 24"/>
          <p:cNvSpPr/>
          <p:nvPr/>
        </p:nvSpPr>
        <p:spPr>
          <a:xfrm>
            <a:off x="10113264" y="3401568"/>
            <a:ext cx="960120" cy="384048"/>
          </a:xfrm>
          <a:prstGeom prst="rect">
            <a:avLst/>
          </a:prstGeom>
          <a:noFill/>
          <a:ln/>
        </p:spPr>
        <p:txBody>
          <a:bodyPr wrap="square" lIns="0" tIns="0" rIns="0" bIns="0" rtlCol="0" anchor="ctr"/>
          <a:lstStyle/>
          <a:p>
            <a:pPr marL="0" indent="0" algn="r">
              <a:buNone/>
            </a:pPr>
            <a:r>
              <a:rPr lang="en-US" sz="1200" dirty="0">
                <a:solidFill>
                  <a:srgbClr val="5A6472"/>
                </a:solidFill>
                <a:latin typeface="Times New Roman" pitchFamily="34" charset="0"/>
                <a:ea typeface="Times New Roman" pitchFamily="34" charset="-122"/>
                <a:cs typeface="Times New Roman" pitchFamily="34" charset="-120"/>
              </a:rPr>
              <a:t>2 min</a:t>
            </a:r>
            <a:endParaRPr lang="en-US" sz="1200" dirty="0"/>
          </a:p>
        </p:txBody>
      </p:sp>
      <p:sp>
        <p:nvSpPr>
          <p:cNvPr id="28" name="Text 25"/>
          <p:cNvSpPr/>
          <p:nvPr/>
        </p:nvSpPr>
        <p:spPr>
          <a:xfrm>
            <a:off x="841248" y="5257800"/>
            <a:ext cx="10515600" cy="310896"/>
          </a:xfrm>
          <a:prstGeom prst="rect">
            <a:avLst/>
          </a:prstGeom>
          <a:noFill/>
          <a:ln/>
        </p:spPr>
        <p:txBody>
          <a:bodyPr wrap="square" lIns="0" tIns="0" rIns="0" bIns="0" rtlCol="0" anchor="ctr"/>
          <a:lstStyle/>
          <a:p>
            <a:pPr marL="0" indent="0" algn="l">
              <a:buNone/>
            </a:pPr>
            <a:r>
              <a:rPr lang="en-US" sz="1300" i="1" dirty="0">
                <a:solidFill>
                  <a:srgbClr val="5A6472"/>
                </a:solidFill>
                <a:latin typeface="Times New Roman" pitchFamily="34" charset="0"/>
                <a:ea typeface="Times New Roman" pitchFamily="34" charset="-122"/>
                <a:cs typeface="Times New Roman" pitchFamily="34" charset="-120"/>
              </a:rPr>
              <a:t>Then name the SQL rule that enforces your answer.</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Check for Understanding</a:t>
            </a:r>
            <a:endParaRPr lang="en-US" sz="3200" dirty="0"/>
          </a:p>
        </p:txBody>
      </p:sp>
      <p:sp>
        <p:nvSpPr>
          <p:cNvPr id="5" name="Text 2"/>
          <p:cNvSpPr/>
          <p:nvPr/>
        </p:nvSpPr>
        <p:spPr>
          <a:xfrm>
            <a:off x="841248" y="1298448"/>
            <a:ext cx="10515600" cy="310896"/>
          </a:xfrm>
          <a:prstGeom prst="rect">
            <a:avLst/>
          </a:prstGeom>
          <a:noFill/>
          <a:ln/>
        </p:spPr>
        <p:txBody>
          <a:bodyPr wrap="square" lIns="0" tIns="0" rIns="0" bIns="0" rtlCol="0" anchor="ctr"/>
          <a:lstStyle/>
          <a:p>
            <a:pPr marL="0" indent="0" algn="l">
              <a:buNone/>
            </a:pPr>
            <a:r>
              <a:rPr lang="en-US" sz="1500" i="1" dirty="0">
                <a:solidFill>
                  <a:srgbClr val="5A6472"/>
                </a:solidFill>
                <a:latin typeface="Times New Roman" pitchFamily="34" charset="0"/>
                <a:ea typeface="Times New Roman" pitchFamily="34" charset="-122"/>
                <a:cs typeface="Times New Roman" pitchFamily="34" charset="-120"/>
              </a:rPr>
              <a:t>True or False?</a:t>
            </a:r>
            <a:endParaRPr lang="en-US" sz="1500" dirty="0"/>
          </a:p>
        </p:txBody>
      </p:sp>
      <p:sp>
        <p:nvSpPr>
          <p:cNvPr id="6" name="Shape 3"/>
          <p:cNvSpPr/>
          <p:nvPr/>
        </p:nvSpPr>
        <p:spPr>
          <a:xfrm>
            <a:off x="841248" y="1965960"/>
            <a:ext cx="10515600" cy="960120"/>
          </a:xfrm>
          <a:prstGeom prst="roundRect">
            <a:avLst>
              <a:gd name="adj" fmla="val 7619"/>
            </a:avLst>
          </a:prstGeom>
          <a:solidFill>
            <a:srgbClr val="FFFFFF"/>
          </a:solidFill>
          <a:ln w="12700">
            <a:solidFill>
              <a:srgbClr val="D2DCE6"/>
            </a:solidFill>
            <a:prstDash val="solid"/>
          </a:ln>
        </p:spPr>
      </p:sp>
      <p:sp>
        <p:nvSpPr>
          <p:cNvPr id="7" name="Shape 4"/>
          <p:cNvSpPr/>
          <p:nvPr/>
        </p:nvSpPr>
        <p:spPr>
          <a:xfrm>
            <a:off x="841248" y="1965960"/>
            <a:ext cx="109728" cy="960120"/>
          </a:xfrm>
          <a:prstGeom prst="rect">
            <a:avLst/>
          </a:prstGeom>
          <a:solidFill>
            <a:srgbClr val="156082"/>
          </a:solidFill>
          <a:ln/>
        </p:spPr>
      </p:sp>
      <p:sp>
        <p:nvSpPr>
          <p:cNvPr id="8" name="Shape 5"/>
          <p:cNvSpPr/>
          <p:nvPr/>
        </p:nvSpPr>
        <p:spPr>
          <a:xfrm>
            <a:off x="1225296" y="2240280"/>
            <a:ext cx="411480" cy="411480"/>
          </a:xfrm>
          <a:prstGeom prst="ellipse">
            <a:avLst/>
          </a:prstGeom>
          <a:solidFill>
            <a:srgbClr val="156082"/>
          </a:solidFill>
          <a:ln/>
        </p:spPr>
      </p:sp>
      <p:sp>
        <p:nvSpPr>
          <p:cNvPr id="9" name="Text 6"/>
          <p:cNvSpPr/>
          <p:nvPr/>
        </p:nvSpPr>
        <p:spPr>
          <a:xfrm>
            <a:off x="1225296" y="22402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10" name="Text 7"/>
          <p:cNvSpPr/>
          <p:nvPr/>
        </p:nvSpPr>
        <p:spPr>
          <a:xfrm>
            <a:off x="1892808" y="1965960"/>
            <a:ext cx="5852160" cy="960120"/>
          </a:xfrm>
          <a:prstGeom prst="rect">
            <a:avLst/>
          </a:prstGeom>
          <a:noFill/>
          <a:ln/>
        </p:spPr>
        <p:txBody>
          <a:bodyPr wrap="square" lIns="0" tIns="0" rIns="0" bIns="0" rtlCol="0" anchor="ctr"/>
          <a:lstStyle/>
          <a:p>
            <a:pPr marL="0" indent="0" algn="l">
              <a:buNone/>
            </a:pPr>
            <a:r>
              <a:rPr lang="en-US" sz="1600" dirty="0">
                <a:solidFill>
                  <a:srgbClr val="0E2841"/>
                </a:solidFill>
                <a:latin typeface="Times New Roman" pitchFamily="34" charset="0"/>
                <a:ea typeface="Times New Roman" pitchFamily="34" charset="-122"/>
                <a:cs typeface="Times New Roman" pitchFamily="34" charset="-120"/>
              </a:rPr>
              <a:t>A derived attribute is stored in the database</a:t>
            </a:r>
            <a:endParaRPr lang="en-US" sz="1600" dirty="0"/>
          </a:p>
        </p:txBody>
      </p:sp>
      <p:sp>
        <p:nvSpPr>
          <p:cNvPr id="11" name="Shape 8"/>
          <p:cNvSpPr/>
          <p:nvPr/>
        </p:nvSpPr>
        <p:spPr>
          <a:xfrm>
            <a:off x="8019288" y="2203704"/>
            <a:ext cx="1463040" cy="493776"/>
          </a:xfrm>
          <a:prstGeom prst="roundRect">
            <a:avLst>
              <a:gd name="adj" fmla="val 22222"/>
            </a:avLst>
          </a:prstGeom>
          <a:solidFill>
            <a:srgbClr val="EFF7EF"/>
          </a:solidFill>
          <a:ln/>
        </p:spPr>
      </p:sp>
      <p:sp>
        <p:nvSpPr>
          <p:cNvPr id="12" name="Text 9"/>
          <p:cNvSpPr/>
          <p:nvPr/>
        </p:nvSpPr>
        <p:spPr>
          <a:xfrm>
            <a:off x="8019288" y="2203704"/>
            <a:ext cx="1463040" cy="493776"/>
          </a:xfrm>
          <a:prstGeom prst="rect">
            <a:avLst/>
          </a:prstGeom>
          <a:noFill/>
          <a:ln/>
        </p:spPr>
        <p:txBody>
          <a:bodyPr wrap="square" lIns="0" tIns="0" rIns="0" bIns="0" rtlCol="0" anchor="ctr"/>
          <a:lstStyle/>
          <a:p>
            <a:pPr marL="0" indent="0" algn="ctr">
              <a:buNone/>
            </a:pPr>
            <a:r>
              <a:rPr lang="en-US" sz="1400" b="1" dirty="0">
                <a:solidFill>
                  <a:srgbClr val="196B24"/>
                </a:solidFill>
                <a:latin typeface="Times New Roman" pitchFamily="34" charset="0"/>
                <a:ea typeface="Times New Roman" pitchFamily="34" charset="-122"/>
                <a:cs typeface="Times New Roman" pitchFamily="34" charset="-120"/>
              </a:rPr>
              <a:t>True</a:t>
            </a:r>
            <a:endParaRPr lang="en-US" sz="1400" dirty="0"/>
          </a:p>
        </p:txBody>
      </p:sp>
      <p:sp>
        <p:nvSpPr>
          <p:cNvPr id="13" name="Shape 10"/>
          <p:cNvSpPr/>
          <p:nvPr/>
        </p:nvSpPr>
        <p:spPr>
          <a:xfrm>
            <a:off x="9710928" y="2203704"/>
            <a:ext cx="1463040" cy="493776"/>
          </a:xfrm>
          <a:prstGeom prst="roundRect">
            <a:avLst>
              <a:gd name="adj" fmla="val 22222"/>
            </a:avLst>
          </a:prstGeom>
          <a:solidFill>
            <a:srgbClr val="FDF0F0"/>
          </a:solidFill>
          <a:ln/>
        </p:spPr>
      </p:sp>
      <p:sp>
        <p:nvSpPr>
          <p:cNvPr id="14" name="Text 11"/>
          <p:cNvSpPr/>
          <p:nvPr/>
        </p:nvSpPr>
        <p:spPr>
          <a:xfrm>
            <a:off x="9710928" y="2203704"/>
            <a:ext cx="1463040" cy="493776"/>
          </a:xfrm>
          <a:prstGeom prst="rect">
            <a:avLst/>
          </a:prstGeom>
          <a:noFill/>
          <a:ln/>
        </p:spPr>
        <p:txBody>
          <a:bodyPr wrap="square" lIns="0" tIns="0" rIns="0" bIns="0" rtlCol="0" anchor="ctr"/>
          <a:lstStyle/>
          <a:p>
            <a:pPr marL="0" indent="0" algn="ctr">
              <a:buNone/>
            </a:pPr>
            <a:r>
              <a:rPr lang="en-US" sz="1400" b="1" dirty="0">
                <a:solidFill>
                  <a:srgbClr val="C03030"/>
                </a:solidFill>
                <a:latin typeface="Times New Roman" pitchFamily="34" charset="0"/>
                <a:ea typeface="Times New Roman" pitchFamily="34" charset="-122"/>
                <a:cs typeface="Times New Roman" pitchFamily="34" charset="-120"/>
              </a:rPr>
              <a:t>False</a:t>
            </a:r>
            <a:endParaRPr lang="en-US" sz="1400" dirty="0"/>
          </a:p>
        </p:txBody>
      </p:sp>
      <p:sp>
        <p:nvSpPr>
          <p:cNvPr id="15" name="Shape 12"/>
          <p:cNvSpPr/>
          <p:nvPr/>
        </p:nvSpPr>
        <p:spPr>
          <a:xfrm>
            <a:off x="841248" y="3154680"/>
            <a:ext cx="10515600" cy="960120"/>
          </a:xfrm>
          <a:prstGeom prst="roundRect">
            <a:avLst>
              <a:gd name="adj" fmla="val 7619"/>
            </a:avLst>
          </a:prstGeom>
          <a:solidFill>
            <a:srgbClr val="FFFFFF"/>
          </a:solidFill>
          <a:ln w="12700">
            <a:solidFill>
              <a:srgbClr val="D2DCE6"/>
            </a:solidFill>
            <a:prstDash val="solid"/>
          </a:ln>
        </p:spPr>
      </p:sp>
      <p:sp>
        <p:nvSpPr>
          <p:cNvPr id="16" name="Shape 13"/>
          <p:cNvSpPr/>
          <p:nvPr/>
        </p:nvSpPr>
        <p:spPr>
          <a:xfrm>
            <a:off x="841248" y="3154680"/>
            <a:ext cx="109728" cy="960120"/>
          </a:xfrm>
          <a:prstGeom prst="rect">
            <a:avLst/>
          </a:prstGeom>
          <a:solidFill>
            <a:srgbClr val="E97132"/>
          </a:solidFill>
          <a:ln/>
        </p:spPr>
      </p:sp>
      <p:sp>
        <p:nvSpPr>
          <p:cNvPr id="17" name="Shape 14"/>
          <p:cNvSpPr/>
          <p:nvPr/>
        </p:nvSpPr>
        <p:spPr>
          <a:xfrm>
            <a:off x="1225296" y="3429000"/>
            <a:ext cx="411480" cy="411480"/>
          </a:xfrm>
          <a:prstGeom prst="ellipse">
            <a:avLst/>
          </a:prstGeom>
          <a:solidFill>
            <a:srgbClr val="E97132"/>
          </a:solidFill>
          <a:ln/>
        </p:spPr>
      </p:sp>
      <p:sp>
        <p:nvSpPr>
          <p:cNvPr id="18" name="Text 15"/>
          <p:cNvSpPr/>
          <p:nvPr/>
        </p:nvSpPr>
        <p:spPr>
          <a:xfrm>
            <a:off x="1225296" y="342900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9" name="Text 16"/>
          <p:cNvSpPr/>
          <p:nvPr/>
        </p:nvSpPr>
        <p:spPr>
          <a:xfrm>
            <a:off x="1892808" y="3154680"/>
            <a:ext cx="5852160" cy="960120"/>
          </a:xfrm>
          <a:prstGeom prst="rect">
            <a:avLst/>
          </a:prstGeom>
          <a:noFill/>
          <a:ln/>
        </p:spPr>
        <p:txBody>
          <a:bodyPr wrap="square" lIns="0" tIns="0" rIns="0" bIns="0" rtlCol="0" anchor="ctr"/>
          <a:lstStyle/>
          <a:p>
            <a:pPr marL="0" indent="0" algn="l">
              <a:buNone/>
            </a:pPr>
            <a:r>
              <a:rPr lang="en-US" sz="1600" dirty="0">
                <a:solidFill>
                  <a:srgbClr val="0E2841"/>
                </a:solidFill>
                <a:latin typeface="Times New Roman" pitchFamily="34" charset="0"/>
                <a:ea typeface="Times New Roman" pitchFamily="34" charset="-122"/>
                <a:cs typeface="Times New Roman" pitchFamily="34" charset="-120"/>
              </a:rPr>
              <a:t>Every M : N relationship needs a junction table</a:t>
            </a:r>
            <a:endParaRPr lang="en-US" sz="1600" dirty="0"/>
          </a:p>
        </p:txBody>
      </p:sp>
      <p:sp>
        <p:nvSpPr>
          <p:cNvPr id="20" name="Shape 17"/>
          <p:cNvSpPr/>
          <p:nvPr/>
        </p:nvSpPr>
        <p:spPr>
          <a:xfrm>
            <a:off x="8019288" y="3392424"/>
            <a:ext cx="1463040" cy="493776"/>
          </a:xfrm>
          <a:prstGeom prst="roundRect">
            <a:avLst>
              <a:gd name="adj" fmla="val 22222"/>
            </a:avLst>
          </a:prstGeom>
          <a:solidFill>
            <a:srgbClr val="EFF7EF"/>
          </a:solidFill>
          <a:ln/>
        </p:spPr>
      </p:sp>
      <p:sp>
        <p:nvSpPr>
          <p:cNvPr id="21" name="Text 18"/>
          <p:cNvSpPr/>
          <p:nvPr/>
        </p:nvSpPr>
        <p:spPr>
          <a:xfrm>
            <a:off x="8019288" y="3392424"/>
            <a:ext cx="1463040" cy="493776"/>
          </a:xfrm>
          <a:prstGeom prst="rect">
            <a:avLst/>
          </a:prstGeom>
          <a:noFill/>
          <a:ln/>
        </p:spPr>
        <p:txBody>
          <a:bodyPr wrap="square" lIns="0" tIns="0" rIns="0" bIns="0" rtlCol="0" anchor="ctr"/>
          <a:lstStyle/>
          <a:p>
            <a:pPr marL="0" indent="0" algn="ctr">
              <a:buNone/>
            </a:pPr>
            <a:r>
              <a:rPr lang="en-US" sz="1400" b="1" dirty="0">
                <a:solidFill>
                  <a:srgbClr val="196B24"/>
                </a:solidFill>
                <a:latin typeface="Times New Roman" pitchFamily="34" charset="0"/>
                <a:ea typeface="Times New Roman" pitchFamily="34" charset="-122"/>
                <a:cs typeface="Times New Roman" pitchFamily="34" charset="-120"/>
              </a:rPr>
              <a:t>True</a:t>
            </a:r>
            <a:endParaRPr lang="en-US" sz="1400" dirty="0"/>
          </a:p>
        </p:txBody>
      </p:sp>
      <p:sp>
        <p:nvSpPr>
          <p:cNvPr id="22" name="Shape 19"/>
          <p:cNvSpPr/>
          <p:nvPr/>
        </p:nvSpPr>
        <p:spPr>
          <a:xfrm>
            <a:off x="9710928" y="3392424"/>
            <a:ext cx="1463040" cy="493776"/>
          </a:xfrm>
          <a:prstGeom prst="roundRect">
            <a:avLst>
              <a:gd name="adj" fmla="val 22222"/>
            </a:avLst>
          </a:prstGeom>
          <a:solidFill>
            <a:srgbClr val="FDF0F0"/>
          </a:solidFill>
          <a:ln/>
        </p:spPr>
      </p:sp>
      <p:sp>
        <p:nvSpPr>
          <p:cNvPr id="23" name="Text 20"/>
          <p:cNvSpPr/>
          <p:nvPr/>
        </p:nvSpPr>
        <p:spPr>
          <a:xfrm>
            <a:off x="9710928" y="3392424"/>
            <a:ext cx="1463040" cy="493776"/>
          </a:xfrm>
          <a:prstGeom prst="rect">
            <a:avLst/>
          </a:prstGeom>
          <a:noFill/>
          <a:ln/>
        </p:spPr>
        <p:txBody>
          <a:bodyPr wrap="square" lIns="0" tIns="0" rIns="0" bIns="0" rtlCol="0" anchor="ctr"/>
          <a:lstStyle/>
          <a:p>
            <a:pPr marL="0" indent="0" algn="ctr">
              <a:buNone/>
            </a:pPr>
            <a:r>
              <a:rPr lang="en-US" sz="1400" b="1" dirty="0">
                <a:solidFill>
                  <a:srgbClr val="C03030"/>
                </a:solidFill>
                <a:latin typeface="Times New Roman" pitchFamily="34" charset="0"/>
                <a:ea typeface="Times New Roman" pitchFamily="34" charset="-122"/>
                <a:cs typeface="Times New Roman" pitchFamily="34" charset="-120"/>
              </a:rPr>
              <a:t>False</a:t>
            </a:r>
            <a:endParaRPr lang="en-US" sz="1400" dirty="0"/>
          </a:p>
        </p:txBody>
      </p:sp>
      <p:sp>
        <p:nvSpPr>
          <p:cNvPr id="24" name="Shape 21"/>
          <p:cNvSpPr/>
          <p:nvPr/>
        </p:nvSpPr>
        <p:spPr>
          <a:xfrm>
            <a:off x="841248" y="4343400"/>
            <a:ext cx="10515600" cy="960120"/>
          </a:xfrm>
          <a:prstGeom prst="roundRect">
            <a:avLst>
              <a:gd name="adj" fmla="val 7619"/>
            </a:avLst>
          </a:prstGeom>
          <a:solidFill>
            <a:srgbClr val="FFFFFF"/>
          </a:solidFill>
          <a:ln w="12700">
            <a:solidFill>
              <a:srgbClr val="D2DCE6"/>
            </a:solidFill>
            <a:prstDash val="solid"/>
          </a:ln>
        </p:spPr>
      </p:sp>
      <p:sp>
        <p:nvSpPr>
          <p:cNvPr id="25" name="Shape 22"/>
          <p:cNvSpPr/>
          <p:nvPr/>
        </p:nvSpPr>
        <p:spPr>
          <a:xfrm>
            <a:off x="841248" y="4343400"/>
            <a:ext cx="109728" cy="960120"/>
          </a:xfrm>
          <a:prstGeom prst="rect">
            <a:avLst/>
          </a:prstGeom>
          <a:solidFill>
            <a:srgbClr val="196B24"/>
          </a:solidFill>
          <a:ln/>
        </p:spPr>
      </p:sp>
      <p:sp>
        <p:nvSpPr>
          <p:cNvPr id="26" name="Shape 23"/>
          <p:cNvSpPr/>
          <p:nvPr/>
        </p:nvSpPr>
        <p:spPr>
          <a:xfrm>
            <a:off x="1225296" y="4617720"/>
            <a:ext cx="411480" cy="411480"/>
          </a:xfrm>
          <a:prstGeom prst="ellipse">
            <a:avLst/>
          </a:prstGeom>
          <a:solidFill>
            <a:srgbClr val="196B24"/>
          </a:solidFill>
          <a:ln/>
        </p:spPr>
      </p:sp>
      <p:sp>
        <p:nvSpPr>
          <p:cNvPr id="27" name="Text 24"/>
          <p:cNvSpPr/>
          <p:nvPr/>
        </p:nvSpPr>
        <p:spPr>
          <a:xfrm>
            <a:off x="1225296" y="46177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28" name="Text 25"/>
          <p:cNvSpPr/>
          <p:nvPr/>
        </p:nvSpPr>
        <p:spPr>
          <a:xfrm>
            <a:off x="1892808" y="4343400"/>
            <a:ext cx="5852160" cy="960120"/>
          </a:xfrm>
          <a:prstGeom prst="rect">
            <a:avLst/>
          </a:prstGeom>
          <a:noFill/>
          <a:ln/>
        </p:spPr>
        <p:txBody>
          <a:bodyPr wrap="square" lIns="0" tIns="0" rIns="0" bIns="0" rtlCol="0" anchor="ctr"/>
          <a:lstStyle/>
          <a:p>
            <a:pPr marL="0" indent="0" algn="l">
              <a:buNone/>
            </a:pPr>
            <a:r>
              <a:rPr lang="en-US" sz="1600" dirty="0">
                <a:solidFill>
                  <a:srgbClr val="0E2841"/>
                </a:solidFill>
                <a:latin typeface="Times New Roman" pitchFamily="34" charset="0"/>
                <a:ea typeface="Times New Roman" pitchFamily="34" charset="-122"/>
                <a:cs typeface="Times New Roman" pitchFamily="34" charset="-120"/>
              </a:rPr>
              <a:t>A weak entity has a key of its own</a:t>
            </a:r>
            <a:endParaRPr lang="en-US" sz="1600" dirty="0"/>
          </a:p>
        </p:txBody>
      </p:sp>
      <p:sp>
        <p:nvSpPr>
          <p:cNvPr id="29" name="Shape 26"/>
          <p:cNvSpPr/>
          <p:nvPr/>
        </p:nvSpPr>
        <p:spPr>
          <a:xfrm>
            <a:off x="8019288" y="4581144"/>
            <a:ext cx="1463040" cy="493776"/>
          </a:xfrm>
          <a:prstGeom prst="roundRect">
            <a:avLst>
              <a:gd name="adj" fmla="val 22222"/>
            </a:avLst>
          </a:prstGeom>
          <a:solidFill>
            <a:srgbClr val="EFF7EF"/>
          </a:solidFill>
          <a:ln/>
        </p:spPr>
      </p:sp>
      <p:sp>
        <p:nvSpPr>
          <p:cNvPr id="30" name="Text 27"/>
          <p:cNvSpPr/>
          <p:nvPr/>
        </p:nvSpPr>
        <p:spPr>
          <a:xfrm>
            <a:off x="8019288" y="4581144"/>
            <a:ext cx="1463040" cy="493776"/>
          </a:xfrm>
          <a:prstGeom prst="rect">
            <a:avLst/>
          </a:prstGeom>
          <a:noFill/>
          <a:ln/>
        </p:spPr>
        <p:txBody>
          <a:bodyPr wrap="square" lIns="0" tIns="0" rIns="0" bIns="0" rtlCol="0" anchor="ctr"/>
          <a:lstStyle/>
          <a:p>
            <a:pPr marL="0" indent="0" algn="ctr">
              <a:buNone/>
            </a:pPr>
            <a:r>
              <a:rPr lang="en-US" sz="1400" b="1" dirty="0">
                <a:solidFill>
                  <a:srgbClr val="196B24"/>
                </a:solidFill>
                <a:latin typeface="Times New Roman" pitchFamily="34" charset="0"/>
                <a:ea typeface="Times New Roman" pitchFamily="34" charset="-122"/>
                <a:cs typeface="Times New Roman" pitchFamily="34" charset="-120"/>
              </a:rPr>
              <a:t>True</a:t>
            </a:r>
            <a:endParaRPr lang="en-US" sz="1400" dirty="0"/>
          </a:p>
        </p:txBody>
      </p:sp>
      <p:sp>
        <p:nvSpPr>
          <p:cNvPr id="31" name="Shape 28"/>
          <p:cNvSpPr/>
          <p:nvPr/>
        </p:nvSpPr>
        <p:spPr>
          <a:xfrm>
            <a:off x="9710928" y="4581144"/>
            <a:ext cx="1463040" cy="493776"/>
          </a:xfrm>
          <a:prstGeom prst="roundRect">
            <a:avLst>
              <a:gd name="adj" fmla="val 22222"/>
            </a:avLst>
          </a:prstGeom>
          <a:solidFill>
            <a:srgbClr val="FDF0F0"/>
          </a:solidFill>
          <a:ln/>
        </p:spPr>
      </p:sp>
      <p:sp>
        <p:nvSpPr>
          <p:cNvPr id="32" name="Text 29"/>
          <p:cNvSpPr/>
          <p:nvPr/>
        </p:nvSpPr>
        <p:spPr>
          <a:xfrm>
            <a:off x="9710928" y="4581144"/>
            <a:ext cx="1463040" cy="493776"/>
          </a:xfrm>
          <a:prstGeom prst="rect">
            <a:avLst/>
          </a:prstGeom>
          <a:noFill/>
          <a:ln/>
        </p:spPr>
        <p:txBody>
          <a:bodyPr wrap="square" lIns="0" tIns="0" rIns="0" bIns="0" rtlCol="0" anchor="ctr"/>
          <a:lstStyle/>
          <a:p>
            <a:pPr marL="0" indent="0" algn="ctr">
              <a:buNone/>
            </a:pPr>
            <a:r>
              <a:rPr lang="en-US" sz="1400" b="1" dirty="0">
                <a:solidFill>
                  <a:srgbClr val="C03030"/>
                </a:solidFill>
                <a:latin typeface="Times New Roman" pitchFamily="34" charset="0"/>
                <a:ea typeface="Times New Roman" pitchFamily="34" charset="-122"/>
                <a:cs typeface="Times New Roman" pitchFamily="34" charset="-120"/>
              </a:rPr>
              <a:t>False</a:t>
            </a:r>
            <a:endParaRPr lang="en-US" sz="1400" dirty="0"/>
          </a:p>
        </p:txBody>
      </p:sp>
      <p:sp>
        <p:nvSpPr>
          <p:cNvPr id="33" name="Text 30"/>
          <p:cNvSpPr/>
          <p:nvPr/>
        </p:nvSpPr>
        <p:spPr>
          <a:xfrm>
            <a:off x="841248" y="5623560"/>
            <a:ext cx="10515600" cy="310896"/>
          </a:xfrm>
          <a:prstGeom prst="rect">
            <a:avLst/>
          </a:prstGeom>
          <a:noFill/>
          <a:ln/>
        </p:spPr>
        <p:txBody>
          <a:bodyPr wrap="square" lIns="0" tIns="0" rIns="0" bIns="0" rtlCol="0" anchor="ctr"/>
          <a:lstStyle/>
          <a:p>
            <a:pPr marL="0" indent="0" algn="l">
              <a:buNone/>
            </a:pPr>
            <a:r>
              <a:rPr lang="en-US" sz="1300" i="1" dirty="0">
                <a:solidFill>
                  <a:srgbClr val="5A6472"/>
                </a:solidFill>
                <a:latin typeface="Times New Roman" pitchFamily="34" charset="0"/>
                <a:ea typeface="Times New Roman" pitchFamily="34" charset="-122"/>
                <a:cs typeface="Times New Roman" pitchFamily="34" charset="-120"/>
              </a:rPr>
              <a:t>Hands up before each answer is revealed.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Summary / Takeaways</a:t>
            </a:r>
            <a:endParaRPr lang="en-US" sz="3200" dirty="0"/>
          </a:p>
        </p:txBody>
      </p:sp>
      <p:sp>
        <p:nvSpPr>
          <p:cNvPr id="5" name="Shape 2"/>
          <p:cNvSpPr/>
          <p:nvPr/>
        </p:nvSpPr>
        <p:spPr>
          <a:xfrm>
            <a:off x="841248" y="1645920"/>
            <a:ext cx="10515600" cy="731520"/>
          </a:xfrm>
          <a:prstGeom prst="roundRect">
            <a:avLst>
              <a:gd name="adj" fmla="val 10000"/>
            </a:avLst>
          </a:prstGeom>
          <a:solidFill>
            <a:srgbClr val="FFFFFF"/>
          </a:solidFill>
          <a:ln w="12700">
            <a:solidFill>
              <a:srgbClr val="D2DCE6"/>
            </a:solidFill>
            <a:prstDash val="solid"/>
          </a:ln>
        </p:spPr>
      </p:sp>
      <p:sp>
        <p:nvSpPr>
          <p:cNvPr id="6" name="Shape 3"/>
          <p:cNvSpPr/>
          <p:nvPr/>
        </p:nvSpPr>
        <p:spPr>
          <a:xfrm>
            <a:off x="841248" y="1645920"/>
            <a:ext cx="109728" cy="731520"/>
          </a:xfrm>
          <a:prstGeom prst="rect">
            <a:avLst/>
          </a:prstGeom>
          <a:solidFill>
            <a:srgbClr val="156082"/>
          </a:solidFill>
          <a:ln/>
        </p:spPr>
      </p:sp>
      <p:sp>
        <p:nvSpPr>
          <p:cNvPr id="7" name="Text 4"/>
          <p:cNvSpPr/>
          <p:nvPr/>
        </p:nvSpPr>
        <p:spPr>
          <a:xfrm>
            <a:off x="1188720" y="1645920"/>
            <a:ext cx="2743200" cy="731520"/>
          </a:xfrm>
          <a:prstGeom prst="rect">
            <a:avLst/>
          </a:prstGeom>
          <a:noFill/>
          <a:ln/>
        </p:spPr>
        <p:txBody>
          <a:bodyPr wrap="square" lIns="0" tIns="0" rIns="0" bIns="0" rtlCol="0" anchor="ctr"/>
          <a:lstStyle/>
          <a:p>
            <a:pPr marL="0" indent="0" algn="l">
              <a:buNone/>
            </a:pPr>
            <a:r>
              <a:rPr lang="en-US" sz="1700" b="1" dirty="0">
                <a:solidFill>
                  <a:srgbClr val="156082"/>
                </a:solidFill>
                <a:latin typeface="Times New Roman" pitchFamily="34" charset="0"/>
                <a:ea typeface="Times New Roman" pitchFamily="34" charset="-122"/>
                <a:cs typeface="Times New Roman" pitchFamily="34" charset="-120"/>
              </a:rPr>
              <a:t>Entities</a:t>
            </a:r>
            <a:endParaRPr lang="en-US" sz="1700" dirty="0"/>
          </a:p>
        </p:txBody>
      </p:sp>
      <p:sp>
        <p:nvSpPr>
          <p:cNvPr id="8" name="Text 5"/>
          <p:cNvSpPr/>
          <p:nvPr/>
        </p:nvSpPr>
        <p:spPr>
          <a:xfrm>
            <a:off x="4133088" y="1645920"/>
            <a:ext cx="6949440" cy="731520"/>
          </a:xfrm>
          <a:prstGeom prst="rect">
            <a:avLst/>
          </a:prstGeom>
          <a:noFill/>
          <a:ln/>
        </p:spPr>
        <p:txBody>
          <a:bodyPr wrap="square" lIns="0" tIns="0" rIns="0" bIns="0" rtlCol="0" anchor="ctr"/>
          <a:lstStyle/>
          <a:p>
            <a:pPr marL="0" indent="0" algn="l">
              <a:buNone/>
            </a:pPr>
            <a:r>
              <a:rPr lang="en-US" sz="1400" dirty="0">
                <a:solidFill>
                  <a:srgbClr val="5A6472"/>
                </a:solidFill>
                <a:latin typeface="Times New Roman" pitchFamily="34" charset="0"/>
                <a:ea typeface="Times New Roman" pitchFamily="34" charset="-122"/>
                <a:cs typeface="Times New Roman" pitchFamily="34" charset="-120"/>
              </a:rPr>
              <a:t>the things — rectangles</a:t>
            </a:r>
            <a:endParaRPr lang="en-US" sz="1400" dirty="0"/>
          </a:p>
        </p:txBody>
      </p:sp>
      <p:sp>
        <p:nvSpPr>
          <p:cNvPr id="9" name="Shape 6"/>
          <p:cNvSpPr/>
          <p:nvPr/>
        </p:nvSpPr>
        <p:spPr>
          <a:xfrm>
            <a:off x="841248" y="2514600"/>
            <a:ext cx="10515600" cy="731520"/>
          </a:xfrm>
          <a:prstGeom prst="roundRect">
            <a:avLst>
              <a:gd name="adj" fmla="val 10000"/>
            </a:avLst>
          </a:prstGeom>
          <a:solidFill>
            <a:srgbClr val="FFFFFF"/>
          </a:solidFill>
          <a:ln w="12700">
            <a:solidFill>
              <a:srgbClr val="D2DCE6"/>
            </a:solidFill>
            <a:prstDash val="solid"/>
          </a:ln>
        </p:spPr>
      </p:sp>
      <p:sp>
        <p:nvSpPr>
          <p:cNvPr id="10" name="Shape 7"/>
          <p:cNvSpPr/>
          <p:nvPr/>
        </p:nvSpPr>
        <p:spPr>
          <a:xfrm>
            <a:off x="841248" y="2514600"/>
            <a:ext cx="109728" cy="731520"/>
          </a:xfrm>
          <a:prstGeom prst="rect">
            <a:avLst/>
          </a:prstGeom>
          <a:solidFill>
            <a:srgbClr val="E97132"/>
          </a:solidFill>
          <a:ln/>
        </p:spPr>
      </p:sp>
      <p:sp>
        <p:nvSpPr>
          <p:cNvPr id="11" name="Text 8"/>
          <p:cNvSpPr/>
          <p:nvPr/>
        </p:nvSpPr>
        <p:spPr>
          <a:xfrm>
            <a:off x="1188720" y="2514600"/>
            <a:ext cx="2743200" cy="731520"/>
          </a:xfrm>
          <a:prstGeom prst="rect">
            <a:avLst/>
          </a:prstGeom>
          <a:noFill/>
          <a:ln/>
        </p:spPr>
        <p:txBody>
          <a:bodyPr wrap="square" lIns="0" tIns="0" rIns="0" bIns="0" rtlCol="0" anchor="ctr"/>
          <a:lstStyle/>
          <a:p>
            <a:pPr marL="0" indent="0" algn="l">
              <a:buNone/>
            </a:pPr>
            <a:r>
              <a:rPr lang="en-US" sz="1700" b="1" dirty="0">
                <a:solidFill>
                  <a:srgbClr val="E97132"/>
                </a:solidFill>
                <a:latin typeface="Times New Roman" pitchFamily="34" charset="0"/>
                <a:ea typeface="Times New Roman" pitchFamily="34" charset="-122"/>
                <a:cs typeface="Times New Roman" pitchFamily="34" charset="-120"/>
              </a:rPr>
              <a:t>Attributes</a:t>
            </a:r>
            <a:endParaRPr lang="en-US" sz="1700" dirty="0"/>
          </a:p>
        </p:txBody>
      </p:sp>
      <p:sp>
        <p:nvSpPr>
          <p:cNvPr id="12" name="Text 9"/>
          <p:cNvSpPr/>
          <p:nvPr/>
        </p:nvSpPr>
        <p:spPr>
          <a:xfrm>
            <a:off x="4133088" y="2514600"/>
            <a:ext cx="6949440" cy="731520"/>
          </a:xfrm>
          <a:prstGeom prst="rect">
            <a:avLst/>
          </a:prstGeom>
          <a:noFill/>
          <a:ln/>
        </p:spPr>
        <p:txBody>
          <a:bodyPr wrap="square" lIns="0" tIns="0" rIns="0" bIns="0" rtlCol="0" anchor="ctr"/>
          <a:lstStyle/>
          <a:p>
            <a:pPr marL="0" indent="0" algn="l">
              <a:buNone/>
            </a:pPr>
            <a:r>
              <a:rPr lang="en-US" sz="1400" dirty="0">
                <a:solidFill>
                  <a:srgbClr val="5A6472"/>
                </a:solidFill>
                <a:latin typeface="Times New Roman" pitchFamily="34" charset="0"/>
                <a:ea typeface="Times New Roman" pitchFamily="34" charset="-122"/>
                <a:cs typeface="Times New Roman" pitchFamily="34" charset="-120"/>
              </a:rPr>
              <a:t>simple, composite, multivalued, derived, key</a:t>
            </a:r>
            <a:endParaRPr lang="en-US" sz="1400" dirty="0"/>
          </a:p>
        </p:txBody>
      </p:sp>
      <p:sp>
        <p:nvSpPr>
          <p:cNvPr id="13" name="Shape 10"/>
          <p:cNvSpPr/>
          <p:nvPr/>
        </p:nvSpPr>
        <p:spPr>
          <a:xfrm>
            <a:off x="841248" y="3383280"/>
            <a:ext cx="10515600" cy="731520"/>
          </a:xfrm>
          <a:prstGeom prst="roundRect">
            <a:avLst>
              <a:gd name="adj" fmla="val 10000"/>
            </a:avLst>
          </a:prstGeom>
          <a:solidFill>
            <a:srgbClr val="FFFFFF"/>
          </a:solidFill>
          <a:ln w="12700">
            <a:solidFill>
              <a:srgbClr val="D2DCE6"/>
            </a:solidFill>
            <a:prstDash val="solid"/>
          </a:ln>
        </p:spPr>
      </p:sp>
      <p:sp>
        <p:nvSpPr>
          <p:cNvPr id="14" name="Shape 11"/>
          <p:cNvSpPr/>
          <p:nvPr/>
        </p:nvSpPr>
        <p:spPr>
          <a:xfrm>
            <a:off x="841248" y="3383280"/>
            <a:ext cx="109728" cy="731520"/>
          </a:xfrm>
          <a:prstGeom prst="rect">
            <a:avLst/>
          </a:prstGeom>
          <a:solidFill>
            <a:srgbClr val="196B24"/>
          </a:solidFill>
          <a:ln/>
        </p:spPr>
      </p:sp>
      <p:sp>
        <p:nvSpPr>
          <p:cNvPr id="15" name="Text 12"/>
          <p:cNvSpPr/>
          <p:nvPr/>
        </p:nvSpPr>
        <p:spPr>
          <a:xfrm>
            <a:off x="1188720" y="3383280"/>
            <a:ext cx="2743200" cy="731520"/>
          </a:xfrm>
          <a:prstGeom prst="rect">
            <a:avLst/>
          </a:prstGeom>
          <a:noFill/>
          <a:ln/>
        </p:spPr>
        <p:txBody>
          <a:bodyPr wrap="square" lIns="0" tIns="0" rIns="0" bIns="0" rtlCol="0" anchor="ctr"/>
          <a:lstStyle/>
          <a:p>
            <a:pPr marL="0" indent="0" algn="l">
              <a:buNone/>
            </a:pPr>
            <a:r>
              <a:rPr lang="en-US" sz="1700" b="1" dirty="0">
                <a:solidFill>
                  <a:srgbClr val="196B24"/>
                </a:solidFill>
                <a:latin typeface="Times New Roman" pitchFamily="34" charset="0"/>
                <a:ea typeface="Times New Roman" pitchFamily="34" charset="-122"/>
                <a:cs typeface="Times New Roman" pitchFamily="34" charset="-120"/>
              </a:rPr>
              <a:t>Relationships</a:t>
            </a:r>
            <a:endParaRPr lang="en-US" sz="1700" dirty="0"/>
          </a:p>
        </p:txBody>
      </p:sp>
      <p:sp>
        <p:nvSpPr>
          <p:cNvPr id="16" name="Text 13"/>
          <p:cNvSpPr/>
          <p:nvPr/>
        </p:nvSpPr>
        <p:spPr>
          <a:xfrm>
            <a:off x="4133088" y="3383280"/>
            <a:ext cx="6949440" cy="731520"/>
          </a:xfrm>
          <a:prstGeom prst="rect">
            <a:avLst/>
          </a:prstGeom>
          <a:noFill/>
          <a:ln/>
        </p:spPr>
        <p:txBody>
          <a:bodyPr wrap="square" lIns="0" tIns="0" rIns="0" bIns="0" rtlCol="0" anchor="ctr"/>
          <a:lstStyle/>
          <a:p>
            <a:pPr marL="0" indent="0" algn="l">
              <a:buNone/>
            </a:pPr>
            <a:r>
              <a:rPr lang="en-US" sz="1400" dirty="0">
                <a:solidFill>
                  <a:srgbClr val="5A6472"/>
                </a:solidFill>
                <a:latin typeface="Times New Roman" pitchFamily="34" charset="0"/>
                <a:ea typeface="Times New Roman" pitchFamily="34" charset="-122"/>
                <a:cs typeface="Times New Roman" pitchFamily="34" charset="-120"/>
              </a:rPr>
              <a:t>the verbs — diamonds, degree 1 / 2 / 3</a:t>
            </a:r>
            <a:endParaRPr lang="en-US" sz="1400" dirty="0"/>
          </a:p>
        </p:txBody>
      </p:sp>
      <p:sp>
        <p:nvSpPr>
          <p:cNvPr id="17" name="Shape 14"/>
          <p:cNvSpPr/>
          <p:nvPr/>
        </p:nvSpPr>
        <p:spPr>
          <a:xfrm>
            <a:off x="841248" y="4251960"/>
            <a:ext cx="10515600" cy="731520"/>
          </a:xfrm>
          <a:prstGeom prst="roundRect">
            <a:avLst>
              <a:gd name="adj" fmla="val 10000"/>
            </a:avLst>
          </a:prstGeom>
          <a:solidFill>
            <a:srgbClr val="FFFFFF"/>
          </a:solidFill>
          <a:ln w="12700">
            <a:solidFill>
              <a:srgbClr val="D2DCE6"/>
            </a:solidFill>
            <a:prstDash val="solid"/>
          </a:ln>
        </p:spPr>
      </p:sp>
      <p:sp>
        <p:nvSpPr>
          <p:cNvPr id="18" name="Shape 15"/>
          <p:cNvSpPr/>
          <p:nvPr/>
        </p:nvSpPr>
        <p:spPr>
          <a:xfrm>
            <a:off x="841248" y="4251960"/>
            <a:ext cx="109728" cy="731520"/>
          </a:xfrm>
          <a:prstGeom prst="rect">
            <a:avLst/>
          </a:prstGeom>
          <a:solidFill>
            <a:srgbClr val="A02B93"/>
          </a:solidFill>
          <a:ln/>
        </p:spPr>
      </p:sp>
      <p:sp>
        <p:nvSpPr>
          <p:cNvPr id="19" name="Text 16"/>
          <p:cNvSpPr/>
          <p:nvPr/>
        </p:nvSpPr>
        <p:spPr>
          <a:xfrm>
            <a:off x="1188720" y="4251960"/>
            <a:ext cx="2743200" cy="731520"/>
          </a:xfrm>
          <a:prstGeom prst="rect">
            <a:avLst/>
          </a:prstGeom>
          <a:noFill/>
          <a:ln/>
        </p:spPr>
        <p:txBody>
          <a:bodyPr wrap="square" lIns="0" tIns="0" rIns="0" bIns="0" rtlCol="0" anchor="ctr"/>
          <a:lstStyle/>
          <a:p>
            <a:pPr marL="0" indent="0" algn="l">
              <a:buNone/>
            </a:pPr>
            <a:r>
              <a:rPr lang="en-US" sz="1700" b="1" dirty="0">
                <a:solidFill>
                  <a:srgbClr val="A02B93"/>
                </a:solidFill>
                <a:latin typeface="Times New Roman" pitchFamily="34" charset="0"/>
                <a:ea typeface="Times New Roman" pitchFamily="34" charset="-122"/>
                <a:cs typeface="Times New Roman" pitchFamily="34" charset="-120"/>
              </a:rPr>
              <a:t>Cardinality</a:t>
            </a:r>
            <a:endParaRPr lang="en-US" sz="1700" dirty="0"/>
          </a:p>
        </p:txBody>
      </p:sp>
      <p:sp>
        <p:nvSpPr>
          <p:cNvPr id="20" name="Text 17"/>
          <p:cNvSpPr/>
          <p:nvPr/>
        </p:nvSpPr>
        <p:spPr>
          <a:xfrm>
            <a:off x="4133088" y="4251960"/>
            <a:ext cx="6949440" cy="731520"/>
          </a:xfrm>
          <a:prstGeom prst="rect">
            <a:avLst/>
          </a:prstGeom>
          <a:noFill/>
          <a:ln/>
        </p:spPr>
        <p:txBody>
          <a:bodyPr wrap="square" lIns="0" tIns="0" rIns="0" bIns="0" rtlCol="0" anchor="ctr"/>
          <a:lstStyle/>
          <a:p>
            <a:pPr marL="0" indent="0" algn="l">
              <a:buNone/>
            </a:pPr>
            <a:r>
              <a:rPr lang="en-US" sz="1400" dirty="0">
                <a:solidFill>
                  <a:srgbClr val="5A6472"/>
                </a:solidFill>
                <a:latin typeface="Times New Roman" pitchFamily="34" charset="0"/>
                <a:ea typeface="Times New Roman" pitchFamily="34" charset="-122"/>
                <a:cs typeface="Times New Roman" pitchFamily="34" charset="-120"/>
              </a:rPr>
              <a:t>how many — 1:1, 1:N, M:N</a:t>
            </a:r>
            <a:endParaRPr lang="en-US" sz="1400" dirty="0"/>
          </a:p>
        </p:txBody>
      </p:sp>
      <p:sp>
        <p:nvSpPr>
          <p:cNvPr id="21" name="Shape 18"/>
          <p:cNvSpPr/>
          <p:nvPr/>
        </p:nvSpPr>
        <p:spPr>
          <a:xfrm>
            <a:off x="841248" y="5120640"/>
            <a:ext cx="10515600" cy="731520"/>
          </a:xfrm>
          <a:prstGeom prst="roundRect">
            <a:avLst>
              <a:gd name="adj" fmla="val 10000"/>
            </a:avLst>
          </a:prstGeom>
          <a:solidFill>
            <a:srgbClr val="FFFFFF"/>
          </a:solidFill>
          <a:ln w="12700">
            <a:solidFill>
              <a:srgbClr val="D2DCE6"/>
            </a:solidFill>
            <a:prstDash val="solid"/>
          </a:ln>
        </p:spPr>
      </p:sp>
      <p:sp>
        <p:nvSpPr>
          <p:cNvPr id="22" name="Shape 19"/>
          <p:cNvSpPr/>
          <p:nvPr/>
        </p:nvSpPr>
        <p:spPr>
          <a:xfrm>
            <a:off x="841248" y="5120640"/>
            <a:ext cx="109728" cy="731520"/>
          </a:xfrm>
          <a:prstGeom prst="rect">
            <a:avLst/>
          </a:prstGeom>
          <a:solidFill>
            <a:srgbClr val="0F9ED5"/>
          </a:solidFill>
          <a:ln/>
        </p:spPr>
      </p:sp>
      <p:sp>
        <p:nvSpPr>
          <p:cNvPr id="23" name="Text 20"/>
          <p:cNvSpPr/>
          <p:nvPr/>
        </p:nvSpPr>
        <p:spPr>
          <a:xfrm>
            <a:off x="1188720" y="5120640"/>
            <a:ext cx="2743200" cy="731520"/>
          </a:xfrm>
          <a:prstGeom prst="rect">
            <a:avLst/>
          </a:prstGeom>
          <a:noFill/>
          <a:ln/>
        </p:spPr>
        <p:txBody>
          <a:bodyPr wrap="square" lIns="0" tIns="0" rIns="0" bIns="0" rtlCol="0" anchor="ctr"/>
          <a:lstStyle/>
          <a:p>
            <a:pPr marL="0" indent="0" algn="l">
              <a:buNone/>
            </a:pPr>
            <a:r>
              <a:rPr lang="en-US" sz="1700" b="1" dirty="0">
                <a:solidFill>
                  <a:srgbClr val="0F9ED5"/>
                </a:solidFill>
                <a:latin typeface="Times New Roman" pitchFamily="34" charset="0"/>
                <a:ea typeface="Times New Roman" pitchFamily="34" charset="-122"/>
                <a:cs typeface="Times New Roman" pitchFamily="34" charset="-120"/>
              </a:rPr>
              <a:t>Participation</a:t>
            </a:r>
            <a:endParaRPr lang="en-US" sz="1700" dirty="0"/>
          </a:p>
        </p:txBody>
      </p:sp>
      <p:sp>
        <p:nvSpPr>
          <p:cNvPr id="24" name="Text 21"/>
          <p:cNvSpPr/>
          <p:nvPr/>
        </p:nvSpPr>
        <p:spPr>
          <a:xfrm>
            <a:off x="4133088" y="5120640"/>
            <a:ext cx="6949440" cy="731520"/>
          </a:xfrm>
          <a:prstGeom prst="rect">
            <a:avLst/>
          </a:prstGeom>
          <a:noFill/>
          <a:ln/>
        </p:spPr>
        <p:txBody>
          <a:bodyPr wrap="square" lIns="0" tIns="0" rIns="0" bIns="0" rtlCol="0" anchor="ctr"/>
          <a:lstStyle/>
          <a:p>
            <a:pPr marL="0" indent="0" algn="l">
              <a:buNone/>
            </a:pPr>
            <a:r>
              <a:rPr lang="en-US" sz="1400" dirty="0">
                <a:solidFill>
                  <a:srgbClr val="5A6472"/>
                </a:solidFill>
                <a:latin typeface="Times New Roman" pitchFamily="34" charset="0"/>
                <a:ea typeface="Times New Roman" pitchFamily="34" charset="-122"/>
                <a:cs typeface="Times New Roman" pitchFamily="34" charset="-120"/>
              </a:rPr>
              <a:t>must or may — double line vs single line</a:t>
            </a:r>
            <a:endParaRPr lang="en-US" sz="1400" dirty="0"/>
          </a:p>
        </p:txBody>
      </p:sp>
      <p:sp>
        <p:nvSpPr>
          <p:cNvPr id="25" name="Text 22"/>
          <p:cNvSpPr/>
          <p:nvPr/>
        </p:nvSpPr>
        <p:spPr>
          <a:xfrm>
            <a:off x="841248" y="5870448"/>
            <a:ext cx="10515600" cy="274320"/>
          </a:xfrm>
          <a:prstGeom prst="rect">
            <a:avLst/>
          </a:prstGeom>
          <a:noFill/>
          <a:ln/>
        </p:spPr>
        <p:txBody>
          <a:bodyPr wrap="square" lIns="0" tIns="0" rIns="0" bIns="0" rtlCol="0" anchor="ctr"/>
          <a:lstStyle/>
          <a:p>
            <a:pPr marL="0" indent="0" algn="l">
              <a:buNone/>
            </a:pPr>
            <a:r>
              <a:rPr lang="en-US" sz="1250" i="1" dirty="0">
                <a:solidFill>
                  <a:srgbClr val="5A6472"/>
                </a:solidFill>
                <a:latin typeface="Times New Roman" pitchFamily="34" charset="0"/>
                <a:ea typeface="Times New Roman" pitchFamily="34" charset="-122"/>
                <a:cs typeface="Times New Roman" pitchFamily="34" charset="-120"/>
              </a:rPr>
              <a:t>Next session: converting an ER diagram into relational tables.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Exit Ticket</a:t>
            </a:r>
            <a:endParaRPr lang="en-US" sz="3200" dirty="0"/>
          </a:p>
        </p:txBody>
      </p:sp>
      <p:sp>
        <p:nvSpPr>
          <p:cNvPr id="5" name="Text 2"/>
          <p:cNvSpPr/>
          <p:nvPr/>
        </p:nvSpPr>
        <p:spPr>
          <a:xfrm>
            <a:off x="841248" y="1298448"/>
            <a:ext cx="10515600" cy="310896"/>
          </a:xfrm>
          <a:prstGeom prst="rect">
            <a:avLst/>
          </a:prstGeom>
          <a:noFill/>
          <a:ln/>
        </p:spPr>
        <p:txBody>
          <a:bodyPr wrap="square" lIns="0" tIns="0" rIns="0" bIns="0" rtlCol="0" anchor="ctr"/>
          <a:lstStyle/>
          <a:p>
            <a:pPr marL="0" indent="0" algn="l">
              <a:buNone/>
            </a:pPr>
            <a:r>
              <a:rPr lang="en-US" sz="1500" i="1" dirty="0">
                <a:solidFill>
                  <a:srgbClr val="5A6472"/>
                </a:solidFill>
                <a:latin typeface="Times New Roman" pitchFamily="34" charset="0"/>
                <a:ea typeface="Times New Roman" pitchFamily="34" charset="-122"/>
                <a:cs typeface="Times New Roman" pitchFamily="34" charset="-120"/>
              </a:rPr>
              <a:t>Before you leave…</a:t>
            </a:r>
            <a:endParaRPr lang="en-US" sz="1500" dirty="0"/>
          </a:p>
        </p:txBody>
      </p:sp>
      <p:sp>
        <p:nvSpPr>
          <p:cNvPr id="6" name="Shape 3"/>
          <p:cNvSpPr/>
          <p:nvPr/>
        </p:nvSpPr>
        <p:spPr>
          <a:xfrm>
            <a:off x="841248" y="1920240"/>
            <a:ext cx="10515600" cy="914400"/>
          </a:xfrm>
          <a:prstGeom prst="roundRect">
            <a:avLst>
              <a:gd name="adj" fmla="val 8000"/>
            </a:avLst>
          </a:prstGeom>
          <a:solidFill>
            <a:srgbClr val="FFFFFF"/>
          </a:solidFill>
          <a:ln w="12700">
            <a:solidFill>
              <a:srgbClr val="D2DCE6"/>
            </a:solidFill>
            <a:prstDash val="solid"/>
          </a:ln>
        </p:spPr>
      </p:sp>
      <p:sp>
        <p:nvSpPr>
          <p:cNvPr id="7" name="Shape 4"/>
          <p:cNvSpPr/>
          <p:nvPr/>
        </p:nvSpPr>
        <p:spPr>
          <a:xfrm>
            <a:off x="841248" y="1920240"/>
            <a:ext cx="109728" cy="914400"/>
          </a:xfrm>
          <a:prstGeom prst="rect">
            <a:avLst/>
          </a:prstGeom>
          <a:solidFill>
            <a:srgbClr val="156082"/>
          </a:solidFill>
          <a:ln/>
        </p:spPr>
      </p:sp>
      <p:sp>
        <p:nvSpPr>
          <p:cNvPr id="8" name="Shape 5"/>
          <p:cNvSpPr/>
          <p:nvPr/>
        </p:nvSpPr>
        <p:spPr>
          <a:xfrm>
            <a:off x="1225296" y="2176272"/>
            <a:ext cx="411480" cy="411480"/>
          </a:xfrm>
          <a:prstGeom prst="ellipse">
            <a:avLst/>
          </a:prstGeom>
          <a:solidFill>
            <a:srgbClr val="156082"/>
          </a:solidFill>
          <a:ln/>
        </p:spPr>
      </p:sp>
      <p:sp>
        <p:nvSpPr>
          <p:cNvPr id="9" name="Text 6"/>
          <p:cNvSpPr/>
          <p:nvPr/>
        </p:nvSpPr>
        <p:spPr>
          <a:xfrm>
            <a:off x="1225296" y="217627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10" name="Text 7"/>
          <p:cNvSpPr/>
          <p:nvPr/>
        </p:nvSpPr>
        <p:spPr>
          <a:xfrm>
            <a:off x="1892808" y="1920240"/>
            <a:ext cx="8961120" cy="914400"/>
          </a:xfrm>
          <a:prstGeom prst="rect">
            <a:avLst/>
          </a:prstGeom>
          <a:noFill/>
          <a:ln/>
        </p:spPr>
        <p:txBody>
          <a:bodyPr wrap="square" lIns="0" tIns="0" rIns="0" bIns="0" rtlCol="0" anchor="ctr"/>
          <a:lstStyle/>
          <a:p>
            <a:pPr marL="0" indent="0" algn="l">
              <a:buNone/>
            </a:pPr>
            <a:r>
              <a:rPr lang="en-US" sz="1600" dirty="0">
                <a:solidFill>
                  <a:srgbClr val="0E2841"/>
                </a:solidFill>
                <a:latin typeface="Times New Roman" pitchFamily="34" charset="0"/>
                <a:ea typeface="Times New Roman" pitchFamily="34" charset="-122"/>
                <a:cs typeface="Times New Roman" pitchFamily="34" charset="-120"/>
              </a:rPr>
              <a:t>Name one multivalued attribute from an app you used today</a:t>
            </a:r>
            <a:endParaRPr lang="en-US" sz="1600" dirty="0"/>
          </a:p>
        </p:txBody>
      </p:sp>
      <p:sp>
        <p:nvSpPr>
          <p:cNvPr id="11" name="Shape 8"/>
          <p:cNvSpPr/>
          <p:nvPr/>
        </p:nvSpPr>
        <p:spPr>
          <a:xfrm>
            <a:off x="841248" y="3017520"/>
            <a:ext cx="10515600" cy="914400"/>
          </a:xfrm>
          <a:prstGeom prst="roundRect">
            <a:avLst>
              <a:gd name="adj" fmla="val 8000"/>
            </a:avLst>
          </a:prstGeom>
          <a:solidFill>
            <a:srgbClr val="FFFFFF"/>
          </a:solidFill>
          <a:ln w="12700">
            <a:solidFill>
              <a:srgbClr val="D2DCE6"/>
            </a:solidFill>
            <a:prstDash val="solid"/>
          </a:ln>
        </p:spPr>
      </p:sp>
      <p:sp>
        <p:nvSpPr>
          <p:cNvPr id="12" name="Shape 9"/>
          <p:cNvSpPr/>
          <p:nvPr/>
        </p:nvSpPr>
        <p:spPr>
          <a:xfrm>
            <a:off x="841248" y="3017520"/>
            <a:ext cx="109728" cy="914400"/>
          </a:xfrm>
          <a:prstGeom prst="rect">
            <a:avLst/>
          </a:prstGeom>
          <a:solidFill>
            <a:srgbClr val="E97132"/>
          </a:solidFill>
          <a:ln/>
        </p:spPr>
      </p:sp>
      <p:sp>
        <p:nvSpPr>
          <p:cNvPr id="13" name="Shape 10"/>
          <p:cNvSpPr/>
          <p:nvPr/>
        </p:nvSpPr>
        <p:spPr>
          <a:xfrm>
            <a:off x="1225296" y="3273552"/>
            <a:ext cx="411480" cy="411480"/>
          </a:xfrm>
          <a:prstGeom prst="ellipse">
            <a:avLst/>
          </a:prstGeom>
          <a:solidFill>
            <a:srgbClr val="E97132"/>
          </a:solidFill>
          <a:ln/>
        </p:spPr>
      </p:sp>
      <p:sp>
        <p:nvSpPr>
          <p:cNvPr id="14" name="Text 11"/>
          <p:cNvSpPr/>
          <p:nvPr/>
        </p:nvSpPr>
        <p:spPr>
          <a:xfrm>
            <a:off x="1225296" y="327355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5" name="Text 12"/>
          <p:cNvSpPr/>
          <p:nvPr/>
        </p:nvSpPr>
        <p:spPr>
          <a:xfrm>
            <a:off x="1892808" y="3017520"/>
            <a:ext cx="8961120" cy="914400"/>
          </a:xfrm>
          <a:prstGeom prst="rect">
            <a:avLst/>
          </a:prstGeom>
          <a:noFill/>
          <a:ln/>
        </p:spPr>
        <p:txBody>
          <a:bodyPr wrap="square" lIns="0" tIns="0" rIns="0" bIns="0" rtlCol="0" anchor="ctr"/>
          <a:lstStyle/>
          <a:p>
            <a:pPr marL="0" indent="0" algn="l">
              <a:buNone/>
            </a:pPr>
            <a:r>
              <a:rPr lang="en-US" sz="1600" dirty="0">
                <a:solidFill>
                  <a:srgbClr val="0E2841"/>
                </a:solidFill>
                <a:latin typeface="Times New Roman" pitchFamily="34" charset="0"/>
                <a:ea typeface="Times New Roman" pitchFamily="34" charset="-122"/>
                <a:cs typeface="Times New Roman" pitchFamily="34" charset="-120"/>
              </a:rPr>
              <a:t>Give one example of total participation in e-commerce</a:t>
            </a:r>
            <a:endParaRPr lang="en-US" sz="1600" dirty="0"/>
          </a:p>
        </p:txBody>
      </p:sp>
      <p:sp>
        <p:nvSpPr>
          <p:cNvPr id="16" name="Shape 13"/>
          <p:cNvSpPr/>
          <p:nvPr/>
        </p:nvSpPr>
        <p:spPr>
          <a:xfrm>
            <a:off x="841248" y="4114800"/>
            <a:ext cx="10515600" cy="914400"/>
          </a:xfrm>
          <a:prstGeom prst="roundRect">
            <a:avLst>
              <a:gd name="adj" fmla="val 8000"/>
            </a:avLst>
          </a:prstGeom>
          <a:solidFill>
            <a:srgbClr val="FFFFFF"/>
          </a:solidFill>
          <a:ln w="12700">
            <a:solidFill>
              <a:srgbClr val="D2DCE6"/>
            </a:solidFill>
            <a:prstDash val="solid"/>
          </a:ln>
        </p:spPr>
      </p:sp>
      <p:sp>
        <p:nvSpPr>
          <p:cNvPr id="17" name="Shape 14"/>
          <p:cNvSpPr/>
          <p:nvPr/>
        </p:nvSpPr>
        <p:spPr>
          <a:xfrm>
            <a:off x="841248" y="4114800"/>
            <a:ext cx="109728" cy="914400"/>
          </a:xfrm>
          <a:prstGeom prst="rect">
            <a:avLst/>
          </a:prstGeom>
          <a:solidFill>
            <a:srgbClr val="196B24"/>
          </a:solidFill>
          <a:ln/>
        </p:spPr>
      </p:sp>
      <p:sp>
        <p:nvSpPr>
          <p:cNvPr id="18" name="Shape 15"/>
          <p:cNvSpPr/>
          <p:nvPr/>
        </p:nvSpPr>
        <p:spPr>
          <a:xfrm>
            <a:off x="1225296" y="4370832"/>
            <a:ext cx="411480" cy="411480"/>
          </a:xfrm>
          <a:prstGeom prst="ellipse">
            <a:avLst/>
          </a:prstGeom>
          <a:solidFill>
            <a:srgbClr val="196B24"/>
          </a:solidFill>
          <a:ln/>
        </p:spPr>
      </p:sp>
      <p:sp>
        <p:nvSpPr>
          <p:cNvPr id="19" name="Text 16"/>
          <p:cNvSpPr/>
          <p:nvPr/>
        </p:nvSpPr>
        <p:spPr>
          <a:xfrm>
            <a:off x="1225296" y="437083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20" name="Text 17"/>
          <p:cNvSpPr/>
          <p:nvPr/>
        </p:nvSpPr>
        <p:spPr>
          <a:xfrm>
            <a:off x="1892808" y="4114800"/>
            <a:ext cx="8961120" cy="914400"/>
          </a:xfrm>
          <a:prstGeom prst="rect">
            <a:avLst/>
          </a:prstGeom>
          <a:noFill/>
          <a:ln/>
        </p:spPr>
        <p:txBody>
          <a:bodyPr wrap="square" lIns="0" tIns="0" rIns="0" bIns="0" rtlCol="0" anchor="ctr"/>
          <a:lstStyle/>
          <a:p>
            <a:pPr marL="0" indent="0" algn="l">
              <a:buNone/>
            </a:pPr>
            <a:r>
              <a:rPr lang="en-US" sz="1600" dirty="0">
                <a:solidFill>
                  <a:srgbClr val="0E2841"/>
                </a:solidFill>
                <a:latin typeface="Times New Roman" pitchFamily="34" charset="0"/>
                <a:ea typeface="Times New Roman" pitchFamily="34" charset="-122"/>
                <a:cs typeface="Times New Roman" pitchFamily="34" charset="-120"/>
              </a:rPr>
              <a:t>Explain M : N in one sentence, with an example</a:t>
            </a:r>
            <a:endParaRPr lang="en-US" sz="1600" dirty="0"/>
          </a:p>
        </p:txBody>
      </p:sp>
      <p:sp>
        <p:nvSpPr>
          <p:cNvPr id="21" name="Shape 18"/>
          <p:cNvSpPr/>
          <p:nvPr/>
        </p:nvSpPr>
        <p:spPr>
          <a:xfrm>
            <a:off x="841248" y="5230368"/>
            <a:ext cx="10515600" cy="603504"/>
          </a:xfrm>
          <a:prstGeom prst="roundRect">
            <a:avLst>
              <a:gd name="adj" fmla="val 15152"/>
            </a:avLst>
          </a:prstGeom>
          <a:solidFill>
            <a:srgbClr val="E8F2F8"/>
          </a:solidFill>
          <a:ln/>
        </p:spPr>
      </p:sp>
      <p:sp>
        <p:nvSpPr>
          <p:cNvPr id="22" name="Text 19"/>
          <p:cNvSpPr/>
          <p:nvPr/>
        </p:nvSpPr>
        <p:spPr>
          <a:xfrm>
            <a:off x="1161288" y="5230368"/>
            <a:ext cx="9875520" cy="603504"/>
          </a:xfrm>
          <a:prstGeom prst="rect">
            <a:avLst/>
          </a:prstGeom>
          <a:noFill/>
          <a:ln/>
        </p:spPr>
        <p:txBody>
          <a:bodyPr wrap="square" lIns="0" tIns="0" rIns="0" bIns="0" rtlCol="0" anchor="ctr"/>
          <a:lstStyle/>
          <a:p>
            <a:pPr marL="0" indent="0" algn="l">
              <a:buNone/>
            </a:pPr>
            <a:r>
              <a:rPr lang="en-US" sz="1350" b="1" dirty="0">
                <a:solidFill>
                  <a:srgbClr val="156082"/>
                </a:solidFill>
                <a:latin typeface="Times New Roman" pitchFamily="34" charset="0"/>
                <a:ea typeface="Times New Roman" pitchFamily="34" charset="-122"/>
                <a:cs typeface="Times New Roman" pitchFamily="34" charset="-120"/>
              </a:rPr>
              <a:t>Next: Session 6 — Converting an ER Diagram into Relational Tables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References — Text Books</a:t>
            </a:r>
            <a:endParaRPr lang="en-US" sz="3200" dirty="0"/>
          </a:p>
        </p:txBody>
      </p:sp>
      <p:sp>
        <p:nvSpPr>
          <p:cNvPr id="5" name="Text 2"/>
          <p:cNvSpPr/>
          <p:nvPr/>
        </p:nvSpPr>
        <p:spPr>
          <a:xfrm>
            <a:off x="841248" y="1298448"/>
            <a:ext cx="10515600" cy="310896"/>
          </a:xfrm>
          <a:prstGeom prst="rect">
            <a:avLst/>
          </a:prstGeom>
          <a:noFill/>
          <a:ln/>
        </p:spPr>
        <p:txBody>
          <a:bodyPr wrap="square" lIns="0" tIns="0" rIns="0" bIns="0" rtlCol="0" anchor="ctr"/>
          <a:lstStyle/>
          <a:p>
            <a:pPr marL="0" indent="0" algn="l">
              <a:buNone/>
            </a:pPr>
            <a:r>
              <a:rPr lang="en-US" sz="1500" i="1" dirty="0">
                <a:solidFill>
                  <a:srgbClr val="5A6472"/>
                </a:solidFill>
                <a:latin typeface="Times New Roman" pitchFamily="34" charset="0"/>
                <a:ea typeface="Times New Roman" pitchFamily="34" charset="-122"/>
                <a:cs typeface="Times New Roman" pitchFamily="34" charset="-120"/>
              </a:rPr>
              <a:t>Latest editions, with publisher and companion-site links</a:t>
            </a:r>
            <a:endParaRPr lang="en-US" sz="1500" dirty="0"/>
          </a:p>
        </p:txBody>
      </p:sp>
      <p:sp>
        <p:nvSpPr>
          <p:cNvPr id="6" name="Shape 3"/>
          <p:cNvSpPr/>
          <p:nvPr/>
        </p:nvSpPr>
        <p:spPr>
          <a:xfrm>
            <a:off x="841248" y="1874520"/>
            <a:ext cx="10515600" cy="914400"/>
          </a:xfrm>
          <a:prstGeom prst="roundRect">
            <a:avLst>
              <a:gd name="adj" fmla="val 8000"/>
            </a:avLst>
          </a:prstGeom>
          <a:solidFill>
            <a:srgbClr val="FFFFFF"/>
          </a:solidFill>
          <a:ln w="12700">
            <a:solidFill>
              <a:srgbClr val="D2DCE6"/>
            </a:solidFill>
            <a:prstDash val="solid"/>
          </a:ln>
        </p:spPr>
      </p:sp>
      <p:sp>
        <p:nvSpPr>
          <p:cNvPr id="7" name="Shape 4"/>
          <p:cNvSpPr/>
          <p:nvPr/>
        </p:nvSpPr>
        <p:spPr>
          <a:xfrm>
            <a:off x="841248" y="1874520"/>
            <a:ext cx="109728" cy="914400"/>
          </a:xfrm>
          <a:prstGeom prst="rect">
            <a:avLst/>
          </a:prstGeom>
          <a:solidFill>
            <a:srgbClr val="156082"/>
          </a:solidFill>
          <a:ln/>
        </p:spPr>
      </p:sp>
      <p:sp>
        <p:nvSpPr>
          <p:cNvPr id="8" name="Text 5"/>
          <p:cNvSpPr/>
          <p:nvPr/>
        </p:nvSpPr>
        <p:spPr>
          <a:xfrm>
            <a:off x="1207008" y="1965960"/>
            <a:ext cx="7223760" cy="310896"/>
          </a:xfrm>
          <a:prstGeom prst="rect">
            <a:avLst/>
          </a:prstGeom>
          <a:noFill/>
          <a:ln/>
        </p:spPr>
        <p:txBody>
          <a:bodyPr wrap="square" lIns="0" tIns="0" rIns="0" bIns="0" rtlCol="0" anchor="ctr"/>
          <a:lstStyle/>
          <a:p>
            <a:pPr marL="0" indent="0" algn="l">
              <a:buNone/>
            </a:pPr>
            <a:r>
              <a:rPr lang="en-US" sz="1550" b="1" dirty="0">
                <a:solidFill>
                  <a:srgbClr val="0E2841"/>
                </a:solidFill>
                <a:latin typeface="Times New Roman" pitchFamily="34" charset="0"/>
                <a:ea typeface="Times New Roman" pitchFamily="34" charset="-122"/>
                <a:cs typeface="Times New Roman" pitchFamily="34" charset="-120"/>
              </a:rPr>
              <a:t>Database System Concepts</a:t>
            </a:r>
            <a:endParaRPr lang="en-US" sz="1550" dirty="0"/>
          </a:p>
        </p:txBody>
      </p:sp>
      <p:sp>
        <p:nvSpPr>
          <p:cNvPr id="9" name="Text 6"/>
          <p:cNvSpPr/>
          <p:nvPr/>
        </p:nvSpPr>
        <p:spPr>
          <a:xfrm>
            <a:off x="1207008" y="2276856"/>
            <a:ext cx="7223760" cy="256032"/>
          </a:xfrm>
          <a:prstGeom prst="rect">
            <a:avLst/>
          </a:prstGeom>
          <a:noFill/>
          <a:ln/>
        </p:spPr>
        <p:txBody>
          <a:bodyPr wrap="square" lIns="0" tIns="0" rIns="0" bIns="0" rtlCol="0" anchor="ctr"/>
          <a:lstStyle/>
          <a:p>
            <a:pPr marL="0" indent="0" algn="l">
              <a:buNone/>
            </a:pPr>
            <a:r>
              <a:rPr lang="en-US" sz="1200" dirty="0">
                <a:solidFill>
                  <a:srgbClr val="5A6472"/>
                </a:solidFill>
                <a:latin typeface="Times New Roman" pitchFamily="34" charset="0"/>
                <a:ea typeface="Times New Roman" pitchFamily="34" charset="-122"/>
                <a:cs typeface="Times New Roman" pitchFamily="34" charset="-120"/>
              </a:rPr>
              <a:t>A. Silberschatz, H. F. Korth, S. Sudarshan  ·  McGraw-Hill</a:t>
            </a:r>
            <a:endParaRPr lang="en-US" sz="1200" dirty="0"/>
          </a:p>
        </p:txBody>
      </p:sp>
      <p:sp>
        <p:nvSpPr>
          <p:cNvPr id="10" name="Text 7">
            <a:hlinkClick r:id="rId4"/>
          </p:cNvPr>
          <p:cNvSpPr/>
          <p:nvPr/>
        </p:nvSpPr>
        <p:spPr>
          <a:xfrm>
            <a:off x="1207008" y="2514600"/>
            <a:ext cx="7223760" cy="237744"/>
          </a:xfrm>
          <a:prstGeom prst="rect">
            <a:avLst/>
          </a:prstGeom>
          <a:noFill/>
          <a:ln/>
        </p:spPr>
        <p:txBody>
          <a:bodyPr wrap="square" lIns="0" tIns="0" rIns="0" bIns="0" rtlCol="0" anchor="ctr"/>
          <a:lstStyle/>
          <a:p>
            <a:pPr marL="0" indent="0" algn="l">
              <a:buNone/>
            </a:pPr>
            <a:r>
              <a:rPr lang="en-US" sz="1050" u="sng" dirty="0">
                <a:solidFill>
                  <a:srgbClr val="156082"/>
                </a:solidFill>
                <a:latin typeface="Consolas" pitchFamily="34" charset="0"/>
                <a:ea typeface="Consolas" pitchFamily="34" charset="-122"/>
                <a:cs typeface="Consolas" pitchFamily="34" charset="-120"/>
                <a:hlinkClick r:id="rId4">
                  <a:extLst>
                    <a:ext uri="{A12FA001-AC4F-418D-AE19-62706E023703}">
                      <ahyp:hlinkClr xmlns:ahyp="http://schemas.microsoft.com/office/drawing/2018/hyperlinkcolor" val="tx"/>
                    </a:ext>
                  </a:extLst>
                </a:hlinkClick>
              </a:rPr>
              <a:t>https://www.db-book.com</a:t>
            </a:r>
            <a:endParaRPr lang="en-US" sz="1050" dirty="0"/>
          </a:p>
        </p:txBody>
      </p:sp>
      <p:sp>
        <p:nvSpPr>
          <p:cNvPr id="11" name="Shape 8"/>
          <p:cNvSpPr/>
          <p:nvPr/>
        </p:nvSpPr>
        <p:spPr>
          <a:xfrm>
            <a:off x="8842248" y="2093976"/>
            <a:ext cx="2148840" cy="475488"/>
          </a:xfrm>
          <a:prstGeom prst="roundRect">
            <a:avLst>
              <a:gd name="adj" fmla="val 23077"/>
            </a:avLst>
          </a:prstGeom>
          <a:solidFill>
            <a:srgbClr val="E8F2F8"/>
          </a:solidFill>
          <a:ln/>
        </p:spPr>
      </p:sp>
      <p:sp>
        <p:nvSpPr>
          <p:cNvPr id="12" name="Text 9"/>
          <p:cNvSpPr/>
          <p:nvPr/>
        </p:nvSpPr>
        <p:spPr>
          <a:xfrm>
            <a:off x="8842248" y="2093976"/>
            <a:ext cx="2148840" cy="475488"/>
          </a:xfrm>
          <a:prstGeom prst="rect">
            <a:avLst/>
          </a:prstGeom>
          <a:noFill/>
          <a:ln/>
        </p:spPr>
        <p:txBody>
          <a:bodyPr wrap="square" lIns="0" tIns="0" rIns="0" bIns="0" rtlCol="0" anchor="ctr"/>
          <a:lstStyle/>
          <a:p>
            <a:pPr marL="0" indent="0" algn="ctr">
              <a:buNone/>
            </a:pPr>
            <a:r>
              <a:rPr lang="en-US" sz="1250" b="1" dirty="0">
                <a:solidFill>
                  <a:srgbClr val="156082"/>
                </a:solidFill>
                <a:latin typeface="Times New Roman" pitchFamily="34" charset="0"/>
                <a:ea typeface="Times New Roman" pitchFamily="34" charset="-122"/>
                <a:cs typeface="Times New Roman" pitchFamily="34" charset="-120"/>
              </a:rPr>
              <a:t>7th Ed.  2019</a:t>
            </a:r>
            <a:endParaRPr lang="en-US" sz="1250" dirty="0"/>
          </a:p>
        </p:txBody>
      </p:sp>
      <p:sp>
        <p:nvSpPr>
          <p:cNvPr id="13" name="Shape 10"/>
          <p:cNvSpPr/>
          <p:nvPr/>
        </p:nvSpPr>
        <p:spPr>
          <a:xfrm>
            <a:off x="841248" y="2907792"/>
            <a:ext cx="10515600" cy="914400"/>
          </a:xfrm>
          <a:prstGeom prst="roundRect">
            <a:avLst>
              <a:gd name="adj" fmla="val 8000"/>
            </a:avLst>
          </a:prstGeom>
          <a:solidFill>
            <a:srgbClr val="FFFFFF"/>
          </a:solidFill>
          <a:ln w="12700">
            <a:solidFill>
              <a:srgbClr val="D2DCE6"/>
            </a:solidFill>
            <a:prstDash val="solid"/>
          </a:ln>
        </p:spPr>
      </p:sp>
      <p:sp>
        <p:nvSpPr>
          <p:cNvPr id="14" name="Shape 11"/>
          <p:cNvSpPr/>
          <p:nvPr/>
        </p:nvSpPr>
        <p:spPr>
          <a:xfrm>
            <a:off x="841248" y="2907792"/>
            <a:ext cx="109728" cy="914400"/>
          </a:xfrm>
          <a:prstGeom prst="rect">
            <a:avLst/>
          </a:prstGeom>
          <a:solidFill>
            <a:srgbClr val="E97132"/>
          </a:solidFill>
          <a:ln/>
        </p:spPr>
      </p:sp>
      <p:sp>
        <p:nvSpPr>
          <p:cNvPr id="15" name="Text 12"/>
          <p:cNvSpPr/>
          <p:nvPr/>
        </p:nvSpPr>
        <p:spPr>
          <a:xfrm>
            <a:off x="1207008" y="2999232"/>
            <a:ext cx="7223760" cy="310896"/>
          </a:xfrm>
          <a:prstGeom prst="rect">
            <a:avLst/>
          </a:prstGeom>
          <a:noFill/>
          <a:ln/>
        </p:spPr>
        <p:txBody>
          <a:bodyPr wrap="square" lIns="0" tIns="0" rIns="0" bIns="0" rtlCol="0" anchor="ctr"/>
          <a:lstStyle/>
          <a:p>
            <a:pPr marL="0" indent="0" algn="l">
              <a:buNone/>
            </a:pPr>
            <a:r>
              <a:rPr lang="en-US" sz="1550" b="1" dirty="0">
                <a:solidFill>
                  <a:srgbClr val="0E2841"/>
                </a:solidFill>
                <a:latin typeface="Times New Roman" pitchFamily="34" charset="0"/>
                <a:ea typeface="Times New Roman" pitchFamily="34" charset="-122"/>
                <a:cs typeface="Times New Roman" pitchFamily="34" charset="-120"/>
              </a:rPr>
              <a:t>Fundamentals of Database Systems</a:t>
            </a:r>
            <a:endParaRPr lang="en-US" sz="1550" dirty="0"/>
          </a:p>
        </p:txBody>
      </p:sp>
      <p:sp>
        <p:nvSpPr>
          <p:cNvPr id="16" name="Text 13"/>
          <p:cNvSpPr/>
          <p:nvPr/>
        </p:nvSpPr>
        <p:spPr>
          <a:xfrm>
            <a:off x="1207008" y="3310128"/>
            <a:ext cx="7223760" cy="256032"/>
          </a:xfrm>
          <a:prstGeom prst="rect">
            <a:avLst/>
          </a:prstGeom>
          <a:noFill/>
          <a:ln/>
        </p:spPr>
        <p:txBody>
          <a:bodyPr wrap="square" lIns="0" tIns="0" rIns="0" bIns="0" rtlCol="0" anchor="ctr"/>
          <a:lstStyle/>
          <a:p>
            <a:pPr marL="0" indent="0" algn="l">
              <a:buNone/>
            </a:pPr>
            <a:r>
              <a:rPr lang="en-US" sz="1200" dirty="0">
                <a:solidFill>
                  <a:srgbClr val="5A6472"/>
                </a:solidFill>
                <a:latin typeface="Times New Roman" pitchFamily="34" charset="0"/>
                <a:ea typeface="Times New Roman" pitchFamily="34" charset="-122"/>
                <a:cs typeface="Times New Roman" pitchFamily="34" charset="-120"/>
              </a:rPr>
              <a:t>R. Elmasri, S. B. Navathe  ·  Pearson</a:t>
            </a:r>
            <a:endParaRPr lang="en-US" sz="1200" dirty="0"/>
          </a:p>
        </p:txBody>
      </p:sp>
      <p:sp>
        <p:nvSpPr>
          <p:cNvPr id="17" name="Text 14">
            <a:hlinkClick r:id="rId5"/>
          </p:cNvPr>
          <p:cNvSpPr/>
          <p:nvPr/>
        </p:nvSpPr>
        <p:spPr>
          <a:xfrm>
            <a:off x="1207008" y="3547872"/>
            <a:ext cx="7223760" cy="237744"/>
          </a:xfrm>
          <a:prstGeom prst="rect">
            <a:avLst/>
          </a:prstGeom>
          <a:noFill/>
          <a:ln/>
        </p:spPr>
        <p:txBody>
          <a:bodyPr wrap="square" lIns="0" tIns="0" rIns="0" bIns="0" rtlCol="0" anchor="ctr"/>
          <a:lstStyle/>
          <a:p>
            <a:pPr marL="0" indent="0" algn="l">
              <a:buNone/>
            </a:pPr>
            <a:r>
              <a:rPr lang="en-US" sz="1050" u="sng" dirty="0">
                <a:solidFill>
                  <a:srgbClr val="E97132"/>
                </a:solidFill>
                <a:latin typeface="Consolas" pitchFamily="34" charset="0"/>
                <a:ea typeface="Consolas" pitchFamily="34" charset="-122"/>
                <a:cs typeface="Consolas" pitchFamily="34" charset="-120"/>
                <a:hlinkClick r:id="rId5">
                  <a:extLst>
                    <a:ext uri="{A12FA001-AC4F-418D-AE19-62706E023703}">
                      <ahyp:hlinkClr xmlns:ahyp="http://schemas.microsoft.com/office/drawing/2018/hyperlinkcolor" val="tx"/>
                    </a:ext>
                  </a:extLst>
                </a:hlinkClick>
              </a:rPr>
              <a:t>https://www.pearson.com/en-us/subject-catalog/p/fundamentals-of-database-systems/P200000003546</a:t>
            </a:r>
            <a:endParaRPr lang="en-US" sz="1050" dirty="0"/>
          </a:p>
        </p:txBody>
      </p:sp>
      <p:sp>
        <p:nvSpPr>
          <p:cNvPr id="18" name="Shape 15"/>
          <p:cNvSpPr/>
          <p:nvPr/>
        </p:nvSpPr>
        <p:spPr>
          <a:xfrm>
            <a:off x="8842248" y="3127248"/>
            <a:ext cx="2148840" cy="475488"/>
          </a:xfrm>
          <a:prstGeom prst="roundRect">
            <a:avLst>
              <a:gd name="adj" fmla="val 23077"/>
            </a:avLst>
          </a:prstGeom>
          <a:solidFill>
            <a:srgbClr val="E8F2F8"/>
          </a:solidFill>
          <a:ln/>
        </p:spPr>
      </p:sp>
      <p:sp>
        <p:nvSpPr>
          <p:cNvPr id="19" name="Text 16"/>
          <p:cNvSpPr/>
          <p:nvPr/>
        </p:nvSpPr>
        <p:spPr>
          <a:xfrm>
            <a:off x="8842248" y="3127248"/>
            <a:ext cx="2148840" cy="475488"/>
          </a:xfrm>
          <a:prstGeom prst="rect">
            <a:avLst/>
          </a:prstGeom>
          <a:noFill/>
          <a:ln/>
        </p:spPr>
        <p:txBody>
          <a:bodyPr wrap="square" lIns="0" tIns="0" rIns="0" bIns="0" rtlCol="0" anchor="ctr"/>
          <a:lstStyle/>
          <a:p>
            <a:pPr marL="0" indent="0" algn="ctr">
              <a:buNone/>
            </a:pPr>
            <a:r>
              <a:rPr lang="en-US" sz="1250" b="1" dirty="0">
                <a:solidFill>
                  <a:srgbClr val="156082"/>
                </a:solidFill>
                <a:latin typeface="Times New Roman" pitchFamily="34" charset="0"/>
                <a:ea typeface="Times New Roman" pitchFamily="34" charset="-122"/>
                <a:cs typeface="Times New Roman" pitchFamily="34" charset="-120"/>
              </a:rPr>
              <a:t>7th Ed.  2016</a:t>
            </a:r>
            <a:endParaRPr lang="en-US" sz="1250" dirty="0"/>
          </a:p>
        </p:txBody>
      </p:sp>
      <p:sp>
        <p:nvSpPr>
          <p:cNvPr id="20" name="Shape 17"/>
          <p:cNvSpPr/>
          <p:nvPr/>
        </p:nvSpPr>
        <p:spPr>
          <a:xfrm>
            <a:off x="841248" y="3941064"/>
            <a:ext cx="10515600" cy="914400"/>
          </a:xfrm>
          <a:prstGeom prst="roundRect">
            <a:avLst>
              <a:gd name="adj" fmla="val 8000"/>
            </a:avLst>
          </a:prstGeom>
          <a:solidFill>
            <a:srgbClr val="FFFFFF"/>
          </a:solidFill>
          <a:ln w="12700">
            <a:solidFill>
              <a:srgbClr val="D2DCE6"/>
            </a:solidFill>
            <a:prstDash val="solid"/>
          </a:ln>
        </p:spPr>
      </p:sp>
      <p:sp>
        <p:nvSpPr>
          <p:cNvPr id="21" name="Shape 18"/>
          <p:cNvSpPr/>
          <p:nvPr/>
        </p:nvSpPr>
        <p:spPr>
          <a:xfrm>
            <a:off x="841248" y="3941064"/>
            <a:ext cx="109728" cy="914400"/>
          </a:xfrm>
          <a:prstGeom prst="rect">
            <a:avLst/>
          </a:prstGeom>
          <a:solidFill>
            <a:srgbClr val="196B24"/>
          </a:solidFill>
          <a:ln/>
        </p:spPr>
      </p:sp>
      <p:sp>
        <p:nvSpPr>
          <p:cNvPr id="22" name="Text 19"/>
          <p:cNvSpPr/>
          <p:nvPr/>
        </p:nvSpPr>
        <p:spPr>
          <a:xfrm>
            <a:off x="1207008" y="4032504"/>
            <a:ext cx="7223760" cy="310896"/>
          </a:xfrm>
          <a:prstGeom prst="rect">
            <a:avLst/>
          </a:prstGeom>
          <a:noFill/>
          <a:ln/>
        </p:spPr>
        <p:txBody>
          <a:bodyPr wrap="square" lIns="0" tIns="0" rIns="0" bIns="0" rtlCol="0" anchor="ctr"/>
          <a:lstStyle/>
          <a:p>
            <a:pPr marL="0" indent="0" algn="l">
              <a:buNone/>
            </a:pPr>
            <a:r>
              <a:rPr lang="en-US" sz="1550" b="1" dirty="0">
                <a:solidFill>
                  <a:srgbClr val="0E2841"/>
                </a:solidFill>
                <a:latin typeface="Times New Roman" pitchFamily="34" charset="0"/>
                <a:ea typeface="Times New Roman" pitchFamily="34" charset="-122"/>
                <a:cs typeface="Times New Roman" pitchFamily="34" charset="-120"/>
              </a:rPr>
              <a:t>Database Management Systems</a:t>
            </a:r>
            <a:endParaRPr lang="en-US" sz="1550" dirty="0"/>
          </a:p>
        </p:txBody>
      </p:sp>
      <p:sp>
        <p:nvSpPr>
          <p:cNvPr id="23" name="Text 20"/>
          <p:cNvSpPr/>
          <p:nvPr/>
        </p:nvSpPr>
        <p:spPr>
          <a:xfrm>
            <a:off x="1207008" y="4343400"/>
            <a:ext cx="7223760" cy="256032"/>
          </a:xfrm>
          <a:prstGeom prst="rect">
            <a:avLst/>
          </a:prstGeom>
          <a:noFill/>
          <a:ln/>
        </p:spPr>
        <p:txBody>
          <a:bodyPr wrap="square" lIns="0" tIns="0" rIns="0" bIns="0" rtlCol="0" anchor="ctr"/>
          <a:lstStyle/>
          <a:p>
            <a:pPr marL="0" indent="0" algn="l">
              <a:buNone/>
            </a:pPr>
            <a:r>
              <a:rPr lang="en-US" sz="1200" dirty="0">
                <a:solidFill>
                  <a:srgbClr val="5A6472"/>
                </a:solidFill>
                <a:latin typeface="Times New Roman" pitchFamily="34" charset="0"/>
                <a:ea typeface="Times New Roman" pitchFamily="34" charset="-122"/>
                <a:cs typeface="Times New Roman" pitchFamily="34" charset="-120"/>
              </a:rPr>
              <a:t>R. Ramakrishnan, J. Gehrke  ·  McGraw-Hill</a:t>
            </a:r>
            <a:endParaRPr lang="en-US" sz="1200" dirty="0"/>
          </a:p>
        </p:txBody>
      </p:sp>
      <p:sp>
        <p:nvSpPr>
          <p:cNvPr id="24" name="Text 21">
            <a:hlinkClick r:id="rId6"/>
          </p:cNvPr>
          <p:cNvSpPr/>
          <p:nvPr/>
        </p:nvSpPr>
        <p:spPr>
          <a:xfrm>
            <a:off x="1207008" y="4581144"/>
            <a:ext cx="7223760" cy="237744"/>
          </a:xfrm>
          <a:prstGeom prst="rect">
            <a:avLst/>
          </a:prstGeom>
          <a:noFill/>
          <a:ln/>
        </p:spPr>
        <p:txBody>
          <a:bodyPr wrap="square" lIns="0" tIns="0" rIns="0" bIns="0" rtlCol="0" anchor="ctr"/>
          <a:lstStyle/>
          <a:p>
            <a:pPr marL="0" indent="0" algn="l">
              <a:buNone/>
            </a:pPr>
            <a:r>
              <a:rPr lang="en-US" sz="1050" u="sng" dirty="0">
                <a:solidFill>
                  <a:srgbClr val="196B24"/>
                </a:solidFill>
                <a:latin typeface="Consolas" pitchFamily="34" charset="0"/>
                <a:ea typeface="Consolas" pitchFamily="34" charset="-122"/>
                <a:cs typeface="Consolas" pitchFamily="34" charset="-120"/>
                <a:hlinkClick r:id="rId6">
                  <a:extLst>
                    <a:ext uri="{A12FA001-AC4F-418D-AE19-62706E023703}">
                      <ahyp:hlinkClr xmlns:ahyp="http://schemas.microsoft.com/office/drawing/2018/hyperlinkcolor" val="tx"/>
                    </a:ext>
                  </a:extLst>
                </a:hlinkClick>
              </a:rPr>
              <a:t>https://pages.cs.wisc.edu/~dbbook/</a:t>
            </a:r>
            <a:endParaRPr lang="en-US" sz="1050" dirty="0"/>
          </a:p>
        </p:txBody>
      </p:sp>
      <p:sp>
        <p:nvSpPr>
          <p:cNvPr id="25" name="Shape 22"/>
          <p:cNvSpPr/>
          <p:nvPr/>
        </p:nvSpPr>
        <p:spPr>
          <a:xfrm>
            <a:off x="8842248" y="4160520"/>
            <a:ext cx="2148840" cy="475488"/>
          </a:xfrm>
          <a:prstGeom prst="roundRect">
            <a:avLst>
              <a:gd name="adj" fmla="val 23077"/>
            </a:avLst>
          </a:prstGeom>
          <a:solidFill>
            <a:srgbClr val="E8F2F8"/>
          </a:solidFill>
          <a:ln/>
        </p:spPr>
      </p:sp>
      <p:sp>
        <p:nvSpPr>
          <p:cNvPr id="26" name="Text 23"/>
          <p:cNvSpPr/>
          <p:nvPr/>
        </p:nvSpPr>
        <p:spPr>
          <a:xfrm>
            <a:off x="8842248" y="4160520"/>
            <a:ext cx="2148840" cy="475488"/>
          </a:xfrm>
          <a:prstGeom prst="rect">
            <a:avLst/>
          </a:prstGeom>
          <a:noFill/>
          <a:ln/>
        </p:spPr>
        <p:txBody>
          <a:bodyPr wrap="square" lIns="0" tIns="0" rIns="0" bIns="0" rtlCol="0" anchor="ctr"/>
          <a:lstStyle/>
          <a:p>
            <a:pPr marL="0" indent="0" algn="ctr">
              <a:buNone/>
            </a:pPr>
            <a:r>
              <a:rPr lang="en-US" sz="1250" b="1" dirty="0">
                <a:solidFill>
                  <a:srgbClr val="156082"/>
                </a:solidFill>
                <a:latin typeface="Times New Roman" pitchFamily="34" charset="0"/>
                <a:ea typeface="Times New Roman" pitchFamily="34" charset="-122"/>
                <a:cs typeface="Times New Roman" pitchFamily="34" charset="-120"/>
              </a:rPr>
              <a:t>3rd Ed.  2003</a:t>
            </a:r>
            <a:endParaRPr lang="en-US" sz="1250" dirty="0"/>
          </a:p>
        </p:txBody>
      </p:sp>
      <p:sp>
        <p:nvSpPr>
          <p:cNvPr id="27" name="Shape 24"/>
          <p:cNvSpPr/>
          <p:nvPr/>
        </p:nvSpPr>
        <p:spPr>
          <a:xfrm>
            <a:off x="841248" y="4974336"/>
            <a:ext cx="10515600" cy="914400"/>
          </a:xfrm>
          <a:prstGeom prst="roundRect">
            <a:avLst>
              <a:gd name="adj" fmla="val 8000"/>
            </a:avLst>
          </a:prstGeom>
          <a:solidFill>
            <a:srgbClr val="FFFFFF"/>
          </a:solidFill>
          <a:ln w="12700">
            <a:solidFill>
              <a:srgbClr val="D2DCE6"/>
            </a:solidFill>
            <a:prstDash val="solid"/>
          </a:ln>
        </p:spPr>
      </p:sp>
      <p:sp>
        <p:nvSpPr>
          <p:cNvPr id="28" name="Shape 25"/>
          <p:cNvSpPr/>
          <p:nvPr/>
        </p:nvSpPr>
        <p:spPr>
          <a:xfrm>
            <a:off x="841248" y="4974336"/>
            <a:ext cx="109728" cy="914400"/>
          </a:xfrm>
          <a:prstGeom prst="rect">
            <a:avLst/>
          </a:prstGeom>
          <a:solidFill>
            <a:srgbClr val="A02B93"/>
          </a:solidFill>
          <a:ln/>
        </p:spPr>
      </p:sp>
      <p:sp>
        <p:nvSpPr>
          <p:cNvPr id="29" name="Text 26"/>
          <p:cNvSpPr/>
          <p:nvPr/>
        </p:nvSpPr>
        <p:spPr>
          <a:xfrm>
            <a:off x="1207008" y="5065776"/>
            <a:ext cx="7223760" cy="310896"/>
          </a:xfrm>
          <a:prstGeom prst="rect">
            <a:avLst/>
          </a:prstGeom>
          <a:noFill/>
          <a:ln/>
        </p:spPr>
        <p:txBody>
          <a:bodyPr wrap="square" lIns="0" tIns="0" rIns="0" bIns="0" rtlCol="0" anchor="ctr"/>
          <a:lstStyle/>
          <a:p>
            <a:pPr marL="0" indent="0" algn="l">
              <a:buNone/>
            </a:pPr>
            <a:r>
              <a:rPr lang="en-US" sz="1550" b="1" dirty="0">
                <a:solidFill>
                  <a:srgbClr val="0E2841"/>
                </a:solidFill>
                <a:latin typeface="Times New Roman" pitchFamily="34" charset="0"/>
                <a:ea typeface="Times New Roman" pitchFamily="34" charset="-122"/>
                <a:cs typeface="Times New Roman" pitchFamily="34" charset="-120"/>
              </a:rPr>
              <a:t>An Introduction to Database Systems</a:t>
            </a:r>
            <a:endParaRPr lang="en-US" sz="1550" dirty="0"/>
          </a:p>
        </p:txBody>
      </p:sp>
      <p:sp>
        <p:nvSpPr>
          <p:cNvPr id="30" name="Text 27"/>
          <p:cNvSpPr/>
          <p:nvPr/>
        </p:nvSpPr>
        <p:spPr>
          <a:xfrm>
            <a:off x="1207008" y="5376672"/>
            <a:ext cx="7223760" cy="256032"/>
          </a:xfrm>
          <a:prstGeom prst="rect">
            <a:avLst/>
          </a:prstGeom>
          <a:noFill/>
          <a:ln/>
        </p:spPr>
        <p:txBody>
          <a:bodyPr wrap="square" lIns="0" tIns="0" rIns="0" bIns="0" rtlCol="0" anchor="ctr"/>
          <a:lstStyle/>
          <a:p>
            <a:pPr marL="0" indent="0" algn="l">
              <a:buNone/>
            </a:pPr>
            <a:r>
              <a:rPr lang="en-US" sz="1200" dirty="0">
                <a:solidFill>
                  <a:srgbClr val="5A6472"/>
                </a:solidFill>
                <a:latin typeface="Times New Roman" pitchFamily="34" charset="0"/>
                <a:ea typeface="Times New Roman" pitchFamily="34" charset="-122"/>
                <a:cs typeface="Times New Roman" pitchFamily="34" charset="-120"/>
              </a:rPr>
              <a:t>C. J. Date  ·  Pearson</a:t>
            </a:r>
            <a:endParaRPr lang="en-US" sz="1200" dirty="0"/>
          </a:p>
        </p:txBody>
      </p:sp>
      <p:sp>
        <p:nvSpPr>
          <p:cNvPr id="31" name="Text 28">
            <a:hlinkClick r:id="rId7"/>
          </p:cNvPr>
          <p:cNvSpPr/>
          <p:nvPr/>
        </p:nvSpPr>
        <p:spPr>
          <a:xfrm>
            <a:off x="1207008" y="5614416"/>
            <a:ext cx="7223760" cy="237744"/>
          </a:xfrm>
          <a:prstGeom prst="rect">
            <a:avLst/>
          </a:prstGeom>
          <a:noFill/>
          <a:ln/>
        </p:spPr>
        <p:txBody>
          <a:bodyPr wrap="square" lIns="0" tIns="0" rIns="0" bIns="0" rtlCol="0" anchor="ctr"/>
          <a:lstStyle/>
          <a:p>
            <a:pPr marL="0" indent="0" algn="l">
              <a:buNone/>
            </a:pPr>
            <a:r>
              <a:rPr lang="en-US" sz="1050" u="sng" dirty="0">
                <a:solidFill>
                  <a:srgbClr val="A02B93"/>
                </a:solidFill>
                <a:latin typeface="Consolas" pitchFamily="34" charset="0"/>
                <a:ea typeface="Consolas" pitchFamily="34" charset="-122"/>
                <a:cs typeface="Consolas" pitchFamily="34" charset="-120"/>
                <a:hlinkClick r:id="rId7">
                  <a:extLst>
                    <a:ext uri="{A12FA001-AC4F-418D-AE19-62706E023703}">
                      <ahyp:hlinkClr xmlns:ahyp="http://schemas.microsoft.com/office/drawing/2018/hyperlinkcolor" val="tx"/>
                    </a:ext>
                  </a:extLst>
                </a:hlinkClick>
              </a:rPr>
              <a:t>https://www.pearson.com/en-us/subject-catalog/p/introduction-to-database-systems-an/P200000003398</a:t>
            </a:r>
            <a:endParaRPr lang="en-US" sz="1050" dirty="0"/>
          </a:p>
        </p:txBody>
      </p:sp>
      <p:sp>
        <p:nvSpPr>
          <p:cNvPr id="32" name="Shape 29"/>
          <p:cNvSpPr/>
          <p:nvPr/>
        </p:nvSpPr>
        <p:spPr>
          <a:xfrm>
            <a:off x="8842248" y="5193792"/>
            <a:ext cx="2148840" cy="475488"/>
          </a:xfrm>
          <a:prstGeom prst="roundRect">
            <a:avLst>
              <a:gd name="adj" fmla="val 23077"/>
            </a:avLst>
          </a:prstGeom>
          <a:solidFill>
            <a:srgbClr val="E8F2F8"/>
          </a:solidFill>
          <a:ln/>
        </p:spPr>
      </p:sp>
      <p:sp>
        <p:nvSpPr>
          <p:cNvPr id="33" name="Text 30"/>
          <p:cNvSpPr/>
          <p:nvPr/>
        </p:nvSpPr>
        <p:spPr>
          <a:xfrm>
            <a:off x="8842248" y="5193792"/>
            <a:ext cx="2148840" cy="475488"/>
          </a:xfrm>
          <a:prstGeom prst="rect">
            <a:avLst/>
          </a:prstGeom>
          <a:noFill/>
          <a:ln/>
        </p:spPr>
        <p:txBody>
          <a:bodyPr wrap="square" lIns="0" tIns="0" rIns="0" bIns="0" rtlCol="0" anchor="ctr"/>
          <a:lstStyle/>
          <a:p>
            <a:pPr marL="0" indent="0" algn="ctr">
              <a:buNone/>
            </a:pPr>
            <a:r>
              <a:rPr lang="en-US" sz="1250" b="1" dirty="0">
                <a:solidFill>
                  <a:srgbClr val="156082"/>
                </a:solidFill>
                <a:latin typeface="Times New Roman" pitchFamily="34" charset="0"/>
                <a:ea typeface="Times New Roman" pitchFamily="34" charset="-122"/>
                <a:cs typeface="Times New Roman" pitchFamily="34" charset="-120"/>
              </a:rPr>
              <a:t>8th Ed.  2003</a:t>
            </a:r>
            <a:endParaRPr lang="en-US" sz="1250" dirty="0"/>
          </a:p>
        </p:txBody>
      </p:sp>
      <p:sp>
        <p:nvSpPr>
          <p:cNvPr id="34" name="Text 31"/>
          <p:cNvSpPr/>
          <p:nvPr/>
        </p:nvSpPr>
        <p:spPr>
          <a:xfrm>
            <a:off x="841248" y="5925312"/>
            <a:ext cx="10515600" cy="274320"/>
          </a:xfrm>
          <a:prstGeom prst="rect">
            <a:avLst/>
          </a:prstGeom>
          <a:noFill/>
          <a:ln/>
        </p:spPr>
        <p:txBody>
          <a:bodyPr wrap="square" lIns="0" tIns="0" rIns="0" bIns="0" rtlCol="0" anchor="ctr"/>
          <a:lstStyle/>
          <a:p>
            <a:pPr marL="0" indent="0" algn="l">
              <a:buNone/>
            </a:pPr>
            <a:r>
              <a:rPr lang="en-US" sz="1200" i="1" dirty="0">
                <a:solidFill>
                  <a:srgbClr val="5A6472"/>
                </a:solidFill>
                <a:latin typeface="Times New Roman" pitchFamily="34" charset="0"/>
                <a:ea typeface="Times New Roman" pitchFamily="34" charset="-122"/>
                <a:cs typeface="Times New Roman" pitchFamily="34" charset="-120"/>
              </a:rPr>
              <a:t>Chapter map for this session:  TB1 Ch. 6–7  ·  TB2 Ch. 3  ·  TB3 Ch. 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548640"/>
            <a:ext cx="10515600" cy="777240"/>
          </a:xfrm>
          <a:prstGeom prst="rect">
            <a:avLst/>
          </a:prstGeom>
          <a:noFill/>
          <a:ln/>
        </p:spPr>
        <p:txBody>
          <a:bodyPr wrap="square" lIns="0" tIns="0" rIns="0" bIns="0" rtlCol="0" anchor="ctr"/>
          <a:lstStyle/>
          <a:p>
            <a:pPr marL="0" indent="0" algn="l">
              <a:buNone/>
            </a:pPr>
            <a:r>
              <a:rPr lang="en-US" sz="3200" b="1" dirty="0">
                <a:solidFill>
                  <a:srgbClr val="0E2841"/>
                </a:solidFill>
                <a:latin typeface="Times New Roman" pitchFamily="34" charset="0"/>
                <a:ea typeface="Times New Roman" pitchFamily="34" charset="-122"/>
                <a:cs typeface="Times New Roman" pitchFamily="34" charset="-120"/>
              </a:rPr>
              <a:t>Further Reading, Tools &amp; Self-Learning</a:t>
            </a:r>
            <a:endParaRPr lang="en-US" sz="3200" dirty="0"/>
          </a:p>
        </p:txBody>
      </p:sp>
      <p:sp>
        <p:nvSpPr>
          <p:cNvPr id="5" name="Text 2"/>
          <p:cNvSpPr/>
          <p:nvPr/>
        </p:nvSpPr>
        <p:spPr>
          <a:xfrm>
            <a:off x="841248" y="1627632"/>
            <a:ext cx="4937760" cy="292608"/>
          </a:xfrm>
          <a:prstGeom prst="rect">
            <a:avLst/>
          </a:prstGeom>
          <a:noFill/>
          <a:ln/>
        </p:spPr>
        <p:txBody>
          <a:bodyPr wrap="square" lIns="0" tIns="0" rIns="0" bIns="0" rtlCol="0" anchor="ctr"/>
          <a:lstStyle/>
          <a:p>
            <a:pPr marL="0" indent="0" algn="l">
              <a:buNone/>
            </a:pPr>
            <a:r>
              <a:rPr lang="en-US" sz="1400" b="1" dirty="0">
                <a:solidFill>
                  <a:srgbClr val="0E2841"/>
                </a:solidFill>
                <a:latin typeface="Times New Roman" pitchFamily="34" charset="0"/>
                <a:ea typeface="Times New Roman" pitchFamily="34" charset="-122"/>
                <a:cs typeface="Times New Roman" pitchFamily="34" charset="-120"/>
              </a:rPr>
              <a:t>ER drawing tools</a:t>
            </a:r>
            <a:endParaRPr lang="en-US" sz="1400" dirty="0"/>
          </a:p>
        </p:txBody>
      </p:sp>
      <p:sp>
        <p:nvSpPr>
          <p:cNvPr id="6" name="Shape 3"/>
          <p:cNvSpPr/>
          <p:nvPr/>
        </p:nvSpPr>
        <p:spPr>
          <a:xfrm>
            <a:off x="841248" y="2011680"/>
            <a:ext cx="4983480" cy="914400"/>
          </a:xfrm>
          <a:prstGeom prst="roundRect">
            <a:avLst>
              <a:gd name="adj" fmla="val 8000"/>
            </a:avLst>
          </a:prstGeom>
          <a:solidFill>
            <a:srgbClr val="FFFFFF"/>
          </a:solidFill>
          <a:ln w="12700">
            <a:solidFill>
              <a:srgbClr val="D2DCE6"/>
            </a:solidFill>
            <a:prstDash val="solid"/>
          </a:ln>
        </p:spPr>
      </p:sp>
      <p:sp>
        <p:nvSpPr>
          <p:cNvPr id="7" name="Shape 4"/>
          <p:cNvSpPr/>
          <p:nvPr/>
        </p:nvSpPr>
        <p:spPr>
          <a:xfrm>
            <a:off x="841248" y="2011680"/>
            <a:ext cx="109728" cy="914400"/>
          </a:xfrm>
          <a:prstGeom prst="rect">
            <a:avLst/>
          </a:prstGeom>
          <a:solidFill>
            <a:srgbClr val="156082"/>
          </a:solidFill>
          <a:ln/>
        </p:spPr>
      </p:sp>
      <p:sp>
        <p:nvSpPr>
          <p:cNvPr id="8" name="Text 5"/>
          <p:cNvSpPr/>
          <p:nvPr/>
        </p:nvSpPr>
        <p:spPr>
          <a:xfrm>
            <a:off x="1207008" y="2103120"/>
            <a:ext cx="4389120" cy="292608"/>
          </a:xfrm>
          <a:prstGeom prst="rect">
            <a:avLst/>
          </a:prstGeom>
          <a:noFill/>
          <a:ln/>
        </p:spPr>
        <p:txBody>
          <a:bodyPr wrap="square" lIns="0" tIns="0" rIns="0" bIns="0" rtlCol="0" anchor="ctr"/>
          <a:lstStyle/>
          <a:p>
            <a:pPr marL="0" indent="0" algn="l">
              <a:buNone/>
            </a:pPr>
            <a:r>
              <a:rPr lang="en-US" sz="1450" b="1" dirty="0">
                <a:solidFill>
                  <a:srgbClr val="0E2841"/>
                </a:solidFill>
                <a:latin typeface="Times New Roman" pitchFamily="34" charset="0"/>
                <a:ea typeface="Times New Roman" pitchFamily="34" charset="-122"/>
                <a:cs typeface="Times New Roman" pitchFamily="34" charset="-120"/>
              </a:rPr>
              <a:t>dbdiagram.io</a:t>
            </a:r>
            <a:endParaRPr lang="en-US" sz="1450" dirty="0"/>
          </a:p>
        </p:txBody>
      </p:sp>
      <p:sp>
        <p:nvSpPr>
          <p:cNvPr id="9" name="Text 6"/>
          <p:cNvSpPr/>
          <p:nvPr/>
        </p:nvSpPr>
        <p:spPr>
          <a:xfrm>
            <a:off x="1207008" y="2395728"/>
            <a:ext cx="4389120" cy="256032"/>
          </a:xfrm>
          <a:prstGeom prst="rect">
            <a:avLst/>
          </a:prstGeom>
          <a:noFill/>
          <a:ln/>
        </p:spPr>
        <p:txBody>
          <a:bodyPr wrap="square" lIns="0" tIns="0" rIns="0" bIns="0" rtlCol="0" anchor="ctr"/>
          <a:lstStyle/>
          <a:p>
            <a:pPr marL="0" indent="0" algn="l">
              <a:buNone/>
            </a:pPr>
            <a:r>
              <a:rPr lang="en-US" sz="1150" dirty="0">
                <a:solidFill>
                  <a:srgbClr val="5A6472"/>
                </a:solidFill>
                <a:latin typeface="Times New Roman" pitchFamily="34" charset="0"/>
                <a:ea typeface="Times New Roman" pitchFamily="34" charset="-122"/>
                <a:cs typeface="Times New Roman" pitchFamily="34" charset="-120"/>
              </a:rPr>
              <a:t>code → ERD in seconds</a:t>
            </a:r>
            <a:endParaRPr lang="en-US" sz="1150" dirty="0"/>
          </a:p>
        </p:txBody>
      </p:sp>
      <p:sp>
        <p:nvSpPr>
          <p:cNvPr id="10" name="Text 7">
            <a:hlinkClick r:id="rId4"/>
          </p:cNvPr>
          <p:cNvSpPr/>
          <p:nvPr/>
        </p:nvSpPr>
        <p:spPr>
          <a:xfrm>
            <a:off x="1207008" y="2651760"/>
            <a:ext cx="4389120" cy="237744"/>
          </a:xfrm>
          <a:prstGeom prst="rect">
            <a:avLst/>
          </a:prstGeom>
          <a:noFill/>
          <a:ln/>
        </p:spPr>
        <p:txBody>
          <a:bodyPr wrap="square" lIns="0" tIns="0" rIns="0" bIns="0" rtlCol="0" anchor="ctr"/>
          <a:lstStyle/>
          <a:p>
            <a:pPr marL="0" indent="0" algn="l">
              <a:buNone/>
            </a:pPr>
            <a:r>
              <a:rPr lang="en-US" sz="1000" u="sng" dirty="0">
                <a:solidFill>
                  <a:srgbClr val="156082"/>
                </a:solidFill>
                <a:latin typeface="Consolas" pitchFamily="34" charset="0"/>
                <a:ea typeface="Consolas" pitchFamily="34" charset="-122"/>
                <a:cs typeface="Consolas" pitchFamily="34" charset="-120"/>
                <a:hlinkClick r:id="rId4">
                  <a:extLst>
                    <a:ext uri="{A12FA001-AC4F-418D-AE19-62706E023703}">
                      <ahyp:hlinkClr xmlns:ahyp="http://schemas.microsoft.com/office/drawing/2018/hyperlinkcolor" val="tx"/>
                    </a:ext>
                  </a:extLst>
                </a:hlinkClick>
              </a:rPr>
              <a:t>https://dbdiagram.io</a:t>
            </a:r>
            <a:endParaRPr lang="en-US" sz="1000" dirty="0"/>
          </a:p>
        </p:txBody>
      </p:sp>
      <p:sp>
        <p:nvSpPr>
          <p:cNvPr id="11" name="Shape 8"/>
          <p:cNvSpPr/>
          <p:nvPr/>
        </p:nvSpPr>
        <p:spPr>
          <a:xfrm>
            <a:off x="841248" y="3044952"/>
            <a:ext cx="4983480" cy="914400"/>
          </a:xfrm>
          <a:prstGeom prst="roundRect">
            <a:avLst>
              <a:gd name="adj" fmla="val 8000"/>
            </a:avLst>
          </a:prstGeom>
          <a:solidFill>
            <a:srgbClr val="FFFFFF"/>
          </a:solidFill>
          <a:ln w="12700">
            <a:solidFill>
              <a:srgbClr val="D2DCE6"/>
            </a:solidFill>
            <a:prstDash val="solid"/>
          </a:ln>
        </p:spPr>
      </p:sp>
      <p:sp>
        <p:nvSpPr>
          <p:cNvPr id="12" name="Shape 9"/>
          <p:cNvSpPr/>
          <p:nvPr/>
        </p:nvSpPr>
        <p:spPr>
          <a:xfrm>
            <a:off x="841248" y="3044952"/>
            <a:ext cx="109728" cy="914400"/>
          </a:xfrm>
          <a:prstGeom prst="rect">
            <a:avLst/>
          </a:prstGeom>
          <a:solidFill>
            <a:srgbClr val="E97132"/>
          </a:solidFill>
          <a:ln/>
        </p:spPr>
      </p:sp>
      <p:sp>
        <p:nvSpPr>
          <p:cNvPr id="13" name="Text 10"/>
          <p:cNvSpPr/>
          <p:nvPr/>
        </p:nvSpPr>
        <p:spPr>
          <a:xfrm>
            <a:off x="1207008" y="3136392"/>
            <a:ext cx="4389120" cy="292608"/>
          </a:xfrm>
          <a:prstGeom prst="rect">
            <a:avLst/>
          </a:prstGeom>
          <a:noFill/>
          <a:ln/>
        </p:spPr>
        <p:txBody>
          <a:bodyPr wrap="square" lIns="0" tIns="0" rIns="0" bIns="0" rtlCol="0" anchor="ctr"/>
          <a:lstStyle/>
          <a:p>
            <a:pPr marL="0" indent="0" algn="l">
              <a:buNone/>
            </a:pPr>
            <a:r>
              <a:rPr lang="en-US" sz="1450" b="1" dirty="0">
                <a:solidFill>
                  <a:srgbClr val="0E2841"/>
                </a:solidFill>
                <a:latin typeface="Times New Roman" pitchFamily="34" charset="0"/>
                <a:ea typeface="Times New Roman" pitchFamily="34" charset="-122"/>
                <a:cs typeface="Times New Roman" pitchFamily="34" charset="-120"/>
              </a:rPr>
              <a:t>diagrams.net</a:t>
            </a:r>
            <a:endParaRPr lang="en-US" sz="1450" dirty="0"/>
          </a:p>
        </p:txBody>
      </p:sp>
      <p:sp>
        <p:nvSpPr>
          <p:cNvPr id="14" name="Text 11"/>
          <p:cNvSpPr/>
          <p:nvPr/>
        </p:nvSpPr>
        <p:spPr>
          <a:xfrm>
            <a:off x="1207008" y="3429000"/>
            <a:ext cx="4389120" cy="256032"/>
          </a:xfrm>
          <a:prstGeom prst="rect">
            <a:avLst/>
          </a:prstGeom>
          <a:noFill/>
          <a:ln/>
        </p:spPr>
        <p:txBody>
          <a:bodyPr wrap="square" lIns="0" tIns="0" rIns="0" bIns="0" rtlCol="0" anchor="ctr"/>
          <a:lstStyle/>
          <a:p>
            <a:pPr marL="0" indent="0" algn="l">
              <a:buNone/>
            </a:pPr>
            <a:r>
              <a:rPr lang="en-US" sz="1150" dirty="0">
                <a:solidFill>
                  <a:srgbClr val="5A6472"/>
                </a:solidFill>
                <a:latin typeface="Times New Roman" pitchFamily="34" charset="0"/>
                <a:ea typeface="Times New Roman" pitchFamily="34" charset="-122"/>
                <a:cs typeface="Times New Roman" pitchFamily="34" charset="-120"/>
              </a:rPr>
              <a:t>free whiteboard ERDs</a:t>
            </a:r>
            <a:endParaRPr lang="en-US" sz="1150" dirty="0"/>
          </a:p>
        </p:txBody>
      </p:sp>
      <p:sp>
        <p:nvSpPr>
          <p:cNvPr id="15" name="Text 12">
            <a:hlinkClick r:id="rId5"/>
          </p:cNvPr>
          <p:cNvSpPr/>
          <p:nvPr/>
        </p:nvSpPr>
        <p:spPr>
          <a:xfrm>
            <a:off x="1207008" y="3685032"/>
            <a:ext cx="4389120" cy="237744"/>
          </a:xfrm>
          <a:prstGeom prst="rect">
            <a:avLst/>
          </a:prstGeom>
          <a:noFill/>
          <a:ln/>
        </p:spPr>
        <p:txBody>
          <a:bodyPr wrap="square" lIns="0" tIns="0" rIns="0" bIns="0" rtlCol="0" anchor="ctr"/>
          <a:lstStyle/>
          <a:p>
            <a:pPr marL="0" indent="0" algn="l">
              <a:buNone/>
            </a:pPr>
            <a:r>
              <a:rPr lang="en-US" sz="1000" u="sng" dirty="0">
                <a:solidFill>
                  <a:srgbClr val="E97132"/>
                </a:solidFill>
                <a:latin typeface="Consolas" pitchFamily="34" charset="0"/>
                <a:ea typeface="Consolas" pitchFamily="34" charset="-122"/>
                <a:cs typeface="Consolas" pitchFamily="34" charset="-120"/>
                <a:hlinkClick r:id="rId5">
                  <a:extLst>
                    <a:ext uri="{A12FA001-AC4F-418D-AE19-62706E023703}">
                      <ahyp:hlinkClr xmlns:ahyp="http://schemas.microsoft.com/office/drawing/2018/hyperlinkcolor" val="tx"/>
                    </a:ext>
                  </a:extLst>
                </a:hlinkClick>
              </a:rPr>
              <a:t>https://app.diagrams.net</a:t>
            </a:r>
            <a:endParaRPr lang="en-US" sz="1000" dirty="0"/>
          </a:p>
        </p:txBody>
      </p:sp>
      <p:sp>
        <p:nvSpPr>
          <p:cNvPr id="16" name="Shape 13"/>
          <p:cNvSpPr/>
          <p:nvPr/>
        </p:nvSpPr>
        <p:spPr>
          <a:xfrm>
            <a:off x="841248" y="4078224"/>
            <a:ext cx="4983480" cy="914400"/>
          </a:xfrm>
          <a:prstGeom prst="roundRect">
            <a:avLst>
              <a:gd name="adj" fmla="val 8000"/>
            </a:avLst>
          </a:prstGeom>
          <a:solidFill>
            <a:srgbClr val="FFFFFF"/>
          </a:solidFill>
          <a:ln w="12700">
            <a:solidFill>
              <a:srgbClr val="D2DCE6"/>
            </a:solidFill>
            <a:prstDash val="solid"/>
          </a:ln>
        </p:spPr>
      </p:sp>
      <p:sp>
        <p:nvSpPr>
          <p:cNvPr id="17" name="Shape 14"/>
          <p:cNvSpPr/>
          <p:nvPr/>
        </p:nvSpPr>
        <p:spPr>
          <a:xfrm>
            <a:off x="841248" y="4078224"/>
            <a:ext cx="109728" cy="914400"/>
          </a:xfrm>
          <a:prstGeom prst="rect">
            <a:avLst/>
          </a:prstGeom>
          <a:solidFill>
            <a:srgbClr val="196B24"/>
          </a:solidFill>
          <a:ln/>
        </p:spPr>
      </p:sp>
      <p:sp>
        <p:nvSpPr>
          <p:cNvPr id="18" name="Text 15"/>
          <p:cNvSpPr/>
          <p:nvPr/>
        </p:nvSpPr>
        <p:spPr>
          <a:xfrm>
            <a:off x="1207008" y="4169664"/>
            <a:ext cx="4389120" cy="292608"/>
          </a:xfrm>
          <a:prstGeom prst="rect">
            <a:avLst/>
          </a:prstGeom>
          <a:noFill/>
          <a:ln/>
        </p:spPr>
        <p:txBody>
          <a:bodyPr wrap="square" lIns="0" tIns="0" rIns="0" bIns="0" rtlCol="0" anchor="ctr"/>
          <a:lstStyle/>
          <a:p>
            <a:pPr marL="0" indent="0" algn="l">
              <a:buNone/>
            </a:pPr>
            <a:r>
              <a:rPr lang="en-US" sz="1450" b="1" dirty="0">
                <a:solidFill>
                  <a:srgbClr val="0E2841"/>
                </a:solidFill>
                <a:latin typeface="Times New Roman" pitchFamily="34" charset="0"/>
                <a:ea typeface="Times New Roman" pitchFamily="34" charset="-122"/>
                <a:cs typeface="Times New Roman" pitchFamily="34" charset="-120"/>
              </a:rPr>
              <a:t>MySQL Workbench</a:t>
            </a:r>
            <a:endParaRPr lang="en-US" sz="1450" dirty="0"/>
          </a:p>
        </p:txBody>
      </p:sp>
      <p:sp>
        <p:nvSpPr>
          <p:cNvPr id="19" name="Text 16"/>
          <p:cNvSpPr/>
          <p:nvPr/>
        </p:nvSpPr>
        <p:spPr>
          <a:xfrm>
            <a:off x="1207008" y="4462272"/>
            <a:ext cx="4389120" cy="256032"/>
          </a:xfrm>
          <a:prstGeom prst="rect">
            <a:avLst/>
          </a:prstGeom>
          <a:noFill/>
          <a:ln/>
        </p:spPr>
        <p:txBody>
          <a:bodyPr wrap="square" lIns="0" tIns="0" rIns="0" bIns="0" rtlCol="0" anchor="ctr"/>
          <a:lstStyle/>
          <a:p>
            <a:pPr marL="0" indent="0" algn="l">
              <a:buNone/>
            </a:pPr>
            <a:r>
              <a:rPr lang="en-US" sz="1150" dirty="0">
                <a:solidFill>
                  <a:srgbClr val="5A6472"/>
                </a:solidFill>
                <a:latin typeface="Times New Roman" pitchFamily="34" charset="0"/>
                <a:ea typeface="Times New Roman" pitchFamily="34" charset="-122"/>
                <a:cs typeface="Times New Roman" pitchFamily="34" charset="-120"/>
              </a:rPr>
              <a:t>reverse-engineer a live DB</a:t>
            </a:r>
            <a:endParaRPr lang="en-US" sz="1150" dirty="0"/>
          </a:p>
        </p:txBody>
      </p:sp>
      <p:sp>
        <p:nvSpPr>
          <p:cNvPr id="20" name="Text 17">
            <a:hlinkClick r:id="rId6"/>
          </p:cNvPr>
          <p:cNvSpPr/>
          <p:nvPr/>
        </p:nvSpPr>
        <p:spPr>
          <a:xfrm>
            <a:off x="1207008" y="4718304"/>
            <a:ext cx="4389120" cy="237744"/>
          </a:xfrm>
          <a:prstGeom prst="rect">
            <a:avLst/>
          </a:prstGeom>
          <a:noFill/>
          <a:ln/>
        </p:spPr>
        <p:txBody>
          <a:bodyPr wrap="square" lIns="0" tIns="0" rIns="0" bIns="0" rtlCol="0" anchor="ctr"/>
          <a:lstStyle/>
          <a:p>
            <a:pPr marL="0" indent="0" algn="l">
              <a:buNone/>
            </a:pPr>
            <a:r>
              <a:rPr lang="en-US" sz="1000" u="sng" dirty="0">
                <a:solidFill>
                  <a:srgbClr val="196B24"/>
                </a:solidFill>
                <a:latin typeface="Consolas" pitchFamily="34" charset="0"/>
                <a:ea typeface="Consolas" pitchFamily="34" charset="-122"/>
                <a:cs typeface="Consolas" pitchFamily="34" charset="-120"/>
                <a:hlinkClick r:id="rId6">
                  <a:extLst>
                    <a:ext uri="{A12FA001-AC4F-418D-AE19-62706E023703}">
                      <ahyp:hlinkClr xmlns:ahyp="http://schemas.microsoft.com/office/drawing/2018/hyperlinkcolor" val="tx"/>
                    </a:ext>
                  </a:extLst>
                </a:hlinkClick>
              </a:rPr>
              <a:t>https://dev.mysql.com/doc/workbench/en/</a:t>
            </a:r>
            <a:endParaRPr lang="en-US" sz="1000" dirty="0"/>
          </a:p>
        </p:txBody>
      </p:sp>
      <p:sp>
        <p:nvSpPr>
          <p:cNvPr id="21" name="Text 18"/>
          <p:cNvSpPr/>
          <p:nvPr/>
        </p:nvSpPr>
        <p:spPr>
          <a:xfrm>
            <a:off x="6373368" y="1627632"/>
            <a:ext cx="4937760" cy="292608"/>
          </a:xfrm>
          <a:prstGeom prst="rect">
            <a:avLst/>
          </a:prstGeom>
          <a:noFill/>
          <a:ln/>
        </p:spPr>
        <p:txBody>
          <a:bodyPr wrap="square" lIns="0" tIns="0" rIns="0" bIns="0" rtlCol="0" anchor="ctr"/>
          <a:lstStyle/>
          <a:p>
            <a:pPr marL="0" indent="0" algn="l">
              <a:buNone/>
            </a:pPr>
            <a:r>
              <a:rPr lang="en-US" sz="1400" b="1" dirty="0">
                <a:solidFill>
                  <a:srgbClr val="0E2841"/>
                </a:solidFill>
                <a:latin typeface="Times New Roman" pitchFamily="34" charset="0"/>
                <a:ea typeface="Times New Roman" pitchFamily="34" charset="-122"/>
                <a:cs typeface="Times New Roman" pitchFamily="34" charset="-120"/>
              </a:rPr>
              <a:t>Self-learning component</a:t>
            </a:r>
            <a:endParaRPr lang="en-US" sz="1400" dirty="0"/>
          </a:p>
        </p:txBody>
      </p:sp>
      <p:sp>
        <p:nvSpPr>
          <p:cNvPr id="22" name="Shape 19"/>
          <p:cNvSpPr/>
          <p:nvPr/>
        </p:nvSpPr>
        <p:spPr>
          <a:xfrm>
            <a:off x="6373368" y="2011680"/>
            <a:ext cx="4983480" cy="914400"/>
          </a:xfrm>
          <a:prstGeom prst="roundRect">
            <a:avLst>
              <a:gd name="adj" fmla="val 8000"/>
            </a:avLst>
          </a:prstGeom>
          <a:solidFill>
            <a:srgbClr val="FFFFFF"/>
          </a:solidFill>
          <a:ln w="12700">
            <a:solidFill>
              <a:srgbClr val="D2DCE6"/>
            </a:solidFill>
            <a:prstDash val="solid"/>
          </a:ln>
        </p:spPr>
      </p:sp>
      <p:sp>
        <p:nvSpPr>
          <p:cNvPr id="23" name="Shape 20"/>
          <p:cNvSpPr/>
          <p:nvPr/>
        </p:nvSpPr>
        <p:spPr>
          <a:xfrm>
            <a:off x="6373368" y="2011680"/>
            <a:ext cx="109728" cy="914400"/>
          </a:xfrm>
          <a:prstGeom prst="rect">
            <a:avLst/>
          </a:prstGeom>
          <a:solidFill>
            <a:srgbClr val="A02B93"/>
          </a:solidFill>
          <a:ln/>
        </p:spPr>
      </p:sp>
      <p:sp>
        <p:nvSpPr>
          <p:cNvPr id="24" name="Text 21"/>
          <p:cNvSpPr/>
          <p:nvPr/>
        </p:nvSpPr>
        <p:spPr>
          <a:xfrm>
            <a:off x="6739128" y="2103120"/>
            <a:ext cx="4389120" cy="292608"/>
          </a:xfrm>
          <a:prstGeom prst="rect">
            <a:avLst/>
          </a:prstGeom>
          <a:noFill/>
          <a:ln/>
        </p:spPr>
        <p:txBody>
          <a:bodyPr wrap="square" lIns="0" tIns="0" rIns="0" bIns="0" rtlCol="0" anchor="ctr"/>
          <a:lstStyle/>
          <a:p>
            <a:pPr marL="0" indent="0" algn="l">
              <a:buNone/>
            </a:pPr>
            <a:r>
              <a:rPr lang="en-US" sz="1350" b="1" dirty="0">
                <a:solidFill>
                  <a:srgbClr val="0E2841"/>
                </a:solidFill>
                <a:latin typeface="Times New Roman" pitchFamily="34" charset="0"/>
                <a:ea typeface="Times New Roman" pitchFamily="34" charset="-122"/>
                <a:cs typeface="Times New Roman" pitchFamily="34" charset="-120"/>
              </a:rPr>
              <a:t>NPTEL — Database Management Systems</a:t>
            </a:r>
            <a:endParaRPr lang="en-US" sz="1350" dirty="0"/>
          </a:p>
        </p:txBody>
      </p:sp>
      <p:sp>
        <p:nvSpPr>
          <p:cNvPr id="25" name="Text 22"/>
          <p:cNvSpPr/>
          <p:nvPr/>
        </p:nvSpPr>
        <p:spPr>
          <a:xfrm>
            <a:off x="6739128" y="2395728"/>
            <a:ext cx="4389120" cy="256032"/>
          </a:xfrm>
          <a:prstGeom prst="rect">
            <a:avLst/>
          </a:prstGeom>
          <a:noFill/>
          <a:ln/>
        </p:spPr>
        <p:txBody>
          <a:bodyPr wrap="square" lIns="0" tIns="0" rIns="0" bIns="0" rtlCol="0" anchor="ctr"/>
          <a:lstStyle/>
          <a:p>
            <a:pPr marL="0" indent="0" algn="l">
              <a:buNone/>
            </a:pPr>
            <a:r>
              <a:rPr lang="en-US" sz="1150" dirty="0">
                <a:solidFill>
                  <a:srgbClr val="5A6472"/>
                </a:solidFill>
                <a:latin typeface="Times New Roman" pitchFamily="34" charset="0"/>
                <a:ea typeface="Times New Roman" pitchFamily="34" charset="-122"/>
                <a:cs typeface="Times New Roman" pitchFamily="34" charset="-120"/>
              </a:rPr>
              <a:t>12-week certified course</a:t>
            </a:r>
            <a:endParaRPr lang="en-US" sz="1150" dirty="0"/>
          </a:p>
        </p:txBody>
      </p:sp>
      <p:sp>
        <p:nvSpPr>
          <p:cNvPr id="26" name="Text 23">
            <a:hlinkClick r:id="rId7"/>
          </p:cNvPr>
          <p:cNvSpPr/>
          <p:nvPr/>
        </p:nvSpPr>
        <p:spPr>
          <a:xfrm>
            <a:off x="6739128" y="2651760"/>
            <a:ext cx="4389120" cy="237744"/>
          </a:xfrm>
          <a:prstGeom prst="rect">
            <a:avLst/>
          </a:prstGeom>
          <a:noFill/>
          <a:ln/>
        </p:spPr>
        <p:txBody>
          <a:bodyPr wrap="square" lIns="0" tIns="0" rIns="0" bIns="0" rtlCol="0" anchor="ctr"/>
          <a:lstStyle/>
          <a:p>
            <a:pPr marL="0" indent="0" algn="l">
              <a:buNone/>
            </a:pPr>
            <a:r>
              <a:rPr lang="en-US" sz="950" u="sng" dirty="0">
                <a:solidFill>
                  <a:srgbClr val="A02B93"/>
                </a:solidFill>
                <a:latin typeface="Consolas" pitchFamily="34" charset="0"/>
                <a:ea typeface="Consolas" pitchFamily="34" charset="-122"/>
                <a:cs typeface="Consolas" pitchFamily="34" charset="-120"/>
                <a:hlinkClick r:id="rId7">
                  <a:extLst>
                    <a:ext uri="{A12FA001-AC4F-418D-AE19-62706E023703}">
                      <ahyp:hlinkClr xmlns:ahyp="http://schemas.microsoft.com/office/drawing/2018/hyperlinkcolor" val="tx"/>
                    </a:ext>
                  </a:extLst>
                </a:hlinkClick>
              </a:rPr>
              <a:t>https://onlinecourses.nptel.ac.in/noc22_cs91/preview</a:t>
            </a:r>
            <a:endParaRPr lang="en-US" sz="950" dirty="0"/>
          </a:p>
        </p:txBody>
      </p:sp>
      <p:sp>
        <p:nvSpPr>
          <p:cNvPr id="27" name="Shape 24"/>
          <p:cNvSpPr/>
          <p:nvPr/>
        </p:nvSpPr>
        <p:spPr>
          <a:xfrm>
            <a:off x="6373368" y="3044952"/>
            <a:ext cx="4983480" cy="914400"/>
          </a:xfrm>
          <a:prstGeom prst="roundRect">
            <a:avLst>
              <a:gd name="adj" fmla="val 8000"/>
            </a:avLst>
          </a:prstGeom>
          <a:solidFill>
            <a:srgbClr val="FFFFFF"/>
          </a:solidFill>
          <a:ln w="12700">
            <a:solidFill>
              <a:srgbClr val="D2DCE6"/>
            </a:solidFill>
            <a:prstDash val="solid"/>
          </a:ln>
        </p:spPr>
      </p:sp>
      <p:sp>
        <p:nvSpPr>
          <p:cNvPr id="28" name="Shape 25"/>
          <p:cNvSpPr/>
          <p:nvPr/>
        </p:nvSpPr>
        <p:spPr>
          <a:xfrm>
            <a:off x="6373368" y="3044952"/>
            <a:ext cx="109728" cy="914400"/>
          </a:xfrm>
          <a:prstGeom prst="rect">
            <a:avLst/>
          </a:prstGeom>
          <a:solidFill>
            <a:srgbClr val="0F9ED5"/>
          </a:solidFill>
          <a:ln/>
        </p:spPr>
      </p:sp>
      <p:sp>
        <p:nvSpPr>
          <p:cNvPr id="29" name="Text 26"/>
          <p:cNvSpPr/>
          <p:nvPr/>
        </p:nvSpPr>
        <p:spPr>
          <a:xfrm>
            <a:off x="6739128" y="3136392"/>
            <a:ext cx="4389120" cy="292608"/>
          </a:xfrm>
          <a:prstGeom prst="rect">
            <a:avLst/>
          </a:prstGeom>
          <a:noFill/>
          <a:ln/>
        </p:spPr>
        <p:txBody>
          <a:bodyPr wrap="square" lIns="0" tIns="0" rIns="0" bIns="0" rtlCol="0" anchor="ctr"/>
          <a:lstStyle/>
          <a:p>
            <a:pPr marL="0" indent="0" algn="l">
              <a:buNone/>
            </a:pPr>
            <a:r>
              <a:rPr lang="en-US" sz="1350" b="1" dirty="0">
                <a:solidFill>
                  <a:srgbClr val="0E2841"/>
                </a:solidFill>
                <a:latin typeface="Times New Roman" pitchFamily="34" charset="0"/>
                <a:ea typeface="Times New Roman" pitchFamily="34" charset="-122"/>
                <a:cs typeface="Times New Roman" pitchFamily="34" charset="-120"/>
              </a:rPr>
              <a:t>Stanford DB — Relational Design</a:t>
            </a:r>
            <a:endParaRPr lang="en-US" sz="1350" dirty="0"/>
          </a:p>
        </p:txBody>
      </p:sp>
      <p:sp>
        <p:nvSpPr>
          <p:cNvPr id="30" name="Text 27"/>
          <p:cNvSpPr/>
          <p:nvPr/>
        </p:nvSpPr>
        <p:spPr>
          <a:xfrm>
            <a:off x="6739128" y="3429000"/>
            <a:ext cx="4389120" cy="256032"/>
          </a:xfrm>
          <a:prstGeom prst="rect">
            <a:avLst/>
          </a:prstGeom>
          <a:noFill/>
          <a:ln/>
        </p:spPr>
        <p:txBody>
          <a:bodyPr wrap="square" lIns="0" tIns="0" rIns="0" bIns="0" rtlCol="0" anchor="ctr"/>
          <a:lstStyle/>
          <a:p>
            <a:pPr marL="0" indent="0" algn="l">
              <a:buNone/>
            </a:pPr>
            <a:r>
              <a:rPr lang="en-US" sz="1150" dirty="0">
                <a:solidFill>
                  <a:srgbClr val="5A6472"/>
                </a:solidFill>
                <a:latin typeface="Times New Roman" pitchFamily="34" charset="0"/>
                <a:ea typeface="Times New Roman" pitchFamily="34" charset="-122"/>
                <a:cs typeface="Times New Roman" pitchFamily="34" charset="-120"/>
              </a:rPr>
              <a:t>free self-paced modules</a:t>
            </a:r>
            <a:endParaRPr lang="en-US" sz="1150" dirty="0"/>
          </a:p>
        </p:txBody>
      </p:sp>
      <p:sp>
        <p:nvSpPr>
          <p:cNvPr id="31" name="Text 28">
            <a:hlinkClick r:id="rId8"/>
          </p:cNvPr>
          <p:cNvSpPr/>
          <p:nvPr/>
        </p:nvSpPr>
        <p:spPr>
          <a:xfrm>
            <a:off x="6739128" y="3685032"/>
            <a:ext cx="4389120" cy="237744"/>
          </a:xfrm>
          <a:prstGeom prst="rect">
            <a:avLst/>
          </a:prstGeom>
          <a:noFill/>
          <a:ln/>
        </p:spPr>
        <p:txBody>
          <a:bodyPr wrap="square" lIns="0" tIns="0" rIns="0" bIns="0" rtlCol="0" anchor="ctr"/>
          <a:lstStyle/>
          <a:p>
            <a:pPr marL="0" indent="0" algn="l">
              <a:buNone/>
            </a:pPr>
            <a:r>
              <a:rPr lang="en-US" sz="950" u="sng" dirty="0">
                <a:solidFill>
                  <a:srgbClr val="0F9ED5"/>
                </a:solidFill>
                <a:latin typeface="Consolas" pitchFamily="34" charset="0"/>
                <a:ea typeface="Consolas" pitchFamily="34" charset="-122"/>
                <a:cs typeface="Consolas" pitchFamily="34" charset="-120"/>
                <a:hlinkClick r:id="rId8">
                  <a:extLst>
                    <a:ext uri="{A12FA001-AC4F-418D-AE19-62706E023703}">
                      <ahyp:hlinkClr xmlns:ahyp="http://schemas.microsoft.com/office/drawing/2018/hyperlinkcolor" val="tx"/>
                    </a:ext>
                  </a:extLst>
                </a:hlinkClick>
              </a:rPr>
              <a:t>https://cs.stanford.edu/people/widom/DB-mooc.html</a:t>
            </a:r>
            <a:endParaRPr lang="en-US" sz="950" dirty="0"/>
          </a:p>
        </p:txBody>
      </p:sp>
      <p:sp>
        <p:nvSpPr>
          <p:cNvPr id="32" name="Shape 29"/>
          <p:cNvSpPr/>
          <p:nvPr/>
        </p:nvSpPr>
        <p:spPr>
          <a:xfrm>
            <a:off x="6373368" y="4078224"/>
            <a:ext cx="4983480" cy="914400"/>
          </a:xfrm>
          <a:prstGeom prst="roundRect">
            <a:avLst>
              <a:gd name="adj" fmla="val 8000"/>
            </a:avLst>
          </a:prstGeom>
          <a:solidFill>
            <a:srgbClr val="FFFFFF"/>
          </a:solidFill>
          <a:ln w="12700">
            <a:solidFill>
              <a:srgbClr val="D2DCE6"/>
            </a:solidFill>
            <a:prstDash val="solid"/>
          </a:ln>
        </p:spPr>
      </p:sp>
      <p:sp>
        <p:nvSpPr>
          <p:cNvPr id="33" name="Shape 30"/>
          <p:cNvSpPr/>
          <p:nvPr/>
        </p:nvSpPr>
        <p:spPr>
          <a:xfrm>
            <a:off x="6373368" y="4078224"/>
            <a:ext cx="109728" cy="914400"/>
          </a:xfrm>
          <a:prstGeom prst="rect">
            <a:avLst/>
          </a:prstGeom>
          <a:solidFill>
            <a:srgbClr val="156082"/>
          </a:solidFill>
          <a:ln/>
        </p:spPr>
      </p:sp>
      <p:sp>
        <p:nvSpPr>
          <p:cNvPr id="34" name="Text 31"/>
          <p:cNvSpPr/>
          <p:nvPr/>
        </p:nvSpPr>
        <p:spPr>
          <a:xfrm>
            <a:off x="6739128" y="4169664"/>
            <a:ext cx="4389120" cy="292608"/>
          </a:xfrm>
          <a:prstGeom prst="rect">
            <a:avLst/>
          </a:prstGeom>
          <a:noFill/>
          <a:ln/>
        </p:spPr>
        <p:txBody>
          <a:bodyPr wrap="square" lIns="0" tIns="0" rIns="0" bIns="0" rtlCol="0" anchor="ctr"/>
          <a:lstStyle/>
          <a:p>
            <a:pPr marL="0" indent="0" algn="l">
              <a:buNone/>
            </a:pPr>
            <a:r>
              <a:rPr lang="en-US" sz="1350" b="1" dirty="0">
                <a:solidFill>
                  <a:srgbClr val="0E2841"/>
                </a:solidFill>
                <a:latin typeface="Times New Roman" pitchFamily="34" charset="0"/>
                <a:ea typeface="Times New Roman" pitchFamily="34" charset="-122"/>
                <a:cs typeface="Times New Roman" pitchFamily="34" charset="-120"/>
              </a:rPr>
              <a:t>W3Schools SQL</a:t>
            </a:r>
            <a:endParaRPr lang="en-US" sz="1350" dirty="0"/>
          </a:p>
        </p:txBody>
      </p:sp>
      <p:sp>
        <p:nvSpPr>
          <p:cNvPr id="35" name="Text 32"/>
          <p:cNvSpPr/>
          <p:nvPr/>
        </p:nvSpPr>
        <p:spPr>
          <a:xfrm>
            <a:off x="6739128" y="4462272"/>
            <a:ext cx="4389120" cy="256032"/>
          </a:xfrm>
          <a:prstGeom prst="rect">
            <a:avLst/>
          </a:prstGeom>
          <a:noFill/>
          <a:ln/>
        </p:spPr>
        <p:txBody>
          <a:bodyPr wrap="square" lIns="0" tIns="0" rIns="0" bIns="0" rtlCol="0" anchor="ctr"/>
          <a:lstStyle/>
          <a:p>
            <a:pPr marL="0" indent="0" algn="l">
              <a:buNone/>
            </a:pPr>
            <a:r>
              <a:rPr lang="en-US" sz="1150" dirty="0">
                <a:solidFill>
                  <a:srgbClr val="5A6472"/>
                </a:solidFill>
                <a:latin typeface="Times New Roman" pitchFamily="34" charset="0"/>
                <a:ea typeface="Times New Roman" pitchFamily="34" charset="-122"/>
                <a:cs typeface="Times New Roman" pitchFamily="34" charset="-120"/>
              </a:rPr>
              <a:t>practise turning ERDs into tables</a:t>
            </a:r>
            <a:endParaRPr lang="en-US" sz="1150" dirty="0"/>
          </a:p>
        </p:txBody>
      </p:sp>
      <p:sp>
        <p:nvSpPr>
          <p:cNvPr id="36" name="Text 33">
            <a:hlinkClick r:id="rId9"/>
          </p:cNvPr>
          <p:cNvSpPr/>
          <p:nvPr/>
        </p:nvSpPr>
        <p:spPr>
          <a:xfrm>
            <a:off x="6739128" y="4718304"/>
            <a:ext cx="4389120" cy="237744"/>
          </a:xfrm>
          <a:prstGeom prst="rect">
            <a:avLst/>
          </a:prstGeom>
          <a:noFill/>
          <a:ln/>
        </p:spPr>
        <p:txBody>
          <a:bodyPr wrap="square" lIns="0" tIns="0" rIns="0" bIns="0" rtlCol="0" anchor="ctr"/>
          <a:lstStyle/>
          <a:p>
            <a:pPr marL="0" indent="0" algn="l">
              <a:buNone/>
            </a:pPr>
            <a:r>
              <a:rPr lang="en-US" sz="950" u="sng" dirty="0">
                <a:solidFill>
                  <a:srgbClr val="156082"/>
                </a:solidFill>
                <a:latin typeface="Consolas" pitchFamily="34" charset="0"/>
                <a:ea typeface="Consolas" pitchFamily="34" charset="-122"/>
                <a:cs typeface="Consolas" pitchFamily="34" charset="-120"/>
                <a:hlinkClick r:id="rId9">
                  <a:extLst>
                    <a:ext uri="{A12FA001-AC4F-418D-AE19-62706E023703}">
                      <ahyp:hlinkClr xmlns:ahyp="http://schemas.microsoft.com/office/drawing/2018/hyperlinkcolor" val="tx"/>
                    </a:ext>
                  </a:extLst>
                </a:hlinkClick>
              </a:rPr>
              <a:t>https://www.w3schools.com/sql/</a:t>
            </a:r>
            <a:endParaRPr lang="en-US" sz="950" dirty="0"/>
          </a:p>
        </p:txBody>
      </p:sp>
      <p:sp>
        <p:nvSpPr>
          <p:cNvPr id="37" name="Shape 34"/>
          <p:cNvSpPr/>
          <p:nvPr/>
        </p:nvSpPr>
        <p:spPr>
          <a:xfrm>
            <a:off x="841248" y="5303520"/>
            <a:ext cx="10515600" cy="713232"/>
          </a:xfrm>
          <a:prstGeom prst="roundRect">
            <a:avLst>
              <a:gd name="adj" fmla="val 12821"/>
            </a:avLst>
          </a:prstGeom>
          <a:solidFill>
            <a:srgbClr val="E8F2F8"/>
          </a:solidFill>
          <a:ln/>
        </p:spPr>
      </p:sp>
      <p:sp>
        <p:nvSpPr>
          <p:cNvPr id="38" name="Text 35"/>
          <p:cNvSpPr/>
          <p:nvPr/>
        </p:nvSpPr>
        <p:spPr>
          <a:xfrm>
            <a:off x="1161288" y="5303520"/>
            <a:ext cx="9875520" cy="713232"/>
          </a:xfrm>
          <a:prstGeom prst="rect">
            <a:avLst/>
          </a:prstGeom>
          <a:noFill/>
          <a:ln/>
        </p:spPr>
        <p:txBody>
          <a:bodyPr wrap="square" lIns="0" tIns="0" rIns="0" bIns="0" rtlCol="0" anchor="ctr"/>
          <a:lstStyle/>
          <a:p>
            <a:pPr marL="0" indent="0" algn="l">
              <a:lnSpc>
                <a:spcPct val="125000"/>
              </a:lnSpc>
              <a:buNone/>
            </a:pPr>
            <a:r>
              <a:rPr lang="en-US" sz="1200" b="1" dirty="0">
                <a:solidFill>
                  <a:srgbClr val="156082"/>
                </a:solidFill>
                <a:latin typeface="Times New Roman" pitchFamily="34" charset="0"/>
                <a:ea typeface="Times New Roman" pitchFamily="34" charset="-122"/>
                <a:cs typeface="Times New Roman" pitchFamily="34" charset="-120"/>
              </a:rPr>
              <a:t>Please note:  students are expected to cover the self-learning components independently.</a:t>
            </a:r>
            <a:endParaRPr lang="en-US" sz="1200" dirty="0"/>
          </a:p>
          <a:p>
            <a:pPr marL="0" indent="0" algn="l">
              <a:lnSpc>
                <a:spcPct val="125000"/>
              </a:lnSpc>
              <a:buNone/>
            </a:pPr>
            <a:r>
              <a:rPr lang="en-US" sz="1200" b="1" dirty="0">
                <a:solidFill>
                  <a:srgbClr val="156082"/>
                </a:solidFill>
                <a:latin typeface="Times New Roman" pitchFamily="34" charset="0"/>
                <a:ea typeface="Times New Roman" pitchFamily="34" charset="-122"/>
                <a:cs typeface="Times New Roman" pitchFamily="34" charset="-120"/>
              </a:rPr>
              <a:t>5–10% of the end-term paper is drawn from them.</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291072"/>
            <a:ext cx="12191695" cy="566928"/>
          </a:xfrm>
          <a:prstGeom prst="rect">
            <a:avLst/>
          </a:prstGeom>
          <a:solidFill>
            <a:srgbClr val="0060AA"/>
          </a:solidFill>
          <a:ln/>
        </p:spPr>
      </p:sp>
      <p:pic>
        <p:nvPicPr>
          <p:cNvPr id="3" name="Image 0" descr="assets/krmu_logo.png"/>
          <p:cNvPicPr>
            <a:picLocks noChangeAspect="1"/>
          </p:cNvPicPr>
          <p:nvPr/>
        </p:nvPicPr>
        <p:blipFill>
          <a:blip r:embed="rId3"/>
          <a:stretch>
            <a:fillRect/>
          </a:stretch>
        </p:blipFill>
        <p:spPr>
          <a:xfrm>
            <a:off x="9619488" y="237744"/>
            <a:ext cx="1737360" cy="250546"/>
          </a:xfrm>
          <a:prstGeom prst="rect">
            <a:avLst/>
          </a:prstGeom>
        </p:spPr>
      </p:pic>
      <p:sp>
        <p:nvSpPr>
          <p:cNvPr id="4" name="Text 1"/>
          <p:cNvSpPr/>
          <p:nvPr/>
        </p:nvSpPr>
        <p:spPr>
          <a:xfrm>
            <a:off x="841248" y="2148840"/>
            <a:ext cx="8229600" cy="914400"/>
          </a:xfrm>
          <a:prstGeom prst="rect">
            <a:avLst/>
          </a:prstGeom>
          <a:noFill/>
          <a:ln/>
        </p:spPr>
        <p:txBody>
          <a:bodyPr wrap="square" lIns="0" tIns="0" rIns="0" bIns="0" rtlCol="0" anchor="ctr"/>
          <a:lstStyle/>
          <a:p>
            <a:pPr marL="0" indent="0" algn="l">
              <a:buNone/>
            </a:pPr>
            <a:r>
              <a:rPr lang="en-US" sz="4600" b="1" dirty="0">
                <a:solidFill>
                  <a:srgbClr val="0E2841"/>
                </a:solidFill>
                <a:latin typeface="Times New Roman" pitchFamily="34" charset="0"/>
                <a:ea typeface="Times New Roman" pitchFamily="34" charset="-122"/>
                <a:cs typeface="Times New Roman" pitchFamily="34" charset="-120"/>
              </a:rPr>
              <a:t>Thank You</a:t>
            </a:r>
            <a:endParaRPr lang="en-US" sz="4600" dirty="0"/>
          </a:p>
        </p:txBody>
      </p:sp>
      <p:sp>
        <p:nvSpPr>
          <p:cNvPr id="5" name="Shape 2"/>
          <p:cNvSpPr/>
          <p:nvPr/>
        </p:nvSpPr>
        <p:spPr>
          <a:xfrm>
            <a:off x="841248" y="3200400"/>
            <a:ext cx="1371600" cy="27432"/>
          </a:xfrm>
          <a:prstGeom prst="rect">
            <a:avLst/>
          </a:prstGeom>
          <a:solidFill>
            <a:srgbClr val="D2DCE6"/>
          </a:solidFill>
          <a:ln/>
        </p:spPr>
      </p:sp>
      <p:sp>
        <p:nvSpPr>
          <p:cNvPr id="6" name="Text 3"/>
          <p:cNvSpPr/>
          <p:nvPr/>
        </p:nvSpPr>
        <p:spPr>
          <a:xfrm>
            <a:off x="841248" y="3474720"/>
            <a:ext cx="9740854" cy="731520"/>
          </a:xfrm>
          <a:prstGeom prst="rect">
            <a:avLst/>
          </a:prstGeom>
          <a:noFill/>
          <a:ln/>
        </p:spPr>
        <p:txBody>
          <a:bodyPr wrap="square" lIns="0" tIns="0" rIns="0" bIns="0" rtlCol="0" anchor="ctr"/>
          <a:lstStyle/>
          <a:p>
            <a:pPr marL="0" indent="0" algn="l">
              <a:lnSpc>
                <a:spcPct val="135000"/>
              </a:lnSpc>
              <a:buNone/>
            </a:pPr>
            <a:r>
              <a:rPr lang="en-US" sz="1500" dirty="0">
                <a:solidFill>
                  <a:srgbClr val="2B2B2B"/>
                </a:solidFill>
                <a:latin typeface="Times New Roman" pitchFamily="34" charset="0"/>
                <a:ea typeface="Times New Roman" pitchFamily="34" charset="-122"/>
                <a:cs typeface="Times New Roman" pitchFamily="34" charset="-120"/>
              </a:rPr>
              <a:t>Home challenge: draw a tiny ER model for an online food-delivery app —</a:t>
            </a:r>
            <a:r>
              <a:rPr lang="en-US" sz="1500" dirty="0"/>
              <a:t> </a:t>
            </a:r>
            <a:r>
              <a:rPr lang="en-US" sz="1500" dirty="0">
                <a:solidFill>
                  <a:srgbClr val="2B2B2B"/>
                </a:solidFill>
                <a:latin typeface="Times New Roman" pitchFamily="34" charset="0"/>
                <a:ea typeface="Times New Roman" pitchFamily="34" charset="-122"/>
                <a:cs typeface="Times New Roman" pitchFamily="34" charset="-120"/>
              </a:rPr>
              <a:t>three entities, one M : N relationship, one total participation.</a:t>
            </a:r>
            <a:endParaRPr lang="en-US" sz="1500" dirty="0"/>
          </a:p>
        </p:txBody>
      </p:sp>
      <p:sp>
        <p:nvSpPr>
          <p:cNvPr id="8" name="Text 5"/>
          <p:cNvSpPr/>
          <p:nvPr/>
        </p:nvSpPr>
        <p:spPr>
          <a:xfrm>
            <a:off x="841248" y="5138928"/>
            <a:ext cx="8686800" cy="292608"/>
          </a:xfrm>
          <a:prstGeom prst="rect">
            <a:avLst/>
          </a:prstGeom>
          <a:noFill/>
          <a:ln/>
        </p:spPr>
        <p:txBody>
          <a:bodyPr wrap="square" lIns="0" tIns="0" rIns="0" bIns="0" rtlCol="0" anchor="ctr"/>
          <a:lstStyle/>
          <a:p>
            <a:pPr marL="0" indent="0" algn="l">
              <a:buNone/>
            </a:pPr>
            <a:r>
              <a:rPr lang="en-US" sz="1150" dirty="0">
                <a:solidFill>
                  <a:srgbClr val="5A6472"/>
                </a:solidFill>
                <a:latin typeface="Times New Roman" pitchFamily="34" charset="0"/>
                <a:ea typeface="Times New Roman" pitchFamily="34" charset="-122"/>
                <a:cs typeface="Times New Roman" pitchFamily="34" charset="-120"/>
              </a:rPr>
              <a:t>ER Model  |  Database Management Systems  |  K. R. Mangalam University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0283397692E740B0E2775C6F52F101" ma:contentTypeVersion="11" ma:contentTypeDescription="Create a new document." ma:contentTypeScope="" ma:versionID="31b9a33323e88bdadf093e1ef77ac255">
  <xsd:schema xmlns:xsd="http://www.w3.org/2001/XMLSchema" xmlns:xs="http://www.w3.org/2001/XMLSchema" xmlns:p="http://schemas.microsoft.com/office/2006/metadata/properties" xmlns:ns3="cbc0145d-b9fb-4d00-b4e9-d418e75a3163" targetNamespace="http://schemas.microsoft.com/office/2006/metadata/properties" ma:root="true" ma:fieldsID="c9aa5b12141885cb67fb50d7e3a54cee" ns3:_="">
    <xsd:import namespace="cbc0145d-b9fb-4d00-b4e9-d418e75a3163"/>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c0145d-b9fb-4d00-b4e9-d418e75a316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cbc0145d-b9fb-4d00-b4e9-d418e75a3163" xsi:nil="true"/>
  </documentManagement>
</p:properties>
</file>

<file path=customXml/itemProps1.xml><?xml version="1.0" encoding="utf-8"?>
<ds:datastoreItem xmlns:ds="http://schemas.openxmlformats.org/officeDocument/2006/customXml" ds:itemID="{7B611FC4-7FBF-4B5B-89F8-5C6BF6A4CE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bc0145d-b9fb-4d00-b4e9-d418e75a31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1137EE2-C668-45E4-9D98-56AE2D4E72A8}">
  <ds:schemaRefs>
    <ds:schemaRef ds:uri="http://schemas.microsoft.com/sharepoint/v3/contenttype/forms"/>
  </ds:schemaRefs>
</ds:datastoreItem>
</file>

<file path=customXml/itemProps3.xml><?xml version="1.0" encoding="utf-8"?>
<ds:datastoreItem xmlns:ds="http://schemas.openxmlformats.org/officeDocument/2006/customXml" ds:itemID="{0530F343-BC0D-4C3B-BAFB-5B11EA17CFF4}">
  <ds:schemaRefs>
    <ds:schemaRef ds:uri="http://schemas.microsoft.com/office/2006/metadata/properties"/>
    <ds:schemaRef ds:uri="http://schemas.microsoft.com/office/infopath/2007/PartnerControls"/>
    <ds:schemaRef ds:uri="cbc0145d-b9fb-4d00-b4e9-d418e75a3163"/>
  </ds:schemaRefs>
</ds:datastoreItem>
</file>

<file path=docProps/app.xml><?xml version="1.0" encoding="utf-8"?>
<Properties xmlns="http://schemas.openxmlformats.org/officeDocument/2006/extended-properties" xmlns:vt="http://schemas.openxmlformats.org/officeDocument/2006/docPropsVTypes">
  <TotalTime>3</TotalTime>
  <Words>2662</Words>
  <Application>Microsoft Office PowerPoint</Application>
  <PresentationFormat>Widescreen</PresentationFormat>
  <Paragraphs>361</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DBMS Session 5 — ER Model</dc:title>
  <dc:subject>PptxGenJS Presentation</dc:subject>
  <dc:creator>K. R. Mangalam University</dc:creator>
  <cp:lastModifiedBy>Mansi Kajal-Assistant Professor SOET</cp:lastModifiedBy>
  <cp:revision>3</cp:revision>
  <dcterms:created xsi:type="dcterms:W3CDTF">2026-08-01T16:41:15Z</dcterms:created>
  <dcterms:modified xsi:type="dcterms:W3CDTF">2026-08-01T18:02:05Z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0x010100C20283397692E740B0E2775C6F52F101</vt:lpwstr>
  </property>
</Properties>
</file>